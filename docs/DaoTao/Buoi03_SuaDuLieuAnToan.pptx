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3: Sửa dữ liệu an toàn và công cụ dữ liệu Bcode (Cơ bản, 3 giờ).</a:t>
            </a:r>
          </a:p>
          <a:p>
            <a:r>
              <a:t>Chuẩn bị: Dự án thử; KHÔNG dùng database của khách.</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Làm đúng quy tắc 5 bước khi UPDATE / DELETE</a:t>
            </a:r>
          </a:p>
          <a:p>
            <a:r>
              <a:t>- Dùng bảng tạm, biến bảng, CTE</a:t>
            </a:r>
          </a:p>
          <a:p>
            <a:r>
              <a:t>- Dùng tab Table, Command, Lookup, cây SQL Object, Ai đang dùng</a:t>
            </a:r>
          </a:p>
          <a:p>
            <a:r>
              <a:t>- Đóng gói dữ liệu bằng Add Script, Gen Insert / Update</a:t>
            </a:r>
          </a:p>
          <a:p>
            <a:r>
              <a:t>Lịch trình:</a:t>
            </a:r>
          </a:p>
          <a:p>
            <a:r>
              <a:t>1. Quy tắc 5 bước, transaction, sao lưu (40')</a:t>
            </a:r>
          </a:p>
          <a:p>
            <a:r>
              <a:t>2. Bảng tạm, biến bảng, CTE (25')</a:t>
            </a:r>
          </a:p>
          <a:p>
            <a:r>
              <a:t>3. Cây SQL Object, Ai đang dùng, So sánh object (25')</a:t>
            </a:r>
          </a:p>
          <a:p>
            <a:r>
              <a:t>4. Tab Table, Gen Add Column, Check Partitions Struct (30')</a:t>
            </a:r>
          </a:p>
          <a:p>
            <a:r>
              <a:t>5. Command, Lookup, Script Cart, Gen Insert / Update (30')</a:t>
            </a:r>
          </a:p>
          <a:p>
            <a:r>
              <a:t>6. Thực hành (30')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chương 2. Dữ liệu của khách là dữ liệu kế toán thật, sửa sai là ảnh hưởng tới sổ sách.</a:t>
            </a:r>
          </a:p>
          <a:p>
            <a:r>
              <a:t>Quy tắc 5 bước: (1) SELECT trước với đúng điều kiện WHERE sẽ dùng, để biết câu sửa sẽ ảnh hưởng bao nhiêu dòng; (2) sao lưu các dòng đó ra một bảng phụ có ngày trong tên (ví dụ zbk_dmkh_20261027); (3) mở transaction rồi mới chạy câu sửa; (4) kiểm tra @@ROWCOUNT có khớp số dòng đã đếm và SELECT lại để xem kết quả; (5) cuối cùng COMMIT nếu đúng, ROLLBACK nếu sai.</a:t>
            </a:r>
          </a:p>
          <a:p>
            <a:r>
              <a:t>Ví dụ trên slide: chuyển các khách hàng của nhân viên NV01 sang NV02. Bước 1 đếm được 12 dòng; bước 3 đến 5 gói trong một lần chạy: nếu số dòng bị sửa khác 12 thì tự ROLLBACK. Nhớ cập nhật datetime2 để giữ dấu vết lần sửa. Muốn khôi phục thì UPDATE ngược lại từ bảng zbk.</a:t>
            </a:r>
          </a:p>
          <a:p>
            <a:r>
              <a:t>Không để transaction treo (đã mở mà chưa COMMIT hay ROLLBACK): nó giữ khoá trên bảng, người dùng khác sẽ bị đứng màn hình.</a:t>
            </a:r>
          </a:p>
          <a:p>
            <a:r>
              <a:t>Lưu ý khi dùng Bcode: tab SQL Query mặc định Reset Connection (đặt lại kết nối) sau mỗi lần chạy, nên nếu BEGIN TRAN và COMMIT nằm ở hai lần bấm F5 khác nhau thì phải bật Giữ kết nối (trong ⚙ Tùy chọn).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cách giữ dữ liệu trung gian trong SQL.</a:t>
            </a:r>
          </a:p>
          <a:p>
            <a:r>
              <a:t>Bảng tạm (tên bắt đầu bằng #): dùng nhiều nhất trong procedure của Fast; tồn tại tới khi hết kết nối hoặc hết procedure; tạo được index.</a:t>
            </a:r>
          </a:p>
          <a:p>
            <a:r>
              <a:t>Biến bảng (tên bắt đầu bằng @): dùng cho dữ liệu nhỏ, chỉ tồn tại trong một batch, và không bị ROLLBACK làm mất dữ liệu.</a:t>
            </a:r>
          </a:p>
          <a:p>
            <a:r>
              <a:t>CTE: đặt tên cho một truy vấn con; kết hợp với ROW_NUMBER để tìm bản ghi trùng hoặc lấy dòng mới nhất.</a:t>
            </a:r>
          </a:p>
          <a:p>
            <a:r>
              <a:t>Mẹo của Fast: SELECT TOP 0 ... INTO #report FROM bảng thật để tạo bảng tạm có đúng kiểu cột (tránh được cả lỗi collation khi JOIN).</a:t>
            </a:r>
          </a:p>
          <a:p>
            <a:r>
              <a:t>Nhắc trước: khi test một procedure, đừng tự tạo sẵn bảng tạm trùng tên với bảng tạm mà procedure dùng bên trong — sẽ gặp lỗi Invalid column name (xem buổi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 Table (Ctrl+Shift+T): gõ tên bảng, điều kiện Where, Order, Top rồi bấm Enter. Sửa ô như trong Excel, rời khỏi dòng là tự lưu. F4 thêm dòng, F8 xoá dòng (ghi xuống database ngay), F1 xem chi tiết.</a:t>
            </a:r>
          </a:p>
          <a:p>
            <a:r>
              <a:t>Dòng Menu nằm dưới ô Where cho biết những màn hình nào dùng bảng này — bấm vào để nhảy tới menu đó.</a:t>
            </a:r>
          </a:p>
          <a:p>
            <a:r>
              <a:t>Chuột phải tab Structure: Gen Add Column / Gen Alter Column — với bảng phân kỳ, Bcode sinh sẵn lệnh cho mọi kỳ. Chuột phải ô Table → Check Partitions Struct để kiểm tra cấu trúc các kỳ.</a:t>
            </a:r>
          </a:p>
          <a:p>
            <a:r>
              <a:t>Cây SQL Object: lọc theo tên, double-click để mở code, chuột phải chọn Mở dạng ALTER, hoặc Ai đang dùng object này (Ctrl+Alt+U) — bắt buộc xem trước khi sửa hoặc xoá object.</a:t>
            </a:r>
          </a:p>
          <a:p>
            <a:r>
              <a:t>Lookup (Ctrl+Shift+L): tìm object theo tên hoặc theo nội dung code — cách nhanh nhất để biết procedure nào cập nhật một bảng hay một cột.</a:t>
            </a:r>
          </a:p>
          <a:p>
            <a:r>
              <a:t>Cảnh báo: bảng không có khoá chính thì không lưu / xoá dòng một cách an toàn được; bảng $000000 chỉ để xem.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Cây SQL Object nằm ở cột icon bên trái, chia nhóm Tables, Views, Stored Procedures, Functions, Triggers; các bảng phân kỳ được ẩn đi cho gọn. Gõ vào ô lọc là danh sách lọc ngay.</a:t>
            </a:r>
          </a:p>
          <a:p>
            <a:r>
              <a:t>Double-click một procedure sẽ mở nó trong tab SQL ở dạng DROP / CREATE; khi cần sửa thì nên chuột phải → Mở dạng ALTER.</a:t>
            </a:r>
          </a:p>
          <a:p>
            <a:r>
              <a:t>Ai đang dùng object này (Ctrl+Alt+U): liệt kê các procedure khác và các file controller (Dir, Filter, Grid, Include, Report) có dùng object này — bắt buộc xem trước khi sửa hoặc xoá.</a:t>
            </a:r>
          </a:p>
          <a:p>
            <a:r>
              <a:t>So sánh object (Ctrl+Shift+J): so sánh code giữa 2 database (ví dụ bản dev với bản của khách), lọc theo: khác nhau / chỉ có ở bên trái / chỉ có ở bên phải, và sinh script ALTER (Bcode không tự chạy script này).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Profiler: dùng khi không biết màn hình đang gọi procedure nào. Bấm Ctrl+3, khai báo đường dẫn Profiler, đăng nhập, bấm Bung &amp; Đăng nhập. Lọc theo user để bớt các câu lệnh không liên quan. Thao tác trên web, tìm dòng exec tương ứng, copy câu lệnh sang SQL Query để chạy lại với đúng các tham số đó. Profiler làm chậm server — chỉ bật đúng lúc cần.</a:t>
            </a:r>
          </a:p>
          <a:p>
            <a:r>
              <a:t>Script Cart: giỏ gom các script lại để đóng gói. Ở tab Table, Add Script sinh câu DELETE rồi nạp lại toàn bộ các dòng đang xem. Cảnh báo: nếu số dòng đang xem bằng đúng giá trị Top thì có thể bảng còn nhiều dòng hơn; khi chạy script, các dòng không nằm trong lưới sẽ bị mất — vì vậy đặt Top = 0 (lấy hết) rồi Load lại trước khi Add Script.</a:t>
            </a:r>
          </a:p>
          <a:p>
            <a:r>
              <a:t>Gen Insert / Update: chọn các dòng trên lưới, chuột phải để sinh câu INSERT hoặc UPDATE. Gen Update (Result) sinh câu UPDATE cho cả bảng kết quả gần nhất. Bcode sẽ hỏi bảng đích và cột khoá, câu lệnh sinh ra được chép vào clipboard.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Viết script thêm 1 cột cho một bảng phân kỳ bằng Gen Add Column, chạy trên dự án thử, rồi kiểm tra bằng Check Partitions Struct.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SELECT đếm số dòng; sao lưu; BEGIN TRAN rồi sửa; kiểm @@ROWCOUNT hoặc SELECT lại; COMMIT hoặc ROLLBACK.</a:t>
            </a:r>
          </a:p>
          <a:p>
            <a:r>
              <a:t>2. SQL Query mặc định Reset Connection sau mỗi lần chạy, nên transaction bị huỷ hoặc bị treo.</a:t>
            </a:r>
          </a:p>
          <a:p>
            <a:r>
              <a:t>3. Phần dữ liệu chưa tải lên sẽ bị mất khi chạy script; hãy đặt Top = 0 rồi Load lại.</a:t>
            </a:r>
          </a:p>
          <a:p>
            <a:r>
              <a:t>4. Phải thêm cho mọi kỳ, đúng thứ tự cột: dùng Gen Add Column rồi kiểm tra bằng Check Partitions Struct.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3 / 10  ·  CƠ BẢN</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Sửa dữ liệu an toàn và công cụ dữ liệu Bcode</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Làm đúng quy tắc 5 bước khi UPDATE / DELETE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Dùng bảng tạm, biến bảng, CTE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Dùng tab Table, Command, Lookup, cây SQL Object, Ai đang dùng</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Đóng gói dữ liệu bằng Add Script, Gen Insert / Update</a:t>
            </a:r>
          </a:p>
        </p:txBody>
      </p:sp>
      <p:graphicFrame>
        <p:nvGraphicFramePr>
          <p:cNvPr id="9" name="Table 8"/>
          <p:cNvGraphicFramePr>
            <a:graphicFrameLocks noGrp="1"/>
          </p:cNvGraphicFramePr>
          <p:nvPr/>
        </p:nvGraphicFramePr>
        <p:xfrm>
          <a:off x="6126480" y="1371600"/>
          <a:ext cx="5486400" cy="352044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Quy tắc 5 bước, transaction, sao lưu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Bảng tạm, biến bảng, CTE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Cây SQL Object, Ai đang dùng, So sánh object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Tab Table, Gen Add Column, Check Partitions Struct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Command, Lookup, Script Cart, Gen Insert / Update</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6</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Thực hành</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KHÔNG dùng database của khách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Sửa dữ liệu an toàn — 5 bước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1. SELECT</a:t>
            </a:r>
          </a:p>
        </p:txBody>
      </p:sp>
      <p:sp>
        <p:nvSpPr>
          <p:cNvPr id="9" name="TextBox 8"/>
          <p:cNvSpPr txBox="1"/>
          <p:nvPr/>
        </p:nvSpPr>
        <p:spPr>
          <a:xfrm>
            <a:off x="713231"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cùng WHERE, đếm số dòng</a:t>
            </a:r>
          </a:p>
        </p:txBody>
      </p:sp>
      <p:sp>
        <p:nvSpPr>
          <p:cNvPr id="10" name="Right Arrow 9"/>
          <p:cNvSpPr/>
          <p:nvPr/>
        </p:nvSpPr>
        <p:spPr>
          <a:xfrm>
            <a:off x="2627985"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84017" y="1463040"/>
            <a:ext cx="1951329" cy="118872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7169"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2. Sao lưu</a:t>
            </a:r>
          </a:p>
        </p:txBody>
      </p:sp>
      <p:sp>
        <p:nvSpPr>
          <p:cNvPr id="13" name="TextBox 12"/>
          <p:cNvSpPr txBox="1"/>
          <p:nvPr/>
        </p:nvSpPr>
        <p:spPr>
          <a:xfrm>
            <a:off x="2957169"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SELECT … INTO zbk_…</a:t>
            </a:r>
          </a:p>
        </p:txBody>
      </p:sp>
      <p:sp>
        <p:nvSpPr>
          <p:cNvPr id="14" name="Right Arrow 13"/>
          <p:cNvSpPr/>
          <p:nvPr/>
        </p:nvSpPr>
        <p:spPr>
          <a:xfrm>
            <a:off x="4871923"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7955"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1107"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3. BEGIN TRAN</a:t>
            </a:r>
          </a:p>
        </p:txBody>
      </p:sp>
      <p:sp>
        <p:nvSpPr>
          <p:cNvPr id="17" name="TextBox 16"/>
          <p:cNvSpPr txBox="1"/>
          <p:nvPr/>
        </p:nvSpPr>
        <p:spPr>
          <a:xfrm>
            <a:off x="5201107"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chạy UPDATE / DELETE</a:t>
            </a:r>
          </a:p>
        </p:txBody>
      </p:sp>
      <p:sp>
        <p:nvSpPr>
          <p:cNvPr id="18" name="Right Arrow 17"/>
          <p:cNvSpPr/>
          <p:nvPr/>
        </p:nvSpPr>
        <p:spPr>
          <a:xfrm>
            <a:off x="7115860"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71892" y="1463040"/>
            <a:ext cx="1951329" cy="118872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5044"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4. Kiểm tra</a:t>
            </a:r>
          </a:p>
        </p:txBody>
      </p:sp>
      <p:sp>
        <p:nvSpPr>
          <p:cNvPr id="21" name="TextBox 20"/>
          <p:cNvSpPr txBox="1"/>
          <p:nvPr/>
        </p:nvSpPr>
        <p:spPr>
          <a:xfrm>
            <a:off x="7445044"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@@ROWCOUNT, SELECT lại</a:t>
            </a:r>
          </a:p>
        </p:txBody>
      </p:sp>
      <p:sp>
        <p:nvSpPr>
          <p:cNvPr id="22" name="Right Arrow 21"/>
          <p:cNvSpPr/>
          <p:nvPr/>
        </p:nvSpPr>
        <p:spPr>
          <a:xfrm>
            <a:off x="9359798"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5830"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88982"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5. Chốt</a:t>
            </a:r>
          </a:p>
        </p:txBody>
      </p:sp>
      <p:sp>
        <p:nvSpPr>
          <p:cNvPr id="25" name="TextBox 24"/>
          <p:cNvSpPr txBox="1"/>
          <p:nvPr/>
        </p:nvSpPr>
        <p:spPr>
          <a:xfrm>
            <a:off x="9688982"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COMMIT hoặc ROLLBACK</a:t>
            </a:r>
          </a:p>
        </p:txBody>
      </p:sp>
      <p:sp>
        <p:nvSpPr>
          <p:cNvPr id="26" name="Rounded Rectangle 25"/>
          <p:cNvSpPr/>
          <p:nvPr/>
        </p:nvSpPr>
        <p:spPr>
          <a:xfrm>
            <a:off x="640080" y="2926080"/>
            <a:ext cx="6766560" cy="1794002"/>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35808"/>
            <a:ext cx="6446520" cy="3090672"/>
          </a:xfrm>
          <a:prstGeom prst="rect">
            <a:avLst/>
          </a:prstGeom>
          <a:noFill/>
        </p:spPr>
        <p:txBody>
          <a:bodyPr wrap="none">
            <a:spAutoFit/>
          </a:bodyPr>
          <a:lstStyle/>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ma_kh, ma_nvbh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   </a:t>
            </a:r>
            <a:r>
              <a:rPr sz="1300" b="0" i="1">
                <a:solidFill>
                  <a:srgbClr val="7FB06A"/>
                </a:solidFill>
                <a:latin typeface="Consolas"/>
                <a:ea typeface="Consolas"/>
                <a:cs typeface="Consolas"/>
              </a:rPr>
              <a:t>-- 12 dòng</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 </a:t>
            </a:r>
            <a:r>
              <a:rPr sz="1300" b="1" i="0">
                <a:solidFill>
                  <a:srgbClr val="6CB6FF"/>
                </a:solidFill>
                <a:latin typeface="Consolas"/>
                <a:ea typeface="Consolas"/>
                <a:cs typeface="Consolas"/>
              </a:rPr>
              <a:t>INTO</a:t>
            </a:r>
            <a:r>
              <a:rPr sz="1300" b="0" i="0">
                <a:solidFill>
                  <a:srgbClr val="E6E6E6"/>
                </a:solidFill>
                <a:latin typeface="Consolas"/>
                <a:ea typeface="Consolas"/>
                <a:cs typeface="Consolas"/>
              </a:rPr>
              <a:t> zbk_dmkh_20261027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1" i="0">
                <a:solidFill>
                  <a:srgbClr val="6CB6FF"/>
                </a:solidFill>
                <a:latin typeface="Consolas"/>
                <a:ea typeface="Consolas"/>
                <a:cs typeface="Consolas"/>
              </a:rPr>
              <a:t>BEGIN TRAN</a:t>
            </a:r>
          </a:p>
          <a:p>
            <a:pPr>
              <a:lnSpc>
                <a:spcPct val="100000"/>
              </a:lnSpc>
              <a:spcAft>
                <a:spcPts val="0"/>
              </a:spcAft>
            </a:pPr>
            <a:r>
              <a:rPr sz="1300" b="1" i="0">
                <a:solidFill>
                  <a:srgbClr val="6CB6FF"/>
                </a:solidFill>
                <a:latin typeface="Consolas"/>
                <a:ea typeface="Consolas"/>
                <a:cs typeface="Consolas"/>
              </a:rPr>
              <a:t>UPDATE</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SET</a:t>
            </a:r>
            <a:r>
              <a:rPr sz="1300" b="0" i="0">
                <a:solidFill>
                  <a:srgbClr val="E6E6E6"/>
                </a:solidFill>
                <a:latin typeface="Consolas"/>
                <a:ea typeface="Consolas"/>
                <a:cs typeface="Consolas"/>
              </a:rPr>
              <a:t> ma_nvbh = 'NV02', datetime2 = GETDATE()</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a:t>
            </a:r>
          </a:p>
          <a:p>
            <a:pPr>
              <a:lnSpc>
                <a:spcPct val="100000"/>
              </a:lnSpc>
              <a:spcAft>
                <a:spcPts val="0"/>
              </a:spcAft>
            </a:pPr>
            <a:r>
              <a:rPr sz="1300" b="1" i="0">
                <a:solidFill>
                  <a:srgbClr val="6CB6FF"/>
                </a:solidFill>
                <a:latin typeface="Consolas"/>
                <a:ea typeface="Consolas"/>
                <a:cs typeface="Consolas"/>
              </a:rPr>
              <a:t>IF</a:t>
            </a:r>
            <a:r>
              <a:rPr sz="1300" b="0" i="0">
                <a:solidFill>
                  <a:srgbClr val="E6E6E6"/>
                </a:solidFill>
                <a:latin typeface="Consolas"/>
                <a:ea typeface="Consolas"/>
                <a:cs typeface="Consolas"/>
              </a:rPr>
              <a:t> @@ROWCOUNT &lt;&gt; 12 </a:t>
            </a:r>
            <a:r>
              <a:rPr sz="1300" b="1" i="0">
                <a:solidFill>
                  <a:srgbClr val="6CB6FF"/>
                </a:solidFill>
                <a:latin typeface="Consolas"/>
                <a:ea typeface="Consolas"/>
                <a:cs typeface="Consolas"/>
              </a:rPr>
              <a:t>ROLLBACK</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ELSE</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COMMIT</a:t>
            </a:r>
          </a:p>
        </p:txBody>
      </p:sp>
      <p:sp>
        <p:nvSpPr>
          <p:cNvPr id="28" name="TextBox 27"/>
          <p:cNvSpPr txBox="1"/>
          <p:nvPr/>
        </p:nvSpPr>
        <p:spPr>
          <a:xfrm>
            <a:off x="7680960" y="2926080"/>
            <a:ext cx="3931920" cy="32918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UPDATE / DELETE </a:t>
            </a:r>
            <a:r>
              <a:rPr sz="1700" b="1" i="0">
                <a:solidFill>
                  <a:srgbClr val="1F4E79"/>
                </a:solidFill>
                <a:latin typeface="Segoe UI"/>
                <a:ea typeface="Segoe UI"/>
                <a:cs typeface="Segoe UI"/>
              </a:rPr>
              <a:t>luôn có WHERE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Bảng sao lưu có </a:t>
            </a:r>
            <a:r>
              <a:rPr sz="1700" b="1" i="0">
                <a:solidFill>
                  <a:srgbClr val="1F4E79"/>
                </a:solidFill>
                <a:latin typeface="Segoe UI"/>
                <a:ea typeface="Segoe UI"/>
                <a:cs typeface="Segoe UI"/>
              </a:rPr>
              <a:t>ngày</a:t>
            </a:r>
            <a:r>
              <a:rPr sz="1700" b="0" i="0">
                <a:solidFill>
                  <a:srgbClr val="263238"/>
                </a:solidFill>
                <a:latin typeface="Segoe UI"/>
                <a:ea typeface="Segoe UI"/>
                <a:cs typeface="Segoe UI"/>
              </a:rPr>
              <a:t> trong tên</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Không để transaction </a:t>
            </a:r>
            <a:r>
              <a:rPr sz="1700" b="1" i="0">
                <a:solidFill>
                  <a:srgbClr val="1F4E79"/>
                </a:solidFill>
                <a:latin typeface="Segoe UI"/>
                <a:ea typeface="Segoe UI"/>
                <a:cs typeface="Segoe UI"/>
              </a:rPr>
              <a:t>treo</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Bcode: BEGIN TRAN và COMMIT ở 2 lần F5 → bật </a:t>
            </a:r>
            <a:r>
              <a:rPr sz="1700" b="1" i="0">
                <a:solidFill>
                  <a:srgbClr val="1F4E79"/>
                </a:solidFill>
                <a:latin typeface="Segoe UI"/>
                <a:ea typeface="Segoe UI"/>
                <a:cs typeface="Segoe UI"/>
              </a:rPr>
              <a:t>Giữ kết nối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Bảng tạm, biến bảng, CTE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6949440" cy="3312413"/>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629400" cy="4462272"/>
          </a:xfrm>
          <a:prstGeom prst="rect">
            <a:avLst/>
          </a:prstGeom>
          <a:noFill/>
        </p:spPr>
        <p:txBody>
          <a:bodyPr wrap="none">
            <a:spAutoFit/>
          </a:bodyPr>
          <a:lstStyle/>
          <a:p>
            <a:pPr>
              <a:lnSpc>
                <a:spcPct val="100000"/>
              </a:lnSpc>
              <a:spcAft>
                <a:spcPts val="0"/>
              </a:spcAft>
            </a:pPr>
            <a:r>
              <a:rPr sz="1350" b="0" i="1">
                <a:solidFill>
                  <a:srgbClr val="7FB06A"/>
                </a:solidFill>
                <a:latin typeface="Consolas"/>
                <a:ea typeface="Consolas"/>
                <a:cs typeface="Consolas"/>
              </a:rPr>
              <a:t>-- Bảng tạm #: sống tới hết kết nối / hết procedure</a:t>
            </a:r>
          </a:p>
          <a:p>
            <a:pPr>
              <a:lnSpc>
                <a:spcPct val="100000"/>
              </a:lnSpc>
              <a:spcAft>
                <a:spcPts val="0"/>
              </a:spcAft>
            </a:pPr>
            <a:r>
              <a:rPr sz="1350" b="1" i="0">
                <a:solidFill>
                  <a:srgbClr val="6CB6FF"/>
                </a:solidFill>
                <a:latin typeface="Consolas"/>
                <a:ea typeface="Consolas"/>
                <a:cs typeface="Consolas"/>
              </a:rPr>
              <a:t>IF</a:t>
            </a:r>
            <a:r>
              <a:rPr sz="1350" b="0" i="0">
                <a:solidFill>
                  <a:srgbClr val="E6E6E6"/>
                </a:solidFill>
                <a:latin typeface="Consolas"/>
                <a:ea typeface="Consolas"/>
                <a:cs typeface="Consolas"/>
              </a:rPr>
              <a:t> OBJECT_ID('tempdb..#kh') </a:t>
            </a:r>
            <a:r>
              <a:rPr sz="1350" b="1" i="0">
                <a:solidFill>
                  <a:srgbClr val="6CB6FF"/>
                </a:solidFill>
                <a:latin typeface="Consolas"/>
                <a:ea typeface="Consolas"/>
                <a:cs typeface="Consolas"/>
              </a:rPr>
              <a:t>IS</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NOT</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NULL</a:t>
            </a:r>
            <a:r>
              <a:rPr sz="1350" b="0" i="0">
                <a:solidFill>
                  <a:srgbClr val="E6E6E6"/>
                </a:solidFill>
                <a:latin typeface="Consolas"/>
                <a:ea typeface="Consolas"/>
                <a:cs typeface="Consolas"/>
              </a:rPr>
              <a:t> DROP </a:t>
            </a:r>
            <a:r>
              <a:rPr sz="1350" b="1" i="0">
                <a:solidFill>
                  <a:srgbClr val="6CB6FF"/>
                </a:solidFill>
                <a:latin typeface="Consolas"/>
                <a:ea typeface="Consolas"/>
                <a:cs typeface="Consolas"/>
              </a:rPr>
              <a:t>TABLE</a:t>
            </a:r>
            <a:r>
              <a:rPr sz="1350" b="0" i="0">
                <a:solidFill>
                  <a:srgbClr val="E6E6E6"/>
                </a:solidFill>
                <a:latin typeface="Consolas"/>
                <a:ea typeface="Consolas"/>
                <a:cs typeface="Consolas"/>
              </a:rPr>
              <a:t> #kh</a:t>
            </a:r>
          </a:p>
          <a:p>
            <a:pPr>
              <a:lnSpc>
                <a:spcPct val="100000"/>
              </a:lnSpc>
              <a:spcAft>
                <a:spcPts val="0"/>
              </a:spcAft>
            </a:pP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ma_kh, ten_kh </a:t>
            </a:r>
            <a:r>
              <a:rPr sz="1350" b="1" i="0">
                <a:solidFill>
                  <a:srgbClr val="6CB6FF"/>
                </a:solidFill>
                <a:latin typeface="Consolas"/>
                <a:ea typeface="Consolas"/>
                <a:cs typeface="Consolas"/>
              </a:rPr>
              <a:t>INTO</a:t>
            </a:r>
            <a:r>
              <a:rPr sz="1350" b="0" i="0">
                <a:solidFill>
                  <a:srgbClr val="E6E6E6"/>
                </a:solidFill>
                <a:latin typeface="Consolas"/>
                <a:ea typeface="Consolas"/>
                <a:cs typeface="Consolas"/>
              </a:rPr>
              <a:t> #kh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dmkh </a:t>
            </a:r>
            <a:r>
              <a:rPr sz="1350" b="1" i="0">
                <a:solidFill>
                  <a:srgbClr val="6CB6FF"/>
                </a:solidFill>
                <a:latin typeface="Consolas"/>
                <a:ea typeface="Consolas"/>
                <a:cs typeface="Consolas"/>
              </a:rPr>
              <a:t>WHERE</a:t>
            </a:r>
            <a:r>
              <a:rPr sz="1350" b="0" i="0">
                <a:solidFill>
                  <a:srgbClr val="E6E6E6"/>
                </a:solidFill>
                <a:latin typeface="Consolas"/>
                <a:ea typeface="Consolas"/>
                <a:cs typeface="Consolas"/>
              </a:rPr>
              <a:t> status = '1'</a:t>
            </a:r>
          </a:p>
          <a:p>
            <a:pPr>
              <a:lnSpc>
                <a:spcPct val="100000"/>
              </a:lnSpc>
              <a:spcAft>
                <a:spcPts val="0"/>
              </a:spcAft>
            </a:pPr>
            <a:r>
              <a:rPr sz="1350" b="0" i="0">
                <a:solidFill>
                  <a:srgbClr val="E6E6E6"/>
                </a:solidFill>
                <a:latin typeface="Consolas"/>
                <a:ea typeface="Consolas"/>
                <a:cs typeface="Consolas"/>
              </a:rPr>
              <a:t> </a:t>
            </a:r>
          </a:p>
          <a:p>
            <a:pPr>
              <a:lnSpc>
                <a:spcPct val="100000"/>
              </a:lnSpc>
              <a:spcAft>
                <a:spcPts val="0"/>
              </a:spcAft>
            </a:pPr>
            <a:r>
              <a:rPr sz="1350" b="0" i="1">
                <a:solidFill>
                  <a:srgbClr val="7FB06A"/>
                </a:solidFill>
                <a:latin typeface="Consolas"/>
                <a:ea typeface="Consolas"/>
                <a:cs typeface="Consolas"/>
              </a:rPr>
              <a:t>-- Biến bảng @: nhỏ, sống trong 1 batch</a:t>
            </a:r>
          </a:p>
          <a:p>
            <a:pPr>
              <a:lnSpc>
                <a:spcPct val="100000"/>
              </a:lnSpc>
              <a:spcAft>
                <a:spcPts val="0"/>
              </a:spcAft>
            </a:pPr>
            <a:r>
              <a:rPr sz="1350" b="1" i="0">
                <a:solidFill>
                  <a:srgbClr val="6CB6FF"/>
                </a:solidFill>
                <a:latin typeface="Consolas"/>
                <a:ea typeface="Consolas"/>
                <a:cs typeface="Consolas"/>
              </a:rPr>
              <a:t>DECLARE</a:t>
            </a:r>
            <a:r>
              <a:rPr sz="1350" b="0" i="0">
                <a:solidFill>
                  <a:srgbClr val="E6E6E6"/>
                </a:solidFill>
                <a:latin typeface="Consolas"/>
                <a:ea typeface="Consolas"/>
                <a:cs typeface="Consolas"/>
              </a:rPr>
              <a:t> @ds </a:t>
            </a:r>
            <a:r>
              <a:rPr sz="1350" b="1" i="0">
                <a:solidFill>
                  <a:srgbClr val="6CB6FF"/>
                </a:solidFill>
                <a:latin typeface="Consolas"/>
                <a:ea typeface="Consolas"/>
                <a:cs typeface="Consolas"/>
              </a:rPr>
              <a:t>TABLE</a:t>
            </a:r>
            <a:r>
              <a:rPr sz="1350" b="0" i="0">
                <a:solidFill>
                  <a:srgbClr val="E6E6E6"/>
                </a:solidFill>
                <a:latin typeface="Consolas"/>
                <a:ea typeface="Consolas"/>
                <a:cs typeface="Consolas"/>
              </a:rPr>
              <a:t> (ma_kh VARCHAR(32) </a:t>
            </a:r>
            <a:r>
              <a:rPr sz="1350" b="1" i="0">
                <a:solidFill>
                  <a:srgbClr val="6CB6FF"/>
                </a:solidFill>
                <a:latin typeface="Consolas"/>
                <a:ea typeface="Consolas"/>
                <a:cs typeface="Consolas"/>
              </a:rPr>
              <a:t>PRIMARY KEY</a:t>
            </a:r>
            <a:r>
              <a:rPr sz="1350" b="0" i="0">
                <a:solidFill>
                  <a:srgbClr val="E6E6E6"/>
                </a:solidFill>
                <a:latin typeface="Consolas"/>
                <a:ea typeface="Consolas"/>
                <a:cs typeface="Consolas"/>
              </a:rPr>
              <a:t>)</a:t>
            </a:r>
          </a:p>
          <a:p>
            <a:pPr>
              <a:lnSpc>
                <a:spcPct val="100000"/>
              </a:lnSpc>
              <a:spcAft>
                <a:spcPts val="0"/>
              </a:spcAft>
            </a:pPr>
            <a:r>
              <a:rPr sz="1350" b="1" i="0">
                <a:solidFill>
                  <a:srgbClr val="6CB6FF"/>
                </a:solidFill>
                <a:latin typeface="Consolas"/>
                <a:ea typeface="Consolas"/>
                <a:cs typeface="Consolas"/>
              </a:rPr>
              <a:t>INSERT</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INTO</a:t>
            </a:r>
            <a:r>
              <a:rPr sz="1350" b="0" i="0">
                <a:solidFill>
                  <a:srgbClr val="E6E6E6"/>
                </a:solidFill>
                <a:latin typeface="Consolas"/>
                <a:ea typeface="Consolas"/>
                <a:cs typeface="Consolas"/>
              </a:rPr>
              <a:t> @ds </a:t>
            </a:r>
            <a:r>
              <a:rPr sz="1350" b="1" i="0">
                <a:solidFill>
                  <a:srgbClr val="6CB6FF"/>
                </a:solidFill>
                <a:latin typeface="Consolas"/>
                <a:ea typeface="Consolas"/>
                <a:cs typeface="Consolas"/>
              </a:rPr>
              <a:t>VALUES</a:t>
            </a:r>
            <a:r>
              <a:rPr sz="1350" b="0" i="0">
                <a:solidFill>
                  <a:srgbClr val="E6E6E6"/>
                </a:solidFill>
                <a:latin typeface="Consolas"/>
                <a:ea typeface="Consolas"/>
                <a:cs typeface="Consolas"/>
              </a:rPr>
              <a:t> ('KH001'), ('KH002')</a:t>
            </a:r>
          </a:p>
          <a:p>
            <a:pPr>
              <a:lnSpc>
                <a:spcPct val="100000"/>
              </a:lnSpc>
              <a:spcAft>
                <a:spcPts val="0"/>
              </a:spcAft>
            </a:pPr>
            <a:r>
              <a:rPr sz="1350" b="0" i="0">
                <a:solidFill>
                  <a:srgbClr val="E6E6E6"/>
                </a:solidFill>
                <a:latin typeface="Consolas"/>
                <a:ea typeface="Consolas"/>
                <a:cs typeface="Consolas"/>
              </a:rPr>
              <a:t> </a:t>
            </a:r>
          </a:p>
          <a:p>
            <a:pPr>
              <a:lnSpc>
                <a:spcPct val="100000"/>
              </a:lnSpc>
              <a:spcAft>
                <a:spcPts val="0"/>
              </a:spcAft>
            </a:pPr>
            <a:r>
              <a:rPr sz="1350" b="0" i="1">
                <a:solidFill>
                  <a:srgbClr val="7FB06A"/>
                </a:solidFill>
                <a:latin typeface="Consolas"/>
                <a:ea typeface="Consolas"/>
                <a:cs typeface="Consolas"/>
              </a:rPr>
              <a:t>-- CTE + ROW_NUMBER: tìm tên trùng</a:t>
            </a:r>
          </a:p>
          <a:p>
            <a:pPr>
              <a:lnSpc>
                <a:spcPct val="100000"/>
              </a:lnSpc>
              <a:spcAft>
                <a:spcPts val="0"/>
              </a:spcAft>
            </a:pPr>
            <a:r>
              <a:rPr sz="1350" b="0" i="0">
                <a:solidFill>
                  <a:srgbClr val="E6E6E6"/>
                </a:solidFill>
                <a:latin typeface="Consolas"/>
                <a:ea typeface="Consolas"/>
                <a:cs typeface="Consolas"/>
              </a:rPr>
              <a:t>;</a:t>
            </a:r>
            <a:r>
              <a:rPr sz="1350" b="1" i="0">
                <a:solidFill>
                  <a:srgbClr val="6CB6FF"/>
                </a:solidFill>
                <a:latin typeface="Consolas"/>
                <a:ea typeface="Consolas"/>
                <a:cs typeface="Consolas"/>
              </a:rPr>
              <a:t>WITH</a:t>
            </a:r>
            <a:r>
              <a:rPr sz="1350" b="0" i="0">
                <a:solidFill>
                  <a:srgbClr val="E6E6E6"/>
                </a:solidFill>
                <a:latin typeface="Consolas"/>
                <a:ea typeface="Consolas"/>
                <a:cs typeface="Consolas"/>
              </a:rPr>
              <a:t> trung </a:t>
            </a:r>
            <a:r>
              <a:rPr sz="1350" b="1" i="0">
                <a:solidFill>
                  <a:srgbClr val="6CB6FF"/>
                </a:solidFill>
                <a:latin typeface="Consolas"/>
                <a:ea typeface="Consolas"/>
                <a:cs typeface="Consolas"/>
              </a:rPr>
              <a:t>AS</a:t>
            </a:r>
            <a:r>
              <a:rPr sz="1350" b="0" i="0">
                <a:solidFill>
                  <a:srgbClr val="E6E6E6"/>
                </a:solidFill>
                <a:latin typeface="Consolas"/>
                <a:ea typeface="Consolas"/>
                <a:cs typeface="Consolas"/>
              </a:rPr>
              <a:t> (</a:t>
            </a:r>
          </a:p>
          <a:p>
            <a:pPr>
              <a:lnSpc>
                <a:spcPct val="100000"/>
              </a:lnSpc>
              <a:spcAft>
                <a:spcPts val="0"/>
              </a:spcAft>
            </a:pPr>
            <a:r>
              <a:rPr sz="1350" b="0" i="0">
                <a:solidFill>
                  <a:srgbClr val="E6E6E6"/>
                </a:solidFill>
                <a:latin typeface="Consolas"/>
                <a:ea typeface="Consolas"/>
                <a:cs typeface="Consolas"/>
              </a:rPr>
              <a:t>  </a:t>
            </a: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ma_kh, ten_kh,</a:t>
            </a:r>
          </a:p>
          <a:p>
            <a:pPr>
              <a:lnSpc>
                <a:spcPct val="100000"/>
              </a:lnSpc>
              <a:spcAft>
                <a:spcPts val="0"/>
              </a:spcAft>
            </a:pPr>
            <a:r>
              <a:rPr sz="1350" b="0" i="0">
                <a:solidFill>
                  <a:srgbClr val="E6E6E6"/>
                </a:solidFill>
                <a:latin typeface="Consolas"/>
                <a:ea typeface="Consolas"/>
                <a:cs typeface="Consolas"/>
              </a:rPr>
              <a:t>         ROW_NUMBER() OVER (PARTITION BY ten_kh </a:t>
            </a:r>
            <a:r>
              <a:rPr sz="1350" b="1" i="0">
                <a:solidFill>
                  <a:srgbClr val="6CB6FF"/>
                </a:solidFill>
                <a:latin typeface="Consolas"/>
                <a:ea typeface="Consolas"/>
                <a:cs typeface="Consolas"/>
              </a:rPr>
              <a:t>ORDER BY</a:t>
            </a:r>
            <a:r>
              <a:rPr sz="1350" b="0" i="0">
                <a:solidFill>
                  <a:srgbClr val="E6E6E6"/>
                </a:solidFill>
                <a:latin typeface="Consolas"/>
                <a:ea typeface="Consolas"/>
                <a:cs typeface="Consolas"/>
              </a:rPr>
              <a:t> ma_kh) rn</a:t>
            </a:r>
          </a:p>
          <a:p>
            <a:pPr>
              <a:lnSpc>
                <a:spcPct val="100000"/>
              </a:lnSpc>
              <a:spcAft>
                <a:spcPts val="0"/>
              </a:spcAft>
            </a:pPr>
            <a:r>
              <a:rPr sz="1350" b="0" i="0">
                <a:solidFill>
                  <a:srgbClr val="E6E6E6"/>
                </a:solidFill>
                <a:latin typeface="Consolas"/>
                <a:ea typeface="Consolas"/>
                <a:cs typeface="Consolas"/>
              </a:rPr>
              <a:t>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dmkh)</a:t>
            </a:r>
          </a:p>
          <a:p>
            <a:pPr>
              <a:lnSpc>
                <a:spcPct val="100000"/>
              </a:lnSpc>
              <a:spcAft>
                <a:spcPts val="0"/>
              </a:spcAft>
            </a:pP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trung </a:t>
            </a:r>
            <a:r>
              <a:rPr sz="1350" b="1" i="0">
                <a:solidFill>
                  <a:srgbClr val="6CB6FF"/>
                </a:solidFill>
                <a:latin typeface="Consolas"/>
                <a:ea typeface="Consolas"/>
                <a:cs typeface="Consolas"/>
              </a:rPr>
              <a:t>WHERE</a:t>
            </a:r>
            <a:r>
              <a:rPr sz="1350" b="0" i="0">
                <a:solidFill>
                  <a:srgbClr val="E6E6E6"/>
                </a:solidFill>
                <a:latin typeface="Consolas"/>
                <a:ea typeface="Consolas"/>
                <a:cs typeface="Consolas"/>
              </a:rPr>
              <a:t> rn &gt; 1</a:t>
            </a:r>
          </a:p>
        </p:txBody>
      </p:sp>
      <p:sp>
        <p:nvSpPr>
          <p:cNvPr id="9" name="TextBox 8"/>
          <p:cNvSpPr txBox="1"/>
          <p:nvPr/>
        </p:nvSpPr>
        <p:spPr>
          <a:xfrm>
            <a:off x="7863840" y="1600200"/>
            <a:ext cx="3749039" cy="46634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#temp</a:t>
            </a:r>
            <a:r>
              <a:rPr sz="1700" b="0" i="0">
                <a:solidFill>
                  <a:srgbClr val="263238"/>
                </a:solidFill>
                <a:latin typeface="Segoe UI"/>
                <a:ea typeface="Segoe UI"/>
                <a:cs typeface="Segoe UI"/>
              </a:rPr>
              <a:t> — dùng nhiều trong procedure</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@bien</a:t>
            </a:r>
            <a:r>
              <a:rPr sz="1700" b="0" i="0">
                <a:solidFill>
                  <a:srgbClr val="263238"/>
                </a:solidFill>
                <a:latin typeface="Segoe UI"/>
                <a:ea typeface="Segoe UI"/>
                <a:cs typeface="Segoe UI"/>
              </a:rPr>
              <a:t> — dữ liệu nhỏ, trong 1 batch</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CTE + </a:t>
            </a:r>
            <a:r>
              <a:rPr sz="1600" b="0" i="0">
                <a:solidFill>
                  <a:srgbClr val="B02A2A"/>
                </a:solidFill>
                <a:latin typeface="Consolas"/>
                <a:ea typeface="Consolas"/>
                <a:cs typeface="Consolas"/>
              </a:rPr>
              <a:t>ROW_NUMBER</a:t>
            </a:r>
            <a:r>
              <a:rPr sz="1700" b="0" i="0">
                <a:solidFill>
                  <a:srgbClr val="263238"/>
                </a:solidFill>
                <a:latin typeface="Segoe UI"/>
                <a:ea typeface="Segoe UI"/>
                <a:cs typeface="Segoe UI"/>
              </a:rPr>
              <a:t> tìm bản trùng</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SELECT TOP 0 … INTO</a:t>
            </a:r>
            <a:r>
              <a:rPr sz="1700" b="0" i="0">
                <a:solidFill>
                  <a:srgbClr val="263238"/>
                </a:solidFill>
                <a:latin typeface="Segoe UI"/>
                <a:ea typeface="Segoe UI"/>
                <a:cs typeface="Segoe UI"/>
              </a:rPr>
              <a:t> → </a:t>
            </a:r>
            <a:r>
              <a:rPr sz="1700" b="1" i="0">
                <a:solidFill>
                  <a:srgbClr val="1F4E79"/>
                </a:solidFill>
                <a:latin typeface="Segoe UI"/>
                <a:ea typeface="Segoe UI"/>
                <a:cs typeface="Segoe UI"/>
              </a:rPr>
              <a:t>đúng kiểu cột</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Đừng tạo sẵn </a:t>
            </a:r>
            <a:r>
              <a:rPr sz="1600" b="0" i="0">
                <a:solidFill>
                  <a:srgbClr val="B02A2A"/>
                </a:solidFill>
                <a:latin typeface="Consolas"/>
                <a:ea typeface="Consolas"/>
                <a:cs typeface="Consolas"/>
              </a:rPr>
              <a:t>#temp</a:t>
            </a:r>
            <a:r>
              <a:rPr sz="1700" b="0" i="0">
                <a:solidFill>
                  <a:srgbClr val="263238"/>
                </a:solidFill>
                <a:latin typeface="Segoe UI"/>
                <a:ea typeface="Segoe UI"/>
                <a:cs typeface="Segoe UI"/>
              </a:rPr>
              <a:t> trùng tên bảng tạm của procedure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Tab Table · SQL Object · Lookup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pic>
        <p:nvPicPr>
          <p:cNvPr id="7" name="Picture 6" descr="bcode-table.png"/>
          <p:cNvPicPr>
            <a:picLocks noChangeAspect="1"/>
          </p:cNvPicPr>
          <p:nvPr/>
        </p:nvPicPr>
        <p:blipFill>
          <a:blip r:embed="rId2"/>
          <a:stretch>
            <a:fillRect/>
          </a:stretch>
        </p:blipFill>
        <p:spPr>
          <a:xfrm>
            <a:off x="548640" y="1648010"/>
            <a:ext cx="7589520" cy="4293499"/>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Table</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Ctrl+Shift+T</a:t>
            </a:r>
            <a:r>
              <a:rPr sz="1500" b="0" i="0">
                <a:solidFill>
                  <a:srgbClr val="263238"/>
                </a:solidFill>
                <a:latin typeface="Segoe UI"/>
                <a:ea typeface="Segoe UI"/>
                <a:cs typeface="Segoe UI"/>
              </a:rPr>
              <a:t>: Where / Top → Enter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Sửa như Excel · </a:t>
            </a:r>
            <a:r>
              <a:rPr sz="1400" b="0" i="0">
                <a:solidFill>
                  <a:srgbClr val="B02A2A"/>
                </a:solidFill>
                <a:latin typeface="Consolas"/>
                <a:ea typeface="Consolas"/>
                <a:cs typeface="Consolas"/>
              </a:rPr>
              <a:t>F4</a:t>
            </a:r>
            <a:r>
              <a:rPr sz="1500" b="0" i="0">
                <a:solidFill>
                  <a:srgbClr val="263238"/>
                </a:solidFill>
                <a:latin typeface="Segoe UI"/>
                <a:ea typeface="Segoe UI"/>
                <a:cs typeface="Segoe UI"/>
              </a:rPr>
              <a:t> thêm · </a:t>
            </a:r>
            <a:r>
              <a:rPr sz="1400" b="0" i="0">
                <a:solidFill>
                  <a:srgbClr val="B02A2A"/>
                </a:solidFill>
                <a:latin typeface="Consolas"/>
                <a:ea typeface="Consolas"/>
                <a:cs typeface="Consolas"/>
              </a:rPr>
              <a:t>F8</a:t>
            </a:r>
            <a:r>
              <a:rPr sz="1500" b="0" i="0">
                <a:solidFill>
                  <a:srgbClr val="263238"/>
                </a:solidFill>
                <a:latin typeface="Segoe UI"/>
                <a:ea typeface="Segoe UI"/>
                <a:cs typeface="Segoe UI"/>
              </a:rPr>
              <a:t> xoá</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Dòng </a:t>
            </a:r>
            <a:r>
              <a:rPr sz="1500" b="1" i="0">
                <a:solidFill>
                  <a:srgbClr val="1F4E79"/>
                </a:solidFill>
                <a:latin typeface="Segoe UI"/>
                <a:ea typeface="Segoe UI"/>
                <a:cs typeface="Segoe UI"/>
              </a:rPr>
              <a:t>Menu:</a:t>
            </a:r>
            <a:r>
              <a:rPr sz="1500" b="0" i="0">
                <a:solidFill>
                  <a:srgbClr val="263238"/>
                </a:solidFill>
                <a:latin typeface="Segoe UI"/>
                <a:ea typeface="Segoe UI"/>
                <a:cs typeface="Segoe UI"/>
              </a:rPr>
              <a:t> → màn hình dùng bảng</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Structure → </a:t>
            </a:r>
            <a:r>
              <a:rPr sz="1500" b="1" i="0">
                <a:solidFill>
                  <a:srgbClr val="1F4E79"/>
                </a:solidFill>
                <a:latin typeface="Segoe UI"/>
                <a:ea typeface="Segoe UI"/>
                <a:cs typeface="Segoe UI"/>
              </a:rPr>
              <a:t>Gen Add Column</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SQL Object</a:t>
            </a:r>
            <a:r>
              <a:rPr sz="1500" b="0" i="0">
                <a:solidFill>
                  <a:srgbClr val="263238"/>
                </a:solidFill>
                <a:latin typeface="Segoe UI"/>
                <a:ea typeface="Segoe UI"/>
                <a:cs typeface="Segoe UI"/>
              </a:rPr>
              <a:t>: Mở dạng ALTER, Ai đang dùng</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Lookup</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Ctrl+Shift+L</a:t>
            </a:r>
            <a:r>
              <a:rPr sz="1500" b="0" i="0">
                <a:solidFill>
                  <a:srgbClr val="263238"/>
                </a:solidFill>
                <a:latin typeface="Segoe UI"/>
                <a:ea typeface="Segoe UI"/>
                <a:cs typeface="Segoe UI"/>
              </a:rPr>
              <a:t>: tìm theo nội dung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Cây SQL Object · Ai đang dùng · So sánh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pic>
        <p:nvPicPr>
          <p:cNvPr id="7" name="Picture 6" descr="bcode-sql-object.png"/>
          <p:cNvPicPr>
            <a:picLocks noChangeAspect="1"/>
          </p:cNvPicPr>
          <p:nvPr/>
        </p:nvPicPr>
        <p:blipFill>
          <a:blip r:embed="rId2"/>
          <a:stretch>
            <a:fillRect/>
          </a:stretch>
        </p:blipFill>
        <p:spPr>
          <a:xfrm>
            <a:off x="1106905" y="1325880"/>
            <a:ext cx="3638349" cy="4937760"/>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Gõ để lọc theo tên</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Chuột phải → </a:t>
            </a:r>
            <a:r>
              <a:rPr sz="1700" b="1" i="0">
                <a:solidFill>
                  <a:srgbClr val="1F4E79"/>
                </a:solidFill>
                <a:latin typeface="Segoe UI"/>
                <a:ea typeface="Segoe UI"/>
                <a:cs typeface="Segoe UI"/>
              </a:rPr>
              <a:t>Mở dạng ALTER</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Ai đang dùng</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Ctrl+Alt+U</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Xem trước khi sửa hoặc xoá</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So sánh object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Ctrl+Shift+J</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Sinh script ALTER (không tự chạy)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Profiler · Script Cart · Gen Insert / Update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sp>
        <p:nvSpPr>
          <p:cNvPr id="7" name="Rounded Rectangle 6"/>
          <p:cNvSpPr/>
          <p:nvPr/>
        </p:nvSpPr>
        <p:spPr>
          <a:xfrm>
            <a:off x="6400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3459480"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3093720" cy="822960"/>
          </a:xfrm>
          <a:prstGeom prst="rect">
            <a:avLst/>
          </a:prstGeom>
          <a:noFill/>
        </p:spPr>
        <p:txBody>
          <a:bodyPr wrap="square" anchor="t" lIns="45720" rIns="45720" tIns="27432" bIns="27432">
            <a:spAutoFit/>
          </a:bodyPr>
          <a:lstStyle/>
          <a:p>
            <a:pPr algn="l"/>
            <a:r>
              <a:rPr sz="2000" b="1" i="0">
                <a:solidFill>
                  <a:srgbClr val="8E44AD"/>
                </a:solidFill>
                <a:latin typeface="Segoe UI"/>
                <a:ea typeface="Segoe UI"/>
                <a:cs typeface="Segoe UI"/>
              </a:rPr>
              <a:t>SQL Profiler  Ctrl+3</a:t>
            </a:r>
          </a:p>
        </p:txBody>
      </p:sp>
      <p:sp>
        <p:nvSpPr>
          <p:cNvPr id="10" name="TextBox 9"/>
          <p:cNvSpPr txBox="1"/>
          <p:nvPr/>
        </p:nvSpPr>
        <p:spPr>
          <a:xfrm>
            <a:off x="7772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Bắt câu lệnh màn hình gửi xuống SQL</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Lọc theo database + user (</a:t>
            </a:r>
            <a:r>
              <a:rPr sz="1600" b="1" i="0">
                <a:solidFill>
                  <a:srgbClr val="1F4E79"/>
                </a:solidFill>
                <a:latin typeface="Segoe UI"/>
                <a:ea typeface="Segoe UI"/>
                <a:cs typeface="Segoe UI"/>
              </a:rPr>
              <a:t>Tra u_id</a:t>
            </a:r>
            <a:r>
              <a:rPr sz="1600" b="0" i="0">
                <a:solidFill>
                  <a:srgbClr val="263238"/>
                </a:solidFill>
                <a:latin typeface="Segoe UI"/>
                <a:ea typeface="Segoe UI"/>
                <a:cs typeface="Segoe UI"/>
              </a:rPr>
              <a:t>)</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Thao tác trên web → tìm dòng </a:t>
            </a:r>
            <a:r>
              <a:rPr sz="1500" b="0" i="0">
                <a:solidFill>
                  <a:srgbClr val="B02A2A"/>
                </a:solidFill>
                <a:latin typeface="Consolas"/>
                <a:ea typeface="Consolas"/>
                <a:cs typeface="Consolas"/>
              </a:rPr>
              <a:t>exec rs_…</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 Copy SQL Command</a:t>
            </a:r>
            <a:r>
              <a:rPr sz="1600" b="0" i="0">
                <a:solidFill>
                  <a:srgbClr val="263238"/>
                </a:solidFill>
                <a:latin typeface="Segoe UI"/>
                <a:ea typeface="Segoe UI"/>
                <a:cs typeface="Segoe UI"/>
              </a:rPr>
              <a:t> → chạy lại</a:t>
            </a:r>
          </a:p>
        </p:txBody>
      </p:sp>
      <p:sp>
        <p:nvSpPr>
          <p:cNvPr id="11" name="Rounded Rectangle 10"/>
          <p:cNvSpPr/>
          <p:nvPr/>
        </p:nvSpPr>
        <p:spPr>
          <a:xfrm>
            <a:off x="43738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3880" y="1645920"/>
            <a:ext cx="3459480"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6760" y="1874519"/>
            <a:ext cx="3093720" cy="822960"/>
          </a:xfrm>
          <a:prstGeom prst="rect">
            <a:avLst/>
          </a:prstGeom>
          <a:noFill/>
        </p:spPr>
        <p:txBody>
          <a:bodyPr wrap="square" anchor="t" lIns="45720" rIns="45720" tIns="27432" bIns="27432">
            <a:spAutoFit/>
          </a:bodyPr>
          <a:lstStyle/>
          <a:p>
            <a:pPr algn="l"/>
            <a:r>
              <a:rPr sz="2000" b="1" i="0">
                <a:solidFill>
                  <a:srgbClr val="2E75B6"/>
                </a:solidFill>
                <a:latin typeface="Segoe UI"/>
                <a:ea typeface="Segoe UI"/>
                <a:cs typeface="Segoe UI"/>
              </a:rPr>
              <a:t>Script Cart</a:t>
            </a:r>
          </a:p>
        </p:txBody>
      </p:sp>
      <p:sp>
        <p:nvSpPr>
          <p:cNvPr id="14" name="TextBox 13"/>
          <p:cNvSpPr txBox="1"/>
          <p:nvPr/>
        </p:nvSpPr>
        <p:spPr>
          <a:xfrm>
            <a:off x="45110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Add Script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Ctrl+Alt+Shift+A</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Ở Table: DELETE + nạp lại các dòng đang xem</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View Script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Ctrl+Alt+Shift+V</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Save / Copy / Clear Script</a:t>
            </a:r>
          </a:p>
        </p:txBody>
      </p:sp>
      <p:sp>
        <p:nvSpPr>
          <p:cNvPr id="15" name="Rounded Rectangle 14"/>
          <p:cNvSpPr/>
          <p:nvPr/>
        </p:nvSpPr>
        <p:spPr>
          <a:xfrm>
            <a:off x="8107679"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79" y="1645920"/>
            <a:ext cx="3459480" cy="1097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874519"/>
            <a:ext cx="3093720" cy="822960"/>
          </a:xfrm>
          <a:prstGeom prst="rect">
            <a:avLst/>
          </a:prstGeom>
          <a:noFill/>
        </p:spPr>
        <p:txBody>
          <a:bodyPr wrap="square" anchor="t" lIns="45720" rIns="45720" tIns="27432" bIns="27432">
            <a:spAutoFit/>
          </a:bodyPr>
          <a:lstStyle/>
          <a:p>
            <a:pPr algn="l"/>
            <a:r>
              <a:rPr sz="2000" b="1" i="0">
                <a:solidFill>
                  <a:srgbClr val="27AE60"/>
                </a:solidFill>
                <a:latin typeface="Segoe UI"/>
                <a:ea typeface="Segoe UI"/>
                <a:cs typeface="Segoe UI"/>
              </a:rPr>
              <a:t>Gen Insert / Update</a:t>
            </a:r>
          </a:p>
        </p:txBody>
      </p:sp>
      <p:sp>
        <p:nvSpPr>
          <p:cNvPr id="18" name="TextBox 17"/>
          <p:cNvSpPr txBox="1"/>
          <p:nvPr/>
        </p:nvSpPr>
        <p:spPr>
          <a:xfrm>
            <a:off x="8244839"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Chuột phải lưới → </a:t>
            </a:r>
            <a:r>
              <a:rPr sz="1600" b="1" i="0">
                <a:solidFill>
                  <a:srgbClr val="1F4E79"/>
                </a:solidFill>
                <a:latin typeface="Segoe UI"/>
                <a:ea typeface="Segoe UI"/>
                <a:cs typeface="Segoe UI"/>
              </a:rPr>
              <a:t>Gen Insert / Update</a:t>
            </a:r>
            <a:r>
              <a:rPr sz="1600" b="0" i="0">
                <a:solidFill>
                  <a:srgbClr val="263238"/>
                </a:solidFill>
                <a:latin typeface="Segoe UI"/>
                <a:ea typeface="Segoe UI"/>
                <a:cs typeface="Segoe UI"/>
              </a:rPr>
              <a:t> dòng chọn</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Gen Update (Result)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Ctrl+Shift+U</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Hỏi bảng đích và cột khoá</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Câu lệnh được chép vào clipboard</a:t>
            </a:r>
          </a:p>
        </p:txBody>
      </p:sp>
      <p:sp>
        <p:nvSpPr>
          <p:cNvPr id="19" name="Rounded Rectangle 18"/>
          <p:cNvSpPr/>
          <p:nvPr/>
        </p:nvSpPr>
        <p:spPr>
          <a:xfrm>
            <a:off x="640080" y="5623560"/>
            <a:ext cx="10927080" cy="640080"/>
          </a:xfrm>
          <a:prstGeom prst="roundRect">
            <a:avLst>
              <a:gd name="adj" fmla="val 8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623560"/>
            <a:ext cx="91440" cy="6400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C0392B"/>
                </a:solidFill>
                <a:latin typeface="Segoe UI"/>
                <a:ea typeface="Segoe UI"/>
                <a:cs typeface="Segoe UI"/>
              </a:rPr>
              <a:t>Cảnh báo:</a:t>
            </a:r>
            <a:r>
              <a:rPr sz="1400" b="0" i="0">
                <a:solidFill>
                  <a:srgbClr val="263238"/>
                </a:solidFill>
                <a:latin typeface="Segoe UI"/>
                <a:ea typeface="Segoe UI"/>
                <a:cs typeface="Segoe UI"/>
              </a:rPr>
              <a:t> Add Script khi số dòng đang xem </a:t>
            </a:r>
            <a:r>
              <a:rPr sz="1400" b="1" i="0">
                <a:solidFill>
                  <a:srgbClr val="1F4E79"/>
                </a:solidFill>
                <a:latin typeface="Segoe UI"/>
                <a:ea typeface="Segoe UI"/>
                <a:cs typeface="Segoe UI"/>
              </a:rPr>
              <a:t>bằng Top</a:t>
            </a:r>
            <a:r>
              <a:rPr sz="1400" b="0" i="0">
                <a:solidFill>
                  <a:srgbClr val="263238"/>
                </a:solidFill>
                <a:latin typeface="Segoe UI"/>
                <a:ea typeface="Segoe UI"/>
                <a:cs typeface="Segoe UI"/>
              </a:rPr>
              <a:t> → các dòng còn lại </a:t>
            </a:r>
            <a:r>
              <a:rPr sz="1400" b="1" i="0">
                <a:solidFill>
                  <a:srgbClr val="1F4E79"/>
                </a:solidFill>
                <a:latin typeface="Segoe UI"/>
                <a:ea typeface="Segoe UI"/>
                <a:cs typeface="Segoe UI"/>
              </a:rPr>
              <a:t>bị mất</a:t>
            </a:r>
            <a:r>
              <a:rPr sz="1400" b="0" i="0">
                <a:solidFill>
                  <a:srgbClr val="263238"/>
                </a:solidFill>
                <a:latin typeface="Segoe UI"/>
                <a:ea typeface="Segoe UI"/>
                <a:cs typeface="Segoe UI"/>
              </a:rPr>
              <a:t> khi chạy script. Đặt Top = 0 rồi Load lại.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Đổi nhân viên bán hàng cho một nhóm khách theo đúng 5 bước, rồi khôi phục từ bảng sao lưu.</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Tìm các khách hàng trùng tên bằng CTE kết hợp ROW_NUMBER.</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3.</a:t>
            </a:r>
            <a:r>
              <a:rPr sz="2000" b="0" i="0">
                <a:solidFill>
                  <a:srgbClr val="263238"/>
                </a:solidFill>
                <a:latin typeface="Segoe UI"/>
                <a:ea typeface="Segoe UI"/>
                <a:cs typeface="Segoe UI"/>
              </a:rPr>
              <a:t> Tìm mọi procedure nhắc tới </a:t>
            </a:r>
            <a:r>
              <a:rPr sz="1900" b="0" i="0">
                <a:solidFill>
                  <a:srgbClr val="B02A2A"/>
                </a:solidFill>
                <a:latin typeface="Consolas"/>
                <a:ea typeface="Consolas"/>
                <a:cs typeface="Consolas"/>
              </a:rPr>
              <a:t>dmbp</a:t>
            </a:r>
            <a:r>
              <a:rPr sz="2000" b="0" i="0">
                <a:solidFill>
                  <a:srgbClr val="263238"/>
                </a:solidFill>
                <a:latin typeface="Segoe UI"/>
                <a:ea typeface="Segoe UI"/>
                <a:cs typeface="Segoe UI"/>
              </a:rPr>
              <a:t> bằng Lookup; mở một procedure bằng </a:t>
            </a:r>
            <a:r>
              <a:rPr sz="2000" b="1" i="0">
                <a:solidFill>
                  <a:srgbClr val="1F4E79"/>
                </a:solidFill>
                <a:latin typeface="Segoe UI"/>
                <a:ea typeface="Segoe UI"/>
                <a:cs typeface="Segoe UI"/>
              </a:rPr>
              <a:t>Mở dạng ALTER</a:t>
            </a:r>
            <a:r>
              <a:rPr sz="2000" b="0" i="0">
                <a:solidFill>
                  <a:srgbClr val="263238"/>
                </a:solidFill>
                <a:latin typeface="Segoe UI"/>
                <a:ea typeface="Segoe UI"/>
                <a:cs typeface="Segoe UI"/>
              </a:rPr>
              <a:t>.</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4.</a:t>
            </a:r>
            <a:r>
              <a:rPr sz="2000" b="0" i="0">
                <a:solidFill>
                  <a:srgbClr val="263238"/>
                </a:solidFill>
                <a:latin typeface="Segoe UI"/>
                <a:ea typeface="Segoe UI"/>
                <a:cs typeface="Segoe UI"/>
              </a:rPr>
              <a:t> Mở </a:t>
            </a:r>
            <a:r>
              <a:rPr sz="1900" b="0" i="0">
                <a:solidFill>
                  <a:srgbClr val="B02A2A"/>
                </a:solidFill>
                <a:latin typeface="Consolas"/>
                <a:ea typeface="Consolas"/>
                <a:cs typeface="Consolas"/>
              </a:rPr>
              <a:t>dmbp</a:t>
            </a:r>
            <a:r>
              <a:rPr sz="2000" b="0" i="0">
                <a:solidFill>
                  <a:srgbClr val="263238"/>
                </a:solidFill>
                <a:latin typeface="Segoe UI"/>
                <a:ea typeface="Segoe UI"/>
                <a:cs typeface="Segoe UI"/>
              </a:rPr>
              <a:t> trong tab Table, bấm Add Script rồi xem kết quả trong View Script.</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3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Viết script thêm 1 cột cho một bảng phân kỳ bằng Gen Add Column, chạy trên dự án thử, rồi kiểm tra bằng Check Partitions Struct.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Năm bước khi sửa dữ liệu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Vì sao phải bật Giữ kết nối khi chạy BEGIN TRAN và COMMIT ở 2 lần F5 khác nhau?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Add Script khi số dòng đang xem bằng giá trị Top thì sao?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Thêm cột cho bảng phân kỳ phải lưu ý gì?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