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3: Sửa dữ liệu an toàn và công cụ dữ liệu Bcode (Cơ bản, 3 giờ).</a:t>
            </a:r>
          </a:p>
          <a:p>
            <a:r>
              <a:t>Chuẩn bị: Dự án thử; KHÔNG dùng database khách.</a:t>
            </a:r>
          </a:p>
          <a:p>
            <a:r>
              <a:t>Nhắc lại bài tập về nhà của buổi trước trước khi vào nội dung mới (5–10 phút).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a:t>
            </a:r>
          </a:p>
          <a:p>
            <a:r>
              <a:t>- Làm đúng quy tắc 5 bước khi UPDATE / DELETE</a:t>
            </a:r>
          </a:p>
          <a:p>
            <a:r>
              <a:t>- Dùng bảng tạm, biến bảng, CTE</a:t>
            </a:r>
          </a:p>
          <a:p>
            <a:r>
              <a:t>- Dùng tab Table, Command, Lookup, cây SQL Object, Ai đang dùng</a:t>
            </a:r>
          </a:p>
          <a:p>
            <a:r>
              <a:t>- Đóng gói dữ liệu bằng Add Script, Gen Insert / Update</a:t>
            </a:r>
          </a:p>
          <a:p>
            <a:r>
              <a:t>Lịch trình:</a:t>
            </a:r>
          </a:p>
          <a:p>
            <a:r>
              <a:t>1. Quy tắc 5 bước, transaction, sao lưu (40')</a:t>
            </a:r>
          </a:p>
          <a:p>
            <a:r>
              <a:t>2. Bảng tạm, biến bảng, CTE (25')</a:t>
            </a:r>
          </a:p>
          <a:p>
            <a:r>
              <a:t>3. Cây SQL Object, Ai đang dùng, So sánh object (25')</a:t>
            </a:r>
          </a:p>
          <a:p>
            <a:r>
              <a:t>4. Tab Table, Gen Add Column, Check Partitions Struct (30')</a:t>
            </a:r>
          </a:p>
          <a:p>
            <a:r>
              <a:t>5. Command, Lookup, Script Cart, Gen Insert / Update (30')</a:t>
            </a:r>
          </a:p>
          <a:p>
            <a:r>
              <a:t>6. Thực hành (30')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quan trọng nhất của chương 2. Dữ liệu khách là dữ liệu kế toán thật.</a:t>
            </a:r>
          </a:p>
          <a:p>
            <a:r>
              <a:t>Quy tắc 5 bước: SELECT trước với đúng WHERE để biết sẽ ảnh hưởng bao nhiêu dòng; sao lưu các dòng đó ra bảng phụ có ngày trong tên (zbk_dmkh_20261027); mở transaction rồi chạy câu sửa; kiểm tra @@ROWCOUNT có khớp và SELECT lại; cuối cùng COMMIT nếu đúng, ROLLBACK nếu sai.</a:t>
            </a:r>
          </a:p>
          <a:p>
            <a:r>
              <a:t>Ví dụ: chuyển khách của nhân viên NV01 sang NV02. Bước 1 đếm được 12 dòng; bước 3–5 gói trong một lần chạy: số dòng bị sửa khác 12 thì tự ROLLBACK. Nhớ cập nhật datetime2 để giữ dấu vết. Muốn khôi phục: UPDATE ngược từ bảng zbk.</a:t>
            </a:r>
          </a:p>
          <a:p>
            <a:r>
              <a:t>Không để transaction treo: nó khoá bảng, người dùng khác bị đứng màn hình.</a:t>
            </a:r>
          </a:p>
          <a:p>
            <a:r>
              <a:t>Lưu ý Bcode: tab SQL Query mặc định Reset Connection sau mỗi lần chạy, nên nếu BEGIN TRAN và COMMIT ở hai lần bấm F5 khác nhau thì phải bật Giữ kết nối (⚙ Tùy chọn).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cách giữ dữ liệu trung gian.</a:t>
            </a:r>
          </a:p>
          <a:p>
            <a:r>
              <a:t>Bảng tạm #: dùng nhiều nhất trong procedure Fast; sống tới hết kết nối hoặc hết procedure; tạo index được.</a:t>
            </a:r>
          </a:p>
          <a:p>
            <a:r>
              <a:t>Biến bảng @: nhỏ, sống trong một batch, không bị ROLLBACK.</a:t>
            </a:r>
          </a:p>
          <a:p>
            <a:r>
              <a:t>CTE: đặt tên cho truy vấn con, kết hợp ROW_NUMBER để tìm bản trùng hoặc lấy dòng mới nhất.</a:t>
            </a:r>
          </a:p>
          <a:p>
            <a:r>
              <a:t>Mẹo Fast: SELECT TOP 0 ... INTO #report FROM bảng thật để tạo bảng tạm đúng kiểu cột (tránh cả lỗi collation khi JOIN).</a:t>
            </a:r>
          </a:p>
          <a:p>
            <a:r>
              <a:t>Nhắc: test procedure thì đừng tự tạo trước bảng tạm trùng tên bảng tạm procedure dùng bên trong — sẽ ra lỗi Invalid column name (buổi 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 Table (Ctrl+Shift+T): gõ tên bảng, Where, Order, Top → Enter. Sửa ô như Excel, rời dòng là tự lưu. F4 thêm dòng, F8 xoá (ghi ngay), F1 xem chi tiết.</a:t>
            </a:r>
          </a:p>
          <a:p>
            <a:r>
              <a:t>Dòng Menu dưới ô Where cho biết màn hình nào dùng bảng này — bấm để nhảy tới menu.</a:t>
            </a:r>
          </a:p>
          <a:p>
            <a:r>
              <a:t>Chuột phải tab Structure: Gen Add Column / Gen Alter Column — với bảng phân kỳ sinh sẵn lệnh cho mọi kỳ. Chuột phải ô Table → Check Partitions Struct.</a:t>
            </a:r>
          </a:p>
          <a:p>
            <a:r>
              <a:t>Cây SQL Object: lọc theo tên, double-click mở code, chuột phải Mở dạng ALTER, Ai đang dùng object này (Ctrl+Alt+U) — bắt buộc xem trước khi sửa / xoá.</a:t>
            </a:r>
          </a:p>
          <a:p>
            <a:r>
              <a:t>Lookup (Ctrl+Shift+L): tìm object theo tên hoặc theo nội dung code — cách nhanh nhất để biết procedure nào cập nhật một bảng / cột.</a:t>
            </a:r>
          </a:p>
          <a:p>
            <a:r>
              <a:t>Cảnh báo: bảng không có khoá chính thì không lưu / xoá an toàn; bảng $000000 chỉ để xem.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Cây SQL Object ở cột icon trái: nhóm Tables, Views, Stored Procedures, Functions, Triggers; bảng phân kỳ được ẩn. Gõ vào ô lọc là lọc ngay.</a:t>
            </a:r>
          </a:p>
          <a:p>
            <a:r>
              <a:t>Double-click procedure mở ở tab SQL dạng DROP / CREATE; khi sửa nên chuột phải → Mở dạng ALTER.</a:t>
            </a:r>
          </a:p>
          <a:p>
            <a:r>
              <a:t>Ai đang dùng object này (Ctrl+Alt+U): liệt kê procedure khác và file controller (Dir, Filter, Grid, Include, Report) có dùng — bắt buộc xem trước khi sửa hoặc xoá.</a:t>
            </a:r>
          </a:p>
          <a:p>
            <a:r>
              <a:t>So sánh object (Ctrl+Shift+J): so code giữa 2 database (bản dev ↔ bản khách), lọc khác nhau / chỉ bên trái / phải, sinh script ALTER (không tự chạy).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Profiler: khi không biết màn hình gọi procedure nào. Ctrl+3, khai đường dẫn Profiler, đăng nhập, Bung &amp; Đăng nhập. Lọc theo user để đỡ nhiễu. Làm thao tác trên web, tìm dòng exec, copy câu lệnh sang SQL Query để chạy lại với cùng tham số. Profiler làm chậm server — chỉ bật đúng lúc cần.</a:t>
            </a:r>
          </a:p>
          <a:p>
            <a:r>
              <a:t>Script Cart: giỏ gom script để đóng gói. Ở tab Table, Add Script sinh DELETE + nạp lại toàn bộ dòng đang xem. Cảnh báo: nếu số dòng đang xem bằng đúng Top thì phần còn lại sẽ mất khi chạy script — đặt Top = 0.</a:t>
            </a:r>
          </a:p>
          <a:p>
            <a:r>
              <a:t>Gen Insert / Update: chuột phải các dòng trên lưới để sinh câu INSERT / UPDATE. Gen Update (Result) sinh UPDATE cho cả bảng kết quả gần nhất.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viên làm trên dự án thử, người hướng dẫn đi kiểm từng máy. Ai xong sớm làm luôn bài tập về nhà.</a:t>
            </a:r>
          </a:p>
          <a:p>
            <a:r>
              <a:t>Bài tập về nhà: Viết script thêm 1 cột cho một bảng phân kỳ bằng Gen Add Column, chạy trên dự án thử, kiểm tra Check Partitions Struct.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nhanh cả lớp; đáp án:</a:t>
            </a:r>
          </a:p>
          <a:p>
            <a:r>
              <a:t>1. SELECT đếm → sao lưu → BEGIN TRAN + sửa → kiểm @@ROWCOUNT / SELECT lại → COMMIT hoặc ROLLBACK.</a:t>
            </a:r>
          </a:p>
          <a:p>
            <a:r>
              <a:t>2. SQL Query mặc định Reset Connection sau mỗi lần chạy — transaction bị huỷ / treo.</a:t>
            </a:r>
          </a:p>
          <a:p>
            <a:r>
              <a:t>3. Phần dữ liệu còn lại sẽ mất khi chạy script — đặt Top = 0 rồi Load lại.</a:t>
            </a:r>
          </a:p>
          <a:p>
            <a:r>
              <a:t>4. Thêm cho mọi kỳ, đúng thứ tự cột — dùng Gen Add Column, kiểm bằng Check Partitions Struct.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280160"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058400" cy="548640"/>
          </a:xfrm>
          <a:prstGeom prst="rect">
            <a:avLst/>
          </a:prstGeom>
          <a:noFill/>
        </p:spPr>
        <p:txBody>
          <a:bodyPr wrap="square" anchor="t" lIns="45720" rIns="45720" tIns="27432" bIns="27432">
            <a:spAutoFit/>
          </a:bodyPr>
          <a:lstStyle/>
          <a:p>
            <a:pPr algn="l"/>
            <a:r>
              <a:rPr sz="1800" b="1" i="0">
                <a:solidFill>
                  <a:srgbClr val="F2B705"/>
                </a:solidFill>
                <a:latin typeface="Segoe UI"/>
                <a:ea typeface="Segoe UI"/>
                <a:cs typeface="Segoe UI"/>
              </a:rPr>
              <a:t>BUỔI 3 / 10  ·  CƠ BẢN</a:t>
            </a:r>
          </a:p>
        </p:txBody>
      </p:sp>
      <p:sp>
        <p:nvSpPr>
          <p:cNvPr id="5" name="TextBox 4"/>
          <p:cNvSpPr txBox="1"/>
          <p:nvPr/>
        </p:nvSpPr>
        <p:spPr>
          <a:xfrm>
            <a:off x="777240" y="1554480"/>
            <a:ext cx="10789920" cy="914400"/>
          </a:xfrm>
          <a:prstGeom prst="rect">
            <a:avLst/>
          </a:prstGeom>
          <a:noFill/>
        </p:spPr>
        <p:txBody>
          <a:bodyPr wrap="square" anchor="t" lIns="45720" rIns="45720" tIns="27432" bIns="27432">
            <a:spAutoFit/>
          </a:bodyPr>
          <a:lstStyle/>
          <a:p>
            <a:pPr algn="l"/>
            <a:r>
              <a:rPr sz="2200" b="0" i="0">
                <a:solidFill>
                  <a:srgbClr val="D6E4F0"/>
                </a:solidFill>
                <a:latin typeface="Segoe UI"/>
                <a:ea typeface="Segoe UI"/>
                <a:cs typeface="Segoe UI"/>
              </a:rPr>
              <a:t>FastBusiness Online &amp; Bcode</a:t>
            </a:r>
          </a:p>
        </p:txBody>
      </p:sp>
      <p:sp>
        <p:nvSpPr>
          <p:cNvPr id="6" name="TextBox 5"/>
          <p:cNvSpPr txBox="1"/>
          <p:nvPr/>
        </p:nvSpPr>
        <p:spPr>
          <a:xfrm>
            <a:off x="777240" y="2606040"/>
            <a:ext cx="10789920" cy="2194560"/>
          </a:xfrm>
          <a:prstGeom prst="rect">
            <a:avLst/>
          </a:prstGeom>
          <a:noFill/>
        </p:spPr>
        <p:txBody>
          <a:bodyPr wrap="square" anchor="t" lIns="45720" rIns="45720" tIns="27432" bIns="27432">
            <a:spAutoFit/>
          </a:bodyPr>
          <a:lstStyle/>
          <a:p>
            <a:pPr algn="l"/>
            <a:r>
              <a:rPr sz="4400" b="1" i="0">
                <a:solidFill>
                  <a:srgbClr val="FFFFFF"/>
                </a:solidFill>
                <a:latin typeface="Segoe UI"/>
                <a:ea typeface="Segoe UI"/>
                <a:cs typeface="Segoe UI"/>
              </a:rPr>
              <a:t>Sửa dữ liệu an toàn và công cụ dữ liệu Bcode</a:t>
            </a:r>
          </a:p>
        </p:txBody>
      </p:sp>
      <p:sp>
        <p:nvSpPr>
          <p:cNvPr id="7" name="TextBox 6"/>
          <p:cNvSpPr txBox="1"/>
          <p:nvPr/>
        </p:nvSpPr>
        <p:spPr>
          <a:xfrm>
            <a:off x="804672" y="5760720"/>
            <a:ext cx="10515600" cy="548640"/>
          </a:xfrm>
          <a:prstGeom prst="rect">
            <a:avLst/>
          </a:prstGeom>
          <a:noFill/>
        </p:spPr>
        <p:txBody>
          <a:bodyPr wrap="square" anchor="t" lIns="45720" rIns="45720" tIns="27432" bIns="27432">
            <a:spAutoFit/>
          </a:bodyPr>
          <a:lstStyle/>
          <a:p>
            <a:pPr algn="l"/>
            <a:r>
              <a:rPr sz="1400" b="0" i="0">
                <a:solidFill>
                  <a:srgbClr val="B8CADB"/>
                </a:solidFill>
                <a:latin typeface="Segoe UI"/>
                <a:ea typeface="Segoe UI"/>
                <a:cs typeface="Segoe UI"/>
              </a:rPr>
              <a:t>Thời lượng 3 giờ · tài liệu chi tiết: DaoTao_Fast_Bcode.docx — Buổi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Mục tiêu và lịch trình</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2</a:t>
            </a:r>
          </a:p>
        </p:txBody>
      </p:sp>
      <p:sp>
        <p:nvSpPr>
          <p:cNvPr id="7" name="TextBox 6"/>
          <p:cNvSpPr txBox="1"/>
          <p:nvPr/>
        </p:nvSpPr>
        <p:spPr>
          <a:xfrm>
            <a:off x="640080" y="1325880"/>
            <a:ext cx="5120640" cy="411480"/>
          </a:xfrm>
          <a:prstGeom prst="rect">
            <a:avLst/>
          </a:prstGeom>
          <a:noFill/>
        </p:spPr>
        <p:txBody>
          <a:bodyPr wrap="square" anchor="t" lIns="45720" rIns="45720" tIns="27432" bIns="27432">
            <a:spAutoFit/>
          </a:bodyPr>
          <a:lstStyle/>
          <a:p>
            <a:pPr algn="l"/>
            <a:r>
              <a:rPr sz="1800" b="1" i="0">
                <a:solidFill>
                  <a:srgbClr val="1F4E79"/>
                </a:solidFill>
                <a:latin typeface="Segoe UI"/>
                <a:ea typeface="Segoe UI"/>
                <a:cs typeface="Segoe UI"/>
              </a:rPr>
              <a:t>Học xong buổi này, bạn:</a:t>
            </a:r>
          </a:p>
        </p:txBody>
      </p:sp>
      <p:sp>
        <p:nvSpPr>
          <p:cNvPr id="8" name="TextBox 7"/>
          <p:cNvSpPr txBox="1"/>
          <p:nvPr/>
        </p:nvSpPr>
        <p:spPr>
          <a:xfrm>
            <a:off x="640080" y="1783080"/>
            <a:ext cx="5212080" cy="420624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Làm đúng quy tắc 5 bước khi UPDATE / DELETE</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Dùng bảng tạm, biến bảng, CTE</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Dùng tab Table, Command, Lookup, cây SQL Object, Ai đang dùng</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Đóng gói dữ liệu bằng Add Script, Gen Insert / Update</a:t>
            </a:r>
          </a:p>
        </p:txBody>
      </p:sp>
      <p:graphicFrame>
        <p:nvGraphicFramePr>
          <p:cNvPr id="9" name="Table 8"/>
          <p:cNvGraphicFramePr>
            <a:graphicFrameLocks noGrp="1"/>
          </p:cNvGraphicFramePr>
          <p:nvPr/>
        </p:nvGraphicFramePr>
        <p:xfrm>
          <a:off x="6126480" y="1371600"/>
          <a:ext cx="5486400" cy="3520440"/>
        </p:xfrm>
        <a:graphic>
          <a:graphicData uri="http://schemas.openxmlformats.org/drawingml/2006/table">
            <a:tbl>
              <a:tblPr firstRow="1" bandRow="1">
                <a:tableStyleId>{5940675A-B579-460E-94D1-54222C63F5DA}</a:tableStyleId>
              </a:tblPr>
              <a:tblGrid>
                <a:gridCol w="457200"/>
                <a:gridCol w="4023360"/>
                <a:gridCol w="1005840"/>
              </a:tblGrid>
              <a:tr h="502920">
                <a:tc>
                  <a:txBody>
                    <a:bodyPr wrap="square"/>
                    <a:lstStyle/>
                    <a:p>
                      <a:r>
                        <a:rPr sz="1400" b="1" i="0">
                          <a:solidFill>
                            <a:srgbClr val="FFFFFF"/>
                          </a:solidFill>
                          <a:latin typeface="Segoe UI"/>
                          <a:ea typeface="Segoe UI"/>
                          <a:cs typeface="Segoe UI"/>
                        </a:rPr>
                        <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Nội dung</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Thời gian</a:t>
                      </a:r>
                    </a:p>
                  </a:txBody>
                  <a:tcPr marL="73152" marR="73152" marT="36576" marB="36576" anchor="ctr">
                    <a:solidFill>
                      <a:srgbClr val="1F4E79"/>
                    </a:solidFill>
                  </a:tcPr>
                </a:tc>
              </a:tr>
              <a:tr h="502920">
                <a:tc>
                  <a:txBody>
                    <a:bodyPr wrap="square"/>
                    <a:lstStyle/>
                    <a:p>
                      <a:r>
                        <a:rPr sz="1400" b="0" i="0">
                          <a:solidFill>
                            <a:srgbClr val="263238"/>
                          </a:solidFill>
                          <a:latin typeface="Segoe UI"/>
                          <a:ea typeface="Segoe UI"/>
                          <a:cs typeface="Segoe UI"/>
                        </a:rPr>
                        <a:t>1</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Quy tắc 5 bước, transaction, sao lưu</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40'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2</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Bảng tạm, biến bảng, CTE</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25'</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3</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Cây SQL Object, Ai đang dùng, So sánh object</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25'</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4</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Tab Table, Gen Add Column, Check Partitions Struct</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30'</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5</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Command, Lookup, Script Cart, Gen Insert / Update</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30'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6</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Thực hành</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30'</a:t>
                      </a:r>
                    </a:p>
                  </a:txBody>
                  <a:tcPr marL="73152" marR="73152" marT="36576" marB="36576" anchor="ctr">
                    <a:solidFill>
                      <a:srgbClr val="F4F7FB"/>
                    </a:solidFill>
                  </a:tcPr>
                </a:tc>
              </a:tr>
            </a:tbl>
          </a:graphicData>
        </a:graphic>
      </p:graphicFrame>
      <p:sp>
        <p:nvSpPr>
          <p:cNvPr id="10" name="Rounded Rectangle 9"/>
          <p:cNvSpPr/>
          <p:nvPr/>
        </p:nvSpPr>
        <p:spPr>
          <a:xfrm>
            <a:off x="640080" y="5623560"/>
            <a:ext cx="10927080" cy="64008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5623560"/>
            <a:ext cx="91440" cy="6400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678424"/>
            <a:ext cx="10607040" cy="548640"/>
          </a:xfrm>
          <a:prstGeom prst="rect">
            <a:avLst/>
          </a:prstGeom>
          <a:noFill/>
        </p:spPr>
        <p:txBody>
          <a:bodyPr wrap="square" anchor="ctr" lIns="45720" rIns="45720" tIns="27432" bIns="27432">
            <a:spAutoFit/>
          </a:bodyPr>
          <a:lstStyle/>
          <a:p>
            <a:pPr algn="l"/>
            <a:r>
              <a:rPr sz="1400" b="1" i="0">
                <a:solidFill>
                  <a:srgbClr val="F2B705"/>
                </a:solidFill>
                <a:latin typeface="Segoe UI"/>
                <a:ea typeface="Segoe UI"/>
                <a:cs typeface="Segoe UI"/>
              </a:rPr>
              <a:t>Lưu ý:</a:t>
            </a:r>
            <a:r>
              <a:rPr sz="1400" b="0" i="0">
                <a:solidFill>
                  <a:srgbClr val="263238"/>
                </a:solidFill>
                <a:latin typeface="Segoe UI"/>
                <a:ea typeface="Segoe UI"/>
                <a:cs typeface="Segoe UI"/>
              </a:rPr>
              <a:t> Chuẩn bị: Dự án thử; KHÔNG dùng database khách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Sửa dữ liệu an toàn — 5 bước</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3</a:t>
            </a:r>
          </a:p>
        </p:txBody>
      </p:sp>
      <p:sp>
        <p:nvSpPr>
          <p:cNvPr id="7" name="Rounded Rectangle 6"/>
          <p:cNvSpPr/>
          <p:nvPr/>
        </p:nvSpPr>
        <p:spPr>
          <a:xfrm>
            <a:off x="640080" y="1463040"/>
            <a:ext cx="1951329" cy="118872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1554480"/>
            <a:ext cx="1805025" cy="534924"/>
          </a:xfrm>
          <a:prstGeom prst="rect">
            <a:avLst/>
          </a:prstGeom>
          <a:noFill/>
        </p:spPr>
        <p:txBody>
          <a:bodyPr wrap="square" anchor="ctr" lIns="45720" rIns="45720" tIns="27432" bIns="27432">
            <a:spAutoFit/>
          </a:bodyPr>
          <a:lstStyle/>
          <a:p>
            <a:pPr algn="ctr"/>
            <a:r>
              <a:rPr sz="1600" b="1" i="0">
                <a:solidFill>
                  <a:srgbClr val="FFFFFF"/>
                </a:solidFill>
                <a:latin typeface="Segoe UI"/>
                <a:ea typeface="Segoe UI"/>
                <a:cs typeface="Segoe UI"/>
              </a:rPr>
              <a:t>1. SELECT</a:t>
            </a:r>
          </a:p>
        </p:txBody>
      </p:sp>
      <p:sp>
        <p:nvSpPr>
          <p:cNvPr id="9" name="TextBox 8"/>
          <p:cNvSpPr txBox="1"/>
          <p:nvPr/>
        </p:nvSpPr>
        <p:spPr>
          <a:xfrm>
            <a:off x="713231" y="2057400"/>
            <a:ext cx="1805025" cy="570585"/>
          </a:xfrm>
          <a:prstGeom prst="rect">
            <a:avLst/>
          </a:prstGeom>
          <a:noFill/>
        </p:spPr>
        <p:txBody>
          <a:bodyPr wrap="square" anchor="t" lIns="45720" rIns="45720" tIns="27432" bIns="27432">
            <a:spAutoFit/>
          </a:bodyPr>
          <a:lstStyle/>
          <a:p>
            <a:pPr algn="ctr"/>
            <a:r>
              <a:rPr sz="1300" b="0" i="0">
                <a:solidFill>
                  <a:srgbClr val="E3ECF5"/>
                </a:solidFill>
                <a:latin typeface="Segoe UI"/>
                <a:ea typeface="Segoe UI"/>
                <a:cs typeface="Segoe UI"/>
              </a:rPr>
              <a:t>cùng WHERE, đếm dòng</a:t>
            </a:r>
          </a:p>
        </p:txBody>
      </p:sp>
      <p:sp>
        <p:nvSpPr>
          <p:cNvPr id="10" name="Right Arrow 9"/>
          <p:cNvSpPr/>
          <p:nvPr/>
        </p:nvSpPr>
        <p:spPr>
          <a:xfrm>
            <a:off x="2627985" y="193852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84017" y="1463040"/>
            <a:ext cx="1951329" cy="118872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57169" y="1554480"/>
            <a:ext cx="1805025" cy="534924"/>
          </a:xfrm>
          <a:prstGeom prst="rect">
            <a:avLst/>
          </a:prstGeom>
          <a:noFill/>
        </p:spPr>
        <p:txBody>
          <a:bodyPr wrap="square" anchor="ctr" lIns="45720" rIns="45720" tIns="27432" bIns="27432">
            <a:spAutoFit/>
          </a:bodyPr>
          <a:lstStyle/>
          <a:p>
            <a:pPr algn="ctr"/>
            <a:r>
              <a:rPr sz="1600" b="1" i="0">
                <a:solidFill>
                  <a:srgbClr val="FFFFFF"/>
                </a:solidFill>
                <a:latin typeface="Segoe UI"/>
                <a:ea typeface="Segoe UI"/>
                <a:cs typeface="Segoe UI"/>
              </a:rPr>
              <a:t>2. Sao lưu</a:t>
            </a:r>
          </a:p>
        </p:txBody>
      </p:sp>
      <p:sp>
        <p:nvSpPr>
          <p:cNvPr id="13" name="TextBox 12"/>
          <p:cNvSpPr txBox="1"/>
          <p:nvPr/>
        </p:nvSpPr>
        <p:spPr>
          <a:xfrm>
            <a:off x="2957169" y="2057400"/>
            <a:ext cx="1805025" cy="570585"/>
          </a:xfrm>
          <a:prstGeom prst="rect">
            <a:avLst/>
          </a:prstGeom>
          <a:noFill/>
        </p:spPr>
        <p:txBody>
          <a:bodyPr wrap="square" anchor="t" lIns="45720" rIns="45720" tIns="27432" bIns="27432">
            <a:spAutoFit/>
          </a:bodyPr>
          <a:lstStyle/>
          <a:p>
            <a:pPr algn="ctr"/>
            <a:r>
              <a:rPr sz="1300" b="0" i="0">
                <a:solidFill>
                  <a:srgbClr val="E3ECF5"/>
                </a:solidFill>
                <a:latin typeface="Segoe UI"/>
                <a:ea typeface="Segoe UI"/>
                <a:cs typeface="Segoe UI"/>
              </a:rPr>
              <a:t>SELECT … INTO zbk_…</a:t>
            </a:r>
          </a:p>
        </p:txBody>
      </p:sp>
      <p:sp>
        <p:nvSpPr>
          <p:cNvPr id="14" name="Right Arrow 13"/>
          <p:cNvSpPr/>
          <p:nvPr/>
        </p:nvSpPr>
        <p:spPr>
          <a:xfrm>
            <a:off x="4871923" y="193852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7955" y="1463040"/>
            <a:ext cx="1951329" cy="118872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1107" y="1554480"/>
            <a:ext cx="1805025" cy="534924"/>
          </a:xfrm>
          <a:prstGeom prst="rect">
            <a:avLst/>
          </a:prstGeom>
          <a:noFill/>
        </p:spPr>
        <p:txBody>
          <a:bodyPr wrap="square" anchor="ctr" lIns="45720" rIns="45720" tIns="27432" bIns="27432">
            <a:spAutoFit/>
          </a:bodyPr>
          <a:lstStyle/>
          <a:p>
            <a:pPr algn="ctr"/>
            <a:r>
              <a:rPr sz="1600" b="1" i="0">
                <a:solidFill>
                  <a:srgbClr val="FFFFFF"/>
                </a:solidFill>
                <a:latin typeface="Segoe UI"/>
                <a:ea typeface="Segoe UI"/>
                <a:cs typeface="Segoe UI"/>
              </a:rPr>
              <a:t>3. BEGIN TRAN</a:t>
            </a:r>
          </a:p>
        </p:txBody>
      </p:sp>
      <p:sp>
        <p:nvSpPr>
          <p:cNvPr id="17" name="TextBox 16"/>
          <p:cNvSpPr txBox="1"/>
          <p:nvPr/>
        </p:nvSpPr>
        <p:spPr>
          <a:xfrm>
            <a:off x="5201107" y="2057400"/>
            <a:ext cx="1805025" cy="570585"/>
          </a:xfrm>
          <a:prstGeom prst="rect">
            <a:avLst/>
          </a:prstGeom>
          <a:noFill/>
        </p:spPr>
        <p:txBody>
          <a:bodyPr wrap="square" anchor="t" lIns="45720" rIns="45720" tIns="27432" bIns="27432">
            <a:spAutoFit/>
          </a:bodyPr>
          <a:lstStyle/>
          <a:p>
            <a:pPr algn="ctr"/>
            <a:r>
              <a:rPr sz="1300" b="0" i="0">
                <a:solidFill>
                  <a:srgbClr val="E3ECF5"/>
                </a:solidFill>
                <a:latin typeface="Segoe UI"/>
                <a:ea typeface="Segoe UI"/>
                <a:cs typeface="Segoe UI"/>
              </a:rPr>
              <a:t>chạy UPDATE / DELETE</a:t>
            </a:r>
          </a:p>
        </p:txBody>
      </p:sp>
      <p:sp>
        <p:nvSpPr>
          <p:cNvPr id="18" name="Right Arrow 17"/>
          <p:cNvSpPr/>
          <p:nvPr/>
        </p:nvSpPr>
        <p:spPr>
          <a:xfrm>
            <a:off x="7115860" y="193852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71892" y="1463040"/>
            <a:ext cx="1951329" cy="118872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45044" y="1554480"/>
            <a:ext cx="1805025" cy="534924"/>
          </a:xfrm>
          <a:prstGeom prst="rect">
            <a:avLst/>
          </a:prstGeom>
          <a:noFill/>
        </p:spPr>
        <p:txBody>
          <a:bodyPr wrap="square" anchor="ctr" lIns="45720" rIns="45720" tIns="27432" bIns="27432">
            <a:spAutoFit/>
          </a:bodyPr>
          <a:lstStyle/>
          <a:p>
            <a:pPr algn="ctr"/>
            <a:r>
              <a:rPr sz="1600" b="1" i="0">
                <a:solidFill>
                  <a:srgbClr val="FFFFFF"/>
                </a:solidFill>
                <a:latin typeface="Segoe UI"/>
                <a:ea typeface="Segoe UI"/>
                <a:cs typeface="Segoe UI"/>
              </a:rPr>
              <a:t>4. Kiểm tra</a:t>
            </a:r>
          </a:p>
        </p:txBody>
      </p:sp>
      <p:sp>
        <p:nvSpPr>
          <p:cNvPr id="21" name="TextBox 20"/>
          <p:cNvSpPr txBox="1"/>
          <p:nvPr/>
        </p:nvSpPr>
        <p:spPr>
          <a:xfrm>
            <a:off x="7445044" y="2057400"/>
            <a:ext cx="1805025" cy="570585"/>
          </a:xfrm>
          <a:prstGeom prst="rect">
            <a:avLst/>
          </a:prstGeom>
          <a:noFill/>
        </p:spPr>
        <p:txBody>
          <a:bodyPr wrap="square" anchor="t" lIns="45720" rIns="45720" tIns="27432" bIns="27432">
            <a:spAutoFit/>
          </a:bodyPr>
          <a:lstStyle/>
          <a:p>
            <a:pPr algn="ctr"/>
            <a:r>
              <a:rPr sz="1300" b="0" i="0">
                <a:solidFill>
                  <a:srgbClr val="E3ECF5"/>
                </a:solidFill>
                <a:latin typeface="Segoe UI"/>
                <a:ea typeface="Segoe UI"/>
                <a:cs typeface="Segoe UI"/>
              </a:rPr>
              <a:t>@@ROWCOUNT, SELECT lại</a:t>
            </a:r>
          </a:p>
        </p:txBody>
      </p:sp>
      <p:sp>
        <p:nvSpPr>
          <p:cNvPr id="22" name="Right Arrow 21"/>
          <p:cNvSpPr/>
          <p:nvPr/>
        </p:nvSpPr>
        <p:spPr>
          <a:xfrm>
            <a:off x="9359798" y="193852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5830" y="1463040"/>
            <a:ext cx="1951329" cy="118872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88982" y="1554480"/>
            <a:ext cx="1805025" cy="534924"/>
          </a:xfrm>
          <a:prstGeom prst="rect">
            <a:avLst/>
          </a:prstGeom>
          <a:noFill/>
        </p:spPr>
        <p:txBody>
          <a:bodyPr wrap="square" anchor="ctr" lIns="45720" rIns="45720" tIns="27432" bIns="27432">
            <a:spAutoFit/>
          </a:bodyPr>
          <a:lstStyle/>
          <a:p>
            <a:pPr algn="ctr"/>
            <a:r>
              <a:rPr sz="1600" b="1" i="0">
                <a:solidFill>
                  <a:srgbClr val="FFFFFF"/>
                </a:solidFill>
                <a:latin typeface="Segoe UI"/>
                <a:ea typeface="Segoe UI"/>
                <a:cs typeface="Segoe UI"/>
              </a:rPr>
              <a:t>5. Chốt</a:t>
            </a:r>
          </a:p>
        </p:txBody>
      </p:sp>
      <p:sp>
        <p:nvSpPr>
          <p:cNvPr id="25" name="TextBox 24"/>
          <p:cNvSpPr txBox="1"/>
          <p:nvPr/>
        </p:nvSpPr>
        <p:spPr>
          <a:xfrm>
            <a:off x="9688982" y="2057400"/>
            <a:ext cx="1805025" cy="570585"/>
          </a:xfrm>
          <a:prstGeom prst="rect">
            <a:avLst/>
          </a:prstGeom>
          <a:noFill/>
        </p:spPr>
        <p:txBody>
          <a:bodyPr wrap="square" anchor="t" lIns="45720" rIns="45720" tIns="27432" bIns="27432">
            <a:spAutoFit/>
          </a:bodyPr>
          <a:lstStyle/>
          <a:p>
            <a:pPr algn="ctr"/>
            <a:r>
              <a:rPr sz="1300" b="0" i="0">
                <a:solidFill>
                  <a:srgbClr val="E3ECF5"/>
                </a:solidFill>
                <a:latin typeface="Segoe UI"/>
                <a:ea typeface="Segoe UI"/>
                <a:cs typeface="Segoe UI"/>
              </a:rPr>
              <a:t>COMMIT / ROLLBACK</a:t>
            </a:r>
          </a:p>
        </p:txBody>
      </p:sp>
      <p:sp>
        <p:nvSpPr>
          <p:cNvPr id="26" name="Rounded Rectangle 25"/>
          <p:cNvSpPr/>
          <p:nvPr/>
        </p:nvSpPr>
        <p:spPr>
          <a:xfrm>
            <a:off x="640080" y="2926080"/>
            <a:ext cx="6766560" cy="1794002"/>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3035808"/>
            <a:ext cx="6446520" cy="3090672"/>
          </a:xfrm>
          <a:prstGeom prst="rect">
            <a:avLst/>
          </a:prstGeom>
          <a:noFill/>
        </p:spPr>
        <p:txBody>
          <a:bodyPr wrap="none">
            <a:spAutoFit/>
          </a:bodyPr>
          <a:lstStyle/>
          <a:p>
            <a:pPr>
              <a:lnSpc>
                <a:spcPct val="100000"/>
              </a:lnSpc>
              <a:spcAft>
                <a:spcPts val="0"/>
              </a:spcAft>
            </a:pPr>
            <a:r>
              <a:rPr sz="1300" b="1" i="0">
                <a:solidFill>
                  <a:srgbClr val="6CB6FF"/>
                </a:solidFill>
                <a:latin typeface="Consolas"/>
                <a:ea typeface="Consolas"/>
                <a:cs typeface="Consolas"/>
              </a:rPr>
              <a:t>SELECT</a:t>
            </a:r>
            <a:r>
              <a:rPr sz="1300" b="0" i="0">
                <a:solidFill>
                  <a:srgbClr val="E6E6E6"/>
                </a:solidFill>
                <a:latin typeface="Consolas"/>
                <a:ea typeface="Consolas"/>
                <a:cs typeface="Consolas"/>
              </a:rPr>
              <a:t> ma_kh, ma_nvbh </a:t>
            </a:r>
            <a:r>
              <a:rPr sz="1300" b="1" i="0">
                <a:solidFill>
                  <a:srgbClr val="6CB6FF"/>
                </a:solidFill>
                <a:latin typeface="Consolas"/>
                <a:ea typeface="Consolas"/>
                <a:cs typeface="Consolas"/>
              </a:rPr>
              <a:t>FROM</a:t>
            </a:r>
            <a:r>
              <a:rPr sz="1300" b="0" i="0">
                <a:solidFill>
                  <a:srgbClr val="E6E6E6"/>
                </a:solidFill>
                <a:latin typeface="Consolas"/>
                <a:ea typeface="Consolas"/>
                <a:cs typeface="Consolas"/>
              </a:rPr>
              <a:t> dmkh </a:t>
            </a:r>
            <a:r>
              <a:rPr sz="1300" b="1" i="0">
                <a:solidFill>
                  <a:srgbClr val="6CB6FF"/>
                </a:solidFill>
                <a:latin typeface="Consolas"/>
                <a:ea typeface="Consolas"/>
                <a:cs typeface="Consolas"/>
              </a:rPr>
              <a:t>WHERE</a:t>
            </a:r>
            <a:r>
              <a:rPr sz="1300" b="0" i="0">
                <a:solidFill>
                  <a:srgbClr val="E6E6E6"/>
                </a:solidFill>
                <a:latin typeface="Consolas"/>
                <a:ea typeface="Consolas"/>
                <a:cs typeface="Consolas"/>
              </a:rPr>
              <a:t> ma_nvbh = 'NV01'   </a:t>
            </a:r>
            <a:r>
              <a:rPr sz="1300" b="0" i="1">
                <a:solidFill>
                  <a:srgbClr val="7FB06A"/>
                </a:solidFill>
                <a:latin typeface="Consolas"/>
                <a:ea typeface="Consolas"/>
                <a:cs typeface="Consolas"/>
              </a:rPr>
              <a:t>-- 12 dòng</a:t>
            </a:r>
          </a:p>
          <a:p>
            <a:pPr>
              <a:lnSpc>
                <a:spcPct val="100000"/>
              </a:lnSpc>
              <a:spcAft>
                <a:spcPts val="0"/>
              </a:spcAft>
            </a:pPr>
            <a:r>
              <a:rPr sz="1300" b="1" i="0">
                <a:solidFill>
                  <a:srgbClr val="6CB6FF"/>
                </a:solidFill>
                <a:latin typeface="Consolas"/>
                <a:ea typeface="Consolas"/>
                <a:cs typeface="Consolas"/>
              </a:rPr>
              <a:t>SELECT</a:t>
            </a:r>
            <a:r>
              <a:rPr sz="1300" b="0" i="0">
                <a:solidFill>
                  <a:srgbClr val="E6E6E6"/>
                </a:solidFill>
                <a:latin typeface="Consolas"/>
                <a:ea typeface="Consolas"/>
                <a:cs typeface="Consolas"/>
              </a:rPr>
              <a:t> * </a:t>
            </a:r>
            <a:r>
              <a:rPr sz="1300" b="1" i="0">
                <a:solidFill>
                  <a:srgbClr val="6CB6FF"/>
                </a:solidFill>
                <a:latin typeface="Consolas"/>
                <a:ea typeface="Consolas"/>
                <a:cs typeface="Consolas"/>
              </a:rPr>
              <a:t>INTO</a:t>
            </a:r>
            <a:r>
              <a:rPr sz="1300" b="0" i="0">
                <a:solidFill>
                  <a:srgbClr val="E6E6E6"/>
                </a:solidFill>
                <a:latin typeface="Consolas"/>
                <a:ea typeface="Consolas"/>
                <a:cs typeface="Consolas"/>
              </a:rPr>
              <a:t> zbk_dmkh_20261027 </a:t>
            </a:r>
            <a:r>
              <a:rPr sz="1300" b="1" i="0">
                <a:solidFill>
                  <a:srgbClr val="6CB6FF"/>
                </a:solidFill>
                <a:latin typeface="Consolas"/>
                <a:ea typeface="Consolas"/>
                <a:cs typeface="Consolas"/>
              </a:rPr>
              <a:t>FROM</a:t>
            </a:r>
            <a:r>
              <a:rPr sz="1300" b="0" i="0">
                <a:solidFill>
                  <a:srgbClr val="E6E6E6"/>
                </a:solidFill>
                <a:latin typeface="Consolas"/>
                <a:ea typeface="Consolas"/>
                <a:cs typeface="Consolas"/>
              </a:rPr>
              <a:t> dmkh </a:t>
            </a:r>
            <a:r>
              <a:rPr sz="1300" b="1" i="0">
                <a:solidFill>
                  <a:srgbClr val="6CB6FF"/>
                </a:solidFill>
                <a:latin typeface="Consolas"/>
                <a:ea typeface="Consolas"/>
                <a:cs typeface="Consolas"/>
              </a:rPr>
              <a:t>WHERE</a:t>
            </a:r>
            <a:r>
              <a:rPr sz="1300" b="0" i="0">
                <a:solidFill>
                  <a:srgbClr val="E6E6E6"/>
                </a:solidFill>
                <a:latin typeface="Consolas"/>
                <a:ea typeface="Consolas"/>
                <a:cs typeface="Consolas"/>
              </a:rPr>
              <a:t> ma_nvbh = 'NV01'</a:t>
            </a:r>
          </a:p>
          <a:p>
            <a:pPr>
              <a:lnSpc>
                <a:spcPct val="100000"/>
              </a:lnSpc>
              <a:spcAft>
                <a:spcPts val="0"/>
              </a:spcAft>
            </a:pPr>
            <a:r>
              <a:rPr sz="1300" b="0" i="0">
                <a:solidFill>
                  <a:srgbClr val="E6E6E6"/>
                </a:solidFill>
                <a:latin typeface="Consolas"/>
                <a:ea typeface="Consolas"/>
                <a:cs typeface="Consolas"/>
              </a:rPr>
              <a:t> </a:t>
            </a:r>
          </a:p>
          <a:p>
            <a:pPr>
              <a:lnSpc>
                <a:spcPct val="100000"/>
              </a:lnSpc>
              <a:spcAft>
                <a:spcPts val="0"/>
              </a:spcAft>
            </a:pPr>
            <a:r>
              <a:rPr sz="1300" b="1" i="0">
                <a:solidFill>
                  <a:srgbClr val="6CB6FF"/>
                </a:solidFill>
                <a:latin typeface="Consolas"/>
                <a:ea typeface="Consolas"/>
                <a:cs typeface="Consolas"/>
              </a:rPr>
              <a:t>BEGIN TRAN</a:t>
            </a:r>
          </a:p>
          <a:p>
            <a:pPr>
              <a:lnSpc>
                <a:spcPct val="100000"/>
              </a:lnSpc>
              <a:spcAft>
                <a:spcPts val="0"/>
              </a:spcAft>
            </a:pPr>
            <a:r>
              <a:rPr sz="1300" b="1" i="0">
                <a:solidFill>
                  <a:srgbClr val="6CB6FF"/>
                </a:solidFill>
                <a:latin typeface="Consolas"/>
                <a:ea typeface="Consolas"/>
                <a:cs typeface="Consolas"/>
              </a:rPr>
              <a:t>UPDATE</a:t>
            </a:r>
            <a:r>
              <a:rPr sz="1300" b="0" i="0">
                <a:solidFill>
                  <a:srgbClr val="E6E6E6"/>
                </a:solidFill>
                <a:latin typeface="Consolas"/>
                <a:ea typeface="Consolas"/>
                <a:cs typeface="Consolas"/>
              </a:rPr>
              <a:t> dmkh </a:t>
            </a:r>
            <a:r>
              <a:rPr sz="1300" b="1" i="0">
                <a:solidFill>
                  <a:srgbClr val="6CB6FF"/>
                </a:solidFill>
                <a:latin typeface="Consolas"/>
                <a:ea typeface="Consolas"/>
                <a:cs typeface="Consolas"/>
              </a:rPr>
              <a:t>SET</a:t>
            </a:r>
            <a:r>
              <a:rPr sz="1300" b="0" i="0">
                <a:solidFill>
                  <a:srgbClr val="E6E6E6"/>
                </a:solidFill>
                <a:latin typeface="Consolas"/>
                <a:ea typeface="Consolas"/>
                <a:cs typeface="Consolas"/>
              </a:rPr>
              <a:t> ma_nvbh = 'NV02', datetime2 = GETDATE()</a:t>
            </a:r>
          </a:p>
          <a:p>
            <a:pPr>
              <a:lnSpc>
                <a:spcPct val="100000"/>
              </a:lnSpc>
              <a:spcAft>
                <a:spcPts val="0"/>
              </a:spcAft>
            </a:pPr>
            <a:r>
              <a:rPr sz="1300" b="0" i="0">
                <a:solidFill>
                  <a:srgbClr val="E6E6E6"/>
                </a:solidFill>
                <a:latin typeface="Consolas"/>
                <a:ea typeface="Consolas"/>
                <a:cs typeface="Consolas"/>
              </a:rPr>
              <a:t> </a:t>
            </a:r>
            <a:r>
              <a:rPr sz="1300" b="1" i="0">
                <a:solidFill>
                  <a:srgbClr val="6CB6FF"/>
                </a:solidFill>
                <a:latin typeface="Consolas"/>
                <a:ea typeface="Consolas"/>
                <a:cs typeface="Consolas"/>
              </a:rPr>
              <a:t>WHERE</a:t>
            </a:r>
            <a:r>
              <a:rPr sz="1300" b="0" i="0">
                <a:solidFill>
                  <a:srgbClr val="E6E6E6"/>
                </a:solidFill>
                <a:latin typeface="Consolas"/>
                <a:ea typeface="Consolas"/>
                <a:cs typeface="Consolas"/>
              </a:rPr>
              <a:t> ma_nvbh = 'NV01'</a:t>
            </a:r>
          </a:p>
          <a:p>
            <a:pPr>
              <a:lnSpc>
                <a:spcPct val="100000"/>
              </a:lnSpc>
              <a:spcAft>
                <a:spcPts val="0"/>
              </a:spcAft>
            </a:pPr>
            <a:r>
              <a:rPr sz="1300" b="1" i="0">
                <a:solidFill>
                  <a:srgbClr val="6CB6FF"/>
                </a:solidFill>
                <a:latin typeface="Consolas"/>
                <a:ea typeface="Consolas"/>
                <a:cs typeface="Consolas"/>
              </a:rPr>
              <a:t>IF</a:t>
            </a:r>
            <a:r>
              <a:rPr sz="1300" b="0" i="0">
                <a:solidFill>
                  <a:srgbClr val="E6E6E6"/>
                </a:solidFill>
                <a:latin typeface="Consolas"/>
                <a:ea typeface="Consolas"/>
                <a:cs typeface="Consolas"/>
              </a:rPr>
              <a:t> @@ROWCOUNT &lt;&gt; 12 </a:t>
            </a:r>
            <a:r>
              <a:rPr sz="1300" b="1" i="0">
                <a:solidFill>
                  <a:srgbClr val="6CB6FF"/>
                </a:solidFill>
                <a:latin typeface="Consolas"/>
                <a:ea typeface="Consolas"/>
                <a:cs typeface="Consolas"/>
              </a:rPr>
              <a:t>ROLLBACK</a:t>
            </a:r>
            <a:r>
              <a:rPr sz="1300" b="0" i="0">
                <a:solidFill>
                  <a:srgbClr val="E6E6E6"/>
                </a:solidFill>
                <a:latin typeface="Consolas"/>
                <a:ea typeface="Consolas"/>
                <a:cs typeface="Consolas"/>
              </a:rPr>
              <a:t> </a:t>
            </a:r>
            <a:r>
              <a:rPr sz="1300" b="1" i="0">
                <a:solidFill>
                  <a:srgbClr val="6CB6FF"/>
                </a:solidFill>
                <a:latin typeface="Consolas"/>
                <a:ea typeface="Consolas"/>
                <a:cs typeface="Consolas"/>
              </a:rPr>
              <a:t>ELSE</a:t>
            </a:r>
            <a:r>
              <a:rPr sz="1300" b="0" i="0">
                <a:solidFill>
                  <a:srgbClr val="E6E6E6"/>
                </a:solidFill>
                <a:latin typeface="Consolas"/>
                <a:ea typeface="Consolas"/>
                <a:cs typeface="Consolas"/>
              </a:rPr>
              <a:t> </a:t>
            </a:r>
            <a:r>
              <a:rPr sz="1300" b="1" i="0">
                <a:solidFill>
                  <a:srgbClr val="6CB6FF"/>
                </a:solidFill>
                <a:latin typeface="Consolas"/>
                <a:ea typeface="Consolas"/>
                <a:cs typeface="Consolas"/>
              </a:rPr>
              <a:t>COMMIT</a:t>
            </a:r>
          </a:p>
        </p:txBody>
      </p:sp>
      <p:sp>
        <p:nvSpPr>
          <p:cNvPr id="28" name="TextBox 27"/>
          <p:cNvSpPr txBox="1"/>
          <p:nvPr/>
        </p:nvSpPr>
        <p:spPr>
          <a:xfrm>
            <a:off x="7680960" y="2926080"/>
            <a:ext cx="3931920" cy="329184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UPDATE / DELETE </a:t>
            </a:r>
            <a:r>
              <a:rPr sz="1700" b="1" i="0">
                <a:solidFill>
                  <a:srgbClr val="1F4E79"/>
                </a:solidFill>
                <a:latin typeface="Segoe UI"/>
                <a:ea typeface="Segoe UI"/>
                <a:cs typeface="Segoe UI"/>
              </a:rPr>
              <a:t>luôn có WHERE</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Bảng sao lưu có </a:t>
            </a:r>
            <a:r>
              <a:rPr sz="1700" b="1" i="0">
                <a:solidFill>
                  <a:srgbClr val="1F4E79"/>
                </a:solidFill>
                <a:latin typeface="Segoe UI"/>
                <a:ea typeface="Segoe UI"/>
                <a:cs typeface="Segoe UI"/>
              </a:rPr>
              <a:t>ngày</a:t>
            </a:r>
            <a:r>
              <a:rPr sz="1700" b="0" i="0">
                <a:solidFill>
                  <a:srgbClr val="263238"/>
                </a:solidFill>
                <a:latin typeface="Segoe UI"/>
                <a:ea typeface="Segoe UI"/>
                <a:cs typeface="Segoe UI"/>
              </a:rPr>
              <a:t> trong tên</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Không để transaction </a:t>
            </a:r>
            <a:r>
              <a:rPr sz="1700" b="1" i="0">
                <a:solidFill>
                  <a:srgbClr val="1F4E79"/>
                </a:solidFill>
                <a:latin typeface="Segoe UI"/>
                <a:ea typeface="Segoe UI"/>
                <a:cs typeface="Segoe UI"/>
              </a:rPr>
              <a:t>treo</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Bcode: TRAN và COMMIT ở 2 lần F5 → bật </a:t>
            </a:r>
            <a:r>
              <a:rPr sz="1700" b="1" i="0">
                <a:solidFill>
                  <a:srgbClr val="1F4E79"/>
                </a:solidFill>
                <a:latin typeface="Segoe UI"/>
                <a:ea typeface="Segoe UI"/>
                <a:cs typeface="Segoe UI"/>
              </a:rPr>
              <a:t>Giữ kết nối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Bảng tạm, biến bảng, CTE</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4</a:t>
            </a:r>
          </a:p>
        </p:txBody>
      </p:sp>
      <p:sp>
        <p:nvSpPr>
          <p:cNvPr id="7" name="Rounded Rectangle 6"/>
          <p:cNvSpPr/>
          <p:nvPr/>
        </p:nvSpPr>
        <p:spPr>
          <a:xfrm>
            <a:off x="640080" y="1600200"/>
            <a:ext cx="6949440" cy="3312413"/>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09928"/>
            <a:ext cx="6629400" cy="4462272"/>
          </a:xfrm>
          <a:prstGeom prst="rect">
            <a:avLst/>
          </a:prstGeom>
          <a:noFill/>
        </p:spPr>
        <p:txBody>
          <a:bodyPr wrap="none">
            <a:spAutoFit/>
          </a:bodyPr>
          <a:lstStyle/>
          <a:p>
            <a:pPr>
              <a:lnSpc>
                <a:spcPct val="100000"/>
              </a:lnSpc>
              <a:spcAft>
                <a:spcPts val="0"/>
              </a:spcAft>
            </a:pPr>
            <a:r>
              <a:rPr sz="1350" b="0" i="1">
                <a:solidFill>
                  <a:srgbClr val="7FB06A"/>
                </a:solidFill>
                <a:latin typeface="Consolas"/>
                <a:ea typeface="Consolas"/>
                <a:cs typeface="Consolas"/>
              </a:rPr>
              <a:t>-- Bảng tạm #: sống tới hết kết nối / hết procedure</a:t>
            </a:r>
          </a:p>
          <a:p>
            <a:pPr>
              <a:lnSpc>
                <a:spcPct val="100000"/>
              </a:lnSpc>
              <a:spcAft>
                <a:spcPts val="0"/>
              </a:spcAft>
            </a:pPr>
            <a:r>
              <a:rPr sz="1350" b="1" i="0">
                <a:solidFill>
                  <a:srgbClr val="6CB6FF"/>
                </a:solidFill>
                <a:latin typeface="Consolas"/>
                <a:ea typeface="Consolas"/>
                <a:cs typeface="Consolas"/>
              </a:rPr>
              <a:t>IF</a:t>
            </a:r>
            <a:r>
              <a:rPr sz="1350" b="0" i="0">
                <a:solidFill>
                  <a:srgbClr val="E6E6E6"/>
                </a:solidFill>
                <a:latin typeface="Consolas"/>
                <a:ea typeface="Consolas"/>
                <a:cs typeface="Consolas"/>
              </a:rPr>
              <a:t> OBJECT_ID('tempdb..#kh') </a:t>
            </a:r>
            <a:r>
              <a:rPr sz="1350" b="1" i="0">
                <a:solidFill>
                  <a:srgbClr val="6CB6FF"/>
                </a:solidFill>
                <a:latin typeface="Consolas"/>
                <a:ea typeface="Consolas"/>
                <a:cs typeface="Consolas"/>
              </a:rPr>
              <a:t>IS</a:t>
            </a:r>
            <a:r>
              <a:rPr sz="1350" b="0" i="0">
                <a:solidFill>
                  <a:srgbClr val="E6E6E6"/>
                </a:solidFill>
                <a:latin typeface="Consolas"/>
                <a:ea typeface="Consolas"/>
                <a:cs typeface="Consolas"/>
              </a:rPr>
              <a:t> </a:t>
            </a:r>
            <a:r>
              <a:rPr sz="1350" b="1" i="0">
                <a:solidFill>
                  <a:srgbClr val="6CB6FF"/>
                </a:solidFill>
                <a:latin typeface="Consolas"/>
                <a:ea typeface="Consolas"/>
                <a:cs typeface="Consolas"/>
              </a:rPr>
              <a:t>NOT</a:t>
            </a:r>
            <a:r>
              <a:rPr sz="1350" b="0" i="0">
                <a:solidFill>
                  <a:srgbClr val="E6E6E6"/>
                </a:solidFill>
                <a:latin typeface="Consolas"/>
                <a:ea typeface="Consolas"/>
                <a:cs typeface="Consolas"/>
              </a:rPr>
              <a:t> </a:t>
            </a:r>
            <a:r>
              <a:rPr sz="1350" b="1" i="0">
                <a:solidFill>
                  <a:srgbClr val="6CB6FF"/>
                </a:solidFill>
                <a:latin typeface="Consolas"/>
                <a:ea typeface="Consolas"/>
                <a:cs typeface="Consolas"/>
              </a:rPr>
              <a:t>NULL</a:t>
            </a:r>
            <a:r>
              <a:rPr sz="1350" b="0" i="0">
                <a:solidFill>
                  <a:srgbClr val="E6E6E6"/>
                </a:solidFill>
                <a:latin typeface="Consolas"/>
                <a:ea typeface="Consolas"/>
                <a:cs typeface="Consolas"/>
              </a:rPr>
              <a:t> DROP </a:t>
            </a:r>
            <a:r>
              <a:rPr sz="1350" b="1" i="0">
                <a:solidFill>
                  <a:srgbClr val="6CB6FF"/>
                </a:solidFill>
                <a:latin typeface="Consolas"/>
                <a:ea typeface="Consolas"/>
                <a:cs typeface="Consolas"/>
              </a:rPr>
              <a:t>TABLE</a:t>
            </a:r>
            <a:r>
              <a:rPr sz="1350" b="0" i="0">
                <a:solidFill>
                  <a:srgbClr val="E6E6E6"/>
                </a:solidFill>
                <a:latin typeface="Consolas"/>
                <a:ea typeface="Consolas"/>
                <a:cs typeface="Consolas"/>
              </a:rPr>
              <a:t> #kh</a:t>
            </a:r>
          </a:p>
          <a:p>
            <a:pPr>
              <a:lnSpc>
                <a:spcPct val="100000"/>
              </a:lnSpc>
              <a:spcAft>
                <a:spcPts val="0"/>
              </a:spcAft>
            </a:pPr>
            <a:r>
              <a:rPr sz="1350" b="1" i="0">
                <a:solidFill>
                  <a:srgbClr val="6CB6FF"/>
                </a:solidFill>
                <a:latin typeface="Consolas"/>
                <a:ea typeface="Consolas"/>
                <a:cs typeface="Consolas"/>
              </a:rPr>
              <a:t>SELECT</a:t>
            </a:r>
            <a:r>
              <a:rPr sz="1350" b="0" i="0">
                <a:solidFill>
                  <a:srgbClr val="E6E6E6"/>
                </a:solidFill>
                <a:latin typeface="Consolas"/>
                <a:ea typeface="Consolas"/>
                <a:cs typeface="Consolas"/>
              </a:rPr>
              <a:t> ma_kh, ten_kh </a:t>
            </a:r>
            <a:r>
              <a:rPr sz="1350" b="1" i="0">
                <a:solidFill>
                  <a:srgbClr val="6CB6FF"/>
                </a:solidFill>
                <a:latin typeface="Consolas"/>
                <a:ea typeface="Consolas"/>
                <a:cs typeface="Consolas"/>
              </a:rPr>
              <a:t>INTO</a:t>
            </a:r>
            <a:r>
              <a:rPr sz="1350" b="0" i="0">
                <a:solidFill>
                  <a:srgbClr val="E6E6E6"/>
                </a:solidFill>
                <a:latin typeface="Consolas"/>
                <a:ea typeface="Consolas"/>
                <a:cs typeface="Consolas"/>
              </a:rPr>
              <a:t> #kh </a:t>
            </a:r>
            <a:r>
              <a:rPr sz="1350" b="1" i="0">
                <a:solidFill>
                  <a:srgbClr val="6CB6FF"/>
                </a:solidFill>
                <a:latin typeface="Consolas"/>
                <a:ea typeface="Consolas"/>
                <a:cs typeface="Consolas"/>
              </a:rPr>
              <a:t>FROM</a:t>
            </a:r>
            <a:r>
              <a:rPr sz="1350" b="0" i="0">
                <a:solidFill>
                  <a:srgbClr val="E6E6E6"/>
                </a:solidFill>
                <a:latin typeface="Consolas"/>
                <a:ea typeface="Consolas"/>
                <a:cs typeface="Consolas"/>
              </a:rPr>
              <a:t> dmkh </a:t>
            </a:r>
            <a:r>
              <a:rPr sz="1350" b="1" i="0">
                <a:solidFill>
                  <a:srgbClr val="6CB6FF"/>
                </a:solidFill>
                <a:latin typeface="Consolas"/>
                <a:ea typeface="Consolas"/>
                <a:cs typeface="Consolas"/>
              </a:rPr>
              <a:t>WHERE</a:t>
            </a:r>
            <a:r>
              <a:rPr sz="1350" b="0" i="0">
                <a:solidFill>
                  <a:srgbClr val="E6E6E6"/>
                </a:solidFill>
                <a:latin typeface="Consolas"/>
                <a:ea typeface="Consolas"/>
                <a:cs typeface="Consolas"/>
              </a:rPr>
              <a:t> status = '1'</a:t>
            </a:r>
          </a:p>
          <a:p>
            <a:pPr>
              <a:lnSpc>
                <a:spcPct val="100000"/>
              </a:lnSpc>
              <a:spcAft>
                <a:spcPts val="0"/>
              </a:spcAft>
            </a:pPr>
            <a:r>
              <a:rPr sz="1350" b="0" i="0">
                <a:solidFill>
                  <a:srgbClr val="E6E6E6"/>
                </a:solidFill>
                <a:latin typeface="Consolas"/>
                <a:ea typeface="Consolas"/>
                <a:cs typeface="Consolas"/>
              </a:rPr>
              <a:t> </a:t>
            </a:r>
          </a:p>
          <a:p>
            <a:pPr>
              <a:lnSpc>
                <a:spcPct val="100000"/>
              </a:lnSpc>
              <a:spcAft>
                <a:spcPts val="0"/>
              </a:spcAft>
            </a:pPr>
            <a:r>
              <a:rPr sz="1350" b="0" i="1">
                <a:solidFill>
                  <a:srgbClr val="7FB06A"/>
                </a:solidFill>
                <a:latin typeface="Consolas"/>
                <a:ea typeface="Consolas"/>
                <a:cs typeface="Consolas"/>
              </a:rPr>
              <a:t>-- Biến bảng @: nhỏ, sống trong 1 batch</a:t>
            </a:r>
          </a:p>
          <a:p>
            <a:pPr>
              <a:lnSpc>
                <a:spcPct val="100000"/>
              </a:lnSpc>
              <a:spcAft>
                <a:spcPts val="0"/>
              </a:spcAft>
            </a:pPr>
            <a:r>
              <a:rPr sz="1350" b="1" i="0">
                <a:solidFill>
                  <a:srgbClr val="6CB6FF"/>
                </a:solidFill>
                <a:latin typeface="Consolas"/>
                <a:ea typeface="Consolas"/>
                <a:cs typeface="Consolas"/>
              </a:rPr>
              <a:t>DECLARE</a:t>
            </a:r>
            <a:r>
              <a:rPr sz="1350" b="0" i="0">
                <a:solidFill>
                  <a:srgbClr val="E6E6E6"/>
                </a:solidFill>
                <a:latin typeface="Consolas"/>
                <a:ea typeface="Consolas"/>
                <a:cs typeface="Consolas"/>
              </a:rPr>
              <a:t> @ds </a:t>
            </a:r>
            <a:r>
              <a:rPr sz="1350" b="1" i="0">
                <a:solidFill>
                  <a:srgbClr val="6CB6FF"/>
                </a:solidFill>
                <a:latin typeface="Consolas"/>
                <a:ea typeface="Consolas"/>
                <a:cs typeface="Consolas"/>
              </a:rPr>
              <a:t>TABLE</a:t>
            </a:r>
            <a:r>
              <a:rPr sz="1350" b="0" i="0">
                <a:solidFill>
                  <a:srgbClr val="E6E6E6"/>
                </a:solidFill>
                <a:latin typeface="Consolas"/>
                <a:ea typeface="Consolas"/>
                <a:cs typeface="Consolas"/>
              </a:rPr>
              <a:t> (ma_kh VARCHAR(32) </a:t>
            </a:r>
            <a:r>
              <a:rPr sz="1350" b="1" i="0">
                <a:solidFill>
                  <a:srgbClr val="6CB6FF"/>
                </a:solidFill>
                <a:latin typeface="Consolas"/>
                <a:ea typeface="Consolas"/>
                <a:cs typeface="Consolas"/>
              </a:rPr>
              <a:t>PRIMARY KEY</a:t>
            </a:r>
            <a:r>
              <a:rPr sz="1350" b="0" i="0">
                <a:solidFill>
                  <a:srgbClr val="E6E6E6"/>
                </a:solidFill>
                <a:latin typeface="Consolas"/>
                <a:ea typeface="Consolas"/>
                <a:cs typeface="Consolas"/>
              </a:rPr>
              <a:t>)</a:t>
            </a:r>
          </a:p>
          <a:p>
            <a:pPr>
              <a:lnSpc>
                <a:spcPct val="100000"/>
              </a:lnSpc>
              <a:spcAft>
                <a:spcPts val="0"/>
              </a:spcAft>
            </a:pPr>
            <a:r>
              <a:rPr sz="1350" b="1" i="0">
                <a:solidFill>
                  <a:srgbClr val="6CB6FF"/>
                </a:solidFill>
                <a:latin typeface="Consolas"/>
                <a:ea typeface="Consolas"/>
                <a:cs typeface="Consolas"/>
              </a:rPr>
              <a:t>INSERT</a:t>
            </a:r>
            <a:r>
              <a:rPr sz="1350" b="0" i="0">
                <a:solidFill>
                  <a:srgbClr val="E6E6E6"/>
                </a:solidFill>
                <a:latin typeface="Consolas"/>
                <a:ea typeface="Consolas"/>
                <a:cs typeface="Consolas"/>
              </a:rPr>
              <a:t> </a:t>
            </a:r>
            <a:r>
              <a:rPr sz="1350" b="1" i="0">
                <a:solidFill>
                  <a:srgbClr val="6CB6FF"/>
                </a:solidFill>
                <a:latin typeface="Consolas"/>
                <a:ea typeface="Consolas"/>
                <a:cs typeface="Consolas"/>
              </a:rPr>
              <a:t>INTO</a:t>
            </a:r>
            <a:r>
              <a:rPr sz="1350" b="0" i="0">
                <a:solidFill>
                  <a:srgbClr val="E6E6E6"/>
                </a:solidFill>
                <a:latin typeface="Consolas"/>
                <a:ea typeface="Consolas"/>
                <a:cs typeface="Consolas"/>
              </a:rPr>
              <a:t> @ds </a:t>
            </a:r>
            <a:r>
              <a:rPr sz="1350" b="1" i="0">
                <a:solidFill>
                  <a:srgbClr val="6CB6FF"/>
                </a:solidFill>
                <a:latin typeface="Consolas"/>
                <a:ea typeface="Consolas"/>
                <a:cs typeface="Consolas"/>
              </a:rPr>
              <a:t>VALUES</a:t>
            </a:r>
            <a:r>
              <a:rPr sz="1350" b="0" i="0">
                <a:solidFill>
                  <a:srgbClr val="E6E6E6"/>
                </a:solidFill>
                <a:latin typeface="Consolas"/>
                <a:ea typeface="Consolas"/>
                <a:cs typeface="Consolas"/>
              </a:rPr>
              <a:t> ('KH001'), ('KH002')</a:t>
            </a:r>
          </a:p>
          <a:p>
            <a:pPr>
              <a:lnSpc>
                <a:spcPct val="100000"/>
              </a:lnSpc>
              <a:spcAft>
                <a:spcPts val="0"/>
              </a:spcAft>
            </a:pPr>
            <a:r>
              <a:rPr sz="1350" b="0" i="0">
                <a:solidFill>
                  <a:srgbClr val="E6E6E6"/>
                </a:solidFill>
                <a:latin typeface="Consolas"/>
                <a:ea typeface="Consolas"/>
                <a:cs typeface="Consolas"/>
              </a:rPr>
              <a:t> </a:t>
            </a:r>
          </a:p>
          <a:p>
            <a:pPr>
              <a:lnSpc>
                <a:spcPct val="100000"/>
              </a:lnSpc>
              <a:spcAft>
                <a:spcPts val="0"/>
              </a:spcAft>
            </a:pPr>
            <a:r>
              <a:rPr sz="1350" b="0" i="1">
                <a:solidFill>
                  <a:srgbClr val="7FB06A"/>
                </a:solidFill>
                <a:latin typeface="Consolas"/>
                <a:ea typeface="Consolas"/>
                <a:cs typeface="Consolas"/>
              </a:rPr>
              <a:t>-- CTE + ROW_NUMBER: tìm tên trùng</a:t>
            </a:r>
          </a:p>
          <a:p>
            <a:pPr>
              <a:lnSpc>
                <a:spcPct val="100000"/>
              </a:lnSpc>
              <a:spcAft>
                <a:spcPts val="0"/>
              </a:spcAft>
            </a:pPr>
            <a:r>
              <a:rPr sz="1350" b="0" i="0">
                <a:solidFill>
                  <a:srgbClr val="E6E6E6"/>
                </a:solidFill>
                <a:latin typeface="Consolas"/>
                <a:ea typeface="Consolas"/>
                <a:cs typeface="Consolas"/>
              </a:rPr>
              <a:t>;</a:t>
            </a:r>
            <a:r>
              <a:rPr sz="1350" b="1" i="0">
                <a:solidFill>
                  <a:srgbClr val="6CB6FF"/>
                </a:solidFill>
                <a:latin typeface="Consolas"/>
                <a:ea typeface="Consolas"/>
                <a:cs typeface="Consolas"/>
              </a:rPr>
              <a:t>WITH</a:t>
            </a:r>
            <a:r>
              <a:rPr sz="1350" b="0" i="0">
                <a:solidFill>
                  <a:srgbClr val="E6E6E6"/>
                </a:solidFill>
                <a:latin typeface="Consolas"/>
                <a:ea typeface="Consolas"/>
                <a:cs typeface="Consolas"/>
              </a:rPr>
              <a:t> trung </a:t>
            </a:r>
            <a:r>
              <a:rPr sz="1350" b="1" i="0">
                <a:solidFill>
                  <a:srgbClr val="6CB6FF"/>
                </a:solidFill>
                <a:latin typeface="Consolas"/>
                <a:ea typeface="Consolas"/>
                <a:cs typeface="Consolas"/>
              </a:rPr>
              <a:t>AS</a:t>
            </a:r>
            <a:r>
              <a:rPr sz="1350" b="0" i="0">
                <a:solidFill>
                  <a:srgbClr val="E6E6E6"/>
                </a:solidFill>
                <a:latin typeface="Consolas"/>
                <a:ea typeface="Consolas"/>
                <a:cs typeface="Consolas"/>
              </a:rPr>
              <a:t> (</a:t>
            </a:r>
          </a:p>
          <a:p>
            <a:pPr>
              <a:lnSpc>
                <a:spcPct val="100000"/>
              </a:lnSpc>
              <a:spcAft>
                <a:spcPts val="0"/>
              </a:spcAft>
            </a:pPr>
            <a:r>
              <a:rPr sz="1350" b="0" i="0">
                <a:solidFill>
                  <a:srgbClr val="E6E6E6"/>
                </a:solidFill>
                <a:latin typeface="Consolas"/>
                <a:ea typeface="Consolas"/>
                <a:cs typeface="Consolas"/>
              </a:rPr>
              <a:t>  </a:t>
            </a:r>
            <a:r>
              <a:rPr sz="1350" b="1" i="0">
                <a:solidFill>
                  <a:srgbClr val="6CB6FF"/>
                </a:solidFill>
                <a:latin typeface="Consolas"/>
                <a:ea typeface="Consolas"/>
                <a:cs typeface="Consolas"/>
              </a:rPr>
              <a:t>SELECT</a:t>
            </a:r>
            <a:r>
              <a:rPr sz="1350" b="0" i="0">
                <a:solidFill>
                  <a:srgbClr val="E6E6E6"/>
                </a:solidFill>
                <a:latin typeface="Consolas"/>
                <a:ea typeface="Consolas"/>
                <a:cs typeface="Consolas"/>
              </a:rPr>
              <a:t> ma_kh, ten_kh,</a:t>
            </a:r>
          </a:p>
          <a:p>
            <a:pPr>
              <a:lnSpc>
                <a:spcPct val="100000"/>
              </a:lnSpc>
              <a:spcAft>
                <a:spcPts val="0"/>
              </a:spcAft>
            </a:pPr>
            <a:r>
              <a:rPr sz="1350" b="0" i="0">
                <a:solidFill>
                  <a:srgbClr val="E6E6E6"/>
                </a:solidFill>
                <a:latin typeface="Consolas"/>
                <a:ea typeface="Consolas"/>
                <a:cs typeface="Consolas"/>
              </a:rPr>
              <a:t>         ROW_NUMBER() OVER (PARTITION BY ten_kh </a:t>
            </a:r>
            <a:r>
              <a:rPr sz="1350" b="1" i="0">
                <a:solidFill>
                  <a:srgbClr val="6CB6FF"/>
                </a:solidFill>
                <a:latin typeface="Consolas"/>
                <a:ea typeface="Consolas"/>
                <a:cs typeface="Consolas"/>
              </a:rPr>
              <a:t>ORDER BY</a:t>
            </a:r>
            <a:r>
              <a:rPr sz="1350" b="0" i="0">
                <a:solidFill>
                  <a:srgbClr val="E6E6E6"/>
                </a:solidFill>
                <a:latin typeface="Consolas"/>
                <a:ea typeface="Consolas"/>
                <a:cs typeface="Consolas"/>
              </a:rPr>
              <a:t> ma_kh) rn</a:t>
            </a:r>
          </a:p>
          <a:p>
            <a:pPr>
              <a:lnSpc>
                <a:spcPct val="100000"/>
              </a:lnSpc>
              <a:spcAft>
                <a:spcPts val="0"/>
              </a:spcAft>
            </a:pPr>
            <a:r>
              <a:rPr sz="1350" b="0" i="0">
                <a:solidFill>
                  <a:srgbClr val="E6E6E6"/>
                </a:solidFill>
                <a:latin typeface="Consolas"/>
                <a:ea typeface="Consolas"/>
                <a:cs typeface="Consolas"/>
              </a:rPr>
              <a:t>  </a:t>
            </a:r>
            <a:r>
              <a:rPr sz="1350" b="1" i="0">
                <a:solidFill>
                  <a:srgbClr val="6CB6FF"/>
                </a:solidFill>
                <a:latin typeface="Consolas"/>
                <a:ea typeface="Consolas"/>
                <a:cs typeface="Consolas"/>
              </a:rPr>
              <a:t>FROM</a:t>
            </a:r>
            <a:r>
              <a:rPr sz="1350" b="0" i="0">
                <a:solidFill>
                  <a:srgbClr val="E6E6E6"/>
                </a:solidFill>
                <a:latin typeface="Consolas"/>
                <a:ea typeface="Consolas"/>
                <a:cs typeface="Consolas"/>
              </a:rPr>
              <a:t> dmkh)</a:t>
            </a:r>
          </a:p>
          <a:p>
            <a:pPr>
              <a:lnSpc>
                <a:spcPct val="100000"/>
              </a:lnSpc>
              <a:spcAft>
                <a:spcPts val="0"/>
              </a:spcAft>
            </a:pPr>
            <a:r>
              <a:rPr sz="1350" b="1" i="0">
                <a:solidFill>
                  <a:srgbClr val="6CB6FF"/>
                </a:solidFill>
                <a:latin typeface="Consolas"/>
                <a:ea typeface="Consolas"/>
                <a:cs typeface="Consolas"/>
              </a:rPr>
              <a:t>SELECT</a:t>
            </a:r>
            <a:r>
              <a:rPr sz="1350" b="0" i="0">
                <a:solidFill>
                  <a:srgbClr val="E6E6E6"/>
                </a:solidFill>
                <a:latin typeface="Consolas"/>
                <a:ea typeface="Consolas"/>
                <a:cs typeface="Consolas"/>
              </a:rPr>
              <a:t> * </a:t>
            </a:r>
            <a:r>
              <a:rPr sz="1350" b="1" i="0">
                <a:solidFill>
                  <a:srgbClr val="6CB6FF"/>
                </a:solidFill>
                <a:latin typeface="Consolas"/>
                <a:ea typeface="Consolas"/>
                <a:cs typeface="Consolas"/>
              </a:rPr>
              <a:t>FROM</a:t>
            </a:r>
            <a:r>
              <a:rPr sz="1350" b="0" i="0">
                <a:solidFill>
                  <a:srgbClr val="E6E6E6"/>
                </a:solidFill>
                <a:latin typeface="Consolas"/>
                <a:ea typeface="Consolas"/>
                <a:cs typeface="Consolas"/>
              </a:rPr>
              <a:t> trung </a:t>
            </a:r>
            <a:r>
              <a:rPr sz="1350" b="1" i="0">
                <a:solidFill>
                  <a:srgbClr val="6CB6FF"/>
                </a:solidFill>
                <a:latin typeface="Consolas"/>
                <a:ea typeface="Consolas"/>
                <a:cs typeface="Consolas"/>
              </a:rPr>
              <a:t>WHERE</a:t>
            </a:r>
            <a:r>
              <a:rPr sz="1350" b="0" i="0">
                <a:solidFill>
                  <a:srgbClr val="E6E6E6"/>
                </a:solidFill>
                <a:latin typeface="Consolas"/>
                <a:ea typeface="Consolas"/>
                <a:cs typeface="Consolas"/>
              </a:rPr>
              <a:t> rn &gt; 1</a:t>
            </a:r>
          </a:p>
        </p:txBody>
      </p:sp>
      <p:sp>
        <p:nvSpPr>
          <p:cNvPr id="9" name="TextBox 8"/>
          <p:cNvSpPr txBox="1"/>
          <p:nvPr/>
        </p:nvSpPr>
        <p:spPr>
          <a:xfrm>
            <a:off x="7863840" y="1600200"/>
            <a:ext cx="3749039" cy="466344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600" b="0" i="0">
                <a:solidFill>
                  <a:srgbClr val="B02A2A"/>
                </a:solidFill>
                <a:latin typeface="Consolas"/>
                <a:ea typeface="Consolas"/>
                <a:cs typeface="Consolas"/>
              </a:rPr>
              <a:t>#temp</a:t>
            </a:r>
            <a:r>
              <a:rPr sz="1700" b="0" i="0">
                <a:solidFill>
                  <a:srgbClr val="263238"/>
                </a:solidFill>
                <a:latin typeface="Segoe UI"/>
                <a:ea typeface="Segoe UI"/>
                <a:cs typeface="Segoe UI"/>
              </a:rPr>
              <a:t> — dùng trong procedure</a:t>
            </a:r>
          </a:p>
          <a:p>
            <a:pPr>
              <a:spcAft>
                <a:spcPts val="1000"/>
              </a:spcAft>
            </a:pPr>
            <a:r>
              <a:rPr sz="1700" b="1" i="0">
                <a:solidFill>
                  <a:srgbClr val="F2B705"/>
                </a:solidFill>
                <a:latin typeface="Segoe UI"/>
                <a:ea typeface="Segoe UI"/>
                <a:cs typeface="Segoe UI"/>
              </a:rPr>
              <a:t>▪  </a:t>
            </a:r>
            <a:r>
              <a:rPr sz="1600" b="0" i="0">
                <a:solidFill>
                  <a:srgbClr val="B02A2A"/>
                </a:solidFill>
                <a:latin typeface="Consolas"/>
                <a:ea typeface="Consolas"/>
                <a:cs typeface="Consolas"/>
              </a:rPr>
              <a:t>@bien</a:t>
            </a:r>
            <a:r>
              <a:rPr sz="1700" b="0" i="0">
                <a:solidFill>
                  <a:srgbClr val="263238"/>
                </a:solidFill>
                <a:latin typeface="Segoe UI"/>
                <a:ea typeface="Segoe UI"/>
                <a:cs typeface="Segoe UI"/>
              </a:rPr>
              <a:t> — nhỏ, 1 batch</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CTE + </a:t>
            </a:r>
            <a:r>
              <a:rPr sz="1600" b="0" i="0">
                <a:solidFill>
                  <a:srgbClr val="B02A2A"/>
                </a:solidFill>
                <a:latin typeface="Consolas"/>
                <a:ea typeface="Consolas"/>
                <a:cs typeface="Consolas"/>
              </a:rPr>
              <a:t>ROW_NUMBER</a:t>
            </a:r>
            <a:r>
              <a:rPr sz="1700" b="0" i="0">
                <a:solidFill>
                  <a:srgbClr val="263238"/>
                </a:solidFill>
                <a:latin typeface="Segoe UI"/>
                <a:ea typeface="Segoe UI"/>
                <a:cs typeface="Segoe UI"/>
              </a:rPr>
              <a:t> tìm trùng</a:t>
            </a:r>
          </a:p>
          <a:p>
            <a:pPr>
              <a:spcAft>
                <a:spcPts val="1000"/>
              </a:spcAft>
            </a:pPr>
            <a:r>
              <a:rPr sz="1700" b="1" i="0">
                <a:solidFill>
                  <a:srgbClr val="F2B705"/>
                </a:solidFill>
                <a:latin typeface="Segoe UI"/>
                <a:ea typeface="Segoe UI"/>
                <a:cs typeface="Segoe UI"/>
              </a:rPr>
              <a:t>▪  </a:t>
            </a:r>
            <a:r>
              <a:rPr sz="1600" b="0" i="0">
                <a:solidFill>
                  <a:srgbClr val="B02A2A"/>
                </a:solidFill>
                <a:latin typeface="Consolas"/>
                <a:ea typeface="Consolas"/>
                <a:cs typeface="Consolas"/>
              </a:rPr>
              <a:t>SELECT TOP 0 … INTO</a:t>
            </a:r>
            <a:r>
              <a:rPr sz="1700" b="0" i="0">
                <a:solidFill>
                  <a:srgbClr val="263238"/>
                </a:solidFill>
                <a:latin typeface="Segoe UI"/>
                <a:ea typeface="Segoe UI"/>
                <a:cs typeface="Segoe UI"/>
              </a:rPr>
              <a:t> → </a:t>
            </a:r>
            <a:r>
              <a:rPr sz="1700" b="1" i="0">
                <a:solidFill>
                  <a:srgbClr val="1F4E79"/>
                </a:solidFill>
                <a:latin typeface="Segoe UI"/>
                <a:ea typeface="Segoe UI"/>
                <a:cs typeface="Segoe UI"/>
              </a:rPr>
              <a:t>đúng kiểu cột</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Đừng tạo trước </a:t>
            </a:r>
            <a:r>
              <a:rPr sz="1600" b="0" i="0">
                <a:solidFill>
                  <a:srgbClr val="B02A2A"/>
                </a:solidFill>
                <a:latin typeface="Consolas"/>
                <a:ea typeface="Consolas"/>
                <a:cs typeface="Consolas"/>
              </a:rPr>
              <a:t>#temp</a:t>
            </a:r>
            <a:r>
              <a:rPr sz="1700" b="0" i="0">
                <a:solidFill>
                  <a:srgbClr val="263238"/>
                </a:solidFill>
                <a:latin typeface="Segoe UI"/>
                <a:ea typeface="Segoe UI"/>
                <a:cs typeface="Segoe UI"/>
              </a:rPr>
              <a:t> trùng tên của procedure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Tab Table · SQL Object · Lookup</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5</a:t>
            </a:r>
          </a:p>
        </p:txBody>
      </p:sp>
      <p:pic>
        <p:nvPicPr>
          <p:cNvPr id="7" name="Picture 6" descr="bcode-table.png"/>
          <p:cNvPicPr>
            <a:picLocks noChangeAspect="1"/>
          </p:cNvPicPr>
          <p:nvPr/>
        </p:nvPicPr>
        <p:blipFill>
          <a:blip r:embed="rId2"/>
          <a:stretch>
            <a:fillRect/>
          </a:stretch>
        </p:blipFill>
        <p:spPr>
          <a:xfrm>
            <a:off x="548640" y="1648010"/>
            <a:ext cx="7589520" cy="4293499"/>
          </a:xfrm>
          <a:prstGeom prst="rect">
            <a:avLst/>
          </a:prstGeom>
          <a:ln w="12700">
            <a:solidFill>
              <a:srgbClr val="C8D1DC"/>
            </a:solidFill>
          </a:ln>
        </p:spPr>
      </p:pic>
      <p:sp>
        <p:nvSpPr>
          <p:cNvPr id="8" name="TextBox 7"/>
          <p:cNvSpPr txBox="1"/>
          <p:nvPr/>
        </p:nvSpPr>
        <p:spPr>
          <a:xfrm>
            <a:off x="8366760" y="1325880"/>
            <a:ext cx="3383280" cy="475488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1" i="0">
                <a:solidFill>
                  <a:srgbClr val="1F4E79"/>
                </a:solidFill>
                <a:latin typeface="Segoe UI"/>
                <a:ea typeface="Segoe UI"/>
                <a:cs typeface="Segoe UI"/>
              </a:rPr>
              <a:t>Table</a:t>
            </a:r>
            <a:r>
              <a:rPr sz="1500" b="0" i="0">
                <a:solidFill>
                  <a:srgbClr val="263238"/>
                </a:solidFill>
                <a:latin typeface="Segoe UI"/>
                <a:ea typeface="Segoe UI"/>
                <a:cs typeface="Segoe UI"/>
              </a:rPr>
              <a:t> </a:t>
            </a:r>
            <a:r>
              <a:rPr sz="1400" b="0" i="0">
                <a:solidFill>
                  <a:srgbClr val="B02A2A"/>
                </a:solidFill>
                <a:latin typeface="Consolas"/>
                <a:ea typeface="Consolas"/>
                <a:cs typeface="Consolas"/>
              </a:rPr>
              <a:t>Ctrl+Shift+T</a:t>
            </a:r>
            <a:r>
              <a:rPr sz="1500" b="0" i="0">
                <a:solidFill>
                  <a:srgbClr val="263238"/>
                </a:solidFill>
                <a:latin typeface="Segoe UI"/>
                <a:ea typeface="Segoe UI"/>
                <a:cs typeface="Segoe UI"/>
              </a:rPr>
              <a:t>: Where / Top → Enter</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Sửa như Excel · </a:t>
            </a:r>
            <a:r>
              <a:rPr sz="1400" b="0" i="0">
                <a:solidFill>
                  <a:srgbClr val="B02A2A"/>
                </a:solidFill>
                <a:latin typeface="Consolas"/>
                <a:ea typeface="Consolas"/>
                <a:cs typeface="Consolas"/>
              </a:rPr>
              <a:t>F4</a:t>
            </a:r>
            <a:r>
              <a:rPr sz="1500" b="0" i="0">
                <a:solidFill>
                  <a:srgbClr val="263238"/>
                </a:solidFill>
                <a:latin typeface="Segoe UI"/>
                <a:ea typeface="Segoe UI"/>
                <a:cs typeface="Segoe UI"/>
              </a:rPr>
              <a:t> thêm · </a:t>
            </a:r>
            <a:r>
              <a:rPr sz="1400" b="0" i="0">
                <a:solidFill>
                  <a:srgbClr val="B02A2A"/>
                </a:solidFill>
                <a:latin typeface="Consolas"/>
                <a:ea typeface="Consolas"/>
                <a:cs typeface="Consolas"/>
              </a:rPr>
              <a:t>F8</a:t>
            </a:r>
            <a:r>
              <a:rPr sz="1500" b="0" i="0">
                <a:solidFill>
                  <a:srgbClr val="263238"/>
                </a:solidFill>
                <a:latin typeface="Segoe UI"/>
                <a:ea typeface="Segoe UI"/>
                <a:cs typeface="Segoe UI"/>
              </a:rPr>
              <a:t> xoá</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Dòng </a:t>
            </a:r>
            <a:r>
              <a:rPr sz="1500" b="1" i="0">
                <a:solidFill>
                  <a:srgbClr val="1F4E79"/>
                </a:solidFill>
                <a:latin typeface="Segoe UI"/>
                <a:ea typeface="Segoe UI"/>
                <a:cs typeface="Segoe UI"/>
              </a:rPr>
              <a:t>Menu:</a:t>
            </a:r>
            <a:r>
              <a:rPr sz="1500" b="0" i="0">
                <a:solidFill>
                  <a:srgbClr val="263238"/>
                </a:solidFill>
                <a:latin typeface="Segoe UI"/>
                <a:ea typeface="Segoe UI"/>
                <a:cs typeface="Segoe UI"/>
              </a:rPr>
              <a:t> → màn hình dùng bảng</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Structure → </a:t>
            </a:r>
            <a:r>
              <a:rPr sz="1500" b="1" i="0">
                <a:solidFill>
                  <a:srgbClr val="1F4E79"/>
                </a:solidFill>
                <a:latin typeface="Segoe UI"/>
                <a:ea typeface="Segoe UI"/>
                <a:cs typeface="Segoe UI"/>
              </a:rPr>
              <a:t>Gen Add Column</a:t>
            </a:r>
          </a:p>
          <a:p>
            <a:pPr>
              <a:spcAft>
                <a:spcPts val="1000"/>
              </a:spcAft>
            </a:pPr>
            <a:r>
              <a:rPr sz="1500" b="1" i="0">
                <a:solidFill>
                  <a:srgbClr val="F2B705"/>
                </a:solidFill>
                <a:latin typeface="Segoe UI"/>
                <a:ea typeface="Segoe UI"/>
                <a:cs typeface="Segoe UI"/>
              </a:rPr>
              <a:t>▪  </a:t>
            </a:r>
            <a:r>
              <a:rPr sz="1500" b="1" i="0">
                <a:solidFill>
                  <a:srgbClr val="1F4E79"/>
                </a:solidFill>
                <a:latin typeface="Segoe UI"/>
                <a:ea typeface="Segoe UI"/>
                <a:cs typeface="Segoe UI"/>
              </a:rPr>
              <a:t>SQL Object</a:t>
            </a:r>
            <a:r>
              <a:rPr sz="1500" b="0" i="0">
                <a:solidFill>
                  <a:srgbClr val="263238"/>
                </a:solidFill>
                <a:latin typeface="Segoe UI"/>
                <a:ea typeface="Segoe UI"/>
                <a:cs typeface="Segoe UI"/>
              </a:rPr>
              <a:t>: Mở dạng ALTER, Ai đang dùng</a:t>
            </a:r>
          </a:p>
          <a:p>
            <a:pPr>
              <a:spcAft>
                <a:spcPts val="1000"/>
              </a:spcAft>
            </a:pPr>
            <a:r>
              <a:rPr sz="1500" b="1" i="0">
                <a:solidFill>
                  <a:srgbClr val="F2B705"/>
                </a:solidFill>
                <a:latin typeface="Segoe UI"/>
                <a:ea typeface="Segoe UI"/>
                <a:cs typeface="Segoe UI"/>
              </a:rPr>
              <a:t>▪  </a:t>
            </a:r>
            <a:r>
              <a:rPr sz="1500" b="1" i="0">
                <a:solidFill>
                  <a:srgbClr val="1F4E79"/>
                </a:solidFill>
                <a:latin typeface="Segoe UI"/>
                <a:ea typeface="Segoe UI"/>
                <a:cs typeface="Segoe UI"/>
              </a:rPr>
              <a:t>Lookup</a:t>
            </a:r>
            <a:r>
              <a:rPr sz="1500" b="0" i="0">
                <a:solidFill>
                  <a:srgbClr val="263238"/>
                </a:solidFill>
                <a:latin typeface="Segoe UI"/>
                <a:ea typeface="Segoe UI"/>
                <a:cs typeface="Segoe UI"/>
              </a:rPr>
              <a:t> </a:t>
            </a:r>
            <a:r>
              <a:rPr sz="1400" b="0" i="0">
                <a:solidFill>
                  <a:srgbClr val="B02A2A"/>
                </a:solidFill>
                <a:latin typeface="Consolas"/>
                <a:ea typeface="Consolas"/>
                <a:cs typeface="Consolas"/>
              </a:rPr>
              <a:t>Ctrl+Shift+L</a:t>
            </a:r>
            <a:r>
              <a:rPr sz="1500" b="0" i="0">
                <a:solidFill>
                  <a:srgbClr val="263238"/>
                </a:solidFill>
                <a:latin typeface="Segoe UI"/>
                <a:ea typeface="Segoe UI"/>
                <a:cs typeface="Segoe UI"/>
              </a:rPr>
              <a:t>: tìm theo nội dung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Cây SQL Object · Ai đang dùng · So sánh</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6</a:t>
            </a:r>
          </a:p>
        </p:txBody>
      </p:sp>
      <p:pic>
        <p:nvPicPr>
          <p:cNvPr id="7" name="Picture 6" descr="bcode-sql-object.png"/>
          <p:cNvPicPr>
            <a:picLocks noChangeAspect="1"/>
          </p:cNvPicPr>
          <p:nvPr/>
        </p:nvPicPr>
        <p:blipFill>
          <a:blip r:embed="rId2"/>
          <a:stretch>
            <a:fillRect/>
          </a:stretch>
        </p:blipFill>
        <p:spPr>
          <a:xfrm>
            <a:off x="1106905" y="1325880"/>
            <a:ext cx="3638349" cy="4937760"/>
          </a:xfrm>
          <a:prstGeom prst="rect">
            <a:avLst/>
          </a:prstGeom>
          <a:ln w="12700">
            <a:solidFill>
              <a:srgbClr val="C8D1DC"/>
            </a:solidFill>
          </a:ln>
        </p:spPr>
      </p:pic>
      <p:sp>
        <p:nvSpPr>
          <p:cNvPr id="8" name="TextBox 7"/>
          <p:cNvSpPr txBox="1"/>
          <p:nvPr/>
        </p:nvSpPr>
        <p:spPr>
          <a:xfrm>
            <a:off x="8366760" y="1325880"/>
            <a:ext cx="3383280" cy="475488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Gõ lọc theo tên</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Chuột phải → </a:t>
            </a:r>
            <a:r>
              <a:rPr sz="1700" b="1" i="0">
                <a:solidFill>
                  <a:srgbClr val="1F4E79"/>
                </a:solidFill>
                <a:latin typeface="Segoe UI"/>
                <a:ea typeface="Segoe UI"/>
                <a:cs typeface="Segoe UI"/>
              </a:rPr>
              <a:t>Mở dạng ALTER</a:t>
            </a:r>
          </a:p>
          <a:p>
            <a:pPr>
              <a:spcAft>
                <a:spcPts val="1000"/>
              </a:spcAft>
            </a:pPr>
            <a:r>
              <a:rPr sz="1700" b="1" i="0">
                <a:solidFill>
                  <a:srgbClr val="F2B705"/>
                </a:solidFill>
                <a:latin typeface="Segoe UI"/>
                <a:ea typeface="Segoe UI"/>
                <a:cs typeface="Segoe UI"/>
              </a:rPr>
              <a:t>▪  </a:t>
            </a:r>
            <a:r>
              <a:rPr sz="1700" b="1" i="0">
                <a:solidFill>
                  <a:srgbClr val="1F4E79"/>
                </a:solidFill>
                <a:latin typeface="Segoe UI"/>
                <a:ea typeface="Segoe UI"/>
                <a:cs typeface="Segoe UI"/>
              </a:rPr>
              <a:t>Ai đang dùng</a:t>
            </a:r>
            <a:r>
              <a:rPr sz="1700" b="0" i="0">
                <a:solidFill>
                  <a:srgbClr val="263238"/>
                </a:solidFill>
                <a:latin typeface="Segoe UI"/>
                <a:ea typeface="Segoe UI"/>
                <a:cs typeface="Segoe UI"/>
              </a:rPr>
              <a:t> </a:t>
            </a:r>
            <a:r>
              <a:rPr sz="1600" b="0" i="0">
                <a:solidFill>
                  <a:srgbClr val="B02A2A"/>
                </a:solidFill>
                <a:latin typeface="Consolas"/>
                <a:ea typeface="Consolas"/>
                <a:cs typeface="Consolas"/>
              </a:rPr>
              <a:t>Ctrl+Alt+U</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Xem trước khi sửa / xoá</a:t>
            </a:r>
          </a:p>
          <a:p>
            <a:pPr>
              <a:spcAft>
                <a:spcPts val="1000"/>
              </a:spcAft>
            </a:pPr>
            <a:r>
              <a:rPr sz="1700" b="1" i="0">
                <a:solidFill>
                  <a:srgbClr val="F2B705"/>
                </a:solidFill>
                <a:latin typeface="Segoe UI"/>
                <a:ea typeface="Segoe UI"/>
                <a:cs typeface="Segoe UI"/>
              </a:rPr>
              <a:t>▪  </a:t>
            </a:r>
            <a:r>
              <a:rPr sz="1700" b="1" i="0">
                <a:solidFill>
                  <a:srgbClr val="1F4E79"/>
                </a:solidFill>
                <a:latin typeface="Segoe UI"/>
                <a:ea typeface="Segoe UI"/>
                <a:cs typeface="Segoe UI"/>
              </a:rPr>
              <a:t>So sánh object</a:t>
            </a:r>
            <a:r>
              <a:rPr sz="1700" b="0" i="0">
                <a:solidFill>
                  <a:srgbClr val="263238"/>
                </a:solidFill>
                <a:latin typeface="Segoe UI"/>
                <a:ea typeface="Segoe UI"/>
                <a:cs typeface="Segoe UI"/>
              </a:rPr>
              <a:t> </a:t>
            </a:r>
            <a:r>
              <a:rPr sz="1600" b="0" i="0">
                <a:solidFill>
                  <a:srgbClr val="B02A2A"/>
                </a:solidFill>
                <a:latin typeface="Consolas"/>
                <a:ea typeface="Consolas"/>
                <a:cs typeface="Consolas"/>
              </a:rPr>
              <a:t>Ctrl+Shift+J</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Sinh script ALTER (không tự chạy)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Profiler · Script Cart · Gen Insert / Update</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7</a:t>
            </a:r>
          </a:p>
        </p:txBody>
      </p:sp>
      <p:sp>
        <p:nvSpPr>
          <p:cNvPr id="7" name="Rounded Rectangle 6"/>
          <p:cNvSpPr/>
          <p:nvPr/>
        </p:nvSpPr>
        <p:spPr>
          <a:xfrm>
            <a:off x="640080" y="1645920"/>
            <a:ext cx="3459480" cy="37947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45920"/>
            <a:ext cx="3459480" cy="1097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874519"/>
            <a:ext cx="3093720" cy="822960"/>
          </a:xfrm>
          <a:prstGeom prst="rect">
            <a:avLst/>
          </a:prstGeom>
          <a:noFill/>
        </p:spPr>
        <p:txBody>
          <a:bodyPr wrap="square" anchor="t" lIns="45720" rIns="45720" tIns="27432" bIns="27432">
            <a:spAutoFit/>
          </a:bodyPr>
          <a:lstStyle/>
          <a:p>
            <a:pPr algn="l"/>
            <a:r>
              <a:rPr sz="2000" b="1" i="0">
                <a:solidFill>
                  <a:srgbClr val="8E44AD"/>
                </a:solidFill>
                <a:latin typeface="Segoe UI"/>
                <a:ea typeface="Segoe UI"/>
                <a:cs typeface="Segoe UI"/>
              </a:rPr>
              <a:t>SQL Profiler  Ctrl+3</a:t>
            </a:r>
          </a:p>
        </p:txBody>
      </p:sp>
      <p:sp>
        <p:nvSpPr>
          <p:cNvPr id="10" name="TextBox 9"/>
          <p:cNvSpPr txBox="1"/>
          <p:nvPr/>
        </p:nvSpPr>
        <p:spPr>
          <a:xfrm>
            <a:off x="777240" y="2606040"/>
            <a:ext cx="3185160" cy="27432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Bắt câu lệnh màn hình gửi xuống</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Lọc theo database + user (</a:t>
            </a:r>
            <a:r>
              <a:rPr sz="1600" b="1" i="0">
                <a:solidFill>
                  <a:srgbClr val="1F4E79"/>
                </a:solidFill>
                <a:latin typeface="Segoe UI"/>
                <a:ea typeface="Segoe UI"/>
                <a:cs typeface="Segoe UI"/>
              </a:rPr>
              <a:t>Tra u_id</a:t>
            </a:r>
            <a:r>
              <a:rPr sz="1600" b="0" i="0">
                <a:solidFill>
                  <a:srgbClr val="263238"/>
                </a:solidFill>
                <a:latin typeface="Segoe UI"/>
                <a:ea typeface="Segoe UI"/>
                <a:cs typeface="Segoe UI"/>
              </a:rPr>
              <a:t>)</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Thao tác trên web → tìm </a:t>
            </a:r>
            <a:r>
              <a:rPr sz="1500" b="0" i="0">
                <a:solidFill>
                  <a:srgbClr val="B02A2A"/>
                </a:solidFill>
                <a:latin typeface="Consolas"/>
                <a:ea typeface="Consolas"/>
                <a:cs typeface="Consolas"/>
              </a:rPr>
              <a:t>exec rs_…</a:t>
            </a:r>
          </a:p>
          <a:p>
            <a:pPr>
              <a:spcAft>
                <a:spcPts val="1000"/>
              </a:spcAft>
            </a:pPr>
            <a:r>
              <a:rPr sz="1600" b="1" i="0">
                <a:solidFill>
                  <a:srgbClr val="F2B705"/>
                </a:solidFill>
                <a:latin typeface="Segoe UI"/>
                <a:ea typeface="Segoe UI"/>
                <a:cs typeface="Segoe UI"/>
              </a:rPr>
              <a:t>▪  </a:t>
            </a:r>
            <a:r>
              <a:rPr sz="1600" b="1" i="0">
                <a:solidFill>
                  <a:srgbClr val="1F4E79"/>
                </a:solidFill>
                <a:latin typeface="Segoe UI"/>
                <a:ea typeface="Segoe UI"/>
                <a:cs typeface="Segoe UI"/>
              </a:rPr>
              <a:t>📋 Copy SQL Command</a:t>
            </a:r>
            <a:r>
              <a:rPr sz="1600" b="0" i="0">
                <a:solidFill>
                  <a:srgbClr val="263238"/>
                </a:solidFill>
                <a:latin typeface="Segoe UI"/>
                <a:ea typeface="Segoe UI"/>
                <a:cs typeface="Segoe UI"/>
              </a:rPr>
              <a:t> → chạy lại</a:t>
            </a:r>
          </a:p>
        </p:txBody>
      </p:sp>
      <p:sp>
        <p:nvSpPr>
          <p:cNvPr id="11" name="Rounded Rectangle 10"/>
          <p:cNvSpPr/>
          <p:nvPr/>
        </p:nvSpPr>
        <p:spPr>
          <a:xfrm>
            <a:off x="4373880" y="1645920"/>
            <a:ext cx="3459480" cy="37947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3880" y="1645920"/>
            <a:ext cx="3459480" cy="1097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874519"/>
            <a:ext cx="3093720" cy="822960"/>
          </a:xfrm>
          <a:prstGeom prst="rect">
            <a:avLst/>
          </a:prstGeom>
          <a:noFill/>
        </p:spPr>
        <p:txBody>
          <a:bodyPr wrap="square" anchor="t" lIns="45720" rIns="45720" tIns="27432" bIns="27432">
            <a:spAutoFit/>
          </a:bodyPr>
          <a:lstStyle/>
          <a:p>
            <a:pPr algn="l"/>
            <a:r>
              <a:rPr sz="2000" b="1" i="0">
                <a:solidFill>
                  <a:srgbClr val="2E75B6"/>
                </a:solidFill>
                <a:latin typeface="Segoe UI"/>
                <a:ea typeface="Segoe UI"/>
                <a:cs typeface="Segoe UI"/>
              </a:rPr>
              <a:t>Script Cart</a:t>
            </a:r>
          </a:p>
        </p:txBody>
      </p:sp>
      <p:sp>
        <p:nvSpPr>
          <p:cNvPr id="14" name="TextBox 13"/>
          <p:cNvSpPr txBox="1"/>
          <p:nvPr/>
        </p:nvSpPr>
        <p:spPr>
          <a:xfrm>
            <a:off x="4511040" y="2606040"/>
            <a:ext cx="3185160" cy="27432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600" b="1" i="0">
                <a:solidFill>
                  <a:srgbClr val="1F4E79"/>
                </a:solidFill>
                <a:latin typeface="Segoe UI"/>
                <a:ea typeface="Segoe UI"/>
                <a:cs typeface="Segoe UI"/>
              </a:rPr>
              <a:t>Add Script</a:t>
            </a:r>
            <a:r>
              <a:rPr sz="1600" b="0" i="0">
                <a:solidFill>
                  <a:srgbClr val="263238"/>
                </a:solidFill>
                <a:latin typeface="Segoe UI"/>
                <a:ea typeface="Segoe UI"/>
                <a:cs typeface="Segoe UI"/>
              </a:rPr>
              <a:t> </a:t>
            </a:r>
            <a:r>
              <a:rPr sz="1500" b="0" i="0">
                <a:solidFill>
                  <a:srgbClr val="B02A2A"/>
                </a:solidFill>
                <a:latin typeface="Consolas"/>
                <a:ea typeface="Consolas"/>
                <a:cs typeface="Consolas"/>
              </a:rPr>
              <a:t>Ctrl+Alt+Shift+A</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Table: DELETE + nạp lại dòng đang xem</a:t>
            </a:r>
          </a:p>
          <a:p>
            <a:pPr>
              <a:spcAft>
                <a:spcPts val="1000"/>
              </a:spcAft>
            </a:pPr>
            <a:r>
              <a:rPr sz="1600" b="1" i="0">
                <a:solidFill>
                  <a:srgbClr val="F2B705"/>
                </a:solidFill>
                <a:latin typeface="Segoe UI"/>
                <a:ea typeface="Segoe UI"/>
                <a:cs typeface="Segoe UI"/>
              </a:rPr>
              <a:t>▪  </a:t>
            </a:r>
            <a:r>
              <a:rPr sz="1600" b="1" i="0">
                <a:solidFill>
                  <a:srgbClr val="1F4E79"/>
                </a:solidFill>
                <a:latin typeface="Segoe UI"/>
                <a:ea typeface="Segoe UI"/>
                <a:cs typeface="Segoe UI"/>
              </a:rPr>
              <a:t>View Script</a:t>
            </a:r>
            <a:r>
              <a:rPr sz="1600" b="0" i="0">
                <a:solidFill>
                  <a:srgbClr val="263238"/>
                </a:solidFill>
                <a:latin typeface="Segoe UI"/>
                <a:ea typeface="Segoe UI"/>
                <a:cs typeface="Segoe UI"/>
              </a:rPr>
              <a:t> </a:t>
            </a:r>
            <a:r>
              <a:rPr sz="1500" b="0" i="0">
                <a:solidFill>
                  <a:srgbClr val="B02A2A"/>
                </a:solidFill>
                <a:latin typeface="Consolas"/>
                <a:ea typeface="Consolas"/>
                <a:cs typeface="Consolas"/>
              </a:rPr>
              <a:t>Ctrl+Alt+Shift+V</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Save / Copy / Clear Script</a:t>
            </a:r>
          </a:p>
        </p:txBody>
      </p:sp>
      <p:sp>
        <p:nvSpPr>
          <p:cNvPr id="15" name="Rounded Rectangle 14"/>
          <p:cNvSpPr/>
          <p:nvPr/>
        </p:nvSpPr>
        <p:spPr>
          <a:xfrm>
            <a:off x="8107679" y="1645920"/>
            <a:ext cx="3459480" cy="37947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07679" y="1645920"/>
            <a:ext cx="3459480" cy="1097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874519"/>
            <a:ext cx="3093720" cy="822960"/>
          </a:xfrm>
          <a:prstGeom prst="rect">
            <a:avLst/>
          </a:prstGeom>
          <a:noFill/>
        </p:spPr>
        <p:txBody>
          <a:bodyPr wrap="square" anchor="t" lIns="45720" rIns="45720" tIns="27432" bIns="27432">
            <a:spAutoFit/>
          </a:bodyPr>
          <a:lstStyle/>
          <a:p>
            <a:pPr algn="l"/>
            <a:r>
              <a:rPr sz="2000" b="1" i="0">
                <a:solidFill>
                  <a:srgbClr val="27AE60"/>
                </a:solidFill>
                <a:latin typeface="Segoe UI"/>
                <a:ea typeface="Segoe UI"/>
                <a:cs typeface="Segoe UI"/>
              </a:rPr>
              <a:t>Gen Insert / Update</a:t>
            </a:r>
          </a:p>
        </p:txBody>
      </p:sp>
      <p:sp>
        <p:nvSpPr>
          <p:cNvPr id="18" name="TextBox 17"/>
          <p:cNvSpPr txBox="1"/>
          <p:nvPr/>
        </p:nvSpPr>
        <p:spPr>
          <a:xfrm>
            <a:off x="8244839" y="2606040"/>
            <a:ext cx="3185160" cy="27432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Chuột phải lưới → </a:t>
            </a:r>
            <a:r>
              <a:rPr sz="1600" b="1" i="0">
                <a:solidFill>
                  <a:srgbClr val="1F4E79"/>
                </a:solidFill>
                <a:latin typeface="Segoe UI"/>
                <a:ea typeface="Segoe UI"/>
                <a:cs typeface="Segoe UI"/>
              </a:rPr>
              <a:t>Gen Insert / Update</a:t>
            </a:r>
            <a:r>
              <a:rPr sz="1600" b="0" i="0">
                <a:solidFill>
                  <a:srgbClr val="263238"/>
                </a:solidFill>
                <a:latin typeface="Segoe UI"/>
                <a:ea typeface="Segoe UI"/>
                <a:cs typeface="Segoe UI"/>
              </a:rPr>
              <a:t> dòng chọn</a:t>
            </a:r>
          </a:p>
          <a:p>
            <a:pPr>
              <a:spcAft>
                <a:spcPts val="1000"/>
              </a:spcAft>
            </a:pPr>
            <a:r>
              <a:rPr sz="1600" b="1" i="0">
                <a:solidFill>
                  <a:srgbClr val="F2B705"/>
                </a:solidFill>
                <a:latin typeface="Segoe UI"/>
                <a:ea typeface="Segoe UI"/>
                <a:cs typeface="Segoe UI"/>
              </a:rPr>
              <a:t>▪  </a:t>
            </a:r>
            <a:r>
              <a:rPr sz="1600" b="1" i="0">
                <a:solidFill>
                  <a:srgbClr val="1F4E79"/>
                </a:solidFill>
                <a:latin typeface="Segoe UI"/>
                <a:ea typeface="Segoe UI"/>
                <a:cs typeface="Segoe UI"/>
              </a:rPr>
              <a:t>Gen Update (Result)</a:t>
            </a:r>
            <a:r>
              <a:rPr sz="1600" b="0" i="0">
                <a:solidFill>
                  <a:srgbClr val="263238"/>
                </a:solidFill>
                <a:latin typeface="Segoe UI"/>
                <a:ea typeface="Segoe UI"/>
                <a:cs typeface="Segoe UI"/>
              </a:rPr>
              <a:t> </a:t>
            </a:r>
            <a:r>
              <a:rPr sz="1500" b="0" i="0">
                <a:solidFill>
                  <a:srgbClr val="B02A2A"/>
                </a:solidFill>
                <a:latin typeface="Consolas"/>
                <a:ea typeface="Consolas"/>
                <a:cs typeface="Consolas"/>
              </a:rPr>
              <a:t>Ctrl+Shift+U</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Hỏi bảng đích + cột khoá</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Câu lệnh vào clipboard</a:t>
            </a:r>
          </a:p>
        </p:txBody>
      </p:sp>
      <p:sp>
        <p:nvSpPr>
          <p:cNvPr id="19" name="Rounded Rectangle 18"/>
          <p:cNvSpPr/>
          <p:nvPr/>
        </p:nvSpPr>
        <p:spPr>
          <a:xfrm>
            <a:off x="640080" y="5623560"/>
            <a:ext cx="10927080" cy="640080"/>
          </a:xfrm>
          <a:prstGeom prst="roundRect">
            <a:avLst>
              <a:gd name="adj" fmla="val 8000"/>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623560"/>
            <a:ext cx="91440" cy="6400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5678424"/>
            <a:ext cx="10607040" cy="548640"/>
          </a:xfrm>
          <a:prstGeom prst="rect">
            <a:avLst/>
          </a:prstGeom>
          <a:noFill/>
        </p:spPr>
        <p:txBody>
          <a:bodyPr wrap="square" anchor="ctr" lIns="45720" rIns="45720" tIns="27432" bIns="27432">
            <a:spAutoFit/>
          </a:bodyPr>
          <a:lstStyle/>
          <a:p>
            <a:pPr algn="l"/>
            <a:r>
              <a:rPr sz="1400" b="1" i="0">
                <a:solidFill>
                  <a:srgbClr val="C0392B"/>
                </a:solidFill>
                <a:latin typeface="Segoe UI"/>
                <a:ea typeface="Segoe UI"/>
                <a:cs typeface="Segoe UI"/>
              </a:rPr>
              <a:t>Cảnh báo:</a:t>
            </a:r>
            <a:r>
              <a:rPr sz="1400" b="0" i="0">
                <a:solidFill>
                  <a:srgbClr val="263238"/>
                </a:solidFill>
                <a:latin typeface="Segoe UI"/>
                <a:ea typeface="Segoe UI"/>
                <a:cs typeface="Segoe UI"/>
              </a:rPr>
              <a:t> Add Script khi số dòng đang xem </a:t>
            </a:r>
            <a:r>
              <a:rPr sz="1400" b="1" i="0">
                <a:solidFill>
                  <a:srgbClr val="1F4E79"/>
                </a:solidFill>
                <a:latin typeface="Segoe UI"/>
                <a:ea typeface="Segoe UI"/>
                <a:cs typeface="Segoe UI"/>
              </a:rPr>
              <a:t>= Top</a:t>
            </a:r>
            <a:r>
              <a:rPr sz="1400" b="0" i="0">
                <a:solidFill>
                  <a:srgbClr val="263238"/>
                </a:solidFill>
                <a:latin typeface="Segoe UI"/>
                <a:ea typeface="Segoe UI"/>
                <a:cs typeface="Segoe UI"/>
              </a:rPr>
              <a:t> → phần còn lại </a:t>
            </a:r>
            <a:r>
              <a:rPr sz="1400" b="1" i="0">
                <a:solidFill>
                  <a:srgbClr val="1F4E79"/>
                </a:solidFill>
                <a:latin typeface="Segoe UI"/>
                <a:ea typeface="Segoe UI"/>
                <a:cs typeface="Segoe UI"/>
              </a:rPr>
              <a:t>mất</a:t>
            </a:r>
            <a:r>
              <a:rPr sz="1400" b="0" i="0">
                <a:solidFill>
                  <a:srgbClr val="263238"/>
                </a:solidFill>
                <a:latin typeface="Segoe UI"/>
                <a:ea typeface="Segoe UI"/>
                <a:cs typeface="Segoe UI"/>
              </a:rPr>
              <a:t> khi chạy script. Đặt Top = 0 rồi Load lại.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Thực hành tại lớp</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8</a:t>
            </a:r>
          </a:p>
        </p:txBody>
      </p:sp>
      <p:sp>
        <p:nvSpPr>
          <p:cNvPr id="7" name="TextBox 6"/>
          <p:cNvSpPr txBox="1"/>
          <p:nvPr/>
        </p:nvSpPr>
        <p:spPr>
          <a:xfrm>
            <a:off x="640080" y="1371600"/>
            <a:ext cx="10881360" cy="3108960"/>
          </a:xfrm>
          <a:prstGeom prst="rect">
            <a:avLst/>
          </a:prstGeom>
          <a:noFill/>
        </p:spPr>
        <p:txBody>
          <a:bodyPr wrap="square">
            <a:spAutoFit/>
          </a:bodyPr>
          <a:lstStyle/>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1.</a:t>
            </a:r>
            <a:r>
              <a:rPr sz="2000" b="0" i="0">
                <a:solidFill>
                  <a:srgbClr val="263238"/>
                </a:solidFill>
                <a:latin typeface="Segoe UI"/>
                <a:ea typeface="Segoe UI"/>
                <a:cs typeface="Segoe UI"/>
              </a:rPr>
              <a:t> Đổi nhân viên bán hàng cho một nhóm khách theo đúng 5 bước, rồi khôi phục từ bảng sao lưu.</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2.</a:t>
            </a:r>
            <a:r>
              <a:rPr sz="2000" b="0" i="0">
                <a:solidFill>
                  <a:srgbClr val="263238"/>
                </a:solidFill>
                <a:latin typeface="Segoe UI"/>
                <a:ea typeface="Segoe UI"/>
                <a:cs typeface="Segoe UI"/>
              </a:rPr>
              <a:t> Tìm các tên khách trùng bằng CTE + ROW_NUMBER.</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3.</a:t>
            </a:r>
            <a:r>
              <a:rPr sz="2000" b="0" i="0">
                <a:solidFill>
                  <a:srgbClr val="263238"/>
                </a:solidFill>
                <a:latin typeface="Segoe UI"/>
                <a:ea typeface="Segoe UI"/>
                <a:cs typeface="Segoe UI"/>
              </a:rPr>
              <a:t> Tìm mọi procedure nhắc tới </a:t>
            </a:r>
            <a:r>
              <a:rPr sz="1900" b="0" i="0">
                <a:solidFill>
                  <a:srgbClr val="B02A2A"/>
                </a:solidFill>
                <a:latin typeface="Consolas"/>
                <a:ea typeface="Consolas"/>
                <a:cs typeface="Consolas"/>
              </a:rPr>
              <a:t>dmbp</a:t>
            </a:r>
            <a:r>
              <a:rPr sz="2000" b="0" i="0">
                <a:solidFill>
                  <a:srgbClr val="263238"/>
                </a:solidFill>
                <a:latin typeface="Segoe UI"/>
                <a:ea typeface="Segoe UI"/>
                <a:cs typeface="Segoe UI"/>
              </a:rPr>
              <a:t> bằng Lookup; mở một cái bằng </a:t>
            </a:r>
            <a:r>
              <a:rPr sz="2000" b="1" i="0">
                <a:solidFill>
                  <a:srgbClr val="1F4E79"/>
                </a:solidFill>
                <a:latin typeface="Segoe UI"/>
                <a:ea typeface="Segoe UI"/>
                <a:cs typeface="Segoe UI"/>
              </a:rPr>
              <a:t>Mở dạng ALTER</a:t>
            </a:r>
            <a:r>
              <a:rPr sz="2000" b="0" i="0">
                <a:solidFill>
                  <a:srgbClr val="263238"/>
                </a:solidFill>
                <a:latin typeface="Segoe UI"/>
                <a:ea typeface="Segoe UI"/>
                <a:cs typeface="Segoe UI"/>
              </a:rPr>
              <a:t>.</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4.</a:t>
            </a:r>
            <a:r>
              <a:rPr sz="2000" b="0" i="0">
                <a:solidFill>
                  <a:srgbClr val="263238"/>
                </a:solidFill>
                <a:latin typeface="Segoe UI"/>
                <a:ea typeface="Segoe UI"/>
                <a:cs typeface="Segoe UI"/>
              </a:rPr>
              <a:t> Tab Table mở </a:t>
            </a:r>
            <a:r>
              <a:rPr sz="1900" b="0" i="0">
                <a:solidFill>
                  <a:srgbClr val="B02A2A"/>
                </a:solidFill>
                <a:latin typeface="Consolas"/>
                <a:ea typeface="Consolas"/>
                <a:cs typeface="Consolas"/>
              </a:rPr>
              <a:t>dmbp</a:t>
            </a:r>
            <a:r>
              <a:rPr sz="2000" b="0" i="0">
                <a:solidFill>
                  <a:srgbClr val="263238"/>
                </a:solidFill>
                <a:latin typeface="Segoe UI"/>
                <a:ea typeface="Segoe UI"/>
                <a:cs typeface="Segoe UI"/>
              </a:rPr>
              <a:t> → Add Script → xem trong View Script.</a:t>
            </a:r>
          </a:p>
        </p:txBody>
      </p:sp>
      <p:sp>
        <p:nvSpPr>
          <p:cNvPr id="8" name="Rounded Rectangle 7"/>
          <p:cNvSpPr/>
          <p:nvPr/>
        </p:nvSpPr>
        <p:spPr>
          <a:xfrm>
            <a:off x="640080" y="4434840"/>
            <a:ext cx="10927080" cy="685800"/>
          </a:xfrm>
          <a:prstGeom prst="roundRect">
            <a:avLst>
              <a:gd name="adj" fmla="val 8000"/>
            </a:avLst>
          </a:prstGeom>
          <a:solidFill>
            <a:srgbClr val="FFFFFF"/>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434840"/>
            <a:ext cx="91440" cy="6858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4489703"/>
            <a:ext cx="10607040" cy="594360"/>
          </a:xfrm>
          <a:prstGeom prst="rect">
            <a:avLst/>
          </a:prstGeom>
          <a:noFill/>
        </p:spPr>
        <p:txBody>
          <a:bodyPr wrap="square" anchor="ctr" lIns="45720" rIns="45720" tIns="27432" bIns="27432">
            <a:spAutoFit/>
          </a:bodyPr>
          <a:lstStyle/>
          <a:p>
            <a:pPr algn="l"/>
            <a:r>
              <a:rPr sz="1500" b="1" i="0">
                <a:solidFill>
                  <a:srgbClr val="2E75B6"/>
                </a:solidFill>
                <a:latin typeface="Segoe UI"/>
                <a:ea typeface="Segoe UI"/>
                <a:cs typeface="Segoe UI"/>
              </a:rPr>
              <a:t>Mẹo:</a:t>
            </a:r>
            <a:r>
              <a:rPr sz="1500" b="0" i="0">
                <a:solidFill>
                  <a:srgbClr val="263238"/>
                </a:solidFill>
                <a:latin typeface="Segoe UI"/>
                <a:ea typeface="Segoe UI"/>
                <a:cs typeface="Segoe UI"/>
              </a:rPr>
              <a:t> </a:t>
            </a:r>
            <a:r>
              <a:rPr sz="1500" b="1" i="0">
                <a:solidFill>
                  <a:srgbClr val="1F4E79"/>
                </a:solidFill>
                <a:latin typeface="Segoe UI"/>
                <a:ea typeface="Segoe UI"/>
                <a:cs typeface="Segoe UI"/>
              </a:rPr>
              <a:t>Trên database:</a:t>
            </a:r>
            <a:r>
              <a:rPr sz="1500" b="0" i="0">
                <a:solidFill>
                  <a:srgbClr val="263238"/>
                </a:solidFill>
                <a:latin typeface="Segoe UI"/>
                <a:ea typeface="Segoe UI"/>
                <a:cs typeface="Segoe UI"/>
              </a:rPr>
              <a:t> Sổ bài tập thực hành — Buổi 3 (FBOSP2422_App / _Sys, chạy </a:t>
            </a:r>
            <a:r>
              <a:rPr sz="1400" b="0" i="0">
                <a:solidFill>
                  <a:srgbClr val="B02A2A"/>
                </a:solidFill>
                <a:latin typeface="Consolas"/>
                <a:ea typeface="Consolas"/>
                <a:cs typeface="Consolas"/>
              </a:rPr>
              <a:t>00_TaoDuLieuMau.sql</a:t>
            </a:r>
            <a:r>
              <a:rPr sz="1500" b="0" i="0">
                <a:solidFill>
                  <a:srgbClr val="263238"/>
                </a:solidFill>
                <a:latin typeface="Segoe UI"/>
                <a:ea typeface="Segoe UI"/>
                <a:cs typeface="Segoe UI"/>
              </a:rPr>
              <a:t> trước).</a:t>
            </a:r>
          </a:p>
        </p:txBody>
      </p:sp>
      <p:sp>
        <p:nvSpPr>
          <p:cNvPr id="11" name="Rounded Rectangle 10"/>
          <p:cNvSpPr/>
          <p:nvPr/>
        </p:nvSpPr>
        <p:spPr>
          <a:xfrm>
            <a:off x="640080" y="5257800"/>
            <a:ext cx="10927080" cy="914400"/>
          </a:xfrm>
          <a:prstGeom prst="roundRect">
            <a:avLst>
              <a:gd name="adj" fmla="val 8000"/>
            </a:avLst>
          </a:prstGeom>
          <a:solidFill>
            <a:srgbClr val="FFFFFF"/>
          </a:solidFill>
          <a:ln w="15875">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257800"/>
            <a:ext cx="91440" cy="9144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5312664"/>
            <a:ext cx="10607040" cy="822960"/>
          </a:xfrm>
          <a:prstGeom prst="rect">
            <a:avLst/>
          </a:prstGeom>
          <a:noFill/>
        </p:spPr>
        <p:txBody>
          <a:bodyPr wrap="square" anchor="ctr" lIns="45720" rIns="45720" tIns="27432" bIns="27432">
            <a:spAutoFit/>
          </a:bodyPr>
          <a:lstStyle/>
          <a:p>
            <a:pPr algn="l"/>
            <a:r>
              <a:rPr sz="1600" b="1" i="0">
                <a:solidFill>
                  <a:srgbClr val="27AE60"/>
                </a:solidFill>
                <a:latin typeface="Segoe UI"/>
                <a:ea typeface="Segoe UI"/>
                <a:cs typeface="Segoe UI"/>
              </a:rPr>
              <a:t>Bài tập:</a:t>
            </a:r>
            <a:r>
              <a:rPr sz="1600" b="0" i="0">
                <a:solidFill>
                  <a:srgbClr val="263238"/>
                </a:solidFill>
                <a:latin typeface="Segoe UI"/>
                <a:ea typeface="Segoe UI"/>
                <a:cs typeface="Segoe UI"/>
              </a:rPr>
              <a:t> </a:t>
            </a:r>
            <a:r>
              <a:rPr sz="1600" b="1" i="0">
                <a:solidFill>
                  <a:srgbClr val="1F4E79"/>
                </a:solidFill>
                <a:latin typeface="Segoe UI"/>
                <a:ea typeface="Segoe UI"/>
                <a:cs typeface="Segoe UI"/>
              </a:rPr>
              <a:t>Về nhà:</a:t>
            </a:r>
            <a:r>
              <a:rPr sz="1600" b="0" i="0">
                <a:solidFill>
                  <a:srgbClr val="263238"/>
                </a:solidFill>
                <a:latin typeface="Segoe UI"/>
                <a:ea typeface="Segoe UI"/>
                <a:cs typeface="Segoe UI"/>
              </a:rPr>
              <a:t> Viết script thêm 1 cột cho một bảng phân kỳ bằng Gen Add Column, chạy trên dự án thử, kiểm tra Check Partitions Struct.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Tự kiểm tra</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3 · Sửa dữ liệu an toàn và công cụ dữ liệu Bcode</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9</a:t>
            </a:r>
          </a:p>
        </p:txBody>
      </p:sp>
      <p:sp>
        <p:nvSpPr>
          <p:cNvPr id="7" name="TextBox 6"/>
          <p:cNvSpPr txBox="1"/>
          <p:nvPr/>
        </p:nvSpPr>
        <p:spPr>
          <a:xfrm>
            <a:off x="640080" y="1371600"/>
            <a:ext cx="10881360" cy="4754880"/>
          </a:xfrm>
          <a:prstGeom prst="rect">
            <a:avLst/>
          </a:prstGeom>
          <a:noFill/>
        </p:spPr>
        <p:txBody>
          <a:bodyPr wrap="square">
            <a:spAutoFit/>
          </a:bodyPr>
          <a:lstStyle/>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1.</a:t>
            </a:r>
            <a:r>
              <a:rPr sz="2100" b="0" i="0">
                <a:solidFill>
                  <a:srgbClr val="263238"/>
                </a:solidFill>
                <a:latin typeface="Segoe UI"/>
                <a:ea typeface="Segoe UI"/>
                <a:cs typeface="Segoe UI"/>
              </a:rPr>
              <a:t> Năm bước trước khi sửa dữ liệu?</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2.</a:t>
            </a:r>
            <a:r>
              <a:rPr sz="2100" b="0" i="0">
                <a:solidFill>
                  <a:srgbClr val="263238"/>
                </a:solidFill>
                <a:latin typeface="Segoe UI"/>
                <a:ea typeface="Segoe UI"/>
                <a:cs typeface="Segoe UI"/>
              </a:rPr>
              <a:t> Vì sao phải bật Giữ kết nối khi BEGIN TRAN và COMMIT ở 2 lần F5?</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3.</a:t>
            </a:r>
            <a:r>
              <a:rPr sz="2100" b="0" i="0">
                <a:solidFill>
                  <a:srgbClr val="263238"/>
                </a:solidFill>
                <a:latin typeface="Segoe UI"/>
                <a:ea typeface="Segoe UI"/>
                <a:cs typeface="Segoe UI"/>
              </a:rPr>
              <a:t> Add Script khi số dòng đang xem = Top thì sao?</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4.</a:t>
            </a:r>
            <a:r>
              <a:rPr sz="2100" b="0" i="0">
                <a:solidFill>
                  <a:srgbClr val="263238"/>
                </a:solidFill>
                <a:latin typeface="Segoe UI"/>
                <a:ea typeface="Segoe UI"/>
                <a:cs typeface="Segoe UI"/>
              </a:rPr>
              <a:t> Thêm cột bảng phân kỳ phải lưu ý gì?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