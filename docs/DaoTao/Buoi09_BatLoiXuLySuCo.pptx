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9: Bắt lỗi và xử lý sự cố thực tế (Nâng cao, 3 giờ).</a:t>
            </a:r>
          </a:p>
          <a:p>
            <a:r>
              <a:t>Chuẩn bị: Dự án thử; một số tình huống lỗi người hướng dẫn chuẩn bị sẵn.</a:t>
            </a:r>
          </a:p>
          <a:p>
            <a:r>
              <a:t>Nhắc lại bài tập về nhà của buổi trước trước khi vào nội dung mới (5–10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a:t>
            </a:r>
          </a:p>
          <a:p>
            <a:r>
              <a:t>- Có quy trình chung để tìm nguyên nhân lỗi</a:t>
            </a:r>
          </a:p>
          <a:p>
            <a:r>
              <a:t>- Nhận ra các lỗi Fast hay gặp: số liệu lệch, phân kỳ, đơn vị cơ sở, controller, mẫu in, triển khai</a:t>
            </a:r>
          </a:p>
          <a:p>
            <a:r>
              <a:t>- Đọc được thông báo lỗi SQL và nhận ra các lỗi im lặng (không báo gì nhưng ra sai số)</a:t>
            </a:r>
          </a:p>
          <a:p>
            <a:r>
              <a:t>- Biết dùng đúng công cụ Bcode cho từng loại lỗi</a:t>
            </a:r>
          </a:p>
          <a:p>
            <a:r>
              <a:t>Lịch trình:</a:t>
            </a:r>
          </a:p>
          <a:p>
            <a:r>
              <a:t>1. Quy trình bắt lỗi 6 bước (30')</a:t>
            </a:r>
          </a:p>
          <a:p>
            <a:r>
              <a:t>2. Lỗi SQL hay gặp: chạy 10_TaiHienLoiSQL.sql (40')</a:t>
            </a:r>
          </a:p>
          <a:p>
            <a:r>
              <a:t>3. Các nhóm lỗi thực tế khác (50')</a:t>
            </a:r>
          </a:p>
          <a:p>
            <a:r>
              <a:t>4. Thực hành xử lý tình huống (60')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trình bắt lỗi gồm 6 bước. Phần lớn thời gian sửa lỗi bị mất là vì sửa sai chỗ.</a:t>
            </a:r>
          </a:p>
          <a:p>
            <a:r>
              <a:t>1. Tái hiện lỗi với đúng user, đúng đơn vị, đúng điều kiện; trên web bấm Chi tiết, hoặc F12 → Network → Response để lấy thông báo lỗi gốc.</a:t>
            </a:r>
          </a:p>
          <a:p>
            <a:r>
              <a:t>2. Bật SQL Profiler rồi thao tác lại: nếu không thấy câu SQL nào chạy thì lỗi nằm ở menu, trang hoặc controller; nếu thấy câu exec thì copy sang SQL Query.</a:t>
            </a:r>
          </a:p>
          <a:p>
            <a:r>
              <a:t>3. Kiểm tra có đúng bản đang chạy không: đúng database chưa, procedure trên database có đúng bản vừa sửa không, file controller trên site có đúng bản vừa sửa không.</a:t>
            </a:r>
          </a:p>
          <a:p>
            <a:r>
              <a:t>4. Chạy lại với cùng tham số, bọc trong BEGIN TRAN / ROLLBACK; xem ErrorLine, thêm PRINT theo từng bước, hoặc dùng Debug từng bước.</a:t>
            </a:r>
          </a:p>
          <a:p>
            <a:r>
              <a:t>5. Nếu là số liệu lệch: so số lệch với số dư / số phát sinh của từng tài khoản — thường số lệch khớp đúng một tài khoản hoặc một phiếu; hỏi lại người làm nghiệp vụ trước khi kết luận là nhập sai.</a:t>
            </a:r>
          </a:p>
          <a:p>
            <a:r>
              <a:t>6. Sửa nhỏ nhất có thể, chạy lại đúng kịch bản gây lỗi, rồi ghi lại lỗi theo mẫu.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Lỗi SQL chia ba loại: lỗi có thông báo (SQL dừng, báo Msg số mấy), lỗi im lặng (chạy xong không báo gì nhưng ra sai số hoặc thiếu dòng) và lỗi chậm, treo do khoá.</a:t>
            </a:r>
          </a:p>
          <a:p>
            <a:r>
              <a:t>Đọc thông báo: Msg là số lỗi — tra theo số nhanh hơn tra theo câu chữ. Level 11 đến 16 là lỗi do câu lệnh hoặc dữ liệu, mình sửa được; từ 17 trở lên là lỗi của server, báo người quản trị.</a:t>
            </a:r>
          </a:p>
          <a:p>
            <a:r>
              <a:t>Line là số dòng tính từ dòng CREATE hoặc ALTER PROCEDURE; nếu không có tên procedure thì tính từ sau lệnh GO gần nhất. Lỗi nằm trong chuỗi SQL động thì số dòng tính trong chuỗi đó, nên PRINT chuỗi ra để đếm.</a:t>
            </a:r>
          </a:p>
          <a:p>
            <a:r>
              <a:t>Một lỗi có thể kéo theo lỗi thứ hai, ví dụ lỗi chia 0 giữa transaction rồi Msg 266. Luôn đọc lỗi đầu tiên.</a:t>
            </a:r>
          </a:p>
          <a:p>
            <a:r>
              <a:t>Cho học viên chạy script 10_TaiHienLoiSQL.sql trên FBOSP2422_App: script chỉ dùng bảng tạm, không ghi gì vào database. Mỗi mục in thông báo thật và cách sửa.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lỗi về kiểu dữ liệu và cách viết câu lệnh. Thông báo đầy đủ ở tài liệu Word, Buổi 9, mục Lỗi SQL hay gặp.</a:t>
            </a:r>
          </a:p>
          <a:p>
            <a:r>
              <a:t>Msg 245 hay gặp nhất ở Fast: cột mã là varchar, nếu so với số thì SQL đổi cả cột sang số; dự án nào có mã chứa chữ thì lỗi, nên chạy thử ở dự án này được mà sang dự án khác thì hỏng.</a:t>
            </a:r>
          </a:p>
          <a:p>
            <a:r>
              <a:t>Msg 242: ngày viết dạng ngày/tháng/năm trong khi SQL đọc tháng/ngày/năm. Nguy hiểm hơn là '05/01/2026' không báo lỗi mà thành ngày 1 tháng 5. Luôn viết ngày dạng yyyymmdd.</a:t>
            </a:r>
          </a:p>
          <a:p>
            <a:r>
              <a:t>Msg 8152 ở database level 100 không nói cột nào bị tràn — phải so độ dài từng cột.</a:t>
            </a:r>
          </a:p>
          <a:p>
            <a:r>
              <a:t>Msg 207 ngay sau khi thêm cột: SQL biên dịch cả batch trước khi cột tồn tại, nên phải tách bằng GO.</a:t>
            </a:r>
          </a:p>
          <a:p>
            <a:r>
              <a:t>Msg 213: INSERT không ghi danh sách cột sẽ lỗi ngay khi Fast thêm cột vào bảng ở bản mới.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lỗi với bảng tạm, SQL động và transaction.</a:t>
            </a:r>
          </a:p>
          <a:p>
            <a:r>
              <a:t>Bảng tạm tạo bên trong EXEC chỉ sống trong chuỗi động; FastBusiness$Partition$Execute cũng tạo bảng tạm ở ngoài rồi INSERT bên trong.</a:t>
            </a:r>
          </a:p>
          <a:p>
            <a:r>
              <a:t>Biến của procedure không nhìn thấy trong chuỗi động: truyền bằng sp_executesql. Dữ liệu có dấu nháy đơn làm vỡ chuỗi động — nhân đôi dấu nháy hoặc dùng tham số.</a:t>
            </a:r>
          </a:p>
          <a:p>
            <a:r>
              <a:t>Msg 468 xung đột collation: máy mình cùng collation nên chạy được, lên server khách khác collation thì lỗi. Luôn ghi COLLATE DATABASE_DEFAULT cho cột chữ của bảng tạm.</a:t>
            </a:r>
          </a:p>
          <a:p>
            <a:r>
              <a:t>Msg 266: procedure mở transaction mà có nhánh thoát không COMMIT hoặc ROLLBACK; transaction vẫn mở và giữ khoá, người khác bị treo.</a:t>
            </a:r>
          </a:p>
          <a:p>
            <a:r>
              <a:t>Msg 3930: bật XACT_ABORT, gặp lỗi rồi vẫn cố ghi trong CATCH. Phải ROLLBACK trước.</a:t>
            </a:r>
          </a:p>
          <a:p>
            <a:r>
              <a:t>Database Fast ở compatibility level 100 nên TRY_CONVERT, STRING_SPLIT, OPENJSON không chạy được.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lỗi gặp nhiều nhất khi kiểm tra báo cáo ở dự án thật.</a:t>
            </a:r>
          </a:p>
          <a:p>
            <a:r>
              <a:t>Một: chuỗi @Key có OR mà không bọc ngoặc — vì AND được ưu tiên hơn OR, nên mọi điều kiện nối phía sau (đơn vị, tài khoản, ngày) đều mất tác dụng: lọc đơn vị 01 mà vẫn ra dữ liệu công ty khác, drill-down thì trống. Luôn bọc ngoặc đoạn điều kiện có OR.</a:t>
            </a:r>
          </a:p>
          <a:p>
            <a:r>
              <a:t>Hai: UPDATE ... FROM với phép join một-nhiều: SQL Server chỉ lấy một dòng bất kỳ để gán, không cộng dồn — nên mỗi lần chạy báo cáo ra một số khác nhau. Phải gộp trước bằng SUM / OUTER APPLY rồi mới gán.</a:t>
            </a:r>
          </a:p>
          <a:p>
            <a:r>
              <a:t>Các lỗi khác: join 2 bảng chi tiết chỉ theo khoá của bảng cha làm số bị nhân lên (dùng UNION ALL + GROUP BY); thêm cột rồi UPDATE cột đó trong cùng một batch (phải tách bằng GO); tự tạo #temp trùng tên bảng tạm của procedure khi test; tham số có khoảng trắng ở đầu (dùng LTRIM); danh sách tài khoản truyền vào lại dùng LIKE nguyên chuỗi (phải tách bằng Split); dùng RANK nên số thứ tự bị trùng (dùng ROW_NUMBER); SET ANSI_NULLS OFF viết trong thân procedure không có tác dụng.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Lỗi im lặng nguy hiểm nhất vì SQL không báo gì; người dùng chỉ phát hiện khi đối chiếu số liệu.</a:t>
            </a:r>
          </a:p>
          <a:p>
            <a:r>
              <a:t>Ba lỗi gặp nhiều nhất ở dự án thật: UPDATE FROM join một-nhiều (SQL lấy một dòng bất kỳ, không cộng); chuỗi @Key có OR không bọc ngoặc (AND được tính trước OR nên các điều kiện nối sau bị vô hiệu); nối chuỗi SQL động với một biến NULL làm cả chuỗi thành NULL, EXEC không chạy gì.</a:t>
            </a:r>
          </a:p>
          <a:p>
            <a:r>
              <a:t>NOT IN với danh sách có NULL không bao giờ đúng. Dòng có giá trị NULL không thoả cả bằng lẫn khác.</a:t>
            </a:r>
          </a:p>
          <a:p>
            <a:r>
              <a:t>Chia hai số nguyên ra số nguyên: 1 / 2 bằng 0.</a:t>
            </a:r>
          </a:p>
          <a:p>
            <a:r>
              <a:t>Thiếu tiền tố N thì chữ tiếng Việt thành dấu hỏi và không lấy lại được.</a:t>
            </a:r>
          </a:p>
          <a:p>
            <a:r>
              <a:t>datetime0, datetime2 có giờ: lọc nhỏ hơn hoặc bằng ngày 31 sẽ bỏ chứng từ tạo trong ngày 31; lọc nhỏ hơn ngày đầu kỳ sau.</a:t>
            </a:r>
          </a:p>
          <a:p>
            <a:r>
              <a:t>Procedure báo cáo còn sót SELECT thử: mỗi SELECT là một bảng kết quả nên d1, d2 của mẫu in bị lệch.</a:t>
            </a:r>
          </a:p>
          <a:p>
            <a:r>
              <a:t>Thêm: ISNULL lấy kiểu của tham số đầu nên giá trị thay thế bị cắt; dấu _ trong LIKE là ký tự đại diện; float cộng lệch; RAISERROR mức 10 không dừng code; @@ROWCOUNT bị lệnh xen giữa ghi đè.</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Màn hình hoặc SQL Query đứng mãi, người khác cũng bị treo: thường do một tab SQL chạy BEGIN TRAN rồi chưa COMMIT hoặc ROLLBACK, hoặc procedure lỗi giữa chừng còn transaction mở. Transaction đó giữ khoá trên bảng.</a:t>
            </a:r>
          </a:p>
          <a:p>
            <a:r>
              <a:t>Hai câu trên tìm phiên đang chặn và phiên còn transaction mở; program_name cho biết đó là SSMS, Bcode hay web. Báo người dùng phiên đó tự ROLLBACK. KILL sẽ huỷ mọi việc phiên đó đang làm dở — chỉ dùng khi đã hỏi người phụ trách server.</a:t>
            </a:r>
          </a:p>
          <a:p>
            <a:r>
              <a:t>Msg 1205 deadlock: hai phiên giữ khoá chéo nhau, SQL huỷ một phiên. Chạy lại; nếu lặp lại thì UPDATE các bảng theo cùng một thứ tự và giữ transaction ngắn.</a:t>
            </a:r>
          </a:p>
          <a:p>
            <a:r>
              <a:t>Web báo timeout mà chạy trong SQL Query lại nhanh: kế hoạch thực thi lập theo tham số lần đầu (parameter sniffing). Thêm OPTION (RECOMPILE) hoặc gán tham số vào biến cục bộ.</a:t>
            </a:r>
          </a:p>
          <a:p>
            <a:r>
              <a:t>Chậm do dùng hàm trên cột trong WHERE như YEAR(ngay_ct) = 2026: viết lại thành ngay_ct &gt;= ngày đầu và &lt; ngày cuối cộng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sai số liệu thường do một trong ba nguồn: procedure / công thức sai, khai báo chỉ tiêu / mẫu sai, hoặc dữ liệu nhập sai. Kiểm tra lần lượt theo thứ tự trên slide.</a:t>
            </a:r>
          </a:p>
          <a:p>
            <a:r>
              <a:t>Ví dụ thật (đã khái quát): báo cáo lưu chuyển tiền tệ có chỉ tiêu kiểm tra khác 0. Đem số lệch so với bảng cân đối phát sinh thì thấy khớp đúng số dư của một tài khoản chi phí — nguyên nhân là có phiếu được nhập hoặc sửa lùi ngày sau khi đã kết chuyển. Cách sửa: chạy lại kết chuyển rồi khoá sổ. Những lần khác: chỉ tiêu bị thiếu một tài khoản; bút toán không dùng tiền bị tính hai lần; dòng thu / chi bị đặt ngược chiều Nợ / Có nên ra 0.</a:t>
            </a:r>
          </a:p>
          <a:p>
            <a:r>
              <a:t>Ví dụ khác: sổ đối chiếu công nợ có cột tổng sai đúng bằng một khoản — do một câu UPDATE phía sau ghi đè. Bảng pivot có tên cột lệch với số — vì phần tiêu đề sắp theo tên, còn phần dữ liệu sắp theo mã.</a:t>
            </a:r>
          </a:p>
          <a:p>
            <a:r>
              <a:t>Bcode có chức năng Check LCTT / CĐKT (lưu chuyển tiền tệ / cân đối kế toán) trong menu Triển khai để chỉ ra chỉ tiêu nào bị lệch.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lỗi phía web và controller.</a:t>
            </a:r>
          </a:p>
          <a:p>
            <a:r>
              <a:t>"Có lỗi chưa xác định" mà Profiler không thấy câu SQL nào: lỗi nằm trước procedure — thường do thiếu dòng wcommand của trang drill-down, hoặc thiếu file Main\x.aspx (lỗi 404). Bấm Chi tiết, hoặc F12 → Network → Response để xem lỗi thật.</a:t>
            </a:r>
          </a:p>
          <a:p>
            <a:r>
              <a:t>File .f phải lưu dạng UTF-8 có BOM và xuống dòng CRLF; thiếu BOM thì hiện chữ lạ; dán nội dung qua công cụ khác có thể làm nhân đôi BOM → báo lỗi Data at the root level is invalid.</a:t>
            </a:r>
          </a:p>
          <a:p>
            <a:r>
              <a:t>Fast có cache controller: sửa file mà web chưa đổi thì xoá file .f cũ, Refresh Web.config, Clear Structure App.</a:t>
            </a:r>
          </a:p>
          <a:p>
            <a:r>
              <a:t>GetGridViewPage failed: trong command Processing của Filter phải select các biến tiêu đề trước rồi mới exec procedure, và không đặt tên cột trùng với tên field của lưới.</a:t>
            </a:r>
          </a:p>
          <a:p>
            <a:r>
              <a:t>Drill-down: g._fields đánh số từ 0, còn _activeColumn đánh số từ 1, nên phải lấy [col - 1].</a:t>
            </a:r>
          </a:p>
          <a:p>
            <a:r>
              <a:t>Trang aspx: Fast gộp HTML thành một dòng, nên comment // trong JavaScript sẽ nuốt luôn toàn bộ phần code phía sau — hãy dùng /* */. Dòng 1 để trống hoặc có BOM trước &lt;%@ Page cũng gây lỗi.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Rất nhiều lần "sửa rồi mà vẫn lỗi" là do chạy nhầm database (nhầm App với Sys, hoặc nhầm dự án), ALTER vào bản sao lưu _bk thay vì bản thật, mở lại tab cũ nên lấy lại nội dung cũ của procedure, hoặc site chưa nhận file mới.</a:t>
            </a:r>
          </a:p>
          <a:p>
            <a:r>
              <a:t>Ba câu kiểm tra trên slide: modify_date và OBJECT_DEFINITION LIKE đoạn mới để biết procedure đã là bản mới chưa (lưu ý: nếu đoạn đó nằm trong comment của bản cũ thì LIKE vẫn khớp — hãy tìm đoạn chỉ bản mới mới có); sys.parameters để đếm số tham số; dm_exec_procedure_stats để biết web vừa gọi procedure nào.</a:t>
            </a:r>
          </a:p>
          <a:p>
            <a:r>
              <a:t>Trong Bcode: nhìn ô WS xem đang ở database nào; Lịch sử sửa procedure cho biết bản nào đã được chạy; BcodeViewer hiện đường dẫn đầy đủ của file đang sửa; File Lookup có cột Last Modified.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bấm Lưu một hoá đơn bán (mã chứng từ HDA), command Inserted của controller (phần này bị mã hoá) gửi xuống SQL cả một chuỗi lệnh — bật Profiler là đọc được nguyên văn chuỗi lệnh đó.</a:t>
            </a:r>
          </a:p>
          <a:p>
            <a:r>
              <a:t>Thứ tự xử lý: kiểm tra (ngày khoá sổ, mã số thuế, tồn kho âm, số chứng từ) → cấp stt_rec bằng GetIdentityNumber → ghi m81 / d81, ctgt21, hoá đơn điện tử hddt00 → UpdateInquiryTable ghi bảng tra cứu i81, UpdateGrandTable ghi c81 → cập nhật tồn kho hiện thời (cộng dồn vào cdvt13…) → Posting$Inventory ghi sổ kho r70 (và r90 nếu hoá đơn kiêm phiếu xuất) → fs_PostSVTran dựng bút toán vào bảng trung gian ct00, chạy fs20_AfterUpdateGL, rồi chép sang sổ cái r00; sổ thuế r20 lấy từ ctgt20 → AfterUpdate$SV, CurrentCustomerBalance cập nhật dư nợ hiện thời của khách.</a:t>
            </a:r>
          </a:p>
          <a:p>
            <a:r>
              <a:t>Cột status: 0 là chỉ lưu, 1 là đưa vào p00 chờ chuyển, 2 là ghi sổ cái ngay. Phiếu nhập kho (mã PND) đi theo cùng khuôn: i74, c74, tồn hiện thời (chiều nhập), Posting$Inventory loại 1 ghi vào r70, fs_PostIRTran ghi vào r00, AfterUpdate$IR; riêng trạng thái của PND là: 1 nhập kho, 2 chuyển sang kế toán tổng hợp (chờ trong p00), 3 ghi sổ cái.</a:t>
            </a:r>
          </a:p>
          <a:p>
            <a:r>
              <a:t>Bài học khi bắt lỗi "báo cáo không thấy chứng từ": kiểm tra từng sổ theo đúng chuỗi này — xem sổ cái có mà sổ kho không có, hay ngược lại. Sổ bài tập có script 01_PostHoaDonBan.sql chạy lại chuỗi này cho dữ liệu mẫu (bài 1.10, 9.7).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lỗi sau khi sửa xong thì ghi lại theo mẫu này vào ghi chú của yêu cầu hoặc vào Note của Bcode. Sau vài tháng, đây sẽ là kho kinh nghiệm của cả nhóm.</a:t>
            </a:r>
          </a:p>
          <a:p>
            <a:r>
              <a:t>Khi triển khai bản sửa lỗi: giao procedure bằng file .sql, chạy xong thì kiểm tra lại sys.parameters / modify_date; triển khai đủ bộ gồm procedure, controller, trang aspx, dòng wcommand (và mẫu in nếu có); procedure có UPDATE vào bảng thật thì test trong BEGIN TRAN / ROLLBACK.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viên làm trên dự án thử, người hướng dẫn đi kiểm từng máy. Ai xong sớm làm luôn bài tập về nhà.</a:t>
            </a:r>
          </a:p>
          <a:p>
            <a:r>
              <a:t>Bài tập về nhà: Ghi lại 1 lỗi đã gặp trong tuần theo mẫu gồm: hiện tượng, nguyên nhân, cách tìm ra, cách sửa, cách phòng.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nhanh cả lớp; đáp án:</a:t>
            </a:r>
          </a:p>
          <a:p>
            <a:r>
              <a:t>1. Tái hiện được lỗi (đúng user, đúng dữ liệu, đúng màn hình) và ghi lại thông báo lỗi.</a:t>
            </a:r>
          </a:p>
          <a:p>
            <a:r>
              <a:t>2. Chạy lại procedure với cùng tham số (lấy từ Profiler), rồi đối chiếu theo từng nhóm chứng từ, kỳ, đơn vị.</a:t>
            </a:r>
          </a:p>
          <a:p>
            <a:r>
              <a:t>3. Quyền, đơn vị cơ sở và tham số riêng của user đó (lọc theo @@userID, @@unit).</a:t>
            </a:r>
          </a:p>
          <a:p>
            <a:r>
              <a:t>4. Chuỗi @sql bị NULL do nối với một tham số NULL; SELECT @sql để xem, sửa bằng ISNULL(@Key, N'').</a:t>
            </a:r>
          </a:p>
          <a:p>
            <a:r>
              <a:t>5. Danh sách có giá trị NULL thì NOT IN không bao giờ đúng; dùng NOT EXISTS.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173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10058400" cy="548640"/>
          </a:xfrm>
          <a:prstGeom prst="rect">
            <a:avLst/>
          </a:prstGeom>
          <a:noFill/>
        </p:spPr>
        <p:txBody>
          <a:bodyPr wrap="square" anchor="t" lIns="45720" rIns="45720" tIns="27432" bIns="27432">
            <a:spAutoFit/>
          </a:bodyPr>
          <a:lstStyle/>
          <a:p>
            <a:pPr algn="l"/>
            <a:r>
              <a:rPr sz="1800" b="1" i="0">
                <a:solidFill>
                  <a:srgbClr val="F2B705"/>
                </a:solidFill>
                <a:latin typeface="Segoe UI"/>
                <a:ea typeface="Segoe UI"/>
                <a:cs typeface="Segoe UI"/>
              </a:rPr>
              <a:t>BUỔI 9 / 10  ·  NÂNG CAO</a:t>
            </a:r>
          </a:p>
        </p:txBody>
      </p:sp>
      <p:sp>
        <p:nvSpPr>
          <p:cNvPr id="5" name="TextBox 4"/>
          <p:cNvSpPr txBox="1"/>
          <p:nvPr/>
        </p:nvSpPr>
        <p:spPr>
          <a:xfrm>
            <a:off x="777240" y="1554480"/>
            <a:ext cx="10789920" cy="914400"/>
          </a:xfrm>
          <a:prstGeom prst="rect">
            <a:avLst/>
          </a:prstGeom>
          <a:noFill/>
        </p:spPr>
        <p:txBody>
          <a:bodyPr wrap="square" anchor="t" lIns="45720" rIns="45720" tIns="27432" bIns="27432">
            <a:spAutoFit/>
          </a:bodyPr>
          <a:lstStyle/>
          <a:p>
            <a:pPr algn="l"/>
            <a:r>
              <a:rPr sz="2200" b="0" i="0">
                <a:solidFill>
                  <a:srgbClr val="D6E4F0"/>
                </a:solidFill>
                <a:latin typeface="Segoe UI"/>
                <a:ea typeface="Segoe UI"/>
                <a:cs typeface="Segoe UI"/>
              </a:rPr>
              <a:t>FastBusiness Online &amp; Bcode</a:t>
            </a:r>
          </a:p>
        </p:txBody>
      </p:sp>
      <p:sp>
        <p:nvSpPr>
          <p:cNvPr id="6" name="TextBox 5"/>
          <p:cNvSpPr txBox="1"/>
          <p:nvPr/>
        </p:nvSpPr>
        <p:spPr>
          <a:xfrm>
            <a:off x="777240" y="2606040"/>
            <a:ext cx="10789920" cy="2194560"/>
          </a:xfrm>
          <a:prstGeom prst="rect">
            <a:avLst/>
          </a:prstGeom>
          <a:noFill/>
        </p:spPr>
        <p:txBody>
          <a:bodyPr wrap="square" anchor="t" lIns="45720" rIns="45720" tIns="27432" bIns="27432">
            <a:spAutoFit/>
          </a:bodyPr>
          <a:lstStyle/>
          <a:p>
            <a:pPr algn="l"/>
            <a:r>
              <a:rPr sz="4400" b="1" i="0">
                <a:solidFill>
                  <a:srgbClr val="FFFFFF"/>
                </a:solidFill>
                <a:latin typeface="Segoe UI"/>
                <a:ea typeface="Segoe UI"/>
                <a:cs typeface="Segoe UI"/>
              </a:rPr>
              <a:t>Bắt lỗi và xử lý sự cố thực tế</a:t>
            </a:r>
          </a:p>
        </p:txBody>
      </p:sp>
      <p:sp>
        <p:nvSpPr>
          <p:cNvPr id="7" name="TextBox 6"/>
          <p:cNvSpPr txBox="1"/>
          <p:nvPr/>
        </p:nvSpPr>
        <p:spPr>
          <a:xfrm>
            <a:off x="804672" y="5760720"/>
            <a:ext cx="10515600" cy="548640"/>
          </a:xfrm>
          <a:prstGeom prst="rect">
            <a:avLst/>
          </a:prstGeom>
          <a:noFill/>
        </p:spPr>
        <p:txBody>
          <a:bodyPr wrap="square" anchor="t" lIns="45720" rIns="45720" tIns="27432" bIns="27432">
            <a:spAutoFit/>
          </a:bodyPr>
          <a:lstStyle/>
          <a:p>
            <a:pPr algn="l"/>
            <a:r>
              <a:rPr sz="1400" b="0" i="0">
                <a:solidFill>
                  <a:srgbClr val="B8CADB"/>
                </a:solidFill>
                <a:latin typeface="Segoe UI"/>
                <a:ea typeface="Segoe UI"/>
                <a:cs typeface="Segoe UI"/>
              </a:rPr>
              <a:t>Thời lượng 3 giờ · tài liệu chi tiết: DaoTao_Fast_Bcode.docx — Buổi 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Mục tiêu và lịch trình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2</a:t>
            </a:r>
          </a:p>
        </p:txBody>
      </p:sp>
      <p:sp>
        <p:nvSpPr>
          <p:cNvPr id="7" name="TextBox 6"/>
          <p:cNvSpPr txBox="1"/>
          <p:nvPr/>
        </p:nvSpPr>
        <p:spPr>
          <a:xfrm>
            <a:off x="640080" y="1325880"/>
            <a:ext cx="5120640" cy="41148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Học xong buổi này, bạn:</a:t>
            </a:r>
          </a:p>
        </p:txBody>
      </p:sp>
      <p:sp>
        <p:nvSpPr>
          <p:cNvPr id="8" name="TextBox 7"/>
          <p:cNvSpPr txBox="1"/>
          <p:nvPr/>
        </p:nvSpPr>
        <p:spPr>
          <a:xfrm>
            <a:off x="640080" y="1783080"/>
            <a:ext cx="5212080" cy="42062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Có quy trình chung để tìm nguyên nhân lỗi</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Nhận ra các lỗi Fast hay gặp: số liệu lệch, phân kỳ, đơn vị cơ sở, controller, mẫu in, triển khai</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Đọc được thông báo lỗi SQL và nhận ra các lỗi im lặng (không báo gì nhưng ra sai số)</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Biết dùng đúng công cụ Bcode cho từng loại lỗi</a:t>
            </a:r>
          </a:p>
        </p:txBody>
      </p:sp>
      <p:graphicFrame>
        <p:nvGraphicFramePr>
          <p:cNvPr id="9" name="Table 8"/>
          <p:cNvGraphicFramePr>
            <a:graphicFrameLocks noGrp="1"/>
          </p:cNvGraphicFramePr>
          <p:nvPr/>
        </p:nvGraphicFramePr>
        <p:xfrm>
          <a:off x="6126480" y="1371600"/>
          <a:ext cx="5486400" cy="2514600"/>
        </p:xfrm>
        <a:graphic>
          <a:graphicData uri="http://schemas.openxmlformats.org/drawingml/2006/table">
            <a:tbl>
              <a:tblPr firstRow="1" bandRow="1">
                <a:tableStyleId>{5940675A-B579-460E-94D1-54222C63F5DA}</a:tableStyleId>
              </a:tblPr>
              <a:tblGrid>
                <a:gridCol w="457200"/>
                <a:gridCol w="4023360"/>
                <a:gridCol w="1005840"/>
              </a:tblGrid>
              <a:tr h="502920">
                <a:tc>
                  <a:txBody>
                    <a:bodyPr wrap="square"/>
                    <a:lstStyle/>
                    <a:p>
                      <a:r>
                        <a:rPr sz="14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Nội dung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Thời gian</a:t>
                      </a:r>
                    </a:p>
                  </a:txBody>
                  <a:tcPr marL="73152" marR="73152" marT="36576" marB="36576" anchor="ctr">
                    <a:solidFill>
                      <a:srgbClr val="1F4E79"/>
                    </a:solidFill>
                  </a:tcPr>
                </a:tc>
              </a:tr>
              <a:tr h="502920">
                <a:tc>
                  <a:txBody>
                    <a:bodyPr wrap="square"/>
                    <a:lstStyle/>
                    <a:p>
                      <a:r>
                        <a:rPr sz="14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Quy trình bắt lỗi 6 bước</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Lỗi SQL hay gặp: chạy 10_TaiHienLoiSQL.sql</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40'</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Các nhóm lỗi thực tế khác</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50'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Thực hành xử lý tình huống</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60'</a:t>
                      </a:r>
                    </a:p>
                  </a:txBody>
                  <a:tcPr marL="73152" marR="73152" marT="36576" marB="36576" anchor="ctr">
                    <a:solidFill>
                      <a:srgbClr val="F4F7FB"/>
                    </a:solidFill>
                  </a:tcPr>
                </a:tc>
              </a:tr>
            </a:tbl>
          </a:graphicData>
        </a:graphic>
      </p:graphicFrame>
      <p:sp>
        <p:nvSpPr>
          <p:cNvPr id="10" name="Rounded Rectangle 9"/>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Chuẩn bị: Dự án thử; một số tình huống lỗi người hướng dẫn chuẩn bị sẵn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Quy trình bắt lỗi 6 bước</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3</a:t>
            </a:r>
          </a:p>
        </p:txBody>
      </p:sp>
      <p:sp>
        <p:nvSpPr>
          <p:cNvPr id="7" name="Rounded Rectangle 6"/>
          <p:cNvSpPr/>
          <p:nvPr/>
        </p:nvSpPr>
        <p:spPr>
          <a:xfrm>
            <a:off x="640080" y="1828800"/>
            <a:ext cx="157733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1. Tái hiện</a:t>
            </a:r>
          </a:p>
        </p:txBody>
      </p:sp>
      <p:sp>
        <p:nvSpPr>
          <p:cNvPr id="9" name="TextBox 8"/>
          <p:cNvSpPr txBox="1"/>
          <p:nvPr/>
        </p:nvSpPr>
        <p:spPr>
          <a:xfrm>
            <a:off x="713231"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đúng user, đơn vị,</a:t>
            </a:r>
          </a:p>
          <a:p>
            <a:pPr algn="ctr"/>
            <a:r>
              <a:rPr sz="1200" b="0" i="0">
                <a:solidFill>
                  <a:srgbClr val="E3ECF5"/>
                </a:solidFill>
                <a:latin typeface="Segoe UI"/>
                <a:ea typeface="Segoe UI"/>
                <a:cs typeface="Segoe UI"/>
              </a:rPr>
              <a:t>lấy thông báo gốc</a:t>
            </a:r>
          </a:p>
        </p:txBody>
      </p:sp>
      <p:sp>
        <p:nvSpPr>
          <p:cNvPr id="10" name="Right Arrow 9"/>
          <p:cNvSpPr/>
          <p:nvPr/>
        </p:nvSpPr>
        <p:spPr>
          <a:xfrm>
            <a:off x="2253996"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10028" y="1828800"/>
            <a:ext cx="157733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83180"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2. Khoanh vùng</a:t>
            </a:r>
          </a:p>
        </p:txBody>
      </p:sp>
      <p:sp>
        <p:nvSpPr>
          <p:cNvPr id="13" name="TextBox 12"/>
          <p:cNvSpPr txBox="1"/>
          <p:nvPr/>
        </p:nvSpPr>
        <p:spPr>
          <a:xfrm>
            <a:off x="2583180"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Profiler: trước</a:t>
            </a:r>
          </a:p>
          <a:p>
            <a:pPr algn="ctr"/>
            <a:r>
              <a:rPr sz="1200" b="0" i="0">
                <a:solidFill>
                  <a:srgbClr val="E3ECF5"/>
                </a:solidFill>
                <a:latin typeface="Segoe UI"/>
                <a:ea typeface="Segoe UI"/>
                <a:cs typeface="Segoe UI"/>
              </a:rPr>
              <a:t>hay trong procedure?</a:t>
            </a:r>
          </a:p>
        </p:txBody>
      </p:sp>
      <p:sp>
        <p:nvSpPr>
          <p:cNvPr id="14" name="Right Arrow 13"/>
          <p:cNvSpPr/>
          <p:nvPr/>
        </p:nvSpPr>
        <p:spPr>
          <a:xfrm>
            <a:off x="4123944"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79976" y="1828800"/>
            <a:ext cx="157733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3. Đúng bản?</a:t>
            </a:r>
          </a:p>
        </p:txBody>
      </p:sp>
      <p:sp>
        <p:nvSpPr>
          <p:cNvPr id="17" name="TextBox 16"/>
          <p:cNvSpPr txBox="1"/>
          <p:nvPr/>
        </p:nvSpPr>
        <p:spPr>
          <a:xfrm>
            <a:off x="4453128"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database, procedure,</a:t>
            </a:r>
          </a:p>
          <a:p>
            <a:pPr algn="ctr"/>
            <a:r>
              <a:rPr sz="1200" b="0" i="0">
                <a:solidFill>
                  <a:srgbClr val="E3ECF5"/>
                </a:solidFill>
                <a:latin typeface="Segoe UI"/>
                <a:ea typeface="Segoe UI"/>
                <a:cs typeface="Segoe UI"/>
              </a:rPr>
              <a:t>file đang chạy</a:t>
            </a:r>
          </a:p>
        </p:txBody>
      </p:sp>
      <p:sp>
        <p:nvSpPr>
          <p:cNvPr id="18" name="Right Arrow 17"/>
          <p:cNvSpPr/>
          <p:nvPr/>
        </p:nvSpPr>
        <p:spPr>
          <a:xfrm>
            <a:off x="5993892"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9924" y="1828800"/>
            <a:ext cx="157733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3076"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4. Chạy lại</a:t>
            </a:r>
          </a:p>
        </p:txBody>
      </p:sp>
      <p:sp>
        <p:nvSpPr>
          <p:cNvPr id="21" name="TextBox 20"/>
          <p:cNvSpPr txBox="1"/>
          <p:nvPr/>
        </p:nvSpPr>
        <p:spPr>
          <a:xfrm>
            <a:off x="6323076"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cùng tham số,</a:t>
            </a:r>
          </a:p>
          <a:p>
            <a:pPr algn="ctr"/>
            <a:r>
              <a:rPr sz="1200" b="0" i="0">
                <a:solidFill>
                  <a:srgbClr val="E3ECF5"/>
                </a:solidFill>
                <a:latin typeface="Segoe UI"/>
                <a:ea typeface="Segoe UI"/>
                <a:cs typeface="Segoe UI"/>
              </a:rPr>
              <a:t>TRAN / ROLLBACK</a:t>
            </a:r>
          </a:p>
        </p:txBody>
      </p:sp>
      <p:sp>
        <p:nvSpPr>
          <p:cNvPr id="22" name="Right Arrow 21"/>
          <p:cNvSpPr/>
          <p:nvPr/>
        </p:nvSpPr>
        <p:spPr>
          <a:xfrm>
            <a:off x="7863840"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119871" y="1828800"/>
            <a:ext cx="1577339" cy="173736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3"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5. Đối chiếu</a:t>
            </a:r>
          </a:p>
        </p:txBody>
      </p:sp>
      <p:sp>
        <p:nvSpPr>
          <p:cNvPr id="25" name="TextBox 24"/>
          <p:cNvSpPr txBox="1"/>
          <p:nvPr/>
        </p:nvSpPr>
        <p:spPr>
          <a:xfrm>
            <a:off x="8193023"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số lệch khớp</a:t>
            </a:r>
          </a:p>
          <a:p>
            <a:pPr algn="ctr"/>
            <a:r>
              <a:rPr sz="1200" b="0" i="0">
                <a:solidFill>
                  <a:srgbClr val="E3ECF5"/>
                </a:solidFill>
                <a:latin typeface="Segoe UI"/>
                <a:ea typeface="Segoe UI"/>
                <a:cs typeface="Segoe UI"/>
              </a:rPr>
              <a:t>tài khoản / phiếu / kỳ</a:t>
            </a:r>
          </a:p>
        </p:txBody>
      </p:sp>
      <p:sp>
        <p:nvSpPr>
          <p:cNvPr id="26" name="Right Arrow 25"/>
          <p:cNvSpPr/>
          <p:nvPr/>
        </p:nvSpPr>
        <p:spPr>
          <a:xfrm>
            <a:off x="9733787" y="257860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989819" y="1828800"/>
            <a:ext cx="1577339" cy="173736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62972" y="1920240"/>
            <a:ext cx="1431036" cy="781812"/>
          </a:xfrm>
          <a:prstGeom prst="rect">
            <a:avLst/>
          </a:prstGeom>
          <a:noFill/>
        </p:spPr>
        <p:txBody>
          <a:bodyPr wrap="square" anchor="ctr" lIns="45720" rIns="45720" tIns="27432" bIns="27432">
            <a:spAutoFit/>
          </a:bodyPr>
          <a:lstStyle/>
          <a:p>
            <a:pPr algn="ctr"/>
            <a:r>
              <a:rPr sz="1400" b="1" i="0">
                <a:solidFill>
                  <a:srgbClr val="FFFFFF"/>
                </a:solidFill>
                <a:latin typeface="Segoe UI"/>
                <a:ea typeface="Segoe UI"/>
                <a:cs typeface="Segoe UI"/>
              </a:rPr>
              <a:t>6. Sửa &amp; ghi</a:t>
            </a:r>
          </a:p>
        </p:txBody>
      </p:sp>
      <p:sp>
        <p:nvSpPr>
          <p:cNvPr id="29" name="TextBox 28"/>
          <p:cNvSpPr txBox="1"/>
          <p:nvPr/>
        </p:nvSpPr>
        <p:spPr>
          <a:xfrm>
            <a:off x="10062972" y="2697480"/>
            <a:ext cx="1431036" cy="833932"/>
          </a:xfrm>
          <a:prstGeom prst="rect">
            <a:avLst/>
          </a:prstGeom>
          <a:noFill/>
        </p:spPr>
        <p:txBody>
          <a:bodyPr wrap="square" anchor="t" lIns="45720" rIns="45720" tIns="27432" bIns="27432">
            <a:spAutoFit/>
          </a:bodyPr>
          <a:lstStyle/>
          <a:p>
            <a:pPr algn="ctr"/>
            <a:r>
              <a:rPr sz="1200" b="0" i="0">
                <a:solidFill>
                  <a:srgbClr val="E3ECF5"/>
                </a:solidFill>
                <a:latin typeface="Segoe UI"/>
                <a:ea typeface="Segoe UI"/>
                <a:cs typeface="Segoe UI"/>
              </a:rPr>
              <a:t>sửa nhỏ, kiểm tra,</a:t>
            </a:r>
          </a:p>
          <a:p>
            <a:pPr algn="ctr"/>
            <a:r>
              <a:rPr sz="1200" b="0" i="0">
                <a:solidFill>
                  <a:srgbClr val="E3ECF5"/>
                </a:solidFill>
                <a:latin typeface="Segoe UI"/>
                <a:ea typeface="Segoe UI"/>
                <a:cs typeface="Segoe UI"/>
              </a:rPr>
              <a:t>ghi lỗi</a:t>
            </a:r>
          </a:p>
        </p:txBody>
      </p:sp>
      <p:sp>
        <p:nvSpPr>
          <p:cNvPr id="30" name="TextBox 29"/>
          <p:cNvSpPr txBox="1"/>
          <p:nvPr/>
        </p:nvSpPr>
        <p:spPr>
          <a:xfrm>
            <a:off x="640080" y="3977639"/>
            <a:ext cx="10881360" cy="2286000"/>
          </a:xfrm>
          <a:prstGeom prst="rect">
            <a:avLst/>
          </a:prstGeom>
          <a:noFill/>
        </p:spPr>
        <p:txBody>
          <a:bodyPr wrap="square">
            <a:spAutoFit/>
          </a:bodyPr>
          <a:lstStyle/>
          <a:p>
            <a:pPr>
              <a:spcAft>
                <a:spcPts val="1000"/>
              </a:spcAft>
            </a:pPr>
            <a:r>
              <a:rPr sz="1800" b="1" i="0">
                <a:solidFill>
                  <a:srgbClr val="F2B705"/>
                </a:solidFill>
                <a:latin typeface="Segoe UI"/>
                <a:ea typeface="Segoe UI"/>
                <a:cs typeface="Segoe UI"/>
              </a:rPr>
              <a:t>▪  </a:t>
            </a:r>
            <a:r>
              <a:rPr sz="1800" b="0" i="0">
                <a:solidFill>
                  <a:srgbClr val="263238"/>
                </a:solidFill>
                <a:latin typeface="Segoe UI"/>
                <a:ea typeface="Segoe UI"/>
                <a:cs typeface="Segoe UI"/>
              </a:rPr>
              <a:t>Chưa tái hiện được lỗi thì </a:t>
            </a:r>
            <a:r>
              <a:rPr sz="1800" b="1" i="0">
                <a:solidFill>
                  <a:srgbClr val="1F4E79"/>
                </a:solidFill>
                <a:latin typeface="Segoe UI"/>
                <a:ea typeface="Segoe UI"/>
                <a:cs typeface="Segoe UI"/>
              </a:rPr>
              <a:t>chưa sửa</a:t>
            </a:r>
            <a:r>
              <a:rPr sz="1800" b="0" i="0">
                <a:solidFill>
                  <a:srgbClr val="263238"/>
                </a:solidFill>
                <a:latin typeface="Segoe UI"/>
                <a:ea typeface="Segoe UI"/>
                <a:cs typeface="Segoe UI"/>
              </a:rPr>
              <a:t> — hỏi lại: user nào, đơn vị nào, ngày nào, bấm gì, ảnh chụp màn hình.</a:t>
            </a:r>
          </a:p>
          <a:p>
            <a:pPr>
              <a:spcAft>
                <a:spcPts val="1000"/>
              </a:spcAft>
            </a:pPr>
            <a:r>
              <a:rPr sz="1800" b="1" i="0">
                <a:solidFill>
                  <a:srgbClr val="F2B705"/>
                </a:solidFill>
                <a:latin typeface="Segoe UI"/>
                <a:ea typeface="Segoe UI"/>
                <a:cs typeface="Segoe UI"/>
              </a:rPr>
              <a:t>▪  </a:t>
            </a:r>
            <a:r>
              <a:rPr sz="1800" b="0" i="0">
                <a:solidFill>
                  <a:srgbClr val="263238"/>
                </a:solidFill>
                <a:latin typeface="Segoe UI"/>
                <a:ea typeface="Segoe UI"/>
                <a:cs typeface="Segoe UI"/>
              </a:rPr>
              <a:t>Profiler không thấy SQL nào → lỗi nằm </a:t>
            </a:r>
            <a:r>
              <a:rPr sz="1800" b="1" i="0">
                <a:solidFill>
                  <a:srgbClr val="1F4E79"/>
                </a:solidFill>
                <a:latin typeface="Segoe UI"/>
                <a:ea typeface="Segoe UI"/>
                <a:cs typeface="Segoe UI"/>
              </a:rPr>
              <a:t>trước</a:t>
            </a:r>
            <a:r>
              <a:rPr sz="1800" b="0" i="0">
                <a:solidFill>
                  <a:srgbClr val="263238"/>
                </a:solidFill>
                <a:latin typeface="Segoe UI"/>
                <a:ea typeface="Segoe UI"/>
                <a:cs typeface="Segoe UI"/>
              </a:rPr>
              <a:t> procedure (menu, trang, controller).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Đọc một thông báo lỗi SQL</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4</a:t>
            </a:r>
          </a:p>
        </p:txBody>
      </p:sp>
      <p:sp>
        <p:nvSpPr>
          <p:cNvPr id="7" name="Rounded Rectangle 6"/>
          <p:cNvSpPr/>
          <p:nvPr/>
        </p:nvSpPr>
        <p:spPr>
          <a:xfrm>
            <a:off x="640080" y="1600200"/>
            <a:ext cx="6949440" cy="3908933"/>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09928"/>
            <a:ext cx="6629400" cy="4462272"/>
          </a:xfrm>
          <a:prstGeom prst="rect">
            <a:avLst/>
          </a:prstGeom>
          <a:noFill/>
        </p:spPr>
        <p:txBody>
          <a:bodyPr wrap="none">
            <a:spAutoFit/>
          </a:bodyPr>
          <a:lstStyle/>
          <a:p>
            <a:pPr>
              <a:lnSpc>
                <a:spcPct val="100000"/>
              </a:lnSpc>
              <a:spcAft>
                <a:spcPts val="0"/>
              </a:spcAft>
            </a:pPr>
            <a:r>
              <a:rPr sz="1750" b="0" i="0">
                <a:solidFill>
                  <a:srgbClr val="E6E6E6"/>
                </a:solidFill>
                <a:latin typeface="Consolas"/>
                <a:ea typeface="Consolas"/>
                <a:cs typeface="Consolas"/>
              </a:rPr>
              <a:t>Msg 8134, Level 16, State 1,</a:t>
            </a:r>
          </a:p>
          <a:p>
            <a:pPr>
              <a:lnSpc>
                <a:spcPct val="100000"/>
              </a:lnSpc>
              <a:spcAft>
                <a:spcPts val="0"/>
              </a:spcAft>
            </a:pPr>
            <a:r>
              <a:rPr sz="1750" b="0" i="0">
                <a:solidFill>
                  <a:srgbClr val="E6E6E6"/>
                </a:solidFill>
                <a:latin typeface="Consolas"/>
                <a:ea typeface="Consolas"/>
                <a:cs typeface="Consolas"/>
              </a:rPr>
              <a:t>    Procedure rs_BangKeNhapTheoVatTu, Line 57</a:t>
            </a:r>
          </a:p>
          <a:p>
            <a:pPr>
              <a:lnSpc>
                <a:spcPct val="100000"/>
              </a:lnSpc>
              <a:spcAft>
                <a:spcPts val="0"/>
              </a:spcAft>
            </a:pPr>
            <a:r>
              <a:rPr sz="1750" b="0" i="0">
                <a:solidFill>
                  <a:srgbClr val="E6E6E6"/>
                </a:solidFill>
                <a:latin typeface="Consolas"/>
                <a:ea typeface="Consolas"/>
                <a:cs typeface="Consolas"/>
              </a:rPr>
              <a:t>Divide by zero error encountered.</a:t>
            </a:r>
          </a:p>
          <a:p>
            <a:pPr>
              <a:lnSpc>
                <a:spcPct val="100000"/>
              </a:lnSpc>
              <a:spcAft>
                <a:spcPts val="0"/>
              </a:spcAft>
            </a:pPr>
            <a:r>
              <a:rPr sz="1750" b="0" i="0">
                <a:solidFill>
                  <a:srgbClr val="E6E6E6"/>
                </a:solidFill>
                <a:latin typeface="Consolas"/>
                <a:ea typeface="Consolas"/>
                <a:cs typeface="Consolas"/>
              </a:rPr>
              <a:t> </a:t>
            </a:r>
          </a:p>
          <a:p>
            <a:pPr>
              <a:lnSpc>
                <a:spcPct val="100000"/>
              </a:lnSpc>
              <a:spcAft>
                <a:spcPts val="0"/>
              </a:spcAft>
            </a:pPr>
            <a:r>
              <a:rPr sz="1750" b="0" i="1">
                <a:solidFill>
                  <a:srgbClr val="7FB06A"/>
                </a:solidFill>
                <a:latin typeface="Consolas"/>
                <a:ea typeface="Consolas"/>
                <a:cs typeface="Consolas"/>
              </a:rPr>
              <a:t>-- Line 57 tính từ dòng CREATE / ALTER PROCEDURE.</a:t>
            </a:r>
          </a:p>
          <a:p>
            <a:pPr>
              <a:lnSpc>
                <a:spcPct val="100000"/>
              </a:lnSpc>
              <a:spcAft>
                <a:spcPts val="0"/>
              </a:spcAft>
            </a:pPr>
            <a:r>
              <a:rPr sz="1750" b="0" i="1">
                <a:solidFill>
                  <a:srgbClr val="7FB06A"/>
                </a:solidFill>
                <a:latin typeface="Consolas"/>
                <a:ea typeface="Consolas"/>
                <a:cs typeface="Consolas"/>
              </a:rPr>
              <a:t>-- Không có tên procedure: tính từ sau GO gần nhất.</a:t>
            </a:r>
          </a:p>
          <a:p>
            <a:pPr>
              <a:lnSpc>
                <a:spcPct val="100000"/>
              </a:lnSpc>
              <a:spcAft>
                <a:spcPts val="0"/>
              </a:spcAft>
            </a:pPr>
            <a:r>
              <a:rPr sz="1750" b="0" i="1">
                <a:solidFill>
                  <a:srgbClr val="7FB06A"/>
                </a:solidFill>
                <a:latin typeface="Consolas"/>
                <a:ea typeface="Consolas"/>
                <a:cs typeface="Consolas"/>
              </a:rPr>
              <a:t>-- Lỗi trong chuỗi SQL động: tính trong chuỗi đó</a:t>
            </a:r>
          </a:p>
          <a:p>
            <a:pPr>
              <a:lnSpc>
                <a:spcPct val="100000"/>
              </a:lnSpc>
              <a:spcAft>
                <a:spcPts val="0"/>
              </a:spcAft>
            </a:pPr>
            <a:r>
              <a:rPr sz="1750" b="0" i="1">
                <a:solidFill>
                  <a:srgbClr val="7FB06A"/>
                </a:solidFill>
                <a:latin typeface="Consolas"/>
                <a:ea typeface="Consolas"/>
                <a:cs typeface="Consolas"/>
              </a:rPr>
              <a:t>--   =&gt; PRINT @sql ra để đếm dòng.</a:t>
            </a:r>
          </a:p>
          <a:p>
            <a:pPr>
              <a:lnSpc>
                <a:spcPct val="100000"/>
              </a:lnSpc>
              <a:spcAft>
                <a:spcPts val="0"/>
              </a:spcAft>
            </a:pPr>
            <a:r>
              <a:rPr sz="1750" b="0" i="0">
                <a:solidFill>
                  <a:srgbClr val="E6E6E6"/>
                </a:solidFill>
                <a:latin typeface="Consolas"/>
                <a:ea typeface="Consolas"/>
                <a:cs typeface="Consolas"/>
              </a:rPr>
              <a:t> </a:t>
            </a:r>
          </a:p>
          <a:p>
            <a:pPr>
              <a:lnSpc>
                <a:spcPct val="100000"/>
              </a:lnSpc>
              <a:spcAft>
                <a:spcPts val="0"/>
              </a:spcAft>
            </a:pPr>
            <a:r>
              <a:rPr sz="1750" b="0" i="1">
                <a:solidFill>
                  <a:srgbClr val="7FB06A"/>
                </a:solidFill>
                <a:latin typeface="Consolas"/>
                <a:ea typeface="Consolas"/>
                <a:cs typeface="Consolas"/>
              </a:rPr>
              <a:t>-- Tự gây lỗi để quen thông báo:</a:t>
            </a:r>
          </a:p>
          <a:p>
            <a:pPr>
              <a:lnSpc>
                <a:spcPct val="100000"/>
              </a:lnSpc>
              <a:spcAft>
                <a:spcPts val="0"/>
              </a:spcAft>
            </a:pPr>
            <a:r>
              <a:rPr sz="1750" b="0" i="1">
                <a:solidFill>
                  <a:srgbClr val="7FB06A"/>
                </a:solidFill>
                <a:latin typeface="Consolas"/>
                <a:ea typeface="Consolas"/>
                <a:cs typeface="Consolas"/>
              </a:rPr>
              <a:t>--   docs/DaoTao/BaiTap/10_TaiHienLoiSQL.sql</a:t>
            </a:r>
          </a:p>
          <a:p>
            <a:pPr>
              <a:lnSpc>
                <a:spcPct val="100000"/>
              </a:lnSpc>
              <a:spcAft>
                <a:spcPts val="0"/>
              </a:spcAft>
            </a:pPr>
            <a:r>
              <a:rPr sz="1750" b="0" i="1">
                <a:solidFill>
                  <a:srgbClr val="7FB06A"/>
                </a:solidFill>
                <a:latin typeface="Consolas"/>
                <a:ea typeface="Consolas"/>
                <a:cs typeface="Consolas"/>
              </a:rPr>
              <a:t>--   25 lỗi có thông báo (L01–L25)</a:t>
            </a:r>
          </a:p>
          <a:p>
            <a:pPr>
              <a:lnSpc>
                <a:spcPct val="100000"/>
              </a:lnSpc>
              <a:spcAft>
                <a:spcPts val="0"/>
              </a:spcAft>
            </a:pPr>
            <a:r>
              <a:rPr sz="1750" b="0" i="1">
                <a:solidFill>
                  <a:srgbClr val="7FB06A"/>
                </a:solidFill>
                <a:latin typeface="Consolas"/>
                <a:ea typeface="Consolas"/>
                <a:cs typeface="Consolas"/>
              </a:rPr>
              <a:t>--   14 lỗi im lặng     (S01–S14)</a:t>
            </a:r>
          </a:p>
        </p:txBody>
      </p:sp>
      <p:sp>
        <p:nvSpPr>
          <p:cNvPr id="9" name="TextBox 8"/>
          <p:cNvSpPr txBox="1"/>
          <p:nvPr/>
        </p:nvSpPr>
        <p:spPr>
          <a:xfrm>
            <a:off x="7863840" y="1600200"/>
            <a:ext cx="3749039" cy="466344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Msg</a:t>
            </a:r>
            <a:r>
              <a:rPr sz="1600" b="0" i="0">
                <a:solidFill>
                  <a:srgbClr val="263238"/>
                </a:solidFill>
                <a:latin typeface="Segoe UI"/>
                <a:ea typeface="Segoe UI"/>
                <a:cs typeface="Segoe UI"/>
              </a:rPr>
              <a:t> = số lỗi, tra theo số</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Level 11–16: lỗi của mình</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Line</a:t>
            </a:r>
            <a:r>
              <a:rPr sz="1600" b="0" i="0">
                <a:solidFill>
                  <a:srgbClr val="263238"/>
                </a:solidFill>
                <a:latin typeface="Segoe UI"/>
                <a:ea typeface="Segoe UI"/>
                <a:cs typeface="Segoe UI"/>
              </a:rPr>
              <a:t> tính từ CREATE / ALTER hoặc sau </a:t>
            </a:r>
            <a:r>
              <a:rPr sz="1500" b="0" i="0">
                <a:solidFill>
                  <a:srgbClr val="B02A2A"/>
                </a:solidFill>
                <a:latin typeface="Consolas"/>
                <a:ea typeface="Consolas"/>
                <a:cs typeface="Consolas"/>
              </a:rPr>
              <a:t>GO</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Đọc </a:t>
            </a:r>
            <a:r>
              <a:rPr sz="1600" b="1" i="0">
                <a:solidFill>
                  <a:srgbClr val="1F4E79"/>
                </a:solidFill>
                <a:latin typeface="Segoe UI"/>
                <a:ea typeface="Segoe UI"/>
                <a:cs typeface="Segoe UI"/>
              </a:rPr>
              <a:t>lỗi đầu tiên</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Tự chạy </a:t>
            </a:r>
            <a:r>
              <a:rPr sz="1500" b="0" i="0">
                <a:solidFill>
                  <a:srgbClr val="B02A2A"/>
                </a:solidFill>
                <a:latin typeface="Consolas"/>
                <a:ea typeface="Consolas"/>
                <a:cs typeface="Consolas"/>
              </a:rPr>
              <a:t>10_TaiHienLoiSQL.sql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Lỗi có thông báo (1) — kiểu dữ liệu, câu lệnh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5</a:t>
            </a:r>
          </a:p>
        </p:txBody>
      </p:sp>
      <p:graphicFrame>
        <p:nvGraphicFramePr>
          <p:cNvPr id="7" name="Table 6"/>
          <p:cNvGraphicFramePr>
            <a:graphicFrameLocks noGrp="1"/>
          </p:cNvGraphicFramePr>
          <p:nvPr/>
        </p:nvGraphicFramePr>
        <p:xfrm>
          <a:off x="640080" y="1600200"/>
          <a:ext cx="10881360" cy="4626864"/>
        </p:xfrm>
        <a:graphic>
          <a:graphicData uri="http://schemas.openxmlformats.org/drawingml/2006/table">
            <a:tbl>
              <a:tblPr firstRow="1" bandRow="1">
                <a:tableStyleId>{5940675A-B579-460E-94D1-54222C63F5DA}</a:tableStyleId>
              </a:tblPr>
              <a:tblGrid>
                <a:gridCol w="5120640"/>
                <a:gridCol w="5760720"/>
              </a:tblGrid>
              <a:tr h="420624">
                <a:tc>
                  <a:txBody>
                    <a:bodyPr wrap="square"/>
                    <a:lstStyle/>
                    <a:p>
                      <a:r>
                        <a:rPr sz="1300" b="1" i="0">
                          <a:solidFill>
                            <a:srgbClr val="FFFFFF"/>
                          </a:solidFill>
                          <a:latin typeface="Segoe UI"/>
                          <a:ea typeface="Segoe UI"/>
                          <a:cs typeface="Segoe UI"/>
                        </a:rPr>
                        <a:t>Thông báo</a:t>
                      </a:r>
                    </a:p>
                  </a:txBody>
                  <a:tcPr marL="73152" marR="73152" marT="36576" marB="36576" anchor="ctr">
                    <a:solidFill>
                      <a:srgbClr val="1F4E79"/>
                    </a:solidFill>
                  </a:tcPr>
                </a:tc>
                <a:tc>
                  <a:txBody>
                    <a:bodyPr wrap="square"/>
                    <a:lstStyle/>
                    <a:p>
                      <a:r>
                        <a:rPr sz="1300" b="1" i="0">
                          <a:solidFill>
                            <a:srgbClr val="FFFFFF"/>
                          </a:solidFill>
                          <a:latin typeface="Segoe UI"/>
                          <a:ea typeface="Segoe UI"/>
                          <a:cs typeface="Segoe UI"/>
                        </a:rPr>
                        <a:t>Cách sửa</a:t>
                      </a:r>
                    </a:p>
                  </a:txBody>
                  <a:tcPr marL="73152" marR="73152" marT="36576" marB="36576" anchor="ctr">
                    <a:solidFill>
                      <a:srgbClr val="1F4E79"/>
                    </a:solidFill>
                  </a:tcPr>
                </a:tc>
              </a:tr>
              <a:tr h="420624">
                <a:tc>
                  <a:txBody>
                    <a:bodyPr wrap="square"/>
                    <a:lstStyle/>
                    <a:p>
                      <a:r>
                        <a:rPr sz="1300" b="0" i="0">
                          <a:solidFill>
                            <a:srgbClr val="263238"/>
                          </a:solidFill>
                          <a:latin typeface="Segoe UI"/>
                          <a:ea typeface="Segoe UI"/>
                          <a:cs typeface="Segoe UI"/>
                        </a:rPr>
                        <a:t>Msg 8134 chia cho 0</a:t>
                      </a:r>
                    </a:p>
                  </a:txBody>
                  <a:tcPr marL="73152" marR="73152" marT="36576" marB="36576" anchor="ctr">
                    <a:solidFill>
                      <a:srgbClr val="FFFFFF"/>
                    </a:solidFill>
                  </a:tcPr>
                </a:tc>
                <a:tc>
                  <a:txBody>
                    <a:bodyPr wrap="square"/>
                    <a:lstStyle/>
                    <a:p>
                      <a:r>
                        <a:rPr sz="1200" b="0" i="0">
                          <a:solidFill>
                            <a:srgbClr val="B02A2A"/>
                          </a:solidFill>
                          <a:latin typeface="Consolas"/>
                          <a:ea typeface="Consolas"/>
                          <a:cs typeface="Consolas"/>
                        </a:rPr>
                        <a:t>tien / NULLIF(so_luong, 0)</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245 so cột mã (chữ) với số</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So chữ với chữ: </a:t>
                      </a:r>
                      <a:r>
                        <a:rPr sz="1200" b="0" i="0">
                          <a:solidFill>
                            <a:srgbClr val="B02A2A"/>
                          </a:solidFill>
                          <a:latin typeface="Consolas"/>
                          <a:ea typeface="Consolas"/>
                          <a:cs typeface="Consolas"/>
                        </a:rPr>
                        <a:t>ma_vt = '001'</a:t>
                      </a:r>
                    </a:p>
                  </a:txBody>
                  <a:tcPr marL="73152" marR="73152" marT="36576" marB="36576" anchor="ctr">
                    <a:solidFill>
                      <a:srgbClr val="F4F7FB"/>
                    </a:solidFill>
                  </a:tcPr>
                </a:tc>
              </a:tr>
              <a:tr h="420624">
                <a:tc>
                  <a:txBody>
                    <a:bodyPr wrap="square"/>
                    <a:lstStyle/>
                    <a:p>
                      <a:r>
                        <a:rPr sz="1300" b="0" i="0">
                          <a:solidFill>
                            <a:srgbClr val="263238"/>
                          </a:solidFill>
                          <a:latin typeface="Segoe UI"/>
                          <a:ea typeface="Segoe UI"/>
                          <a:cs typeface="Segoe UI"/>
                        </a:rPr>
                        <a:t>Msg 8114 chuỗi </a:t>
                      </a:r>
                      <a:r>
                        <a:rPr sz="1200" b="0" i="0">
                          <a:solidFill>
                            <a:srgbClr val="B02A2A"/>
                          </a:solidFill>
                          <a:latin typeface="Consolas"/>
                          <a:ea typeface="Consolas"/>
                          <a:cs typeface="Consolas"/>
                        </a:rPr>
                        <a:t>'1,234.50'</a:t>
                      </a:r>
                      <a:r>
                        <a:rPr sz="1300" b="0" i="0">
                          <a:solidFill>
                            <a:srgbClr val="263238"/>
                          </a:solidFill>
                          <a:latin typeface="Segoe UI"/>
                          <a:ea typeface="Segoe UI"/>
                          <a:cs typeface="Segoe UI"/>
                        </a:rPr>
                        <a:t> → numeric</a:t>
                      </a:r>
                    </a:p>
                  </a:txBody>
                  <a:tcPr marL="73152" marR="73152" marT="36576" marB="36576" anchor="ctr">
                    <a:solidFill>
                      <a:srgbClr val="FFFFFF"/>
                    </a:solidFill>
                  </a:tcPr>
                </a:tc>
                <a:tc>
                  <a:txBody>
                    <a:bodyPr wrap="square"/>
                    <a:lstStyle/>
                    <a:p>
                      <a:r>
                        <a:rPr sz="1200" b="0" i="0">
                          <a:solidFill>
                            <a:srgbClr val="B02A2A"/>
                          </a:solidFill>
                          <a:latin typeface="Consolas"/>
                          <a:ea typeface="Consolas"/>
                          <a:cs typeface="Consolas"/>
                        </a:rPr>
                        <a:t>REPLACE(@s, ',', '')</a:t>
                      </a:r>
                      <a:r>
                        <a:rPr sz="1300" b="0" i="0">
                          <a:solidFill>
                            <a:srgbClr val="263238"/>
                          </a:solidFill>
                          <a:latin typeface="Segoe UI"/>
                          <a:ea typeface="Segoe UI"/>
                          <a:cs typeface="Segoe UI"/>
                        </a:rPr>
                        <a:t> trước khi đổi</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242 ngày </a:t>
                      </a:r>
                      <a:r>
                        <a:rPr sz="1200" b="0" i="0">
                          <a:solidFill>
                            <a:srgbClr val="B02A2A"/>
                          </a:solidFill>
                          <a:latin typeface="Consolas"/>
                          <a:ea typeface="Consolas"/>
                          <a:cs typeface="Consolas"/>
                        </a:rPr>
                        <a:t>'31/01/2026'</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Viết </a:t>
                      </a:r>
                      <a:r>
                        <a:rPr sz="1200" b="0" i="0">
                          <a:solidFill>
                            <a:srgbClr val="B02A2A"/>
                          </a:solidFill>
                          <a:latin typeface="Consolas"/>
                          <a:ea typeface="Consolas"/>
                          <a:cs typeface="Consolas"/>
                        </a:rPr>
                        <a:t>'20260131'</a:t>
                      </a:r>
                      <a:r>
                        <a:rPr sz="1300" b="0" i="0">
                          <a:solidFill>
                            <a:srgbClr val="263238"/>
                          </a:solidFill>
                          <a:latin typeface="Segoe UI"/>
                          <a:ea typeface="Segoe UI"/>
                          <a:cs typeface="Segoe UI"/>
                        </a:rPr>
                        <a:t> hoặc </a:t>
                      </a:r>
                      <a:r>
                        <a:rPr sz="1200" b="0" i="0">
                          <a:solidFill>
                            <a:srgbClr val="B02A2A"/>
                          </a:solidFill>
                          <a:latin typeface="Consolas"/>
                          <a:ea typeface="Consolas"/>
                          <a:cs typeface="Consolas"/>
                        </a:rPr>
                        <a:t>CONVERT(datetime, @s, 103)</a:t>
                      </a:r>
                    </a:p>
                  </a:txBody>
                  <a:tcPr marL="73152" marR="73152" marT="36576" marB="36576" anchor="ctr">
                    <a:solidFill>
                      <a:srgbClr val="F4F7FB"/>
                    </a:solidFill>
                  </a:tcPr>
                </a:tc>
              </a:tr>
              <a:tr h="420624">
                <a:tc>
                  <a:txBody>
                    <a:bodyPr wrap="square"/>
                    <a:lstStyle/>
                    <a:p>
                      <a:r>
                        <a:rPr sz="1300" b="0" i="0">
                          <a:solidFill>
                            <a:srgbClr val="263238"/>
                          </a:solidFill>
                          <a:latin typeface="Segoe UI"/>
                          <a:ea typeface="Segoe UI"/>
                          <a:cs typeface="Segoe UI"/>
                        </a:rPr>
                        <a:t>Msg 8152 “would be truncated”</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So độ dài cột; bảng tạm tạo bằng </a:t>
                      </a:r>
                      <a:r>
                        <a:rPr sz="1200" b="0" i="0">
                          <a:solidFill>
                            <a:srgbClr val="B02A2A"/>
                          </a:solidFill>
                          <a:latin typeface="Consolas"/>
                          <a:ea typeface="Consolas"/>
                          <a:cs typeface="Consolas"/>
                        </a:rPr>
                        <a:t>SELECT TOP 0 … INTO</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8115 tràn </a:t>
                      </a:r>
                      <a:r>
                        <a:rPr sz="1200" b="0" i="0">
                          <a:solidFill>
                            <a:srgbClr val="B02A2A"/>
                          </a:solidFill>
                          <a:latin typeface="Consolas"/>
                          <a:ea typeface="Consolas"/>
                          <a:cs typeface="Consolas"/>
                        </a:rPr>
                        <a:t>numeric(5, 2)</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Khai báo đúng kiểu cột Fast: </a:t>
                      </a:r>
                      <a:r>
                        <a:rPr sz="1200" b="0" i="0">
                          <a:solidFill>
                            <a:srgbClr val="B02A2A"/>
                          </a:solidFill>
                          <a:latin typeface="Consolas"/>
                          <a:ea typeface="Consolas"/>
                          <a:cs typeface="Consolas"/>
                        </a:rPr>
                        <a:t>numeric(19, 4)</a:t>
                      </a:r>
                    </a:p>
                  </a:txBody>
                  <a:tcPr marL="73152" marR="73152" marT="36576" marB="36576" anchor="ctr">
                    <a:solidFill>
                      <a:srgbClr val="F4F7FB"/>
                    </a:solidFill>
                  </a:tcPr>
                </a:tc>
              </a:tr>
              <a:tr h="420624">
                <a:tc>
                  <a:txBody>
                    <a:bodyPr wrap="square"/>
                    <a:lstStyle/>
                    <a:p>
                      <a:r>
                        <a:rPr sz="1300" b="0" i="0">
                          <a:solidFill>
                            <a:srgbClr val="263238"/>
                          </a:solidFill>
                          <a:latin typeface="Segoe UI"/>
                          <a:ea typeface="Segoe UI"/>
                          <a:cs typeface="Segoe UI"/>
                        </a:rPr>
                        <a:t>Msg 512 truy vấn con ra nhiều dòng</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Thêm điều kiện, </a:t>
                      </a:r>
                      <a:r>
                        <a:rPr sz="1200" b="0" i="0">
                          <a:solidFill>
                            <a:srgbClr val="B02A2A"/>
                          </a:solidFill>
                          <a:latin typeface="Consolas"/>
                          <a:ea typeface="Consolas"/>
                          <a:cs typeface="Consolas"/>
                        </a:rPr>
                        <a:t>TOP 1 … ORDER BY</a:t>
                      </a:r>
                      <a:r>
                        <a:rPr sz="1300" b="0" i="0">
                          <a:solidFill>
                            <a:srgbClr val="263238"/>
                          </a:solidFill>
                          <a:latin typeface="Segoe UI"/>
                          <a:ea typeface="Segoe UI"/>
                          <a:cs typeface="Segoe UI"/>
                        </a:rPr>
                        <a:t>, hoặc JOIN / </a:t>
                      </a:r>
                      <a:r>
                        <a:rPr sz="1200" b="0" i="0">
                          <a:solidFill>
                            <a:srgbClr val="B02A2A"/>
                          </a:solidFill>
                          <a:latin typeface="Consolas"/>
                          <a:ea typeface="Consolas"/>
                          <a:cs typeface="Consolas"/>
                        </a:rPr>
                        <a:t>EXISTS</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4104 / 8120 / 145</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Sai bí danh bảng / thiếu cột trong GROUP BY / DISTINCT + ORDER BY</a:t>
                      </a:r>
                    </a:p>
                  </a:txBody>
                  <a:tcPr marL="73152" marR="73152" marT="36576" marB="36576" anchor="ctr">
                    <a:solidFill>
                      <a:srgbClr val="F4F7FB"/>
                    </a:solidFill>
                  </a:tcPr>
                </a:tc>
              </a:tr>
              <a:tr h="420624">
                <a:tc>
                  <a:txBody>
                    <a:bodyPr wrap="square"/>
                    <a:lstStyle/>
                    <a:p>
                      <a:r>
                        <a:rPr sz="1300" b="0" i="0">
                          <a:solidFill>
                            <a:srgbClr val="263238"/>
                          </a:solidFill>
                          <a:latin typeface="Segoe UI"/>
                          <a:ea typeface="Segoe UI"/>
                          <a:cs typeface="Segoe UI"/>
                        </a:rPr>
                        <a:t>Msg 207 ngay sau </a:t>
                      </a:r>
                      <a:r>
                        <a:rPr sz="1200" b="0" i="0">
                          <a:solidFill>
                            <a:srgbClr val="B02A2A"/>
                          </a:solidFill>
                          <a:latin typeface="Consolas"/>
                          <a:ea typeface="Consolas"/>
                          <a:cs typeface="Consolas"/>
                        </a:rPr>
                        <a:t>ALTER TABLE ADD</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Tách batch bằng </a:t>
                      </a:r>
                      <a:r>
                        <a:rPr sz="1200" b="0" i="0">
                          <a:solidFill>
                            <a:srgbClr val="B02A2A"/>
                          </a:solidFill>
                          <a:latin typeface="Consolas"/>
                          <a:ea typeface="Consolas"/>
                          <a:cs typeface="Consolas"/>
                        </a:rPr>
                        <a:t>GO</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213 INSERT không ghi tên cột</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Luôn ghi danh sách cột</a:t>
                      </a:r>
                    </a:p>
                  </a:txBody>
                  <a:tcPr marL="73152" marR="73152" marT="36576" marB="36576" anchor="ctr">
                    <a:solidFill>
                      <a:srgbClr val="F4F7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Lỗi có thông báo (2) — SQL động, procedure, transaction</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6</a:t>
            </a:r>
          </a:p>
        </p:txBody>
      </p:sp>
      <p:graphicFrame>
        <p:nvGraphicFramePr>
          <p:cNvPr id="7" name="Table 6"/>
          <p:cNvGraphicFramePr>
            <a:graphicFrameLocks noGrp="1"/>
          </p:cNvGraphicFramePr>
          <p:nvPr/>
        </p:nvGraphicFramePr>
        <p:xfrm>
          <a:off x="640080" y="1600200"/>
          <a:ext cx="10881360" cy="4626864"/>
        </p:xfrm>
        <a:graphic>
          <a:graphicData uri="http://schemas.openxmlformats.org/drawingml/2006/table">
            <a:tbl>
              <a:tblPr firstRow="1" bandRow="1">
                <a:tableStyleId>{5940675A-B579-460E-94D1-54222C63F5DA}</a:tableStyleId>
              </a:tblPr>
              <a:tblGrid>
                <a:gridCol w="5120640"/>
                <a:gridCol w="5760720"/>
              </a:tblGrid>
              <a:tr h="420624">
                <a:tc>
                  <a:txBody>
                    <a:bodyPr wrap="square"/>
                    <a:lstStyle/>
                    <a:p>
                      <a:r>
                        <a:rPr sz="1300" b="1" i="0">
                          <a:solidFill>
                            <a:srgbClr val="FFFFFF"/>
                          </a:solidFill>
                          <a:latin typeface="Segoe UI"/>
                          <a:ea typeface="Segoe UI"/>
                          <a:cs typeface="Segoe UI"/>
                        </a:rPr>
                        <a:t>Thông báo</a:t>
                      </a:r>
                    </a:p>
                  </a:txBody>
                  <a:tcPr marL="73152" marR="73152" marT="36576" marB="36576" anchor="ctr">
                    <a:solidFill>
                      <a:srgbClr val="1F4E79"/>
                    </a:solidFill>
                  </a:tcPr>
                </a:tc>
                <a:tc>
                  <a:txBody>
                    <a:bodyPr wrap="square"/>
                    <a:lstStyle/>
                    <a:p>
                      <a:r>
                        <a:rPr sz="1300" b="1" i="0">
                          <a:solidFill>
                            <a:srgbClr val="FFFFFF"/>
                          </a:solidFill>
                          <a:latin typeface="Segoe UI"/>
                          <a:ea typeface="Segoe UI"/>
                          <a:cs typeface="Segoe UI"/>
                        </a:rPr>
                        <a:t>Cách sửa</a:t>
                      </a:r>
                    </a:p>
                  </a:txBody>
                  <a:tcPr marL="73152" marR="73152" marT="36576" marB="36576" anchor="ctr">
                    <a:solidFill>
                      <a:srgbClr val="1F4E79"/>
                    </a:solidFill>
                  </a:tcPr>
                </a:tc>
              </a:tr>
              <a:tr h="420624">
                <a:tc>
                  <a:txBody>
                    <a:bodyPr wrap="square"/>
                    <a:lstStyle/>
                    <a:p>
                      <a:r>
                        <a:rPr sz="1300" b="0" i="0">
                          <a:solidFill>
                            <a:srgbClr val="263238"/>
                          </a:solidFill>
                          <a:latin typeface="Segoe UI"/>
                          <a:ea typeface="Segoe UI"/>
                          <a:cs typeface="Segoe UI"/>
                        </a:rPr>
                        <a:t>Msg 208 </a:t>
                      </a:r>
                      <a:r>
                        <a:rPr sz="1200" b="0" i="0">
                          <a:solidFill>
                            <a:srgbClr val="B02A2A"/>
                          </a:solidFill>
                          <a:latin typeface="Consolas"/>
                          <a:ea typeface="Consolas"/>
                          <a:cs typeface="Consolas"/>
                        </a:rPr>
                        <a:t>#tam</a:t>
                      </a:r>
                      <a:r>
                        <a:rPr sz="1300" b="0" i="0">
                          <a:solidFill>
                            <a:srgbClr val="263238"/>
                          </a:solidFill>
                          <a:latin typeface="Segoe UI"/>
                          <a:ea typeface="Segoe UI"/>
                          <a:cs typeface="Segoe UI"/>
                        </a:rPr>
                        <a:t> tạo trong </a:t>
                      </a:r>
                      <a:r>
                        <a:rPr sz="1200" b="0" i="0">
                          <a:solidFill>
                            <a:srgbClr val="B02A2A"/>
                          </a:solidFill>
                          <a:latin typeface="Consolas"/>
                          <a:ea typeface="Consolas"/>
                          <a:cs typeface="Consolas"/>
                        </a:rPr>
                        <a:t>EXEC(…)</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Tạo </a:t>
                      </a:r>
                      <a:r>
                        <a:rPr sz="1200" b="0" i="0">
                          <a:solidFill>
                            <a:srgbClr val="B02A2A"/>
                          </a:solidFill>
                          <a:latin typeface="Consolas"/>
                          <a:ea typeface="Consolas"/>
                          <a:cs typeface="Consolas"/>
                        </a:rPr>
                        <a:t>#tam</a:t>
                      </a:r>
                      <a:r>
                        <a:rPr sz="1300" b="0" i="0">
                          <a:solidFill>
                            <a:srgbClr val="263238"/>
                          </a:solidFill>
                          <a:latin typeface="Segoe UI"/>
                          <a:ea typeface="Segoe UI"/>
                          <a:cs typeface="Segoe UI"/>
                        </a:rPr>
                        <a:t> ở ngoài trước, trong chuỗi chỉ INSERT</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2714 bảng tạm đã có</a:t>
                      </a:r>
                    </a:p>
                  </a:txBody>
                  <a:tcPr marL="73152" marR="73152" marT="36576" marB="36576" anchor="ctr">
                    <a:solidFill>
                      <a:srgbClr val="F4F7FB"/>
                    </a:solidFill>
                  </a:tcPr>
                </a:tc>
                <a:tc>
                  <a:txBody>
                    <a:bodyPr wrap="square"/>
                    <a:lstStyle/>
                    <a:p>
                      <a:r>
                        <a:rPr sz="1200" b="0" i="0">
                          <a:solidFill>
                            <a:srgbClr val="B02A2A"/>
                          </a:solidFill>
                          <a:latin typeface="Consolas"/>
                          <a:ea typeface="Consolas"/>
                          <a:cs typeface="Consolas"/>
                        </a:rPr>
                        <a:t>IF OBJECT_ID('tempdb..#t') IS NOT NULL DROP TABLE #t</a:t>
                      </a:r>
                    </a:p>
                  </a:txBody>
                  <a:tcPr marL="73152" marR="73152" marT="36576" marB="36576" anchor="ctr">
                    <a:solidFill>
                      <a:srgbClr val="F4F7FB"/>
                    </a:solidFill>
                  </a:tcPr>
                </a:tc>
              </a:tr>
              <a:tr h="420624">
                <a:tc>
                  <a:txBody>
                    <a:bodyPr wrap="square"/>
                    <a:lstStyle/>
                    <a:p>
                      <a:r>
                        <a:rPr sz="1300" b="0" i="0">
                          <a:solidFill>
                            <a:srgbClr val="263238"/>
                          </a:solidFill>
                          <a:latin typeface="Segoe UI"/>
                          <a:ea typeface="Segoe UI"/>
                          <a:cs typeface="Segoe UI"/>
                        </a:rPr>
                        <a:t>Msg 137 biến trong chuỗi động</a:t>
                      </a:r>
                    </a:p>
                  </a:txBody>
                  <a:tcPr marL="73152" marR="73152" marT="36576" marB="36576" anchor="ctr">
                    <a:solidFill>
                      <a:srgbClr val="FFFFFF"/>
                    </a:solidFill>
                  </a:tcPr>
                </a:tc>
                <a:tc>
                  <a:txBody>
                    <a:bodyPr wrap="square"/>
                    <a:lstStyle/>
                    <a:p>
                      <a:r>
                        <a:rPr sz="1200" b="0" i="0">
                          <a:solidFill>
                            <a:srgbClr val="B02A2A"/>
                          </a:solidFill>
                          <a:latin typeface="Consolas"/>
                          <a:ea typeface="Consolas"/>
                          <a:cs typeface="Consolas"/>
                        </a:rPr>
                        <a:t>sp_executesql</a:t>
                      </a:r>
                      <a:r>
                        <a:rPr sz="1300" b="0" i="0">
                          <a:solidFill>
                            <a:srgbClr val="263238"/>
                          </a:solidFill>
                          <a:latin typeface="Segoe UI"/>
                          <a:ea typeface="Segoe UI"/>
                          <a:cs typeface="Segoe UI"/>
                        </a:rPr>
                        <a:t> có tham số</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102 dữ liệu có dấu nháy </a:t>
                      </a:r>
                      <a:r>
                        <a:rPr sz="1200" b="0" i="0">
                          <a:solidFill>
                            <a:srgbClr val="B02A2A"/>
                          </a:solidFill>
                          <a:latin typeface="Consolas"/>
                          <a:ea typeface="Consolas"/>
                          <a:cs typeface="Consolas"/>
                        </a:rPr>
                        <a:t>O'Neil</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Nhân đôi dấu nháy hoặc dùng tham số</a:t>
                      </a:r>
                    </a:p>
                  </a:txBody>
                  <a:tcPr marL="73152" marR="73152" marT="36576" marB="36576" anchor="ctr">
                    <a:solidFill>
                      <a:srgbClr val="F4F7FB"/>
                    </a:solidFill>
                  </a:tcPr>
                </a:tc>
              </a:tr>
              <a:tr h="420624">
                <a:tc>
                  <a:txBody>
                    <a:bodyPr wrap="square"/>
                    <a:lstStyle/>
                    <a:p>
                      <a:r>
                        <a:rPr sz="1300" b="0" i="0">
                          <a:solidFill>
                            <a:srgbClr val="263238"/>
                          </a:solidFill>
                          <a:latin typeface="Segoe UI"/>
                          <a:ea typeface="Segoe UI"/>
                          <a:cs typeface="Segoe UI"/>
                        </a:rPr>
                        <a:t>Msg 468 xung đột collation</a:t>
                      </a:r>
                    </a:p>
                  </a:txBody>
                  <a:tcPr marL="73152" marR="73152" marT="36576" marB="36576" anchor="ctr">
                    <a:solidFill>
                      <a:srgbClr val="FFFFFF"/>
                    </a:solidFill>
                  </a:tcPr>
                </a:tc>
                <a:tc>
                  <a:txBody>
                    <a:bodyPr wrap="square"/>
                    <a:lstStyle/>
                    <a:p>
                      <a:r>
                        <a:rPr sz="1200" b="0" i="0">
                          <a:solidFill>
                            <a:srgbClr val="B02A2A"/>
                          </a:solidFill>
                          <a:latin typeface="Consolas"/>
                          <a:ea typeface="Consolas"/>
                          <a:cs typeface="Consolas"/>
                        </a:rPr>
                        <a:t>COLLATE DATABASE_DEFAULT</a:t>
                      </a:r>
                      <a:r>
                        <a:rPr sz="1300" b="0" i="0">
                          <a:solidFill>
                            <a:srgbClr val="263238"/>
                          </a:solidFill>
                          <a:latin typeface="Segoe UI"/>
                          <a:ea typeface="Segoe UI"/>
                          <a:cs typeface="Segoe UI"/>
                        </a:rPr>
                        <a:t> cho cột chữ bảng tạm</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8144 / 201 thừa / thiếu tham số</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Chạy procedure mới; tham số mới có giá trị mặc định</a:t>
                      </a:r>
                    </a:p>
                  </a:txBody>
                  <a:tcPr marL="73152" marR="73152" marT="36576" marB="36576" anchor="ctr">
                    <a:solidFill>
                      <a:srgbClr val="F4F7FB"/>
                    </a:solidFill>
                  </a:tcPr>
                </a:tc>
              </a:tr>
              <a:tr h="420624">
                <a:tc>
                  <a:txBody>
                    <a:bodyPr wrap="square"/>
                    <a:lstStyle/>
                    <a:p>
                      <a:r>
                        <a:rPr sz="1300" b="0" i="0">
                          <a:solidFill>
                            <a:srgbClr val="263238"/>
                          </a:solidFill>
                          <a:latin typeface="Segoe UI"/>
                          <a:ea typeface="Segoe UI"/>
                          <a:cs typeface="Segoe UI"/>
                        </a:rPr>
                        <a:t>Msg 2627 / 515 trùng khoá / NULL</a:t>
                      </a:r>
                    </a:p>
                  </a:txBody>
                  <a:tcPr marL="73152" marR="73152" marT="36576" marB="36576" anchor="ctr">
                    <a:solidFill>
                      <a:srgbClr val="FFFFFF"/>
                    </a:solidFill>
                  </a:tcPr>
                </a:tc>
                <a:tc>
                  <a:txBody>
                    <a:bodyPr wrap="square"/>
                    <a:lstStyle/>
                    <a:p>
                      <a:r>
                        <a:rPr sz="1200" b="0" i="0">
                          <a:solidFill>
                            <a:srgbClr val="B02A2A"/>
                          </a:solidFill>
                          <a:latin typeface="Consolas"/>
                          <a:ea typeface="Consolas"/>
                          <a:cs typeface="Consolas"/>
                        </a:rPr>
                        <a:t>WHERE NOT EXISTS</a:t>
                      </a:r>
                      <a:r>
                        <a:rPr sz="1300" b="0" i="0">
                          <a:solidFill>
                            <a:srgbClr val="263238"/>
                          </a:solidFill>
                          <a:latin typeface="Segoe UI"/>
                          <a:ea typeface="Segoe UI"/>
                          <a:cs typeface="Segoe UI"/>
                        </a:rPr>
                        <a:t>; ghi đủ cột NOT NULL</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266 quên COMMIT</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Mọi nhánh phải COMMIT hoặc ROLLBACK</a:t>
                      </a:r>
                    </a:p>
                  </a:txBody>
                  <a:tcPr marL="73152" marR="73152" marT="36576" marB="36576" anchor="ctr">
                    <a:solidFill>
                      <a:srgbClr val="F4F7FB"/>
                    </a:solidFill>
                  </a:tcPr>
                </a:tc>
              </a:tr>
              <a:tr h="420624">
                <a:tc>
                  <a:txBody>
                    <a:bodyPr wrap="square"/>
                    <a:lstStyle/>
                    <a:p>
                      <a:r>
                        <a:rPr sz="1300" b="0" i="0">
                          <a:solidFill>
                            <a:srgbClr val="263238"/>
                          </a:solidFill>
                          <a:latin typeface="Segoe UI"/>
                          <a:ea typeface="Segoe UI"/>
                          <a:cs typeface="Segoe UI"/>
                        </a:rPr>
                        <a:t>Msg 3930 transaction hỏng</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Trong CATCH: ROLLBACK trước rồi mới ghi</a:t>
                      </a:r>
                    </a:p>
                  </a:txBody>
                  <a:tcPr marL="73152" marR="73152" marT="36576" marB="36576" anchor="ctr">
                    <a:solidFill>
                      <a:srgbClr val="FFFFFF"/>
                    </a:solidFill>
                  </a:tcPr>
                </a:tc>
              </a:tr>
              <a:tr h="420624">
                <a:tc>
                  <a:txBody>
                    <a:bodyPr wrap="square"/>
                    <a:lstStyle/>
                    <a:p>
                      <a:r>
                        <a:rPr sz="1300" b="0" i="0">
                          <a:solidFill>
                            <a:srgbClr val="263238"/>
                          </a:solidFill>
                          <a:latin typeface="Segoe UI"/>
                          <a:ea typeface="Segoe UI"/>
                          <a:cs typeface="Segoe UI"/>
                        </a:rPr>
                        <a:t>Msg 195 / 208 </a:t>
                      </a:r>
                      <a:r>
                        <a:rPr sz="1200" b="0" i="0">
                          <a:solidFill>
                            <a:srgbClr val="B02A2A"/>
                          </a:solidFill>
                          <a:latin typeface="Consolas"/>
                          <a:ea typeface="Consolas"/>
                          <a:cs typeface="Consolas"/>
                        </a:rPr>
                        <a:t>TRY_CONVERT</a:t>
                      </a:r>
                      <a:r>
                        <a:rPr sz="1300" b="0" i="0">
                          <a:solidFill>
                            <a:srgbClr val="263238"/>
                          </a:solidFill>
                          <a:latin typeface="Segoe UI"/>
                          <a:ea typeface="Segoe UI"/>
                          <a:cs typeface="Segoe UI"/>
                        </a:rPr>
                        <a:t>, </a:t>
                      </a:r>
                      <a:r>
                        <a:rPr sz="1200" b="0" i="0">
                          <a:solidFill>
                            <a:srgbClr val="B02A2A"/>
                          </a:solidFill>
                          <a:latin typeface="Consolas"/>
                          <a:ea typeface="Consolas"/>
                          <a:cs typeface="Consolas"/>
                        </a:rPr>
                        <a:t>STRING_SPLIT</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Database Fast level 100 → dùng hàm cũ, </a:t>
                      </a:r>
                      <a:r>
                        <a:rPr sz="1200" b="0" i="0">
                          <a:solidFill>
                            <a:srgbClr val="B02A2A"/>
                          </a:solidFill>
                          <a:latin typeface="Consolas"/>
                          <a:ea typeface="Consolas"/>
                          <a:cs typeface="Consolas"/>
                        </a:rPr>
                        <a:t>…$System$Split</a:t>
                      </a:r>
                    </a:p>
                  </a:txBody>
                  <a:tcPr marL="73152" marR="73152" marT="36576" marB="36576" anchor="ctr">
                    <a:solidFill>
                      <a:srgbClr val="F4F7FB"/>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Lỗi SQL gặp nhiều nhất</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7</a:t>
            </a:r>
          </a:p>
        </p:txBody>
      </p:sp>
      <p:sp>
        <p:nvSpPr>
          <p:cNvPr id="7" name="Rounded Rectangle 6"/>
          <p:cNvSpPr/>
          <p:nvPr/>
        </p:nvSpPr>
        <p:spPr>
          <a:xfrm>
            <a:off x="640080" y="1600200"/>
            <a:ext cx="7315200" cy="3203955"/>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09928"/>
            <a:ext cx="6995160" cy="4462272"/>
          </a:xfrm>
          <a:prstGeom prst="rect">
            <a:avLst/>
          </a:prstGeom>
          <a:noFill/>
        </p:spPr>
        <p:txBody>
          <a:bodyPr wrap="none">
            <a:spAutoFit/>
          </a:bodyPr>
          <a:lstStyle/>
          <a:p>
            <a:pPr>
              <a:lnSpc>
                <a:spcPct val="100000"/>
              </a:lnSpc>
              <a:spcAft>
                <a:spcPts val="0"/>
              </a:spcAft>
            </a:pPr>
            <a:r>
              <a:rPr sz="1400" b="0" i="1">
                <a:solidFill>
                  <a:srgbClr val="7FB06A"/>
                </a:solidFill>
                <a:latin typeface="Consolas"/>
                <a:ea typeface="Consolas"/>
                <a:cs typeface="Consolas"/>
              </a:rPr>
              <a:t>-- 1) OR không bọc ngoặc: mất mọi điều kiện phía sau</a:t>
            </a:r>
          </a:p>
          <a:p>
            <a:pPr>
              <a:lnSpc>
                <a:spcPct val="100000"/>
              </a:lnSpc>
              <a:spcAft>
                <a:spcPts val="0"/>
              </a:spcAft>
            </a:pP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@Key = ' kh.noi_bo_yn = 1 </a:t>
            </a:r>
            <a:r>
              <a:rPr sz="1400" b="1" i="0">
                <a:solidFill>
                  <a:srgbClr val="6CB6FF"/>
                </a:solidFill>
                <a:latin typeface="Consolas"/>
                <a:ea typeface="Consolas"/>
                <a:cs typeface="Consolas"/>
              </a:rPr>
              <a:t>or</a:t>
            </a:r>
            <a:r>
              <a:rPr sz="1400" b="0" i="0">
                <a:solidFill>
                  <a:srgbClr val="E6E6E6"/>
                </a:solidFill>
                <a:latin typeface="Consolas"/>
                <a:ea typeface="Consolas"/>
                <a:cs typeface="Consolas"/>
              </a:rPr>
              <a:t> 1 = 1'</a:t>
            </a:r>
          </a:p>
          <a:p>
            <a:pPr>
              <a:lnSpc>
                <a:spcPct val="100000"/>
              </a:lnSpc>
              <a:spcAft>
                <a:spcPts val="0"/>
              </a:spcAft>
            </a:pP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@Key = @Key + ' </a:t>
            </a:r>
            <a:r>
              <a:rPr sz="1400" b="1" i="0">
                <a:solidFill>
                  <a:srgbClr val="6CB6FF"/>
                </a:solidFill>
                <a:latin typeface="Consolas"/>
                <a:ea typeface="Consolas"/>
                <a:cs typeface="Consolas"/>
              </a:rPr>
              <a:t>and</a:t>
            </a:r>
            <a:r>
              <a:rPr sz="1400" b="0" i="0">
                <a:solidFill>
                  <a:srgbClr val="E6E6E6"/>
                </a:solidFill>
                <a:latin typeface="Consolas"/>
                <a:ea typeface="Consolas"/>
                <a:cs typeface="Consolas"/>
              </a:rPr>
              <a:t> a.ma_dvcs = ''01'''   </a:t>
            </a:r>
            <a:r>
              <a:rPr sz="1400" b="0" i="1">
                <a:solidFill>
                  <a:srgbClr val="7FB06A"/>
                </a:solidFill>
                <a:latin typeface="Consolas"/>
                <a:ea typeface="Consolas"/>
                <a:cs typeface="Consolas"/>
              </a:rPr>
              <a:t>-- lấy HẾT đơn vị</a:t>
            </a:r>
          </a:p>
          <a:p>
            <a:pPr>
              <a:lnSpc>
                <a:spcPct val="100000"/>
              </a:lnSpc>
              <a:spcAft>
                <a:spcPts val="0"/>
              </a:spcAft>
            </a:pPr>
            <a:r>
              <a:rPr sz="1400" b="0" i="1">
                <a:solidFill>
                  <a:srgbClr val="7FB06A"/>
                </a:solidFill>
                <a:latin typeface="Consolas"/>
                <a:ea typeface="Consolas"/>
                <a:cs typeface="Consolas"/>
              </a:rPr>
              <a:t>-- Đúng:</a:t>
            </a:r>
          </a:p>
          <a:p>
            <a:pPr>
              <a:lnSpc>
                <a:spcPct val="100000"/>
              </a:lnSpc>
              <a:spcAft>
                <a:spcPts val="0"/>
              </a:spcAft>
            </a:pP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@Key = ' (kh.noi_bo_yn = 1 </a:t>
            </a:r>
            <a:r>
              <a:rPr sz="1400" b="1" i="0">
                <a:solidFill>
                  <a:srgbClr val="6CB6FF"/>
                </a:solidFill>
                <a:latin typeface="Consolas"/>
                <a:ea typeface="Consolas"/>
                <a:cs typeface="Consolas"/>
              </a:rPr>
              <a:t>or</a:t>
            </a:r>
            <a:r>
              <a:rPr sz="1400" b="0" i="0">
                <a:solidFill>
                  <a:srgbClr val="E6E6E6"/>
                </a:solidFill>
                <a:latin typeface="Consolas"/>
                <a:ea typeface="Consolas"/>
                <a:cs typeface="Consolas"/>
              </a:rPr>
              <a:t> 1 = 1)'</a:t>
            </a:r>
          </a:p>
          <a:p>
            <a:pPr>
              <a:lnSpc>
                <a:spcPct val="100000"/>
              </a:lnSpc>
              <a:spcAft>
                <a:spcPts val="0"/>
              </a:spcAft>
            </a:pPr>
            <a:r>
              <a:rPr sz="1400" b="0" i="0">
                <a:solidFill>
                  <a:srgbClr val="E6E6E6"/>
                </a:solidFill>
                <a:latin typeface="Consolas"/>
                <a:ea typeface="Consolas"/>
                <a:cs typeface="Consolas"/>
              </a:rPr>
              <a:t> </a:t>
            </a:r>
          </a:p>
          <a:p>
            <a:pPr>
              <a:lnSpc>
                <a:spcPct val="100000"/>
              </a:lnSpc>
              <a:spcAft>
                <a:spcPts val="0"/>
              </a:spcAft>
            </a:pPr>
            <a:r>
              <a:rPr sz="1400" b="0" i="1">
                <a:solidFill>
                  <a:srgbClr val="7FB06A"/>
                </a:solidFill>
                <a:latin typeface="Consolas"/>
                <a:ea typeface="Consolas"/>
                <a:cs typeface="Consolas"/>
              </a:rPr>
              <a:t>-- 2) UPDATE ... FROM join 1-n: lấy 1 dòng bất kỳ</a:t>
            </a:r>
          </a:p>
          <a:p>
            <a:pPr>
              <a:lnSpc>
                <a:spcPct val="100000"/>
              </a:lnSpc>
              <a:spcAft>
                <a:spcPts val="0"/>
              </a:spcAft>
            </a:pPr>
            <a:r>
              <a:rPr sz="1400" b="1" i="0">
                <a:solidFill>
                  <a:srgbClr val="6CB6FF"/>
                </a:solidFill>
                <a:latin typeface="Consolas"/>
                <a:ea typeface="Consolas"/>
                <a:cs typeface="Consolas"/>
              </a:rPr>
              <a:t>UPDATE</a:t>
            </a:r>
            <a:r>
              <a:rPr sz="1400" b="0" i="0">
                <a:solidFill>
                  <a:srgbClr val="E6E6E6"/>
                </a:solidFill>
                <a:latin typeface="Consolas"/>
                <a:ea typeface="Consolas"/>
                <a:cs typeface="Consolas"/>
              </a:rPr>
              <a:t> a </a:t>
            </a: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a.tt = b.tien</a:t>
            </a:r>
          </a:p>
          <a:p>
            <a:pPr>
              <a:lnSpc>
                <a:spcPct val="100000"/>
              </a:lnSpc>
              <a:spcAft>
                <a:spcPts val="0"/>
              </a:spcAft>
            </a:pPr>
            <a:r>
              <a:rPr sz="1400" b="1" i="0">
                <a:solidFill>
                  <a:srgbClr val="6CB6FF"/>
                </a:solidFill>
                <a:latin typeface="Consolas"/>
                <a:ea typeface="Consolas"/>
                <a:cs typeface="Consolas"/>
              </a:rPr>
              <a:t>FROM</a:t>
            </a:r>
            <a:r>
              <a:rPr sz="1400" b="0" i="0">
                <a:solidFill>
                  <a:srgbClr val="E6E6E6"/>
                </a:solidFill>
                <a:latin typeface="Consolas"/>
                <a:ea typeface="Consolas"/>
                <a:cs typeface="Consolas"/>
              </a:rPr>
              <a:t> #hd a </a:t>
            </a:r>
            <a:r>
              <a:rPr sz="1400" b="1" i="0">
                <a:solidFill>
                  <a:srgbClr val="6CB6FF"/>
                </a:solidFill>
                <a:latin typeface="Consolas"/>
                <a:ea typeface="Consolas"/>
                <a:cs typeface="Consolas"/>
              </a:rPr>
              <a:t>JOIN</a:t>
            </a:r>
            <a:r>
              <a:rPr sz="1400" b="0" i="0">
                <a:solidFill>
                  <a:srgbClr val="E6E6E6"/>
                </a:solidFill>
                <a:latin typeface="Consolas"/>
                <a:ea typeface="Consolas"/>
                <a:cs typeface="Consolas"/>
              </a:rPr>
              <a:t> #tt b </a:t>
            </a:r>
            <a:r>
              <a:rPr sz="1400" b="1" i="0">
                <a:solidFill>
                  <a:srgbClr val="6CB6FF"/>
                </a:solidFill>
                <a:latin typeface="Consolas"/>
                <a:ea typeface="Consolas"/>
                <a:cs typeface="Consolas"/>
              </a:rPr>
              <a:t>ON</a:t>
            </a:r>
            <a:r>
              <a:rPr sz="1400" b="0" i="0">
                <a:solidFill>
                  <a:srgbClr val="E6E6E6"/>
                </a:solidFill>
                <a:latin typeface="Consolas"/>
                <a:ea typeface="Consolas"/>
                <a:cs typeface="Consolas"/>
              </a:rPr>
              <a:t> a.ma_hd = b.ma_hd </a:t>
            </a:r>
            <a:r>
              <a:rPr sz="1400" b="1" i="0">
                <a:solidFill>
                  <a:srgbClr val="6CB6FF"/>
                </a:solidFill>
                <a:latin typeface="Consolas"/>
                <a:ea typeface="Consolas"/>
                <a:cs typeface="Consolas"/>
              </a:rPr>
              <a:t>OR</a:t>
            </a:r>
            <a:r>
              <a:rPr sz="1400" b="0" i="0">
                <a:solidFill>
                  <a:srgbClr val="E6E6E6"/>
                </a:solidFill>
                <a:latin typeface="Consolas"/>
                <a:ea typeface="Consolas"/>
                <a:cs typeface="Consolas"/>
              </a:rPr>
              <a:t> a.ma_hd_cu = b.ma_hd</a:t>
            </a:r>
          </a:p>
          <a:p>
            <a:pPr>
              <a:lnSpc>
                <a:spcPct val="100000"/>
              </a:lnSpc>
              <a:spcAft>
                <a:spcPts val="0"/>
              </a:spcAft>
            </a:pPr>
            <a:r>
              <a:rPr sz="1400" b="0" i="1">
                <a:solidFill>
                  <a:srgbClr val="7FB06A"/>
                </a:solidFill>
                <a:latin typeface="Consolas"/>
                <a:ea typeface="Consolas"/>
                <a:cs typeface="Consolas"/>
              </a:rPr>
              <a:t>-- Đúng: cộng trước</a:t>
            </a:r>
          </a:p>
          <a:p>
            <a:pPr>
              <a:lnSpc>
                <a:spcPct val="100000"/>
              </a:lnSpc>
              <a:spcAft>
                <a:spcPts val="0"/>
              </a:spcAft>
            </a:pPr>
            <a:r>
              <a:rPr sz="1400" b="1" i="0">
                <a:solidFill>
                  <a:srgbClr val="6CB6FF"/>
                </a:solidFill>
                <a:latin typeface="Consolas"/>
                <a:ea typeface="Consolas"/>
                <a:cs typeface="Consolas"/>
              </a:rPr>
              <a:t>UPDATE</a:t>
            </a:r>
            <a:r>
              <a:rPr sz="1400" b="0" i="0">
                <a:solidFill>
                  <a:srgbClr val="E6E6E6"/>
                </a:solidFill>
                <a:latin typeface="Consolas"/>
                <a:ea typeface="Consolas"/>
                <a:cs typeface="Consolas"/>
              </a:rPr>
              <a:t> a </a:t>
            </a:r>
            <a:r>
              <a:rPr sz="1400" b="1" i="0">
                <a:solidFill>
                  <a:srgbClr val="6CB6FF"/>
                </a:solidFill>
                <a:latin typeface="Consolas"/>
                <a:ea typeface="Consolas"/>
                <a:cs typeface="Consolas"/>
              </a:rPr>
              <a:t>SET</a:t>
            </a:r>
            <a:r>
              <a:rPr sz="1400" b="0" i="0">
                <a:solidFill>
                  <a:srgbClr val="E6E6E6"/>
                </a:solidFill>
                <a:latin typeface="Consolas"/>
                <a:ea typeface="Consolas"/>
                <a:cs typeface="Consolas"/>
              </a:rPr>
              <a:t> a.tt = x.tien </a:t>
            </a:r>
            <a:r>
              <a:rPr sz="1400" b="1" i="0">
                <a:solidFill>
                  <a:srgbClr val="6CB6FF"/>
                </a:solidFill>
                <a:latin typeface="Consolas"/>
                <a:ea typeface="Consolas"/>
                <a:cs typeface="Consolas"/>
              </a:rPr>
              <a:t>FROM</a:t>
            </a:r>
            <a:r>
              <a:rPr sz="1400" b="0" i="0">
                <a:solidFill>
                  <a:srgbClr val="E6E6E6"/>
                </a:solidFill>
                <a:latin typeface="Consolas"/>
                <a:ea typeface="Consolas"/>
                <a:cs typeface="Consolas"/>
              </a:rPr>
              <a:t> #hd a</a:t>
            </a:r>
          </a:p>
          <a:p>
            <a:pPr>
              <a:lnSpc>
                <a:spcPct val="100000"/>
              </a:lnSpc>
              <a:spcAft>
                <a:spcPts val="0"/>
              </a:spcAft>
            </a:pPr>
            <a:r>
              <a:rPr sz="1400" b="0" i="0">
                <a:solidFill>
                  <a:srgbClr val="E6E6E6"/>
                </a:solidFill>
                <a:latin typeface="Consolas"/>
                <a:ea typeface="Consolas"/>
                <a:cs typeface="Consolas"/>
              </a:rPr>
              <a:t>OUTER APPLY (</a:t>
            </a:r>
            <a:r>
              <a:rPr sz="1400" b="1" i="0">
                <a:solidFill>
                  <a:srgbClr val="6CB6FF"/>
                </a:solidFill>
                <a:latin typeface="Consolas"/>
                <a:ea typeface="Consolas"/>
                <a:cs typeface="Consolas"/>
              </a:rPr>
              <a:t>SELECT</a:t>
            </a:r>
            <a:r>
              <a:rPr sz="1400" b="0" i="0">
                <a:solidFill>
                  <a:srgbClr val="E6E6E6"/>
                </a:solidFill>
                <a:latin typeface="Consolas"/>
                <a:ea typeface="Consolas"/>
                <a:cs typeface="Consolas"/>
              </a:rPr>
              <a:t> </a:t>
            </a:r>
            <a:r>
              <a:rPr sz="1400" b="1" i="0">
                <a:solidFill>
                  <a:srgbClr val="6CB6FF"/>
                </a:solidFill>
                <a:latin typeface="Consolas"/>
                <a:ea typeface="Consolas"/>
                <a:cs typeface="Consolas"/>
              </a:rPr>
              <a:t>SUM</a:t>
            </a:r>
            <a:r>
              <a:rPr sz="1400" b="0" i="0">
                <a:solidFill>
                  <a:srgbClr val="E6E6E6"/>
                </a:solidFill>
                <a:latin typeface="Consolas"/>
                <a:ea typeface="Consolas"/>
                <a:cs typeface="Consolas"/>
              </a:rPr>
              <a:t>(t.tien) tien </a:t>
            </a:r>
            <a:r>
              <a:rPr sz="1400" b="1" i="0">
                <a:solidFill>
                  <a:srgbClr val="6CB6FF"/>
                </a:solidFill>
                <a:latin typeface="Consolas"/>
                <a:ea typeface="Consolas"/>
                <a:cs typeface="Consolas"/>
              </a:rPr>
              <a:t>FROM</a:t>
            </a:r>
            <a:r>
              <a:rPr sz="1400" b="0" i="0">
                <a:solidFill>
                  <a:srgbClr val="E6E6E6"/>
                </a:solidFill>
                <a:latin typeface="Consolas"/>
                <a:ea typeface="Consolas"/>
                <a:cs typeface="Consolas"/>
              </a:rPr>
              <a:t> #tt t</a:t>
            </a:r>
          </a:p>
          <a:p>
            <a:pPr>
              <a:lnSpc>
                <a:spcPct val="100000"/>
              </a:lnSpc>
              <a:spcAft>
                <a:spcPts val="0"/>
              </a:spcAft>
            </a:pPr>
            <a:r>
              <a:rPr sz="1400" b="0" i="0">
                <a:solidFill>
                  <a:srgbClr val="E6E6E6"/>
                </a:solidFill>
                <a:latin typeface="Consolas"/>
                <a:ea typeface="Consolas"/>
                <a:cs typeface="Consolas"/>
              </a:rPr>
              <a:t>             </a:t>
            </a:r>
            <a:r>
              <a:rPr sz="1400" b="1" i="0">
                <a:solidFill>
                  <a:srgbClr val="6CB6FF"/>
                </a:solidFill>
                <a:latin typeface="Consolas"/>
                <a:ea typeface="Consolas"/>
                <a:cs typeface="Consolas"/>
              </a:rPr>
              <a:t>WHERE</a:t>
            </a:r>
            <a:r>
              <a:rPr sz="1400" b="0" i="0">
                <a:solidFill>
                  <a:srgbClr val="E6E6E6"/>
                </a:solidFill>
                <a:latin typeface="Consolas"/>
                <a:ea typeface="Consolas"/>
                <a:cs typeface="Consolas"/>
              </a:rPr>
              <a:t> t.ma_hd </a:t>
            </a:r>
            <a:r>
              <a:rPr sz="1400" b="1" i="0">
                <a:solidFill>
                  <a:srgbClr val="6CB6FF"/>
                </a:solidFill>
                <a:latin typeface="Consolas"/>
                <a:ea typeface="Consolas"/>
                <a:cs typeface="Consolas"/>
              </a:rPr>
              <a:t>IN</a:t>
            </a:r>
            <a:r>
              <a:rPr sz="1400" b="0" i="0">
                <a:solidFill>
                  <a:srgbClr val="E6E6E6"/>
                </a:solidFill>
                <a:latin typeface="Consolas"/>
                <a:ea typeface="Consolas"/>
                <a:cs typeface="Consolas"/>
              </a:rPr>
              <a:t> (a.ma_hd, a.ma_hd_cu)) x</a:t>
            </a:r>
          </a:p>
        </p:txBody>
      </p:sp>
      <p:sp>
        <p:nvSpPr>
          <p:cNvPr id="9" name="TextBox 8"/>
          <p:cNvSpPr txBox="1"/>
          <p:nvPr/>
        </p:nvSpPr>
        <p:spPr>
          <a:xfrm>
            <a:off x="8183879" y="1600200"/>
            <a:ext cx="3474720" cy="466344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Bọc ngoặc mọi điều kiện </a:t>
            </a:r>
            <a:r>
              <a:rPr sz="1500" b="1" i="0">
                <a:solidFill>
                  <a:srgbClr val="1F4E79"/>
                </a:solidFill>
                <a:latin typeface="Segoe UI"/>
                <a:ea typeface="Segoe UI"/>
                <a:cs typeface="Segoe UI"/>
              </a:rPr>
              <a:t>OR</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Không UPDATE…FROM join </a:t>
            </a:r>
            <a:r>
              <a:rPr sz="1500" b="1" i="0">
                <a:solidFill>
                  <a:srgbClr val="1F4E79"/>
                </a:solidFill>
                <a:latin typeface="Segoe UI"/>
                <a:ea typeface="Segoe UI"/>
                <a:cs typeface="Segoe UI"/>
              </a:rPr>
              <a:t>1-n</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Join 2 bảng chi tiết → </a:t>
            </a:r>
            <a:r>
              <a:rPr sz="1400" b="0" i="0">
                <a:solidFill>
                  <a:srgbClr val="B02A2A"/>
                </a:solidFill>
                <a:latin typeface="Consolas"/>
                <a:ea typeface="Consolas"/>
                <a:cs typeface="Consolas"/>
              </a:rPr>
              <a:t>UNION ALL</a:t>
            </a:r>
            <a:r>
              <a:rPr sz="1500" b="0" i="0">
                <a:solidFill>
                  <a:srgbClr val="263238"/>
                </a:solidFill>
                <a:latin typeface="Segoe UI"/>
                <a:ea typeface="Segoe UI"/>
                <a:cs typeface="Segoe UI"/>
              </a:rPr>
              <a:t> + </a:t>
            </a:r>
            <a:r>
              <a:rPr sz="1400" b="0" i="0">
                <a:solidFill>
                  <a:srgbClr val="B02A2A"/>
                </a:solidFill>
                <a:latin typeface="Consolas"/>
                <a:ea typeface="Consolas"/>
                <a:cs typeface="Consolas"/>
              </a:rPr>
              <a:t>GROUP BY</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Thêm cột rồi UPDATE → tách </a:t>
            </a:r>
            <a:r>
              <a:rPr sz="1400" b="0" i="0">
                <a:solidFill>
                  <a:srgbClr val="B02A2A"/>
                </a:solidFill>
                <a:latin typeface="Consolas"/>
                <a:ea typeface="Consolas"/>
                <a:cs typeface="Consolas"/>
              </a:rPr>
              <a:t>GO</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Tham số: </a:t>
            </a:r>
            <a:r>
              <a:rPr sz="1400" b="0" i="0">
                <a:solidFill>
                  <a:srgbClr val="B02A2A"/>
                </a:solidFill>
                <a:latin typeface="Consolas"/>
                <a:ea typeface="Consolas"/>
                <a:cs typeface="Consolas"/>
              </a:rPr>
              <a:t>LTRIM</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Split</a:t>
            </a:r>
          </a:p>
          <a:p>
            <a:pPr>
              <a:spcAft>
                <a:spcPts val="1000"/>
              </a:spcAft>
            </a:pPr>
            <a:r>
              <a:rPr sz="1500" b="1" i="0">
                <a:solidFill>
                  <a:srgbClr val="F2B705"/>
                </a:solidFill>
                <a:latin typeface="Segoe UI"/>
                <a:ea typeface="Segoe UI"/>
                <a:cs typeface="Segoe UI"/>
              </a:rPr>
              <a:t>▪  </a:t>
            </a:r>
            <a:r>
              <a:rPr sz="1400" b="0" i="0">
                <a:solidFill>
                  <a:srgbClr val="B02A2A"/>
                </a:solidFill>
                <a:latin typeface="Consolas"/>
                <a:ea typeface="Consolas"/>
                <a:cs typeface="Consolas"/>
              </a:rPr>
              <a:t>ROW_NUMBER</a:t>
            </a:r>
            <a:r>
              <a:rPr sz="1500" b="0" i="0">
                <a:solidFill>
                  <a:srgbClr val="263238"/>
                </a:solidFill>
                <a:latin typeface="Segoe UI"/>
                <a:ea typeface="Segoe UI"/>
                <a:cs typeface="Segoe UI"/>
              </a:rPr>
              <a:t> thay </a:t>
            </a:r>
            <a:r>
              <a:rPr sz="1400" b="0" i="0">
                <a:solidFill>
                  <a:srgbClr val="B02A2A"/>
                </a:solidFill>
                <a:latin typeface="Consolas"/>
                <a:ea typeface="Consolas"/>
                <a:cs typeface="Consolas"/>
              </a:rPr>
              <a:t>RANK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Lỗi im lặng — không báo gì nhưng ra sai</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8</a:t>
            </a:r>
          </a:p>
        </p:txBody>
      </p:sp>
      <p:graphicFrame>
        <p:nvGraphicFramePr>
          <p:cNvPr id="7" name="Table 6"/>
          <p:cNvGraphicFramePr>
            <a:graphicFrameLocks noGrp="1"/>
          </p:cNvGraphicFramePr>
          <p:nvPr/>
        </p:nvGraphicFramePr>
        <p:xfrm>
          <a:off x="640080" y="1600200"/>
          <a:ext cx="10881360" cy="4608576"/>
        </p:xfrm>
        <a:graphic>
          <a:graphicData uri="http://schemas.openxmlformats.org/drawingml/2006/table">
            <a:tbl>
              <a:tblPr firstRow="1" bandRow="1">
                <a:tableStyleId>{5940675A-B579-460E-94D1-54222C63F5DA}</a:tableStyleId>
              </a:tblPr>
              <a:tblGrid>
                <a:gridCol w="4206240"/>
                <a:gridCol w="6675120"/>
              </a:tblGrid>
              <a:tr h="384048">
                <a:tc>
                  <a:txBody>
                    <a:bodyPr wrap="square"/>
                    <a:lstStyle/>
                    <a:p>
                      <a:r>
                        <a:rPr sz="1300" b="1" i="0">
                          <a:solidFill>
                            <a:srgbClr val="FFFFFF"/>
                          </a:solidFill>
                          <a:latin typeface="Segoe UI"/>
                          <a:ea typeface="Segoe UI"/>
                          <a:cs typeface="Segoe UI"/>
                        </a:rPr>
                        <a:t>Hiện tượng</a:t>
                      </a:r>
                    </a:p>
                  </a:txBody>
                  <a:tcPr marL="73152" marR="73152" marT="36576" marB="36576" anchor="ctr">
                    <a:solidFill>
                      <a:srgbClr val="1F4E79"/>
                    </a:solidFill>
                  </a:tcPr>
                </a:tc>
                <a:tc>
                  <a:txBody>
                    <a:bodyPr wrap="square"/>
                    <a:lstStyle/>
                    <a:p>
                      <a:r>
                        <a:rPr sz="1300" b="1" i="0">
                          <a:solidFill>
                            <a:srgbClr val="FFFFFF"/>
                          </a:solidFill>
                          <a:latin typeface="Segoe UI"/>
                          <a:ea typeface="Segoe UI"/>
                          <a:cs typeface="Segoe UI"/>
                        </a:rPr>
                        <a:t>Nguyên nhân → cách sửa</a:t>
                      </a:r>
                    </a:p>
                  </a:txBody>
                  <a:tcPr marL="73152" marR="73152" marT="36576" marB="36576" anchor="ctr">
                    <a:solidFill>
                      <a:srgbClr val="1F4E79"/>
                    </a:solidFill>
                  </a:tcPr>
                </a:tc>
              </a:tr>
              <a:tr h="384048">
                <a:tc>
                  <a:txBody>
                    <a:bodyPr wrap="square"/>
                    <a:lstStyle/>
                    <a:p>
                      <a:r>
                        <a:rPr sz="1300" b="0" i="0">
                          <a:solidFill>
                            <a:srgbClr val="263238"/>
                          </a:solidFill>
                          <a:latin typeface="Segoe UI"/>
                          <a:ea typeface="Segoe UI"/>
                          <a:cs typeface="Segoe UI"/>
                        </a:rPr>
                        <a:t>Mỗi lần chạy một số khác</a:t>
                      </a:r>
                    </a:p>
                  </a:txBody>
                  <a:tcPr marL="73152" marR="73152" marT="36576" marB="36576" anchor="ctr">
                    <a:solidFill>
                      <a:srgbClr val="FFFFFF"/>
                    </a:solidFill>
                  </a:tcPr>
                </a:tc>
                <a:tc>
                  <a:txBody>
                    <a:bodyPr wrap="square"/>
                    <a:lstStyle/>
                    <a:p>
                      <a:r>
                        <a:rPr sz="1200" b="0" i="0">
                          <a:solidFill>
                            <a:srgbClr val="B02A2A"/>
                          </a:solidFill>
                          <a:latin typeface="Consolas"/>
                          <a:ea typeface="Consolas"/>
                          <a:cs typeface="Consolas"/>
                        </a:rPr>
                        <a:t>UPDATE … FROM</a:t>
                      </a:r>
                      <a:r>
                        <a:rPr sz="1300" b="0" i="0">
                          <a:solidFill>
                            <a:srgbClr val="263238"/>
                          </a:solidFill>
                          <a:latin typeface="Segoe UI"/>
                          <a:ea typeface="Segoe UI"/>
                          <a:cs typeface="Segoe UI"/>
                        </a:rPr>
                        <a:t> join một-nhiều → cộng trước rồi gán</a:t>
                      </a:r>
                    </a:p>
                  </a:txBody>
                  <a:tcPr marL="73152" marR="73152" marT="36576" marB="36576" anchor="ctr">
                    <a:solidFill>
                      <a:srgbClr val="FFFFFF"/>
                    </a:solidFill>
                  </a:tcPr>
                </a:tc>
              </a:tr>
              <a:tr h="384048">
                <a:tc>
                  <a:txBody>
                    <a:bodyPr wrap="square"/>
                    <a:lstStyle/>
                    <a:p>
                      <a:r>
                        <a:rPr sz="1300" b="0" i="0">
                          <a:solidFill>
                            <a:srgbClr val="263238"/>
                          </a:solidFill>
                          <a:latin typeface="Segoe UI"/>
                          <a:ea typeface="Segoe UI"/>
                          <a:cs typeface="Segoe UI"/>
                        </a:rPr>
                        <a:t>Số bị nhân 2, 3 lần</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Join hai bảng chi tiết → </a:t>
                      </a:r>
                      <a:r>
                        <a:rPr sz="1200" b="0" i="0">
                          <a:solidFill>
                            <a:srgbClr val="B02A2A"/>
                          </a:solidFill>
                          <a:latin typeface="Consolas"/>
                          <a:ea typeface="Consolas"/>
                          <a:cs typeface="Consolas"/>
                        </a:rPr>
                        <a:t>UNION ALL</a:t>
                      </a:r>
                      <a:r>
                        <a:rPr sz="1300" b="0" i="0">
                          <a:solidFill>
                            <a:srgbClr val="263238"/>
                          </a:solidFill>
                          <a:latin typeface="Segoe UI"/>
                          <a:ea typeface="Segoe UI"/>
                          <a:cs typeface="Segoe UI"/>
                        </a:rPr>
                        <a:t> + </a:t>
                      </a:r>
                      <a:r>
                        <a:rPr sz="1200" b="0" i="0">
                          <a:solidFill>
                            <a:srgbClr val="B02A2A"/>
                          </a:solidFill>
                          <a:latin typeface="Consolas"/>
                          <a:ea typeface="Consolas"/>
                          <a:cs typeface="Consolas"/>
                        </a:rPr>
                        <a:t>GROUP BY</a:t>
                      </a:r>
                    </a:p>
                  </a:txBody>
                  <a:tcPr marL="73152" marR="73152" marT="36576" marB="36576" anchor="ctr">
                    <a:solidFill>
                      <a:srgbClr val="F4F7FB"/>
                    </a:solidFill>
                  </a:tcPr>
                </a:tc>
              </a:tr>
              <a:tr h="384048">
                <a:tc>
                  <a:txBody>
                    <a:bodyPr wrap="square"/>
                    <a:lstStyle/>
                    <a:p>
                      <a:r>
                        <a:rPr sz="1300" b="0" i="0">
                          <a:solidFill>
                            <a:srgbClr val="263238"/>
                          </a:solidFill>
                          <a:latin typeface="Segoe UI"/>
                          <a:ea typeface="Segoe UI"/>
                          <a:cs typeface="Segoe UI"/>
                        </a:rPr>
                        <a:t>Lọc đơn vị như không tác dụng</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OR không bọc ngoặc → bọc ngoặc mọi đoạn có OR</a:t>
                      </a:r>
                    </a:p>
                  </a:txBody>
                  <a:tcPr marL="73152" marR="73152" marT="36576" marB="36576" anchor="ctr">
                    <a:solidFill>
                      <a:srgbClr val="FFFFFF"/>
                    </a:solidFill>
                  </a:tcPr>
                </a:tc>
              </a:tr>
              <a:tr h="384048">
                <a:tc>
                  <a:txBody>
                    <a:bodyPr wrap="square"/>
                    <a:lstStyle/>
                    <a:p>
                      <a:r>
                        <a:rPr sz="1300" b="0" i="0">
                          <a:solidFill>
                            <a:srgbClr val="263238"/>
                          </a:solidFill>
                          <a:latin typeface="Segoe UI"/>
                          <a:ea typeface="Segoe UI"/>
                          <a:cs typeface="Segoe UI"/>
                        </a:rPr>
                        <a:t>SQL động không ra dòng nào</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Nối với biến NULL → </a:t>
                      </a:r>
                      <a:r>
                        <a:rPr sz="1200" b="0" i="0">
                          <a:solidFill>
                            <a:srgbClr val="B02A2A"/>
                          </a:solidFill>
                          <a:latin typeface="Consolas"/>
                          <a:ea typeface="Consolas"/>
                          <a:cs typeface="Consolas"/>
                        </a:rPr>
                        <a:t>ISNULL(@Key, N'')</a:t>
                      </a:r>
                    </a:p>
                  </a:txBody>
                  <a:tcPr marL="73152" marR="73152" marT="36576" marB="36576" anchor="ctr">
                    <a:solidFill>
                      <a:srgbClr val="F4F7FB"/>
                    </a:solidFill>
                  </a:tcPr>
                </a:tc>
              </a:tr>
              <a:tr h="384048">
                <a:tc>
                  <a:txBody>
                    <a:bodyPr wrap="square"/>
                    <a:lstStyle/>
                    <a:p>
                      <a:r>
                        <a:rPr sz="1200" b="0" i="0">
                          <a:solidFill>
                            <a:srgbClr val="B02A2A"/>
                          </a:solidFill>
                          <a:latin typeface="Consolas"/>
                          <a:ea typeface="Consolas"/>
                          <a:cs typeface="Consolas"/>
                        </a:rPr>
                        <a:t>NOT IN</a:t>
                      </a:r>
                      <a:r>
                        <a:rPr sz="1300" b="0" i="0">
                          <a:solidFill>
                            <a:srgbClr val="263238"/>
                          </a:solidFill>
                          <a:latin typeface="Segoe UI"/>
                          <a:ea typeface="Segoe UI"/>
                          <a:cs typeface="Segoe UI"/>
                        </a:rPr>
                        <a:t> không ra dòng nào</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Danh sách có NULL → dùng </a:t>
                      </a:r>
                      <a:r>
                        <a:rPr sz="1200" b="0" i="0">
                          <a:solidFill>
                            <a:srgbClr val="B02A2A"/>
                          </a:solidFill>
                          <a:latin typeface="Consolas"/>
                          <a:ea typeface="Consolas"/>
                          <a:cs typeface="Consolas"/>
                        </a:rPr>
                        <a:t>NOT EXISTS</a:t>
                      </a:r>
                    </a:p>
                  </a:txBody>
                  <a:tcPr marL="73152" marR="73152" marT="36576" marB="36576" anchor="ctr">
                    <a:solidFill>
                      <a:srgbClr val="FFFFFF"/>
                    </a:solidFill>
                  </a:tcPr>
                </a:tc>
              </a:tr>
              <a:tr h="384048">
                <a:tc>
                  <a:txBody>
                    <a:bodyPr wrap="square"/>
                    <a:lstStyle/>
                    <a:p>
                      <a:r>
                        <a:rPr sz="1300" b="0" i="0">
                          <a:solidFill>
                            <a:srgbClr val="263238"/>
                          </a:solidFill>
                          <a:latin typeface="Segoe UI"/>
                          <a:ea typeface="Segoe UI"/>
                          <a:cs typeface="Segoe UI"/>
                        </a:rPr>
                        <a:t>Thiếu dòng khi lọc </a:t>
                      </a:r>
                      <a:r>
                        <a:rPr sz="1200" b="0" i="0">
                          <a:solidFill>
                            <a:srgbClr val="B02A2A"/>
                          </a:solidFill>
                          <a:latin typeface="Consolas"/>
                          <a:ea typeface="Consolas"/>
                          <a:cs typeface="Consolas"/>
                        </a:rPr>
                        <a:t>&lt;&gt;</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Dòng NULL bị loại → </a:t>
                      </a:r>
                      <a:r>
                        <a:rPr sz="1200" b="0" i="0">
                          <a:solidFill>
                            <a:srgbClr val="B02A2A"/>
                          </a:solidFill>
                          <a:latin typeface="Consolas"/>
                          <a:ea typeface="Consolas"/>
                          <a:cs typeface="Consolas"/>
                        </a:rPr>
                        <a:t>ISNULL(cot, 0) &lt;&gt; …</a:t>
                      </a:r>
                    </a:p>
                  </a:txBody>
                  <a:tcPr marL="73152" marR="73152" marT="36576" marB="36576" anchor="ctr">
                    <a:solidFill>
                      <a:srgbClr val="F4F7FB"/>
                    </a:solidFill>
                  </a:tcPr>
                </a:tc>
              </a:tr>
              <a:tr h="384048">
                <a:tc>
                  <a:txBody>
                    <a:bodyPr wrap="square"/>
                    <a:lstStyle/>
                    <a:p>
                      <a:r>
                        <a:rPr sz="1300" b="0" i="0">
                          <a:solidFill>
                            <a:srgbClr val="263238"/>
                          </a:solidFill>
                          <a:latin typeface="Segoe UI"/>
                          <a:ea typeface="Segoe UI"/>
                          <a:cs typeface="Segoe UI"/>
                        </a:rPr>
                        <a:t>Tỷ lệ ra 0</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Chia số nguyên → đổi sang numeric trước khi chia</a:t>
                      </a:r>
                    </a:p>
                  </a:txBody>
                  <a:tcPr marL="73152" marR="73152" marT="36576" marB="36576" anchor="ctr">
                    <a:solidFill>
                      <a:srgbClr val="FFFFFF"/>
                    </a:solidFill>
                  </a:tcPr>
                </a:tc>
              </a:tr>
              <a:tr h="384048">
                <a:tc>
                  <a:txBody>
                    <a:bodyPr wrap="square"/>
                    <a:lstStyle/>
                    <a:p>
                      <a:r>
                        <a:rPr sz="1300" b="0" i="0">
                          <a:solidFill>
                            <a:srgbClr val="263238"/>
                          </a:solidFill>
                          <a:latin typeface="Segoe UI"/>
                          <a:ea typeface="Segoe UI"/>
                          <a:cs typeface="Segoe UI"/>
                        </a:rPr>
                        <a:t>Tiếng Việt thành </a:t>
                      </a:r>
                      <a:r>
                        <a:rPr sz="1200" b="0" i="0">
                          <a:solidFill>
                            <a:srgbClr val="B02A2A"/>
                          </a:solidFill>
                          <a:latin typeface="Consolas"/>
                          <a:ea typeface="Consolas"/>
                          <a:cs typeface="Consolas"/>
                        </a:rPr>
                        <a:t>?</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Thiếu </a:t>
                      </a:r>
                      <a:r>
                        <a:rPr sz="1200" b="0" i="0">
                          <a:solidFill>
                            <a:srgbClr val="B02A2A"/>
                          </a:solidFill>
                          <a:latin typeface="Consolas"/>
                          <a:ea typeface="Consolas"/>
                          <a:cs typeface="Consolas"/>
                        </a:rPr>
                        <a:t>N'…'</a:t>
                      </a:r>
                      <a:r>
                        <a:rPr sz="1300" b="0" i="0">
                          <a:solidFill>
                            <a:srgbClr val="263238"/>
                          </a:solidFill>
                          <a:latin typeface="Segoe UI"/>
                          <a:ea typeface="Segoe UI"/>
                          <a:cs typeface="Segoe UI"/>
                        </a:rPr>
                        <a:t> hoặc cột </a:t>
                      </a:r>
                      <a:r>
                        <a:rPr sz="1200" b="0" i="0">
                          <a:solidFill>
                            <a:srgbClr val="B02A2A"/>
                          </a:solidFill>
                          <a:latin typeface="Consolas"/>
                          <a:ea typeface="Consolas"/>
                          <a:cs typeface="Consolas"/>
                        </a:rPr>
                        <a:t>varchar</a:t>
                      </a:r>
                      <a:r>
                        <a:rPr sz="1300" b="0" i="0">
                          <a:solidFill>
                            <a:srgbClr val="263238"/>
                          </a:solidFill>
                          <a:latin typeface="Segoe UI"/>
                          <a:ea typeface="Segoe UI"/>
                          <a:cs typeface="Segoe UI"/>
                        </a:rPr>
                        <a:t> → dùng </a:t>
                      </a:r>
                      <a:r>
                        <a:rPr sz="1200" b="0" i="0">
                          <a:solidFill>
                            <a:srgbClr val="B02A2A"/>
                          </a:solidFill>
                          <a:latin typeface="Consolas"/>
                          <a:ea typeface="Consolas"/>
                          <a:cs typeface="Consolas"/>
                        </a:rPr>
                        <a:t>nvarchar</a:t>
                      </a:r>
                    </a:p>
                  </a:txBody>
                  <a:tcPr marL="73152" marR="73152" marT="36576" marB="36576" anchor="ctr">
                    <a:solidFill>
                      <a:srgbClr val="F4F7FB"/>
                    </a:solidFill>
                  </a:tcPr>
                </a:tc>
              </a:tr>
              <a:tr h="384048">
                <a:tc>
                  <a:txBody>
                    <a:bodyPr wrap="square"/>
                    <a:lstStyle/>
                    <a:p>
                      <a:r>
                        <a:rPr sz="1300" b="0" i="0">
                          <a:solidFill>
                            <a:srgbClr val="263238"/>
                          </a:solidFill>
                          <a:latin typeface="Segoe UI"/>
                          <a:ea typeface="Segoe UI"/>
                          <a:cs typeface="Segoe UI"/>
                        </a:rPr>
                        <a:t>Thiếu chứng từ ngày 31</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Cột có giờ → lọc </a:t>
                      </a:r>
                      <a:r>
                        <a:rPr sz="1200" b="0" i="0">
                          <a:solidFill>
                            <a:srgbClr val="B02A2A"/>
                          </a:solidFill>
                          <a:latin typeface="Consolas"/>
                          <a:ea typeface="Consolas"/>
                          <a:cs typeface="Consolas"/>
                        </a:rPr>
                        <a:t>&lt; '20260201'</a:t>
                      </a:r>
                    </a:p>
                  </a:txBody>
                  <a:tcPr marL="73152" marR="73152" marT="36576" marB="36576" anchor="ctr">
                    <a:solidFill>
                      <a:srgbClr val="FFFFFF"/>
                    </a:solidFill>
                  </a:tcPr>
                </a:tc>
              </a:tr>
              <a:tr h="384048">
                <a:tc>
                  <a:txBody>
                    <a:bodyPr wrap="square"/>
                    <a:lstStyle/>
                    <a:p>
                      <a:r>
                        <a:rPr sz="1300" b="0" i="0">
                          <a:solidFill>
                            <a:srgbClr val="263238"/>
                          </a:solidFill>
                          <a:latin typeface="Segoe UI"/>
                          <a:ea typeface="Segoe UI"/>
                          <a:cs typeface="Segoe UI"/>
                        </a:rPr>
                        <a:t>Chuỗi động bị cụt</a:t>
                      </a:r>
                    </a:p>
                  </a:txBody>
                  <a:tcPr marL="73152" marR="73152" marT="36576" marB="36576" anchor="ctr">
                    <a:solidFill>
                      <a:srgbClr val="F4F7FB"/>
                    </a:solidFill>
                  </a:tcPr>
                </a:tc>
                <a:tc>
                  <a:txBody>
                    <a:bodyPr wrap="square"/>
                    <a:lstStyle/>
                    <a:p>
                      <a:r>
                        <a:rPr sz="1300" b="0" i="0">
                          <a:solidFill>
                            <a:srgbClr val="263238"/>
                          </a:solidFill>
                          <a:latin typeface="Segoe UI"/>
                          <a:ea typeface="Segoe UI"/>
                          <a:cs typeface="Segoe UI"/>
                        </a:rPr>
                        <a:t>Cắt ở 4000 ký tự → </a:t>
                      </a:r>
                      <a:r>
                        <a:rPr sz="1200" b="0" i="0">
                          <a:solidFill>
                            <a:srgbClr val="B02A2A"/>
                          </a:solidFill>
                          <a:latin typeface="Consolas"/>
                          <a:ea typeface="Consolas"/>
                          <a:cs typeface="Consolas"/>
                        </a:rPr>
                        <a:t>CAST(N'' AS nvarchar(max)) + …</a:t>
                      </a:r>
                    </a:p>
                  </a:txBody>
                  <a:tcPr marL="73152" marR="73152" marT="36576" marB="36576" anchor="ctr">
                    <a:solidFill>
                      <a:srgbClr val="F4F7FB"/>
                    </a:solidFill>
                  </a:tcPr>
                </a:tc>
              </a:tr>
              <a:tr h="384048">
                <a:tc>
                  <a:txBody>
                    <a:bodyPr wrap="square"/>
                    <a:lstStyle/>
                    <a:p>
                      <a:r>
                        <a:rPr sz="1300" b="0" i="0">
                          <a:solidFill>
                            <a:srgbClr val="263238"/>
                          </a:solidFill>
                          <a:latin typeface="Segoe UI"/>
                          <a:ea typeface="Segoe UI"/>
                          <a:cs typeface="Segoe UI"/>
                        </a:rPr>
                        <a:t>Mẫu in lấy nhầm bảng</a:t>
                      </a:r>
                    </a:p>
                  </a:txBody>
                  <a:tcPr marL="73152" marR="73152" marT="36576" marB="36576" anchor="ctr">
                    <a:solidFill>
                      <a:srgbClr val="FFFFFF"/>
                    </a:solidFill>
                  </a:tcPr>
                </a:tc>
                <a:tc>
                  <a:txBody>
                    <a:bodyPr wrap="square"/>
                    <a:lstStyle/>
                    <a:p>
                      <a:r>
                        <a:rPr sz="1300" b="0" i="0">
                          <a:solidFill>
                            <a:srgbClr val="263238"/>
                          </a:solidFill>
                          <a:latin typeface="Segoe UI"/>
                          <a:ea typeface="Segoe UI"/>
                          <a:cs typeface="Segoe UI"/>
                        </a:rPr>
                        <a:t>Còn sót SELECT thử trong procedure → xoá trước khi giao</a:t>
                      </a:r>
                    </a:p>
                  </a:txBody>
                  <a:tcPr marL="73152" marR="73152" marT="36576" marB="36576"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Chậm, treo, khoá — tìm phiên đang chặn</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9</a:t>
            </a:r>
          </a:p>
        </p:txBody>
      </p:sp>
      <p:sp>
        <p:nvSpPr>
          <p:cNvPr id="7" name="Rounded Rectangle 6"/>
          <p:cNvSpPr/>
          <p:nvPr/>
        </p:nvSpPr>
        <p:spPr>
          <a:xfrm>
            <a:off x="640080" y="1600200"/>
            <a:ext cx="6949440" cy="4288536"/>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09928"/>
            <a:ext cx="6629400" cy="4462272"/>
          </a:xfrm>
          <a:prstGeom prst="rect">
            <a:avLst/>
          </a:prstGeom>
          <a:noFill/>
        </p:spPr>
        <p:txBody>
          <a:bodyPr wrap="none">
            <a:spAutoFit/>
          </a:bodyPr>
          <a:lstStyle/>
          <a:p>
            <a:pPr>
              <a:lnSpc>
                <a:spcPct val="100000"/>
              </a:lnSpc>
              <a:spcAft>
                <a:spcPts val="0"/>
              </a:spcAft>
            </a:pPr>
            <a:r>
              <a:rPr sz="1800" b="0" i="1">
                <a:solidFill>
                  <a:srgbClr val="7FB06A"/>
                </a:solidFill>
                <a:latin typeface="Consolas"/>
                <a:ea typeface="Consolas"/>
                <a:cs typeface="Consolas"/>
              </a:rPr>
              <a:t>-- Ai đang chặn ai?</a:t>
            </a:r>
          </a:p>
          <a:p>
            <a:pPr>
              <a:lnSpc>
                <a:spcPct val="100000"/>
              </a:lnSpc>
              <a:spcAft>
                <a:spcPts val="0"/>
              </a:spcAft>
            </a:pPr>
            <a:r>
              <a:rPr sz="1800" b="1" i="0">
                <a:solidFill>
                  <a:srgbClr val="6CB6FF"/>
                </a:solidFill>
                <a:latin typeface="Consolas"/>
                <a:ea typeface="Consolas"/>
                <a:cs typeface="Consolas"/>
              </a:rPr>
              <a:t>SELECT</a:t>
            </a:r>
            <a:r>
              <a:rPr sz="1800" b="0" i="0">
                <a:solidFill>
                  <a:srgbClr val="E6E6E6"/>
                </a:solidFill>
                <a:latin typeface="Consolas"/>
                <a:ea typeface="Consolas"/>
                <a:cs typeface="Consolas"/>
              </a:rPr>
              <a:t> r.session_id,</a:t>
            </a:r>
          </a:p>
          <a:p>
            <a:pPr>
              <a:lnSpc>
                <a:spcPct val="100000"/>
              </a:lnSpc>
              <a:spcAft>
                <a:spcPts val="0"/>
              </a:spcAft>
            </a:pPr>
            <a:r>
              <a:rPr sz="1800" b="0" i="0">
                <a:solidFill>
                  <a:srgbClr val="E6E6E6"/>
                </a:solidFill>
                <a:latin typeface="Consolas"/>
                <a:ea typeface="Consolas"/>
                <a:cs typeface="Consolas"/>
              </a:rPr>
              <a:t>       r.blocking_session_id </a:t>
            </a:r>
            <a:r>
              <a:rPr sz="1800" b="1" i="0">
                <a:solidFill>
                  <a:srgbClr val="6CB6FF"/>
                </a:solidFill>
                <a:latin typeface="Consolas"/>
                <a:ea typeface="Consolas"/>
                <a:cs typeface="Consolas"/>
              </a:rPr>
              <a:t>AS</a:t>
            </a:r>
            <a:r>
              <a:rPr sz="1800" b="0" i="0">
                <a:solidFill>
                  <a:srgbClr val="E6E6E6"/>
                </a:solidFill>
                <a:latin typeface="Consolas"/>
                <a:ea typeface="Consolas"/>
                <a:cs typeface="Consolas"/>
              </a:rPr>
              <a:t> bi_chan_boi,</a:t>
            </a:r>
          </a:p>
          <a:p>
            <a:pPr>
              <a:lnSpc>
                <a:spcPct val="100000"/>
              </a:lnSpc>
              <a:spcAft>
                <a:spcPts val="0"/>
              </a:spcAft>
            </a:pPr>
            <a:r>
              <a:rPr sz="1800" b="0" i="0">
                <a:solidFill>
                  <a:srgbClr val="E6E6E6"/>
                </a:solidFill>
                <a:latin typeface="Consolas"/>
                <a:ea typeface="Consolas"/>
                <a:cs typeface="Consolas"/>
              </a:rPr>
              <a:t>       r.wait_time / 1000 </a:t>
            </a:r>
            <a:r>
              <a:rPr sz="1800" b="1" i="0">
                <a:solidFill>
                  <a:srgbClr val="6CB6FF"/>
                </a:solidFill>
                <a:latin typeface="Consolas"/>
                <a:ea typeface="Consolas"/>
                <a:cs typeface="Consolas"/>
              </a:rPr>
              <a:t>AS</a:t>
            </a:r>
            <a:r>
              <a:rPr sz="1800" b="0" i="0">
                <a:solidFill>
                  <a:srgbClr val="E6E6E6"/>
                </a:solidFill>
                <a:latin typeface="Consolas"/>
                <a:ea typeface="Consolas"/>
                <a:cs typeface="Consolas"/>
              </a:rPr>
              <a:t> cho_giay,</a:t>
            </a:r>
          </a:p>
          <a:p>
            <a:pPr>
              <a:lnSpc>
                <a:spcPct val="100000"/>
              </a:lnSpc>
              <a:spcAft>
                <a:spcPts val="0"/>
              </a:spcAft>
            </a:pPr>
            <a:r>
              <a:rPr sz="1800" b="0" i="0">
                <a:solidFill>
                  <a:srgbClr val="E6E6E6"/>
                </a:solidFill>
                <a:latin typeface="Consolas"/>
                <a:ea typeface="Consolas"/>
                <a:cs typeface="Consolas"/>
              </a:rPr>
              <a:t>       t.text </a:t>
            </a:r>
            <a:r>
              <a:rPr sz="1800" b="1" i="0">
                <a:solidFill>
                  <a:srgbClr val="6CB6FF"/>
                </a:solidFill>
                <a:latin typeface="Consolas"/>
                <a:ea typeface="Consolas"/>
                <a:cs typeface="Consolas"/>
              </a:rPr>
              <a:t>AS</a:t>
            </a:r>
            <a:r>
              <a:rPr sz="1800" b="0" i="0">
                <a:solidFill>
                  <a:srgbClr val="E6E6E6"/>
                </a:solidFill>
                <a:latin typeface="Consolas"/>
                <a:ea typeface="Consolas"/>
                <a:cs typeface="Consolas"/>
              </a:rPr>
              <a:t> cau_lenh</a:t>
            </a:r>
          </a:p>
          <a:p>
            <a:pPr>
              <a:lnSpc>
                <a:spcPct val="100000"/>
              </a:lnSpc>
              <a:spcAft>
                <a:spcPts val="0"/>
              </a:spcAft>
            </a:pPr>
            <a:r>
              <a:rPr sz="1800" b="1" i="0">
                <a:solidFill>
                  <a:srgbClr val="6CB6FF"/>
                </a:solidFill>
                <a:latin typeface="Consolas"/>
                <a:ea typeface="Consolas"/>
                <a:cs typeface="Consolas"/>
              </a:rPr>
              <a:t>FROM</a:t>
            </a:r>
            <a:r>
              <a:rPr sz="1800" b="0" i="0">
                <a:solidFill>
                  <a:srgbClr val="E6E6E6"/>
                </a:solidFill>
                <a:latin typeface="Consolas"/>
                <a:ea typeface="Consolas"/>
                <a:cs typeface="Consolas"/>
              </a:rPr>
              <a:t> sys.dm_exec_requests r</a:t>
            </a:r>
          </a:p>
          <a:p>
            <a:pPr>
              <a:lnSpc>
                <a:spcPct val="100000"/>
              </a:lnSpc>
              <a:spcAft>
                <a:spcPts val="0"/>
              </a:spcAft>
            </a:pPr>
            <a:r>
              <a:rPr sz="1800" b="0" i="0">
                <a:solidFill>
                  <a:srgbClr val="E6E6E6"/>
                </a:solidFill>
                <a:latin typeface="Consolas"/>
                <a:ea typeface="Consolas"/>
                <a:cs typeface="Consolas"/>
              </a:rPr>
              <a:t>OUTER APPLY sys.dm_exec_sql_text(r.sql_handle) t</a:t>
            </a:r>
          </a:p>
          <a:p>
            <a:pPr>
              <a:lnSpc>
                <a:spcPct val="100000"/>
              </a:lnSpc>
              <a:spcAft>
                <a:spcPts val="0"/>
              </a:spcAft>
            </a:pPr>
            <a:r>
              <a:rPr sz="1800" b="1" i="0">
                <a:solidFill>
                  <a:srgbClr val="6CB6FF"/>
                </a:solidFill>
                <a:latin typeface="Consolas"/>
                <a:ea typeface="Consolas"/>
                <a:cs typeface="Consolas"/>
              </a:rPr>
              <a:t>WHERE</a:t>
            </a:r>
            <a:r>
              <a:rPr sz="1800" b="0" i="0">
                <a:solidFill>
                  <a:srgbClr val="E6E6E6"/>
                </a:solidFill>
                <a:latin typeface="Consolas"/>
                <a:ea typeface="Consolas"/>
                <a:cs typeface="Consolas"/>
              </a:rPr>
              <a:t> r.blocking_session_id &lt;&gt; 0</a:t>
            </a:r>
          </a:p>
          <a:p>
            <a:pPr>
              <a:lnSpc>
                <a:spcPct val="100000"/>
              </a:lnSpc>
              <a:spcAft>
                <a:spcPts val="0"/>
              </a:spcAft>
            </a:pPr>
            <a:r>
              <a:rPr sz="1800" b="0" i="0">
                <a:solidFill>
                  <a:srgbClr val="E6E6E6"/>
                </a:solidFill>
                <a:latin typeface="Consolas"/>
                <a:ea typeface="Consolas"/>
                <a:cs typeface="Consolas"/>
              </a:rPr>
              <a:t> </a:t>
            </a:r>
          </a:p>
          <a:p>
            <a:pPr>
              <a:lnSpc>
                <a:spcPct val="100000"/>
              </a:lnSpc>
              <a:spcAft>
                <a:spcPts val="0"/>
              </a:spcAft>
            </a:pPr>
            <a:r>
              <a:rPr sz="1800" b="0" i="1">
                <a:solidFill>
                  <a:srgbClr val="7FB06A"/>
                </a:solidFill>
                <a:latin typeface="Consolas"/>
                <a:ea typeface="Consolas"/>
                <a:cs typeface="Consolas"/>
              </a:rPr>
              <a:t>-- Phiên nào còn transaction mở?</a:t>
            </a:r>
          </a:p>
          <a:p>
            <a:pPr>
              <a:lnSpc>
                <a:spcPct val="100000"/>
              </a:lnSpc>
              <a:spcAft>
                <a:spcPts val="0"/>
              </a:spcAft>
            </a:pPr>
            <a:r>
              <a:rPr sz="1800" b="1" i="0">
                <a:solidFill>
                  <a:srgbClr val="6CB6FF"/>
                </a:solidFill>
                <a:latin typeface="Consolas"/>
                <a:ea typeface="Consolas"/>
                <a:cs typeface="Consolas"/>
              </a:rPr>
              <a:t>SELECT</a:t>
            </a:r>
            <a:r>
              <a:rPr sz="1800" b="0" i="0">
                <a:solidFill>
                  <a:srgbClr val="E6E6E6"/>
                </a:solidFill>
                <a:latin typeface="Consolas"/>
                <a:ea typeface="Consolas"/>
                <a:cs typeface="Consolas"/>
              </a:rPr>
              <a:t> session_id, program_name, host_name,</a:t>
            </a:r>
          </a:p>
          <a:p>
            <a:pPr>
              <a:lnSpc>
                <a:spcPct val="100000"/>
              </a:lnSpc>
              <a:spcAft>
                <a:spcPts val="0"/>
              </a:spcAft>
            </a:pPr>
            <a:r>
              <a:rPr sz="1800" b="0" i="0">
                <a:solidFill>
                  <a:srgbClr val="E6E6E6"/>
                </a:solidFill>
                <a:latin typeface="Consolas"/>
                <a:ea typeface="Consolas"/>
                <a:cs typeface="Consolas"/>
              </a:rPr>
              <a:t>       last_request_end_time</a:t>
            </a:r>
          </a:p>
          <a:p>
            <a:pPr>
              <a:lnSpc>
                <a:spcPct val="100000"/>
              </a:lnSpc>
              <a:spcAft>
                <a:spcPts val="0"/>
              </a:spcAft>
            </a:pPr>
            <a:r>
              <a:rPr sz="1800" b="1" i="0">
                <a:solidFill>
                  <a:srgbClr val="6CB6FF"/>
                </a:solidFill>
                <a:latin typeface="Consolas"/>
                <a:ea typeface="Consolas"/>
                <a:cs typeface="Consolas"/>
              </a:rPr>
              <a:t>FROM</a:t>
            </a:r>
            <a:r>
              <a:rPr sz="1800" b="0" i="0">
                <a:solidFill>
                  <a:srgbClr val="E6E6E6"/>
                </a:solidFill>
                <a:latin typeface="Consolas"/>
                <a:ea typeface="Consolas"/>
                <a:cs typeface="Consolas"/>
              </a:rPr>
              <a:t> sys.dm_exec_sessions</a:t>
            </a:r>
          </a:p>
          <a:p>
            <a:pPr>
              <a:lnSpc>
                <a:spcPct val="100000"/>
              </a:lnSpc>
              <a:spcAft>
                <a:spcPts val="0"/>
              </a:spcAft>
            </a:pPr>
            <a:r>
              <a:rPr sz="1800" b="1" i="0">
                <a:solidFill>
                  <a:srgbClr val="6CB6FF"/>
                </a:solidFill>
                <a:latin typeface="Consolas"/>
                <a:ea typeface="Consolas"/>
                <a:cs typeface="Consolas"/>
              </a:rPr>
              <a:t>WHERE</a:t>
            </a:r>
            <a:r>
              <a:rPr sz="1800" b="0" i="0">
                <a:solidFill>
                  <a:srgbClr val="E6E6E6"/>
                </a:solidFill>
                <a:latin typeface="Consolas"/>
                <a:ea typeface="Consolas"/>
                <a:cs typeface="Consolas"/>
              </a:rPr>
              <a:t> open_transaction_count &gt; 0</a:t>
            </a:r>
          </a:p>
        </p:txBody>
      </p:sp>
      <p:sp>
        <p:nvSpPr>
          <p:cNvPr id="9" name="TextBox 8"/>
          <p:cNvSpPr txBox="1"/>
          <p:nvPr/>
        </p:nvSpPr>
        <p:spPr>
          <a:xfrm>
            <a:off x="7863840" y="1600200"/>
            <a:ext cx="3749039" cy="466344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Tab có </a:t>
            </a:r>
            <a:r>
              <a:rPr sz="1500" b="1" i="0">
                <a:solidFill>
                  <a:srgbClr val="1F4E79"/>
                </a:solidFill>
                <a:latin typeface="Segoe UI"/>
                <a:ea typeface="Segoe UI"/>
                <a:cs typeface="Segoe UI"/>
              </a:rPr>
              <a:t>transaction mở</a:t>
            </a:r>
            <a:r>
              <a:rPr sz="1500" b="0" i="0">
                <a:solidFill>
                  <a:srgbClr val="263238"/>
                </a:solidFill>
                <a:latin typeface="Segoe UI"/>
                <a:ea typeface="Segoe UI"/>
                <a:cs typeface="Segoe UI"/>
              </a:rPr>
              <a:t> → người khác treo</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Msg 1205 deadlock → chạy lại, UPDATE cùng thứ tự</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Web timeout, SQL Query nhanh → </a:t>
            </a:r>
            <a:r>
              <a:rPr sz="1400" b="0" i="0">
                <a:solidFill>
                  <a:srgbClr val="B02A2A"/>
                </a:solidFill>
                <a:latin typeface="Consolas"/>
                <a:ea typeface="Consolas"/>
                <a:cs typeface="Consolas"/>
              </a:rPr>
              <a:t>OPTION (RECOMPILE)</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Không bọc hàm quanh cột trong WHERE</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KILL</a:t>
            </a:r>
            <a:r>
              <a:rPr sz="1500" b="0" i="0">
                <a:solidFill>
                  <a:srgbClr val="263238"/>
                </a:solidFill>
                <a:latin typeface="Segoe UI"/>
                <a:ea typeface="Segoe UI"/>
                <a:cs typeface="Segoe UI"/>
              </a:rPr>
              <a:t> chỉ khi đã hỏi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Số liệu báo cáo lệch — tìm ở đâu</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10</a:t>
            </a:r>
          </a:p>
        </p:txBody>
      </p:sp>
      <p:sp>
        <p:nvSpPr>
          <p:cNvPr id="7" name="Rounded Rectangle 6"/>
          <p:cNvSpPr/>
          <p:nvPr/>
        </p:nvSpPr>
        <p:spPr>
          <a:xfrm>
            <a:off x="640080" y="1645920"/>
            <a:ext cx="2526029" cy="35661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45920"/>
            <a:ext cx="2526029"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874519"/>
            <a:ext cx="2160270" cy="82296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1. Đúng bản?</a:t>
            </a:r>
          </a:p>
        </p:txBody>
      </p:sp>
      <p:sp>
        <p:nvSpPr>
          <p:cNvPr id="10" name="TextBox 9"/>
          <p:cNvSpPr txBox="1"/>
          <p:nvPr/>
        </p:nvSpPr>
        <p:spPr>
          <a:xfrm>
            <a:off x="777240" y="2606040"/>
            <a:ext cx="2251710" cy="251460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Chạy lại procedure với tham số lấy từ Profiler</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Khác số trên web → khác bản / khác database</a:t>
            </a:r>
          </a:p>
        </p:txBody>
      </p:sp>
      <p:sp>
        <p:nvSpPr>
          <p:cNvPr id="11" name="Rounded Rectangle 10"/>
          <p:cNvSpPr/>
          <p:nvPr/>
        </p:nvSpPr>
        <p:spPr>
          <a:xfrm>
            <a:off x="3440429" y="1645920"/>
            <a:ext cx="2526029" cy="35661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40429" y="1645920"/>
            <a:ext cx="2526029" cy="1097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309" y="1874519"/>
            <a:ext cx="2160270" cy="822960"/>
          </a:xfrm>
          <a:prstGeom prst="rect">
            <a:avLst/>
          </a:prstGeom>
          <a:noFill/>
        </p:spPr>
        <p:txBody>
          <a:bodyPr wrap="square" anchor="t" lIns="45720" rIns="45720" tIns="27432" bIns="27432">
            <a:spAutoFit/>
          </a:bodyPr>
          <a:lstStyle/>
          <a:p>
            <a:pPr algn="l"/>
            <a:r>
              <a:rPr sz="1800" b="1" i="0">
                <a:solidFill>
                  <a:srgbClr val="2E75B6"/>
                </a:solidFill>
                <a:latin typeface="Segoe UI"/>
                <a:ea typeface="Segoe UI"/>
                <a:cs typeface="Segoe UI"/>
              </a:rPr>
              <a:t>2. Khớp một khoản</a:t>
            </a:r>
          </a:p>
        </p:txBody>
      </p:sp>
      <p:sp>
        <p:nvSpPr>
          <p:cNvPr id="14" name="TextBox 13"/>
          <p:cNvSpPr txBox="1"/>
          <p:nvPr/>
        </p:nvSpPr>
        <p:spPr>
          <a:xfrm>
            <a:off x="3577589" y="2606040"/>
            <a:ext cx="2251710" cy="251460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So số lệch với số dư / phát sinh từng tài khoản</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Lọc bảng kê theo tháng, ngày tạo </a:t>
            </a:r>
            <a:r>
              <a:rPr sz="1400" b="0" i="0">
                <a:solidFill>
                  <a:srgbClr val="B02A2A"/>
                </a:solidFill>
                <a:latin typeface="Consolas"/>
                <a:ea typeface="Consolas"/>
                <a:cs typeface="Consolas"/>
              </a:rPr>
              <a:t>datetime0</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Phiếu lùi ngày sau kết chuyển, hạch toán ngược</a:t>
            </a:r>
          </a:p>
        </p:txBody>
      </p:sp>
      <p:sp>
        <p:nvSpPr>
          <p:cNvPr id="15" name="Rounded Rectangle 14"/>
          <p:cNvSpPr/>
          <p:nvPr/>
        </p:nvSpPr>
        <p:spPr>
          <a:xfrm>
            <a:off x="6240779" y="1645920"/>
            <a:ext cx="2526029" cy="35661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40779" y="1645920"/>
            <a:ext cx="2526029" cy="1097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3659" y="1874519"/>
            <a:ext cx="2160270" cy="822960"/>
          </a:xfrm>
          <a:prstGeom prst="rect">
            <a:avLst/>
          </a:prstGeom>
          <a:noFill/>
        </p:spPr>
        <p:txBody>
          <a:bodyPr wrap="square" anchor="t" lIns="45720" rIns="45720" tIns="27432" bIns="27432">
            <a:spAutoFit/>
          </a:bodyPr>
          <a:lstStyle/>
          <a:p>
            <a:pPr algn="l"/>
            <a:r>
              <a:rPr sz="1800" b="1" i="0">
                <a:solidFill>
                  <a:srgbClr val="8E44AD"/>
                </a:solidFill>
                <a:latin typeface="Segoe UI"/>
                <a:ea typeface="Segoe UI"/>
                <a:cs typeface="Segoe UI"/>
              </a:rPr>
              <a:t>3. Khai báo</a:t>
            </a:r>
          </a:p>
        </p:txBody>
      </p:sp>
      <p:sp>
        <p:nvSpPr>
          <p:cNvPr id="18" name="TextBox 17"/>
          <p:cNvSpPr txBox="1"/>
          <p:nvPr/>
        </p:nvSpPr>
        <p:spPr>
          <a:xfrm>
            <a:off x="6377940" y="2606040"/>
            <a:ext cx="2251710" cy="251460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Chỉ tiêu thiếu tài khoản, trùng </a:t>
            </a:r>
            <a:r>
              <a:rPr sz="1400" b="0" i="0">
                <a:solidFill>
                  <a:srgbClr val="B02A2A"/>
                </a:solidFill>
                <a:latin typeface="Consolas"/>
                <a:ea typeface="Consolas"/>
                <a:cs typeface="Consolas"/>
              </a:rPr>
              <a:t>stt</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Mã gõ thừa ký tự đầu; một mã bị cộng 2 lần</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Giá trị nằm ngoài danh sách cho phép</a:t>
            </a:r>
          </a:p>
        </p:txBody>
      </p:sp>
      <p:sp>
        <p:nvSpPr>
          <p:cNvPr id="19" name="Rounded Rectangle 18"/>
          <p:cNvSpPr/>
          <p:nvPr/>
        </p:nvSpPr>
        <p:spPr>
          <a:xfrm>
            <a:off x="9041129" y="1645920"/>
            <a:ext cx="2526029" cy="35661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41129" y="1645920"/>
            <a:ext cx="2526029" cy="1097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24009" y="1874519"/>
            <a:ext cx="2160270" cy="822960"/>
          </a:xfrm>
          <a:prstGeom prst="rect">
            <a:avLst/>
          </a:prstGeom>
          <a:noFill/>
        </p:spPr>
        <p:txBody>
          <a:bodyPr wrap="square" anchor="t" lIns="45720" rIns="45720" tIns="27432" bIns="27432">
            <a:spAutoFit/>
          </a:bodyPr>
          <a:lstStyle/>
          <a:p>
            <a:pPr algn="l"/>
            <a:r>
              <a:rPr sz="1800" b="1" i="0">
                <a:solidFill>
                  <a:srgbClr val="27AE60"/>
                </a:solidFill>
                <a:latin typeface="Segoe UI"/>
                <a:ea typeface="Segoe UI"/>
                <a:cs typeface="Segoe UI"/>
              </a:rPr>
              <a:t>4. Công thức</a:t>
            </a:r>
          </a:p>
        </p:txBody>
      </p:sp>
      <p:sp>
        <p:nvSpPr>
          <p:cNvPr id="22" name="TextBox 21"/>
          <p:cNvSpPr txBox="1"/>
          <p:nvPr/>
        </p:nvSpPr>
        <p:spPr>
          <a:xfrm>
            <a:off x="9178289" y="2606040"/>
            <a:ext cx="2251710" cy="251460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Chỉ xét khi 1–3 đã sạch</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Hỏi nghiệp vụ trước khi nói “nhập sai”</a:t>
            </a:r>
          </a:p>
        </p:txBody>
      </p:sp>
      <p:sp>
        <p:nvSpPr>
          <p:cNvPr id="23" name="Rounded Rectangle 22"/>
          <p:cNvSpPr/>
          <p:nvPr/>
        </p:nvSpPr>
        <p:spPr>
          <a:xfrm>
            <a:off x="640080" y="5486400"/>
            <a:ext cx="10927080" cy="64008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86400"/>
            <a:ext cx="91440" cy="64008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 y="5541264"/>
            <a:ext cx="10607040" cy="54864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Bcode: menu Triển khai → </a:t>
            </a:r>
            <a:r>
              <a:rPr sz="1500" b="1" i="0">
                <a:solidFill>
                  <a:srgbClr val="1F4E79"/>
                </a:solidFill>
                <a:latin typeface="Segoe UI"/>
                <a:ea typeface="Segoe UI"/>
                <a:cs typeface="Segoe UI"/>
              </a:rPr>
              <a:t>Check LCTT / CĐKT</a:t>
            </a:r>
            <a:r>
              <a:rPr sz="1500" b="0" i="0">
                <a:solidFill>
                  <a:srgbClr val="263238"/>
                </a:solidFill>
                <a:latin typeface="Segoe UI"/>
                <a:ea typeface="Segoe UI"/>
                <a:cs typeface="Segoe UI"/>
              </a:rPr>
              <a:t> chỉ ra chỉ tiêu bị lệch ở đâu.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Lỗi controller, trang, menu</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11</a:t>
            </a:r>
          </a:p>
        </p:txBody>
      </p:sp>
      <p:graphicFrame>
        <p:nvGraphicFramePr>
          <p:cNvPr id="7" name="Table 6"/>
          <p:cNvGraphicFramePr>
            <a:graphicFrameLocks noGrp="1"/>
          </p:cNvGraphicFramePr>
          <p:nvPr/>
        </p:nvGraphicFramePr>
        <p:xfrm>
          <a:off x="640080" y="1600200"/>
          <a:ext cx="10881360" cy="4389120"/>
        </p:xfrm>
        <a:graphic>
          <a:graphicData uri="http://schemas.openxmlformats.org/drawingml/2006/table">
            <a:tbl>
              <a:tblPr firstRow="1" bandRow="1">
                <a:tableStyleId>{5940675A-B579-460E-94D1-54222C63F5DA}</a:tableStyleId>
              </a:tblPr>
              <a:tblGrid>
                <a:gridCol w="4937760"/>
                <a:gridCol w="5943600"/>
              </a:tblGrid>
              <a:tr h="548640">
                <a:tc>
                  <a:txBody>
                    <a:bodyPr wrap="square"/>
                    <a:lstStyle/>
                    <a:p>
                      <a:r>
                        <a:rPr sz="1400" b="1" i="0">
                          <a:solidFill>
                            <a:srgbClr val="FFFFFF"/>
                          </a:solidFill>
                          <a:latin typeface="Segoe UI"/>
                          <a:ea typeface="Segoe UI"/>
                          <a:cs typeface="Segoe UI"/>
                        </a:rPr>
                        <a:t>Hiện tượng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Nguyên nhân → cách xử lý</a:t>
                      </a:r>
                    </a:p>
                  </a:txBody>
                  <a:tcPr marL="73152" marR="73152" marT="36576" marB="36576" anchor="ctr">
                    <a:solidFill>
                      <a:srgbClr val="1F4E79"/>
                    </a:solidFill>
                  </a:tcPr>
                </a:tc>
              </a:tr>
              <a:tr h="548640">
                <a:tc>
                  <a:txBody>
                    <a:bodyPr wrap="square"/>
                    <a:lstStyle/>
                    <a:p>
                      <a:r>
                        <a:rPr sz="1400" b="0" i="0">
                          <a:solidFill>
                            <a:srgbClr val="263238"/>
                          </a:solidFill>
                          <a:latin typeface="Segoe UI"/>
                          <a:ea typeface="Segoe UI"/>
                          <a:cs typeface="Segoe UI"/>
                        </a:rPr>
                        <a:t>“Có lỗi chưa xác định”, Profiler không thấy SQL</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Thiếu dòng </a:t>
                      </a:r>
                      <a:r>
                        <a:rPr sz="1300" b="0" i="0">
                          <a:solidFill>
                            <a:srgbClr val="B02A2A"/>
                          </a:solidFill>
                          <a:latin typeface="Consolas"/>
                          <a:ea typeface="Consolas"/>
                          <a:cs typeface="Consolas"/>
                        </a:rPr>
                        <a:t>wcommand</a:t>
                      </a:r>
                      <a:r>
                        <a:rPr sz="1400" b="0" i="0">
                          <a:solidFill>
                            <a:srgbClr val="263238"/>
                          </a:solidFill>
                          <a:latin typeface="Segoe UI"/>
                          <a:ea typeface="Segoe UI"/>
                          <a:cs typeface="Segoe UI"/>
                        </a:rPr>
                        <a:t> / thiếu </a:t>
                      </a:r>
                      <a:r>
                        <a:rPr sz="1300" b="0" i="0">
                          <a:solidFill>
                            <a:srgbClr val="B02A2A"/>
                          </a:solidFill>
                          <a:latin typeface="Consolas"/>
                          <a:ea typeface="Consolas"/>
                          <a:cs typeface="Consolas"/>
                        </a:rPr>
                        <a:t>Main\x.aspx</a:t>
                      </a:r>
                      <a:r>
                        <a:rPr sz="1400" b="0" i="0">
                          <a:solidFill>
                            <a:srgbClr val="263238"/>
                          </a:solidFill>
                          <a:latin typeface="Segoe UI"/>
                          <a:ea typeface="Segoe UI"/>
                          <a:cs typeface="Segoe UI"/>
                        </a:rPr>
                        <a:t> → bấm Chi tiết, F12 Network</a:t>
                      </a:r>
                    </a:p>
                  </a:txBody>
                  <a:tcPr marL="73152" marR="73152" marT="36576" marB="36576" anchor="ctr">
                    <a:solidFill>
                      <a:srgbClr val="FFFFFF"/>
                    </a:solidFill>
                  </a:tcPr>
                </a:tc>
              </a:tr>
              <a:tr h="548640">
                <a:tc>
                  <a:txBody>
                    <a:bodyPr wrap="square"/>
                    <a:lstStyle/>
                    <a:p>
                      <a:r>
                        <a:rPr sz="1300" b="0" i="0">
                          <a:solidFill>
                            <a:srgbClr val="B02A2A"/>
                          </a:solidFill>
                          <a:latin typeface="Consolas"/>
                          <a:ea typeface="Consolas"/>
                          <a:cs typeface="Consolas"/>
                        </a:rPr>
                        <a:t>.f</a:t>
                      </a:r>
                      <a:r>
                        <a:rPr sz="1400" b="0" i="0">
                          <a:solidFill>
                            <a:srgbClr val="263238"/>
                          </a:solidFill>
                          <a:latin typeface="Segoe UI"/>
                          <a:ea typeface="Segoe UI"/>
                          <a:cs typeface="Segoe UI"/>
                        </a:rPr>
                        <a:t> hiện chữ lạ / “Data at the root level is invalid”</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Thiếu BOM, hoặc dán làm nhân đôi BOM → lưu UTF-8 BOM, chép nguyên file</a:t>
                      </a:r>
                    </a:p>
                  </a:txBody>
                  <a:tcPr marL="73152" marR="73152" marT="36576" marB="36576" anchor="ctr">
                    <a:solidFill>
                      <a:srgbClr val="F4F7FB"/>
                    </a:solidFill>
                  </a:tcPr>
                </a:tc>
              </a:tr>
              <a:tr h="548640">
                <a:tc>
                  <a:txBody>
                    <a:bodyPr wrap="square"/>
                    <a:lstStyle/>
                    <a:p>
                      <a:r>
                        <a:rPr sz="1400" b="0" i="0">
                          <a:solidFill>
                            <a:srgbClr val="263238"/>
                          </a:solidFill>
                          <a:latin typeface="Segoe UI"/>
                          <a:ea typeface="Segoe UI"/>
                          <a:cs typeface="Segoe UI"/>
                        </a:rPr>
                        <a:t>Sửa file mà web vẫn như cũ</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Do cache → xoá </a:t>
                      </a:r>
                      <a:r>
                        <a:rPr sz="1300" b="0" i="0">
                          <a:solidFill>
                            <a:srgbClr val="B02A2A"/>
                          </a:solidFill>
                          <a:latin typeface="Consolas"/>
                          <a:ea typeface="Consolas"/>
                          <a:cs typeface="Consolas"/>
                        </a:rPr>
                        <a:t>.f</a:t>
                      </a:r>
                      <a:r>
                        <a:rPr sz="1400" b="0" i="0">
                          <a:solidFill>
                            <a:srgbClr val="263238"/>
                          </a:solidFill>
                          <a:latin typeface="Segoe UI"/>
                          <a:ea typeface="Segoe UI"/>
                          <a:cs typeface="Segoe UI"/>
                        </a:rPr>
                        <a:t> cũ, Refresh Web.config, Clear Structure App</a:t>
                      </a:r>
                    </a:p>
                  </a:txBody>
                  <a:tcPr marL="73152" marR="73152" marT="36576" marB="36576" anchor="ctr">
                    <a:solidFill>
                      <a:srgbClr val="FFFFFF"/>
                    </a:solidFill>
                  </a:tcPr>
                </a:tc>
              </a:tr>
              <a:tr h="548640">
                <a:tc>
                  <a:txBody>
                    <a:bodyPr wrap="square"/>
                    <a:lstStyle/>
                    <a:p>
                      <a:r>
                        <a:rPr sz="1300" b="0" i="0">
                          <a:solidFill>
                            <a:srgbClr val="B02A2A"/>
                          </a:solidFill>
                          <a:latin typeface="Consolas"/>
                          <a:ea typeface="Consolas"/>
                          <a:cs typeface="Consolas"/>
                        </a:rPr>
                        <a:t>GetGridViewPage failed</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Filter Processing: </a:t>
                      </a:r>
                      <a:r>
                        <a:rPr sz="1300" b="0" i="0">
                          <a:solidFill>
                            <a:srgbClr val="B02A2A"/>
                          </a:solidFill>
                          <a:latin typeface="Consolas"/>
                          <a:ea typeface="Consolas"/>
                          <a:cs typeface="Consolas"/>
                        </a:rPr>
                        <a:t>select</a:t>
                      </a:r>
                      <a:r>
                        <a:rPr sz="1400" b="0" i="0">
                          <a:solidFill>
                            <a:srgbClr val="263238"/>
                          </a:solidFill>
                          <a:latin typeface="Segoe UI"/>
                          <a:ea typeface="Segoe UI"/>
                          <a:cs typeface="Segoe UI"/>
                        </a:rPr>
                        <a:t> tiêu đề trước, </a:t>
                      </a:r>
                      <a:r>
                        <a:rPr sz="1300" b="0" i="0">
                          <a:solidFill>
                            <a:srgbClr val="B02A2A"/>
                          </a:solidFill>
                          <a:latin typeface="Consolas"/>
                          <a:ea typeface="Consolas"/>
                          <a:cs typeface="Consolas"/>
                        </a:rPr>
                        <a:t>exec</a:t>
                      </a:r>
                      <a:r>
                        <a:rPr sz="1400" b="0" i="0">
                          <a:solidFill>
                            <a:srgbClr val="263238"/>
                          </a:solidFill>
                          <a:latin typeface="Segoe UI"/>
                          <a:ea typeface="Segoe UI"/>
                          <a:cs typeface="Segoe UI"/>
                        </a:rPr>
                        <a:t> sau; cột không trùng tên field lưới</a:t>
                      </a:r>
                    </a:p>
                  </a:txBody>
                  <a:tcPr marL="73152" marR="73152" marT="36576" marB="36576" anchor="ctr">
                    <a:solidFill>
                      <a:srgbClr val="F4F7FB"/>
                    </a:solidFill>
                  </a:tcPr>
                </a:tc>
              </a:tr>
              <a:tr h="548640">
                <a:tc>
                  <a:txBody>
                    <a:bodyPr wrap="square"/>
                    <a:lstStyle/>
                    <a:p>
                      <a:r>
                        <a:rPr sz="1400" b="0" i="0">
                          <a:solidFill>
                            <a:srgbClr val="263238"/>
                          </a:solidFill>
                          <a:latin typeface="Segoe UI"/>
                          <a:ea typeface="Segoe UI"/>
                          <a:cs typeface="Segoe UI"/>
                        </a:rPr>
                        <a:t>Drill-down mở sai cột</a:t>
                      </a:r>
                    </a:p>
                  </a:txBody>
                  <a:tcPr marL="73152" marR="73152" marT="36576" marB="36576" anchor="ctr">
                    <a:solidFill>
                      <a:srgbClr val="FFFFFF"/>
                    </a:solidFill>
                  </a:tcPr>
                </a:tc>
                <a:tc>
                  <a:txBody>
                    <a:bodyPr wrap="square"/>
                    <a:lstStyle/>
                    <a:p>
                      <a:r>
                        <a:rPr sz="1300" b="0" i="0">
                          <a:solidFill>
                            <a:srgbClr val="B02A2A"/>
                          </a:solidFill>
                          <a:latin typeface="Consolas"/>
                          <a:ea typeface="Consolas"/>
                          <a:cs typeface="Consolas"/>
                        </a:rPr>
                        <a:t>g._fields</a:t>
                      </a:r>
                      <a:r>
                        <a:rPr sz="1400" b="0" i="0">
                          <a:solidFill>
                            <a:srgbClr val="263238"/>
                          </a:solidFill>
                          <a:latin typeface="Segoe UI"/>
                          <a:ea typeface="Segoe UI"/>
                          <a:cs typeface="Segoe UI"/>
                        </a:rPr>
                        <a:t> đếm từ 0, </a:t>
                      </a:r>
                      <a:r>
                        <a:rPr sz="1300" b="0" i="0">
                          <a:solidFill>
                            <a:srgbClr val="B02A2A"/>
                          </a:solidFill>
                          <a:latin typeface="Consolas"/>
                          <a:ea typeface="Consolas"/>
                          <a:cs typeface="Consolas"/>
                        </a:rPr>
                        <a:t>_activeColumn</a:t>
                      </a:r>
                      <a:r>
                        <a:rPr sz="1400" b="0" i="0">
                          <a:solidFill>
                            <a:srgbClr val="263238"/>
                          </a:solidFill>
                          <a:latin typeface="Segoe UI"/>
                          <a:ea typeface="Segoe UI"/>
                          <a:cs typeface="Segoe UI"/>
                        </a:rPr>
                        <a:t> đếm từ 1 → </a:t>
                      </a:r>
                      <a:r>
                        <a:rPr sz="1300" b="0" i="0">
                          <a:solidFill>
                            <a:srgbClr val="B02A2A"/>
                          </a:solidFill>
                          <a:latin typeface="Consolas"/>
                          <a:ea typeface="Consolas"/>
                          <a:cs typeface="Consolas"/>
                        </a:rPr>
                        <a:t>[col - 1]</a:t>
                      </a:r>
                    </a:p>
                  </a:txBody>
                  <a:tcPr marL="73152" marR="73152" marT="36576" marB="36576" anchor="ctr">
                    <a:solidFill>
                      <a:srgbClr val="FFFFFF"/>
                    </a:solidFill>
                  </a:tcPr>
                </a:tc>
              </a:tr>
              <a:tr h="548640">
                <a:tc>
                  <a:txBody>
                    <a:bodyPr wrap="square"/>
                    <a:lstStyle/>
                    <a:p>
                      <a:r>
                        <a:rPr sz="1400" b="0" i="0">
                          <a:solidFill>
                            <a:srgbClr val="263238"/>
                          </a:solidFill>
                          <a:latin typeface="Segoe UI"/>
                          <a:ea typeface="Segoe UI"/>
                          <a:cs typeface="Segoe UI"/>
                        </a:rPr>
                        <a:t>JavaScript trong trang không chạy</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Fast gộp HTML thành 1 dòng → dùng </a:t>
                      </a:r>
                      <a:r>
                        <a:rPr sz="1300" b="0" i="0">
                          <a:solidFill>
                            <a:srgbClr val="B02A2A"/>
                          </a:solidFill>
                          <a:latin typeface="Consolas"/>
                          <a:ea typeface="Consolas"/>
                          <a:cs typeface="Consolas"/>
                        </a:rPr>
                        <a:t>/* */</a:t>
                      </a:r>
                      <a:r>
                        <a:rPr sz="1400" b="0" i="0">
                          <a:solidFill>
                            <a:srgbClr val="263238"/>
                          </a:solidFill>
                          <a:latin typeface="Segoe UI"/>
                          <a:ea typeface="Segoe UI"/>
                          <a:cs typeface="Segoe UI"/>
                        </a:rPr>
                        <a:t> thay </a:t>
                      </a:r>
                      <a:r>
                        <a:rPr sz="1300" b="0" i="0">
                          <a:solidFill>
                            <a:srgbClr val="B02A2A"/>
                          </a:solidFill>
                          <a:latin typeface="Consolas"/>
                          <a:ea typeface="Consolas"/>
                          <a:cs typeface="Consolas"/>
                        </a:rPr>
                        <a:t>//</a:t>
                      </a:r>
                    </a:p>
                  </a:txBody>
                  <a:tcPr marL="73152" marR="73152" marT="36576" marB="36576" anchor="ctr">
                    <a:solidFill>
                      <a:srgbClr val="F4F7FB"/>
                    </a:solidFill>
                  </a:tcPr>
                </a:tc>
              </a:tr>
              <a:tr h="548640">
                <a:tc>
                  <a:txBody>
                    <a:bodyPr wrap="square"/>
                    <a:lstStyle/>
                    <a:p>
                      <a:r>
                        <a:rPr sz="1400" b="0" i="0">
                          <a:solidFill>
                            <a:srgbClr val="263238"/>
                          </a:solidFill>
                          <a:latin typeface="Segoe UI"/>
                          <a:ea typeface="Segoe UI"/>
                          <a:cs typeface="Segoe UI"/>
                        </a:rPr>
                        <a:t>Filter báo “too many arguments”</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Procedure trên database là bản cũ → triển khai bản mới</a:t>
                      </a:r>
                    </a:p>
                  </a:txBody>
                  <a:tcPr marL="73152" marR="73152" marT="36576" marB="36576"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“Sửa rồi mà vẫn lỗi” — có đúng bản đang chạy?</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12</a:t>
            </a:r>
          </a:p>
        </p:txBody>
      </p:sp>
      <p:sp>
        <p:nvSpPr>
          <p:cNvPr id="7" name="Rounded Rectangle 6"/>
          <p:cNvSpPr/>
          <p:nvPr/>
        </p:nvSpPr>
        <p:spPr>
          <a:xfrm>
            <a:off x="640080" y="1600200"/>
            <a:ext cx="7589520" cy="3203955"/>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09928"/>
            <a:ext cx="7269480" cy="4462272"/>
          </a:xfrm>
          <a:prstGeom prst="rect">
            <a:avLst/>
          </a:prstGeom>
          <a:noFill/>
        </p:spPr>
        <p:txBody>
          <a:bodyPr wrap="none">
            <a:spAutoFit/>
          </a:bodyPr>
          <a:lstStyle/>
          <a:p>
            <a:pPr>
              <a:lnSpc>
                <a:spcPct val="100000"/>
              </a:lnSpc>
              <a:spcAft>
                <a:spcPts val="0"/>
              </a:spcAft>
            </a:pPr>
            <a:r>
              <a:rPr sz="1300" b="0" i="1">
                <a:solidFill>
                  <a:srgbClr val="7FB06A"/>
                </a:solidFill>
                <a:latin typeface="Consolas"/>
                <a:ea typeface="Consolas"/>
                <a:cs typeface="Consolas"/>
              </a:rPr>
              <a:t>-- Procedure trên DB: sửa lúc nào? có đoạn mới chưa?</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name, modify_date </a:t>
            </a: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sys.procedures</a:t>
            </a:r>
          </a:p>
          <a:p>
            <a:pPr>
              <a:lnSpc>
                <a:spcPct val="100000"/>
              </a:lnSpc>
              <a:spcAft>
                <a:spcPts val="0"/>
              </a:spcAft>
            </a:pPr>
            <a:r>
              <a:rPr sz="1300" b="0" i="0">
                <a:solidFill>
                  <a:srgbClr val="E6E6E6"/>
                </a:solidFill>
                <a:latin typeface="Consolas"/>
                <a:ea typeface="Consolas"/>
                <a:cs typeface="Consolas"/>
              </a:rPr>
              <a:t>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name = 'rs_BangKeNhapTheoVatTu'</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CASE</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WHEN</a:t>
            </a:r>
            <a:r>
              <a:rPr sz="1300" b="0" i="0">
                <a:solidFill>
                  <a:srgbClr val="E6E6E6"/>
                </a:solidFill>
                <a:latin typeface="Consolas"/>
                <a:ea typeface="Consolas"/>
                <a:cs typeface="Consolas"/>
              </a:rPr>
              <a:t> OBJECT_DEFINITION(OBJECT_ID('dbo.rs_BangKeNhapTheoVatTu'))</a:t>
            </a:r>
          </a:p>
          <a:p>
            <a:pPr>
              <a:lnSpc>
                <a:spcPct val="100000"/>
              </a:lnSpc>
              <a:spcAft>
                <a:spcPts val="0"/>
              </a:spcAft>
            </a:pPr>
            <a:r>
              <a:rPr sz="1300" b="0" i="0">
                <a:solidFill>
                  <a:srgbClr val="E6E6E6"/>
                </a:solidFill>
                <a:latin typeface="Consolas"/>
                <a:ea typeface="Consolas"/>
                <a:cs typeface="Consolas"/>
              </a:rPr>
              <a:t>            </a:t>
            </a:r>
            <a:r>
              <a:rPr sz="1300" b="1" i="0">
                <a:solidFill>
                  <a:srgbClr val="6CB6FF"/>
                </a:solidFill>
                <a:latin typeface="Consolas"/>
                <a:ea typeface="Consolas"/>
                <a:cs typeface="Consolas"/>
              </a:rPr>
              <a:t>LIKE</a:t>
            </a:r>
            <a:r>
              <a:rPr sz="1300" b="0" i="0">
                <a:solidFill>
                  <a:srgbClr val="E6E6E6"/>
                </a:solidFill>
                <a:latin typeface="Consolas"/>
                <a:ea typeface="Consolas"/>
                <a:cs typeface="Consolas"/>
              </a:rPr>
              <a:t> '%đoạn mới%' </a:t>
            </a:r>
            <a:r>
              <a:rPr sz="1300" b="1" i="0">
                <a:solidFill>
                  <a:srgbClr val="6CB6FF"/>
                </a:solidFill>
                <a:latin typeface="Consolas"/>
                <a:ea typeface="Consolas"/>
                <a:cs typeface="Consolas"/>
              </a:rPr>
              <a:t>THEN</a:t>
            </a:r>
            <a:r>
              <a:rPr sz="1300" b="0" i="0">
                <a:solidFill>
                  <a:srgbClr val="E6E6E6"/>
                </a:solidFill>
                <a:latin typeface="Consolas"/>
                <a:ea typeface="Consolas"/>
                <a:cs typeface="Consolas"/>
              </a:rPr>
              <a:t> 'MỚI' </a:t>
            </a:r>
            <a:r>
              <a:rPr sz="1300" b="1" i="0">
                <a:solidFill>
                  <a:srgbClr val="6CB6FF"/>
                </a:solidFill>
                <a:latin typeface="Consolas"/>
                <a:ea typeface="Consolas"/>
                <a:cs typeface="Consolas"/>
              </a:rPr>
              <a:t>ELSE</a:t>
            </a:r>
            <a:r>
              <a:rPr sz="1300" b="0" i="0">
                <a:solidFill>
                  <a:srgbClr val="E6E6E6"/>
                </a:solidFill>
                <a:latin typeface="Consolas"/>
                <a:ea typeface="Consolas"/>
                <a:cs typeface="Consolas"/>
              </a:rPr>
              <a:t> 'CŨ' </a:t>
            </a:r>
            <a:r>
              <a:rPr sz="1300" b="1" i="0">
                <a:solidFill>
                  <a:srgbClr val="6CB6FF"/>
                </a:solidFill>
                <a:latin typeface="Consolas"/>
                <a:ea typeface="Consolas"/>
                <a:cs typeface="Consolas"/>
              </a:rPr>
              <a:t>END</a:t>
            </a:r>
          </a:p>
          <a:p>
            <a:pPr>
              <a:lnSpc>
                <a:spcPct val="100000"/>
              </a:lnSpc>
              <a:spcAft>
                <a:spcPts val="0"/>
              </a:spcAft>
            </a:pPr>
            <a:r>
              <a:rPr sz="1300" b="0" i="0">
                <a:solidFill>
                  <a:srgbClr val="E6E6E6"/>
                </a:solidFill>
                <a:latin typeface="Consolas"/>
                <a:ea typeface="Consolas"/>
                <a:cs typeface="Consolas"/>
              </a:rPr>
              <a:t> </a:t>
            </a:r>
          </a:p>
          <a:p>
            <a:pPr>
              <a:lnSpc>
                <a:spcPct val="100000"/>
              </a:lnSpc>
              <a:spcAft>
                <a:spcPts val="0"/>
              </a:spcAft>
            </a:pPr>
            <a:r>
              <a:rPr sz="1300" b="0" i="1">
                <a:solidFill>
                  <a:srgbClr val="7FB06A"/>
                </a:solidFill>
                <a:latin typeface="Consolas"/>
                <a:ea typeface="Consolas"/>
                <a:cs typeface="Consolas"/>
              </a:rPr>
              <a:t>-- Số tham số (Filter gọi nhiều hơn -&gt; too many arguments)</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name, parameter_id </a:t>
            </a: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sys.parameters</a:t>
            </a:r>
          </a:p>
          <a:p>
            <a:pPr>
              <a:lnSpc>
                <a:spcPct val="100000"/>
              </a:lnSpc>
              <a:spcAft>
                <a:spcPts val="0"/>
              </a:spcAft>
            </a:pPr>
            <a:r>
              <a:rPr sz="1300" b="0" i="0">
                <a:solidFill>
                  <a:srgbClr val="E6E6E6"/>
                </a:solidFill>
                <a:latin typeface="Consolas"/>
                <a:ea typeface="Consolas"/>
                <a:cs typeface="Consolas"/>
              </a:rPr>
              <a:t>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object_id = OBJECT_ID('dbo.rs_BangKeNhapTheoVatTu')</a:t>
            </a:r>
          </a:p>
          <a:p>
            <a:pPr>
              <a:lnSpc>
                <a:spcPct val="100000"/>
              </a:lnSpc>
              <a:spcAft>
                <a:spcPts val="0"/>
              </a:spcAft>
            </a:pPr>
            <a:r>
              <a:rPr sz="1300" b="0" i="0">
                <a:solidFill>
                  <a:srgbClr val="E6E6E6"/>
                </a:solidFill>
                <a:latin typeface="Consolas"/>
                <a:ea typeface="Consolas"/>
                <a:cs typeface="Consolas"/>
              </a:rPr>
              <a:t> </a:t>
            </a:r>
          </a:p>
          <a:p>
            <a:pPr>
              <a:lnSpc>
                <a:spcPct val="100000"/>
              </a:lnSpc>
              <a:spcAft>
                <a:spcPts val="0"/>
              </a:spcAft>
            </a:pPr>
            <a:r>
              <a:rPr sz="1300" b="0" i="1">
                <a:solidFill>
                  <a:srgbClr val="7FB06A"/>
                </a:solidFill>
                <a:latin typeface="Consolas"/>
                <a:ea typeface="Consolas"/>
                <a:cs typeface="Consolas"/>
              </a:rPr>
              <a:t>-- Procedure nào vừa được web gọi?</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TOP</a:t>
            </a:r>
            <a:r>
              <a:rPr sz="1300" b="0" i="0">
                <a:solidFill>
                  <a:srgbClr val="E6E6E6"/>
                </a:solidFill>
                <a:latin typeface="Consolas"/>
                <a:ea typeface="Consolas"/>
                <a:cs typeface="Consolas"/>
              </a:rPr>
              <a:t> 20 OBJECT_NAME(object_id, database_id), last_execution_time</a:t>
            </a:r>
          </a:p>
          <a:p>
            <a:pPr>
              <a:lnSpc>
                <a:spcPct val="100000"/>
              </a:lnSpc>
              <a:spcAft>
                <a:spcPts val="0"/>
              </a:spcAft>
            </a:pP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sys.dm_exec_procedure_stats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database_id = DB_ID()</a:t>
            </a:r>
          </a:p>
          <a:p>
            <a:pPr>
              <a:lnSpc>
                <a:spcPct val="100000"/>
              </a:lnSpc>
              <a:spcAft>
                <a:spcPts val="0"/>
              </a:spcAft>
            </a:pPr>
            <a:r>
              <a:rPr sz="1300" b="1" i="0">
                <a:solidFill>
                  <a:srgbClr val="6CB6FF"/>
                </a:solidFill>
                <a:latin typeface="Consolas"/>
                <a:ea typeface="Consolas"/>
                <a:cs typeface="Consolas"/>
              </a:rPr>
              <a:t>ORDER BY</a:t>
            </a:r>
            <a:r>
              <a:rPr sz="1300" b="0" i="0">
                <a:solidFill>
                  <a:srgbClr val="E6E6E6"/>
                </a:solidFill>
                <a:latin typeface="Consolas"/>
                <a:ea typeface="Consolas"/>
                <a:cs typeface="Consolas"/>
              </a:rPr>
              <a:t> last_execution_time DESC</a:t>
            </a:r>
          </a:p>
        </p:txBody>
      </p:sp>
      <p:sp>
        <p:nvSpPr>
          <p:cNvPr id="9" name="TextBox 8"/>
          <p:cNvSpPr txBox="1"/>
          <p:nvPr/>
        </p:nvSpPr>
        <p:spPr>
          <a:xfrm>
            <a:off x="8458200" y="1600200"/>
            <a:ext cx="3200400" cy="466344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Ô </a:t>
            </a:r>
            <a:r>
              <a:rPr sz="1500" b="1" i="0">
                <a:solidFill>
                  <a:srgbClr val="1F4E79"/>
                </a:solidFill>
                <a:latin typeface="Segoe UI"/>
                <a:ea typeface="Segoe UI"/>
                <a:cs typeface="Segoe UI"/>
              </a:rPr>
              <a:t>WS</a:t>
            </a:r>
            <a:r>
              <a:rPr sz="1500" b="0" i="0">
                <a:solidFill>
                  <a:srgbClr val="263238"/>
                </a:solidFill>
                <a:latin typeface="Segoe UI"/>
                <a:ea typeface="Segoe UI"/>
                <a:cs typeface="Segoe UI"/>
              </a:rPr>
              <a:t> có đúng database?</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Không ALTER nhầm bản </a:t>
            </a:r>
            <a:r>
              <a:rPr sz="1400" b="0" i="0">
                <a:solidFill>
                  <a:srgbClr val="B02A2A"/>
                </a:solidFill>
                <a:latin typeface="Consolas"/>
                <a:ea typeface="Consolas"/>
                <a:cs typeface="Consolas"/>
              </a:rPr>
              <a:t>_bk</a:t>
            </a:r>
          </a:p>
          <a:p>
            <a:pPr>
              <a:spcAft>
                <a:spcPts val="1000"/>
              </a:spcAft>
            </a:pPr>
            <a:r>
              <a:rPr sz="1500" b="1" i="0">
                <a:solidFill>
                  <a:srgbClr val="F2B705"/>
                </a:solidFill>
                <a:latin typeface="Segoe UI"/>
                <a:ea typeface="Segoe UI"/>
                <a:cs typeface="Segoe UI"/>
              </a:rPr>
              <a:t>▪  </a:t>
            </a:r>
            <a:r>
              <a:rPr sz="1400" b="0" i="0">
                <a:solidFill>
                  <a:srgbClr val="B02A2A"/>
                </a:solidFill>
                <a:latin typeface="Consolas"/>
                <a:ea typeface="Consolas"/>
                <a:cs typeface="Consolas"/>
              </a:rPr>
              <a:t>modify_date</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OBJECT_DEFINITION</a:t>
            </a:r>
          </a:p>
          <a:p>
            <a:pPr>
              <a:spcAft>
                <a:spcPts val="1000"/>
              </a:spcAft>
            </a:pPr>
            <a:r>
              <a:rPr sz="1500" b="1" i="0">
                <a:solidFill>
                  <a:srgbClr val="F2B705"/>
                </a:solidFill>
                <a:latin typeface="Segoe UI"/>
                <a:ea typeface="Segoe UI"/>
                <a:cs typeface="Segoe UI"/>
              </a:rPr>
              <a:t>▪  </a:t>
            </a:r>
            <a:r>
              <a:rPr sz="1400" b="0" i="0">
                <a:solidFill>
                  <a:srgbClr val="B02A2A"/>
                </a:solidFill>
                <a:latin typeface="Consolas"/>
                <a:ea typeface="Consolas"/>
                <a:cs typeface="Consolas"/>
              </a:rPr>
              <a:t>sys.parameters</a:t>
            </a:r>
            <a:r>
              <a:rPr sz="1500" b="0" i="0">
                <a:solidFill>
                  <a:srgbClr val="263238"/>
                </a:solidFill>
                <a:latin typeface="Segoe UI"/>
                <a:ea typeface="Segoe UI"/>
                <a:cs typeface="Segoe UI"/>
              </a:rPr>
              <a:t> đếm tham số</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Viewer: xem đường dẫn file</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Lịch sử sửa procedure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Lưu một hoá đơn bán ghi vào những đâu?</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13</a:t>
            </a:r>
          </a:p>
        </p:txBody>
      </p:sp>
      <p:sp>
        <p:nvSpPr>
          <p:cNvPr id="7" name="Rounded Rectangle 6"/>
          <p:cNvSpPr/>
          <p:nvPr/>
        </p:nvSpPr>
        <p:spPr>
          <a:xfrm>
            <a:off x="640080" y="1828800"/>
            <a:ext cx="1577339" cy="15544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m81 / d81</a:t>
            </a:r>
          </a:p>
        </p:txBody>
      </p:sp>
      <p:sp>
        <p:nvSpPr>
          <p:cNvPr id="9" name="TextBox 8"/>
          <p:cNvSpPr txBox="1"/>
          <p:nvPr/>
        </p:nvSpPr>
        <p:spPr>
          <a:xfrm>
            <a:off x="713231"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chứng từ</a:t>
            </a:r>
          </a:p>
          <a:p>
            <a:pPr algn="ctr"/>
            <a:r>
              <a:rPr sz="1100" b="0" i="0">
                <a:solidFill>
                  <a:srgbClr val="E3ECF5"/>
                </a:solidFill>
                <a:latin typeface="Segoe UI"/>
                <a:ea typeface="Segoe UI"/>
                <a:cs typeface="Segoe UI"/>
              </a:rPr>
              <a:t>ctgt21, hddt00</a:t>
            </a:r>
          </a:p>
        </p:txBody>
      </p:sp>
      <p:sp>
        <p:nvSpPr>
          <p:cNvPr id="10" name="Right Arrow 9"/>
          <p:cNvSpPr/>
          <p:nvPr/>
        </p:nvSpPr>
        <p:spPr>
          <a:xfrm>
            <a:off x="2253996"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10028" y="1828800"/>
            <a:ext cx="1577339" cy="15544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83180"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i81 / c81</a:t>
            </a:r>
          </a:p>
        </p:txBody>
      </p:sp>
      <p:sp>
        <p:nvSpPr>
          <p:cNvPr id="13" name="TextBox 12"/>
          <p:cNvSpPr txBox="1"/>
          <p:nvPr/>
        </p:nvSpPr>
        <p:spPr>
          <a:xfrm>
            <a:off x="2583180"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tra cứu,</a:t>
            </a:r>
          </a:p>
          <a:p>
            <a:pPr algn="ctr"/>
            <a:r>
              <a:rPr sz="1100" b="0" i="0">
                <a:solidFill>
                  <a:srgbClr val="E3ECF5"/>
                </a:solidFill>
                <a:latin typeface="Segoe UI"/>
                <a:ea typeface="Segoe UI"/>
                <a:cs typeface="Segoe UI"/>
              </a:rPr>
              <a:t>sổ chứng từ</a:t>
            </a:r>
          </a:p>
        </p:txBody>
      </p:sp>
      <p:sp>
        <p:nvSpPr>
          <p:cNvPr id="14" name="Right Arrow 13"/>
          <p:cNvSpPr/>
          <p:nvPr/>
        </p:nvSpPr>
        <p:spPr>
          <a:xfrm>
            <a:off x="4123944"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79976" y="1828800"/>
            <a:ext cx="1577339" cy="15544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cdvt13…</a:t>
            </a:r>
          </a:p>
        </p:txBody>
      </p:sp>
      <p:sp>
        <p:nvSpPr>
          <p:cNvPr id="17" name="TextBox 16"/>
          <p:cNvSpPr txBox="1"/>
          <p:nvPr/>
        </p:nvSpPr>
        <p:spPr>
          <a:xfrm>
            <a:off x="4453128"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tồn kho hiện thời</a:t>
            </a:r>
          </a:p>
          <a:p>
            <a:pPr algn="ctr"/>
            <a:r>
              <a:rPr sz="1100" b="0" i="0">
                <a:solidFill>
                  <a:srgbClr val="E3ECF5"/>
                </a:solidFill>
                <a:latin typeface="Segoe UI"/>
                <a:ea typeface="Segoe UI"/>
                <a:cs typeface="Segoe UI"/>
              </a:rPr>
              <a:t>(cộng dồn)</a:t>
            </a:r>
          </a:p>
        </p:txBody>
      </p:sp>
      <p:sp>
        <p:nvSpPr>
          <p:cNvPr id="18" name="Right Arrow 17"/>
          <p:cNvSpPr/>
          <p:nvPr/>
        </p:nvSpPr>
        <p:spPr>
          <a:xfrm>
            <a:off x="5993892"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9924" y="1828800"/>
            <a:ext cx="1577339" cy="15544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23076"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r70 / r90</a:t>
            </a:r>
          </a:p>
        </p:txBody>
      </p:sp>
      <p:sp>
        <p:nvSpPr>
          <p:cNvPr id="21" name="TextBox 20"/>
          <p:cNvSpPr txBox="1"/>
          <p:nvPr/>
        </p:nvSpPr>
        <p:spPr>
          <a:xfrm>
            <a:off x="6323076"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sổ kho</a:t>
            </a:r>
          </a:p>
          <a:p>
            <a:pPr algn="ctr"/>
            <a:r>
              <a:rPr sz="1100" b="0" i="0">
                <a:solidFill>
                  <a:srgbClr val="E3ECF5"/>
                </a:solidFill>
                <a:latin typeface="Segoe UI"/>
                <a:ea typeface="Segoe UI"/>
                <a:cs typeface="Segoe UI"/>
              </a:rPr>
              <a:t>Posting$Inventory</a:t>
            </a:r>
          </a:p>
        </p:txBody>
      </p:sp>
      <p:sp>
        <p:nvSpPr>
          <p:cNvPr id="22" name="Right Arrow 21"/>
          <p:cNvSpPr/>
          <p:nvPr/>
        </p:nvSpPr>
        <p:spPr>
          <a:xfrm>
            <a:off x="7863840"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119871" y="1828800"/>
            <a:ext cx="1577339" cy="155448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3"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r00 / r20</a:t>
            </a:r>
          </a:p>
        </p:txBody>
      </p:sp>
      <p:sp>
        <p:nvSpPr>
          <p:cNvPr id="25" name="TextBox 24"/>
          <p:cNvSpPr txBox="1"/>
          <p:nvPr/>
        </p:nvSpPr>
        <p:spPr>
          <a:xfrm>
            <a:off x="8193023"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sổ cái, sổ thuế</a:t>
            </a:r>
          </a:p>
          <a:p>
            <a:pPr algn="ctr"/>
            <a:r>
              <a:rPr sz="1100" b="0" i="0">
                <a:solidFill>
                  <a:srgbClr val="E3ECF5"/>
                </a:solidFill>
                <a:latin typeface="Segoe UI"/>
                <a:ea typeface="Segoe UI"/>
                <a:cs typeface="Segoe UI"/>
              </a:rPr>
              <a:t>fs_PostSVTran</a:t>
            </a:r>
          </a:p>
        </p:txBody>
      </p:sp>
      <p:sp>
        <p:nvSpPr>
          <p:cNvPr id="26" name="Right Arrow 25"/>
          <p:cNvSpPr/>
          <p:nvPr/>
        </p:nvSpPr>
        <p:spPr>
          <a:xfrm>
            <a:off x="9733787" y="248716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989819" y="1828800"/>
            <a:ext cx="1577339" cy="155448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62972" y="1920240"/>
            <a:ext cx="1431036" cy="699516"/>
          </a:xfrm>
          <a:prstGeom prst="rect">
            <a:avLst/>
          </a:prstGeom>
          <a:noFill/>
        </p:spPr>
        <p:txBody>
          <a:bodyPr wrap="square" anchor="ctr" lIns="45720" rIns="45720" tIns="27432" bIns="27432">
            <a:spAutoFit/>
          </a:bodyPr>
          <a:lstStyle/>
          <a:p>
            <a:pPr algn="ctr"/>
            <a:r>
              <a:rPr sz="1300" b="1" i="0">
                <a:solidFill>
                  <a:srgbClr val="FFFFFF"/>
                </a:solidFill>
                <a:latin typeface="Segoe UI"/>
                <a:ea typeface="Segoe UI"/>
                <a:cs typeface="Segoe UI"/>
              </a:rPr>
              <a:t>dmkh.du13</a:t>
            </a:r>
          </a:p>
        </p:txBody>
      </p:sp>
      <p:sp>
        <p:nvSpPr>
          <p:cNvPr id="29" name="TextBox 28"/>
          <p:cNvSpPr txBox="1"/>
          <p:nvPr/>
        </p:nvSpPr>
        <p:spPr>
          <a:xfrm>
            <a:off x="10062972" y="2606040"/>
            <a:ext cx="1431036" cy="746150"/>
          </a:xfrm>
          <a:prstGeom prst="rect">
            <a:avLst/>
          </a:prstGeom>
          <a:noFill/>
        </p:spPr>
        <p:txBody>
          <a:bodyPr wrap="square" anchor="t" lIns="45720" rIns="45720" tIns="27432" bIns="27432">
            <a:spAutoFit/>
          </a:bodyPr>
          <a:lstStyle/>
          <a:p>
            <a:pPr algn="ctr"/>
            <a:r>
              <a:rPr sz="1100" b="0" i="0">
                <a:solidFill>
                  <a:srgbClr val="E3ECF5"/>
                </a:solidFill>
                <a:latin typeface="Segoe UI"/>
                <a:ea typeface="Segoe UI"/>
                <a:cs typeface="Segoe UI"/>
              </a:rPr>
              <a:t>dư nợ</a:t>
            </a:r>
          </a:p>
          <a:p>
            <a:pPr algn="ctr"/>
            <a:r>
              <a:rPr sz="1100" b="0" i="0">
                <a:solidFill>
                  <a:srgbClr val="E3ECF5"/>
                </a:solidFill>
                <a:latin typeface="Segoe UI"/>
                <a:ea typeface="Segoe UI"/>
                <a:cs typeface="Segoe UI"/>
              </a:rPr>
              <a:t>hiện thời</a:t>
            </a:r>
          </a:p>
        </p:txBody>
      </p:sp>
      <p:sp>
        <p:nvSpPr>
          <p:cNvPr id="30" name="TextBox 29"/>
          <p:cNvSpPr txBox="1"/>
          <p:nvPr/>
        </p:nvSpPr>
        <p:spPr>
          <a:xfrm>
            <a:off x="640080" y="3977639"/>
            <a:ext cx="10881360" cy="22860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Đọc chuỗi này bằng </a:t>
            </a:r>
            <a:r>
              <a:rPr sz="1600" b="1" i="0">
                <a:solidFill>
                  <a:srgbClr val="1F4E79"/>
                </a:solidFill>
                <a:latin typeface="Segoe UI"/>
                <a:ea typeface="Segoe UI"/>
                <a:cs typeface="Segoe UI"/>
              </a:rPr>
              <a:t>SQL Profiler</a:t>
            </a:r>
            <a:r>
              <a:rPr sz="1600" b="0" i="0">
                <a:solidFill>
                  <a:srgbClr val="263238"/>
                </a:solidFill>
                <a:latin typeface="Segoe UI"/>
                <a:ea typeface="Segoe UI"/>
                <a:cs typeface="Segoe UI"/>
              </a:rPr>
              <a:t> khi bấm Lưu — command của controller bị mã hoá nhưng câu SQL gửi xuống thì không.</a:t>
            </a:r>
          </a:p>
          <a:p>
            <a:pPr>
              <a:spcAft>
                <a:spcPts val="1000"/>
              </a:spcAft>
            </a:pPr>
            <a:r>
              <a:rPr sz="1600" b="1" i="0">
                <a:solidFill>
                  <a:srgbClr val="F2B705"/>
                </a:solidFill>
                <a:latin typeface="Segoe UI"/>
                <a:ea typeface="Segoe UI"/>
                <a:cs typeface="Segoe UI"/>
              </a:rPr>
              <a:t>▪  </a:t>
            </a:r>
            <a:r>
              <a:rPr sz="1500" b="0" i="0">
                <a:solidFill>
                  <a:srgbClr val="B02A2A"/>
                </a:solidFill>
                <a:latin typeface="Consolas"/>
                <a:ea typeface="Consolas"/>
                <a:cs typeface="Consolas"/>
              </a:rPr>
              <a:t>status</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0</a:t>
            </a:r>
            <a:r>
              <a:rPr sz="1600" b="0" i="0">
                <a:solidFill>
                  <a:srgbClr val="263238"/>
                </a:solidFill>
                <a:latin typeface="Segoe UI"/>
                <a:ea typeface="Segoe UI"/>
                <a:cs typeface="Segoe UI"/>
              </a:rPr>
              <a:t> chỉ lưu · </a:t>
            </a:r>
            <a:r>
              <a:rPr sz="1500" b="0" i="0">
                <a:solidFill>
                  <a:srgbClr val="B02A2A"/>
                </a:solidFill>
                <a:latin typeface="Consolas"/>
                <a:ea typeface="Consolas"/>
                <a:cs typeface="Consolas"/>
              </a:rPr>
              <a:t>1</a:t>
            </a:r>
            <a:r>
              <a:rPr sz="1600" b="0" i="0">
                <a:solidFill>
                  <a:srgbClr val="263238"/>
                </a:solidFill>
                <a:latin typeface="Segoe UI"/>
                <a:ea typeface="Segoe UI"/>
                <a:cs typeface="Segoe UI"/>
              </a:rPr>
              <a:t> chờ chuyển (p00) · </a:t>
            </a:r>
            <a:r>
              <a:rPr sz="1500" b="0" i="0">
                <a:solidFill>
                  <a:srgbClr val="B02A2A"/>
                </a:solidFill>
                <a:latin typeface="Consolas"/>
                <a:ea typeface="Consolas"/>
                <a:cs typeface="Consolas"/>
              </a:rPr>
              <a:t>2</a:t>
            </a:r>
            <a:r>
              <a:rPr sz="1600" b="0" i="0">
                <a:solidFill>
                  <a:srgbClr val="263238"/>
                </a:solidFill>
                <a:latin typeface="Segoe UI"/>
                <a:ea typeface="Segoe UI"/>
                <a:cs typeface="Segoe UI"/>
              </a:rPr>
              <a:t> ghi sổ cái ngay.</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Tồn kho / dư nợ hiện thời được </a:t>
            </a:r>
            <a:r>
              <a:rPr sz="1600" b="1" i="0">
                <a:solidFill>
                  <a:srgbClr val="1F4E79"/>
                </a:solidFill>
                <a:latin typeface="Segoe UI"/>
                <a:ea typeface="Segoe UI"/>
                <a:cs typeface="Segoe UI"/>
              </a:rPr>
              <a:t>cộng dồn</a:t>
            </a:r>
            <a:r>
              <a:rPr sz="1600" b="0" i="0">
                <a:solidFill>
                  <a:srgbClr val="263238"/>
                </a:solidFill>
                <a:latin typeface="Segoe UI"/>
                <a:ea typeface="Segoe UI"/>
                <a:cs typeface="Segoe UI"/>
              </a:rPr>
              <a:t> — post lại hai lần là sai số.</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Mẫu ghi lỗi</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14</a:t>
            </a:r>
          </a:p>
        </p:txBody>
      </p:sp>
      <p:graphicFrame>
        <p:nvGraphicFramePr>
          <p:cNvPr id="7" name="Table 6"/>
          <p:cNvGraphicFramePr>
            <a:graphicFrameLocks noGrp="1"/>
          </p:cNvGraphicFramePr>
          <p:nvPr/>
        </p:nvGraphicFramePr>
        <p:xfrm>
          <a:off x="640080" y="1600200"/>
          <a:ext cx="10881360" cy="3291840"/>
        </p:xfrm>
        <a:graphic>
          <a:graphicData uri="http://schemas.openxmlformats.org/drawingml/2006/table">
            <a:tbl>
              <a:tblPr firstRow="1" bandRow="1">
                <a:tableStyleId>{5940675A-B579-460E-94D1-54222C63F5DA}</a:tableStyleId>
              </a:tblPr>
              <a:tblGrid>
                <a:gridCol w="2743200"/>
                <a:gridCol w="8138160"/>
              </a:tblGrid>
              <a:tr h="548640">
                <a:tc>
                  <a:txBody>
                    <a:bodyPr wrap="square"/>
                    <a:lstStyle/>
                    <a:p>
                      <a:r>
                        <a:rPr sz="1600" b="1" i="0">
                          <a:solidFill>
                            <a:srgbClr val="FFFFFF"/>
                          </a:solidFill>
                          <a:latin typeface="Segoe UI"/>
                          <a:ea typeface="Segoe UI"/>
                          <a:cs typeface="Segoe UI"/>
                        </a:rPr>
                        <a:t>Mục</a:t>
                      </a:r>
                    </a:p>
                  </a:txBody>
                  <a:tcPr marL="73152" marR="73152" marT="36576" marB="36576" anchor="ctr">
                    <a:solidFill>
                      <a:srgbClr val="1F4E79"/>
                    </a:solidFill>
                  </a:tcPr>
                </a:tc>
                <a:tc>
                  <a:txBody>
                    <a:bodyPr wrap="square"/>
                    <a:lstStyle/>
                    <a:p>
                      <a:r>
                        <a:rPr sz="1600" b="1" i="0">
                          <a:solidFill>
                            <a:srgbClr val="FFFFFF"/>
                          </a:solidFill>
                          <a:latin typeface="Segoe UI"/>
                          <a:ea typeface="Segoe UI"/>
                          <a:cs typeface="Segoe UI"/>
                        </a:rPr>
                        <a:t>Ghi gì</a:t>
                      </a:r>
                    </a:p>
                  </a:txBody>
                  <a:tcPr marL="73152" marR="73152" marT="36576" marB="36576" anchor="ctr">
                    <a:solidFill>
                      <a:srgbClr val="1F4E79"/>
                    </a:solidFill>
                  </a:tcPr>
                </a:tc>
              </a:tr>
              <a:tr h="548640">
                <a:tc>
                  <a:txBody>
                    <a:bodyPr wrap="square"/>
                    <a:lstStyle/>
                    <a:p>
                      <a:r>
                        <a:rPr sz="1600" b="0" i="0">
                          <a:solidFill>
                            <a:srgbClr val="263238"/>
                          </a:solidFill>
                          <a:latin typeface="Segoe UI"/>
                          <a:ea typeface="Segoe UI"/>
                          <a:cs typeface="Segoe UI"/>
                        </a:rPr>
                        <a:t>Hiện tượng</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Màn hình, user, đơn vị, tham số, thông báo gốc (ảnh chụp)</a:t>
                      </a:r>
                    </a:p>
                  </a:txBody>
                  <a:tcPr marL="73152" marR="73152" marT="36576" marB="36576" anchor="ctr">
                    <a:solidFill>
                      <a:srgbClr val="FFFFFF"/>
                    </a:solidFill>
                  </a:tcPr>
                </a:tc>
              </a:tr>
              <a:tr h="548640">
                <a:tc>
                  <a:txBody>
                    <a:bodyPr wrap="square"/>
                    <a:lstStyle/>
                    <a:p>
                      <a:r>
                        <a:rPr sz="1600" b="0" i="0">
                          <a:solidFill>
                            <a:srgbClr val="263238"/>
                          </a:solidFill>
                          <a:latin typeface="Segoe UI"/>
                          <a:ea typeface="Segoe UI"/>
                          <a:cs typeface="Segoe UI"/>
                        </a:rPr>
                        <a:t>Nguyên nhân</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Một câu, chỉ rõ file / procedure / dòng</a:t>
                      </a:r>
                    </a:p>
                  </a:txBody>
                  <a:tcPr marL="73152" marR="73152" marT="36576" marB="36576" anchor="ctr">
                    <a:solidFill>
                      <a:srgbClr val="F4F7FB"/>
                    </a:solidFill>
                  </a:tcPr>
                </a:tc>
              </a:tr>
              <a:tr h="548640">
                <a:tc>
                  <a:txBody>
                    <a:bodyPr wrap="square"/>
                    <a:lstStyle/>
                    <a:p>
                      <a:r>
                        <a:rPr sz="1600" b="0" i="0">
                          <a:solidFill>
                            <a:srgbClr val="263238"/>
                          </a:solidFill>
                          <a:latin typeface="Segoe UI"/>
                          <a:ea typeface="Segoe UI"/>
                          <a:cs typeface="Segoe UI"/>
                        </a:rPr>
                        <a:t>Cách tìm ra</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Công cụ và câu SQL đã dùng</a:t>
                      </a:r>
                    </a:p>
                  </a:txBody>
                  <a:tcPr marL="73152" marR="73152" marT="36576" marB="36576" anchor="ctr">
                    <a:solidFill>
                      <a:srgbClr val="FFFFFF"/>
                    </a:solidFill>
                  </a:tcPr>
                </a:tc>
              </a:tr>
              <a:tr h="548640">
                <a:tc>
                  <a:txBody>
                    <a:bodyPr wrap="square"/>
                    <a:lstStyle/>
                    <a:p>
                      <a:r>
                        <a:rPr sz="1600" b="0" i="0">
                          <a:solidFill>
                            <a:srgbClr val="263238"/>
                          </a:solidFill>
                          <a:latin typeface="Segoe UI"/>
                          <a:ea typeface="Segoe UI"/>
                          <a:cs typeface="Segoe UI"/>
                        </a:rPr>
                        <a:t>Cách sửa</a:t>
                      </a:r>
                    </a:p>
                  </a:txBody>
                  <a:tcPr marL="73152" marR="73152" marT="36576" marB="36576" anchor="ctr">
                    <a:solidFill>
                      <a:srgbClr val="F4F7FB"/>
                    </a:solidFill>
                  </a:tcPr>
                </a:tc>
                <a:tc>
                  <a:txBody>
                    <a:bodyPr wrap="square"/>
                    <a:lstStyle/>
                    <a:p>
                      <a:r>
                        <a:rPr sz="1600" b="0" i="0">
                          <a:solidFill>
                            <a:srgbClr val="263238"/>
                          </a:solidFill>
                          <a:latin typeface="Segoe UI"/>
                          <a:ea typeface="Segoe UI"/>
                          <a:cs typeface="Segoe UI"/>
                        </a:rPr>
                        <a:t>File / object đã sửa, gói update</a:t>
                      </a:r>
                    </a:p>
                  </a:txBody>
                  <a:tcPr marL="73152" marR="73152" marT="36576" marB="36576" anchor="ctr">
                    <a:solidFill>
                      <a:srgbClr val="F4F7FB"/>
                    </a:solidFill>
                  </a:tcPr>
                </a:tc>
              </a:tr>
              <a:tr h="548640">
                <a:tc>
                  <a:txBody>
                    <a:bodyPr wrap="square"/>
                    <a:lstStyle/>
                    <a:p>
                      <a:r>
                        <a:rPr sz="1600" b="0" i="0">
                          <a:solidFill>
                            <a:srgbClr val="263238"/>
                          </a:solidFill>
                          <a:latin typeface="Segoe UI"/>
                          <a:ea typeface="Segoe UI"/>
                          <a:cs typeface="Segoe UI"/>
                        </a:rPr>
                        <a:t>Cách phòng</a:t>
                      </a:r>
                    </a:p>
                  </a:txBody>
                  <a:tcPr marL="73152" marR="73152" marT="36576" marB="36576" anchor="ctr">
                    <a:solidFill>
                      <a:srgbClr val="FFFFFF"/>
                    </a:solidFill>
                  </a:tcPr>
                </a:tc>
                <a:tc>
                  <a:txBody>
                    <a:bodyPr wrap="square"/>
                    <a:lstStyle/>
                    <a:p>
                      <a:r>
                        <a:rPr sz="1600" b="0" i="0">
                          <a:solidFill>
                            <a:srgbClr val="263238"/>
                          </a:solidFill>
                          <a:latin typeface="Segoe UI"/>
                          <a:ea typeface="Segoe UI"/>
                          <a:cs typeface="Segoe UI"/>
                        </a:rPr>
                        <a:t>Quy tắc rút ra (ví dụ luôn bọc ngoặc OR trong @Key)</a:t>
                      </a:r>
                    </a:p>
                  </a:txBody>
                  <a:tcPr marL="73152" marR="73152" marT="36576" marB="36576" anchor="ctr">
                    <a:solidFill>
                      <a:srgbClr val="FFFFFF"/>
                    </a:solidFill>
                  </a:tcPr>
                </a:tc>
              </a:tr>
            </a:tbl>
          </a:graphicData>
        </a:graphic>
      </p:graphicFrame>
      <p:sp>
        <p:nvSpPr>
          <p:cNvPr id="8" name="Rounded Rectangle 7"/>
          <p:cNvSpPr/>
          <p:nvPr/>
        </p:nvSpPr>
        <p:spPr>
          <a:xfrm>
            <a:off x="640080" y="5120640"/>
            <a:ext cx="10927080" cy="73152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5120640"/>
            <a:ext cx="91440" cy="73152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5175503"/>
            <a:ext cx="10607040" cy="640080"/>
          </a:xfrm>
          <a:prstGeom prst="rect">
            <a:avLst/>
          </a:prstGeom>
          <a:noFill/>
        </p:spPr>
        <p:txBody>
          <a:bodyPr wrap="square" anchor="ctr" lIns="45720" rIns="45720" tIns="27432" bIns="27432">
            <a:spAutoFit/>
          </a:bodyPr>
          <a:lstStyle/>
          <a:p>
            <a:pPr algn="l"/>
            <a:r>
              <a:rPr sz="1500" b="1" i="0">
                <a:solidFill>
                  <a:srgbClr val="F2B705"/>
                </a:solidFill>
                <a:latin typeface="Segoe UI"/>
                <a:ea typeface="Segoe UI"/>
                <a:cs typeface="Segoe UI"/>
              </a:rPr>
              <a:t>Lưu ý:</a:t>
            </a:r>
            <a:r>
              <a:rPr sz="1500" b="0" i="0">
                <a:solidFill>
                  <a:srgbClr val="263238"/>
                </a:solidFill>
                <a:latin typeface="Segoe UI"/>
                <a:ea typeface="Segoe UI"/>
                <a:cs typeface="Segoe UI"/>
              </a:rPr>
              <a:t> Triển khai </a:t>
            </a:r>
            <a:r>
              <a:rPr sz="1500" b="1" i="0">
                <a:solidFill>
                  <a:srgbClr val="1F4E79"/>
                </a:solidFill>
                <a:latin typeface="Segoe UI"/>
                <a:ea typeface="Segoe UI"/>
                <a:cs typeface="Segoe UI"/>
              </a:rPr>
              <a:t>đủ bộ</a:t>
            </a:r>
            <a:r>
              <a:rPr sz="1500" b="0" i="0">
                <a:solidFill>
                  <a:srgbClr val="263238"/>
                </a:solidFill>
                <a:latin typeface="Segoe UI"/>
                <a:ea typeface="Segoe UI"/>
                <a:cs typeface="Segoe UI"/>
              </a:rPr>
              <a:t>: procedure + Filter / Grid / Report + </a:t>
            </a:r>
            <a:r>
              <a:rPr sz="1400" b="0" i="0">
                <a:solidFill>
                  <a:srgbClr val="B02A2A"/>
                </a:solidFill>
                <a:latin typeface="Consolas"/>
                <a:ea typeface="Consolas"/>
                <a:cs typeface="Consolas"/>
              </a:rPr>
              <a:t>Main\*.aspx</a:t>
            </a:r>
            <a:r>
              <a:rPr sz="1500" b="0" i="0">
                <a:solidFill>
                  <a:srgbClr val="263238"/>
                </a:solidFill>
                <a:latin typeface="Segoe UI"/>
                <a:ea typeface="Segoe UI"/>
                <a:cs typeface="Segoe UI"/>
              </a:rPr>
              <a:t> + </a:t>
            </a:r>
            <a:r>
              <a:rPr sz="1400" b="0" i="0">
                <a:solidFill>
                  <a:srgbClr val="B02A2A"/>
                </a:solidFill>
                <a:latin typeface="Consolas"/>
                <a:ea typeface="Consolas"/>
                <a:cs typeface="Consolas"/>
              </a:rPr>
              <a:t>wcommand</a:t>
            </a:r>
            <a:r>
              <a:rPr sz="1500" b="0" i="0">
                <a:solidFill>
                  <a:srgbClr val="263238"/>
                </a:solidFill>
                <a:latin typeface="Segoe UI"/>
                <a:ea typeface="Segoe UI"/>
                <a:cs typeface="Segoe UI"/>
              </a:rPr>
              <a:t> (+ mẫu in). Thiếu một thứ là khách sẽ gặp lỗi.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Thực hành tại lớp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15</a:t>
            </a:r>
          </a:p>
        </p:txBody>
      </p:sp>
      <p:sp>
        <p:nvSpPr>
          <p:cNvPr id="7" name="TextBox 6"/>
          <p:cNvSpPr txBox="1"/>
          <p:nvPr/>
        </p:nvSpPr>
        <p:spPr>
          <a:xfrm>
            <a:off x="640080" y="1371600"/>
            <a:ext cx="10881360" cy="3108960"/>
          </a:xfrm>
          <a:prstGeom prst="rect">
            <a:avLst/>
          </a:prstGeom>
          <a:noFill/>
        </p:spPr>
        <p:txBody>
          <a:bodyPr wrap="square">
            <a:spAutoFit/>
          </a:bodyPr>
          <a:lstStyle/>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1.</a:t>
            </a:r>
            <a:r>
              <a:rPr sz="2000" b="0" i="0">
                <a:solidFill>
                  <a:srgbClr val="263238"/>
                </a:solidFill>
                <a:latin typeface="Segoe UI"/>
                <a:ea typeface="Segoe UI"/>
                <a:cs typeface="Segoe UI"/>
              </a:rPr>
              <a:t> Chạy </a:t>
            </a:r>
            <a:r>
              <a:rPr sz="1900" b="0" i="0">
                <a:solidFill>
                  <a:srgbClr val="B02A2A"/>
                </a:solidFill>
                <a:latin typeface="Consolas"/>
                <a:ea typeface="Consolas"/>
                <a:cs typeface="Consolas"/>
              </a:rPr>
              <a:t>10_TaiHienLoiSQL.sql</a:t>
            </a:r>
            <a:r>
              <a:rPr sz="2000" b="0" i="0">
                <a:solidFill>
                  <a:srgbClr val="263238"/>
                </a:solidFill>
                <a:latin typeface="Segoe UI"/>
                <a:ea typeface="Segoe UI"/>
                <a:cs typeface="Segoe UI"/>
              </a:rPr>
              <a:t> trên FBOSP2422_App; với mỗi mục Lxx tự sửa câu lệnh cho chạy được, với mỗi mục Sxx giải thích vì sao kết quả sai.</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2.</a:t>
            </a:r>
            <a:r>
              <a:rPr sz="2000" b="0" i="0">
                <a:solidFill>
                  <a:srgbClr val="263238"/>
                </a:solidFill>
                <a:latin typeface="Segoe UI"/>
                <a:ea typeface="Segoe UI"/>
                <a:cs typeface="Segoe UI"/>
              </a:rPr>
              <a:t> Mỗi học viên nhận 2 tình huống lỗi, làm theo quy trình 6 bước, trình bày cách tìm ra nguyên nhân.</a:t>
            </a:r>
          </a:p>
        </p:txBody>
      </p:sp>
      <p:sp>
        <p:nvSpPr>
          <p:cNvPr id="8" name="Rounded Rectangle 7"/>
          <p:cNvSpPr/>
          <p:nvPr/>
        </p:nvSpPr>
        <p:spPr>
          <a:xfrm>
            <a:off x="640080" y="4434840"/>
            <a:ext cx="10927080" cy="68580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434840"/>
            <a:ext cx="91440" cy="6858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89703"/>
            <a:ext cx="10607040" cy="59436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Trên database:</a:t>
            </a:r>
            <a:r>
              <a:rPr sz="1500" b="0" i="0">
                <a:solidFill>
                  <a:srgbClr val="263238"/>
                </a:solidFill>
                <a:latin typeface="Segoe UI"/>
                <a:ea typeface="Segoe UI"/>
                <a:cs typeface="Segoe UI"/>
              </a:rPr>
              <a:t> Sổ bài tập thực hành — Buổi 9 (FBOSP2422_App / _Sys, chạy </a:t>
            </a:r>
            <a:r>
              <a:rPr sz="1400" b="0" i="0">
                <a:solidFill>
                  <a:srgbClr val="B02A2A"/>
                </a:solidFill>
                <a:latin typeface="Consolas"/>
                <a:ea typeface="Consolas"/>
                <a:cs typeface="Consolas"/>
              </a:rPr>
              <a:t>00_TaoDuLieuMau.sql</a:t>
            </a:r>
            <a:r>
              <a:rPr sz="1500" b="0" i="0">
                <a:solidFill>
                  <a:srgbClr val="263238"/>
                </a:solidFill>
                <a:latin typeface="Segoe UI"/>
                <a:ea typeface="Segoe UI"/>
                <a:cs typeface="Segoe UI"/>
              </a:rPr>
              <a:t> trước).</a:t>
            </a:r>
          </a:p>
        </p:txBody>
      </p:sp>
      <p:sp>
        <p:nvSpPr>
          <p:cNvPr id="11" name="Rounded Rectangle 10"/>
          <p:cNvSpPr/>
          <p:nvPr/>
        </p:nvSpPr>
        <p:spPr>
          <a:xfrm>
            <a:off x="640080" y="5257800"/>
            <a:ext cx="10927080" cy="914400"/>
          </a:xfrm>
          <a:prstGeom prst="roundRect">
            <a:avLst>
              <a:gd name="adj" fmla="val 8000"/>
            </a:avLst>
          </a:prstGeom>
          <a:solidFill>
            <a:srgbClr val="FFFFFF"/>
          </a:solidFill>
          <a:ln w="15875">
            <a:solidFill>
              <a:srgbClr val="27AE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257800"/>
            <a:ext cx="91440" cy="91440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5312664"/>
            <a:ext cx="10607040" cy="822960"/>
          </a:xfrm>
          <a:prstGeom prst="rect">
            <a:avLst/>
          </a:prstGeom>
          <a:noFill/>
        </p:spPr>
        <p:txBody>
          <a:bodyPr wrap="square" anchor="ctr" lIns="45720" rIns="45720" tIns="27432" bIns="27432">
            <a:spAutoFit/>
          </a:bodyPr>
          <a:lstStyle/>
          <a:p>
            <a:pPr algn="l"/>
            <a:r>
              <a:rPr sz="1600" b="1" i="0">
                <a:solidFill>
                  <a:srgbClr val="27AE60"/>
                </a:solidFill>
                <a:latin typeface="Segoe UI"/>
                <a:ea typeface="Segoe UI"/>
                <a:cs typeface="Segoe UI"/>
              </a:rPr>
              <a:t>Bài tập:</a:t>
            </a:r>
            <a:r>
              <a:rPr sz="1600" b="0" i="0">
                <a:solidFill>
                  <a:srgbClr val="263238"/>
                </a:solidFill>
                <a:latin typeface="Segoe UI"/>
                <a:ea typeface="Segoe UI"/>
                <a:cs typeface="Segoe UI"/>
              </a:rPr>
              <a:t> </a:t>
            </a:r>
            <a:r>
              <a:rPr sz="1600" b="1" i="0">
                <a:solidFill>
                  <a:srgbClr val="1F4E79"/>
                </a:solidFill>
                <a:latin typeface="Segoe UI"/>
                <a:ea typeface="Segoe UI"/>
                <a:cs typeface="Segoe UI"/>
              </a:rPr>
              <a:t>Về nhà:</a:t>
            </a:r>
            <a:r>
              <a:rPr sz="1600" b="0" i="0">
                <a:solidFill>
                  <a:srgbClr val="263238"/>
                </a:solidFill>
                <a:latin typeface="Segoe UI"/>
                <a:ea typeface="Segoe UI"/>
                <a:cs typeface="Segoe UI"/>
              </a:rPr>
              <a:t> Ghi lại 1 lỗi đã gặp trong tuần theo mẫu gồm: hiện tượng, nguyên nhân, cách tìm ra, cách sửa, cách phòng.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Tự kiểm tra</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9 · Bắt lỗi và xử lý sự cố thực tế</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16</a:t>
            </a:r>
          </a:p>
        </p:txBody>
      </p:sp>
      <p:sp>
        <p:nvSpPr>
          <p:cNvPr id="7" name="TextBox 6"/>
          <p:cNvSpPr txBox="1"/>
          <p:nvPr/>
        </p:nvSpPr>
        <p:spPr>
          <a:xfrm>
            <a:off x="640080" y="1371600"/>
            <a:ext cx="10881360" cy="4754880"/>
          </a:xfrm>
          <a:prstGeom prst="rect">
            <a:avLst/>
          </a:prstGeom>
          <a:noFill/>
        </p:spPr>
        <p:txBody>
          <a:bodyPr wrap="square">
            <a:spAutoFit/>
          </a:bodyPr>
          <a:lstStyle/>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1.</a:t>
            </a:r>
            <a:r>
              <a:rPr sz="2100" b="0" i="0">
                <a:solidFill>
                  <a:srgbClr val="263238"/>
                </a:solidFill>
                <a:latin typeface="Segoe UI"/>
                <a:ea typeface="Segoe UI"/>
                <a:cs typeface="Segoe UI"/>
              </a:rPr>
              <a:t> Bước đầu tiên khi nhận báo lỗi là gì?</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2.</a:t>
            </a:r>
            <a:r>
              <a:rPr sz="2100" b="0" i="0">
                <a:solidFill>
                  <a:srgbClr val="263238"/>
                </a:solidFill>
                <a:latin typeface="Segoe UI"/>
                <a:ea typeface="Segoe UI"/>
                <a:cs typeface="Segoe UI"/>
              </a:rPr>
              <a:t> Báo cáo lệch số với sổ cái thì bắt đầu kiểm tra từ đâu?</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3.</a:t>
            </a:r>
            <a:r>
              <a:rPr sz="2100" b="0" i="0">
                <a:solidFill>
                  <a:srgbClr val="263238"/>
                </a:solidFill>
                <a:latin typeface="Segoe UI"/>
                <a:ea typeface="Segoe UI"/>
                <a:cs typeface="Segoe UI"/>
              </a:rPr>
              <a:t> Lỗi chỉ xảy ra với 1 user thì nghĩ tới gì trước?</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4.</a:t>
            </a:r>
            <a:r>
              <a:rPr sz="2100" b="0" i="0">
                <a:solidFill>
                  <a:srgbClr val="263238"/>
                </a:solidFill>
                <a:latin typeface="Segoe UI"/>
                <a:ea typeface="Segoe UI"/>
                <a:cs typeface="Segoe UI"/>
              </a:rPr>
              <a:t> Procedure dùng SQL động chạy không lỗi nhưng không ra dòng nào. Nghi ngờ gì đầu tiên?</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5.</a:t>
            </a:r>
            <a:r>
              <a:rPr sz="2100" b="0" i="0">
                <a:solidFill>
                  <a:srgbClr val="263238"/>
                </a:solidFill>
                <a:latin typeface="Segoe UI"/>
                <a:ea typeface="Segoe UI"/>
                <a:cs typeface="Segoe UI"/>
              </a:rPr>
              <a:t> Vì sao </a:t>
            </a:r>
            <a:r>
              <a:rPr sz="2000" b="0" i="0">
                <a:solidFill>
                  <a:srgbClr val="B02A2A"/>
                </a:solidFill>
                <a:latin typeface="Consolas"/>
                <a:ea typeface="Consolas"/>
                <a:cs typeface="Consolas"/>
              </a:rPr>
              <a:t>WHERE ma NOT IN (SELECT ma_cha FROM …)</a:t>
            </a:r>
            <a:r>
              <a:rPr sz="2100" b="0" i="0">
                <a:solidFill>
                  <a:srgbClr val="263238"/>
                </a:solidFill>
                <a:latin typeface="Segoe UI"/>
                <a:ea typeface="Segoe UI"/>
                <a:cs typeface="Segoe UI"/>
              </a:rPr>
              <a:t> có thể không ra dòng nào?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