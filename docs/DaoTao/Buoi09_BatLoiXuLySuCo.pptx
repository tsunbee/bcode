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9: Bắt lỗi và xử lý sự cố thực tế (Nâng cao, 3 giờ).</a:t>
            </a:r>
          </a:p>
          <a:p>
            <a:r>
              <a:t>Chuẩn bị: Dự án thử; một số tình huống lỗi người hướng dẫn chuẩn bị sẵn.</a:t>
            </a:r>
          </a:p>
          <a:p>
            <a:r>
              <a:t>Nhắc lại bài tập về nhà của buổi trước trước khi vào nội dung mới (5–10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a:t>
            </a:r>
          </a:p>
          <a:p>
            <a:r>
              <a:t>- Có quy trình chung để tìm nguyên nhân lỗi</a:t>
            </a:r>
          </a:p>
          <a:p>
            <a:r>
              <a:t>- Nhận ra các lỗi Fast hay gặp: số liệu lệch, phân kỳ, đơn vị cơ sở, controller, mẫu in, triển khai</a:t>
            </a:r>
          </a:p>
          <a:p>
            <a:r>
              <a:t>- Biết dùng đúng công cụ Bcode cho từng loại lỗi</a:t>
            </a:r>
          </a:p>
          <a:p>
            <a:r>
              <a:t>Lịch trình:</a:t>
            </a:r>
          </a:p>
          <a:p>
            <a:r>
              <a:t>1. Quy trình bắt lỗi 6 bước (30')</a:t>
            </a:r>
          </a:p>
          <a:p>
            <a:r>
              <a:t>2. Các nhóm lỗi thực tế (90')</a:t>
            </a:r>
          </a:p>
          <a:p>
            <a:r>
              <a:t>3. Thực hành xử lý tình huống (60')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6 bước. Phần lớn thời gian sửa lỗi bị mất vì sửa sai chỗ.</a:t>
            </a:r>
          </a:p>
          <a:p>
            <a:r>
              <a:t>1. Tái hiện đúng user, đơn vị, điều kiện; trên web bấm Chi tiết hoặc F12 → Network → Response để lấy thông báo gốc.</a:t>
            </a:r>
          </a:p>
          <a:p>
            <a:r>
              <a:t>2. Bật SQL Profiler và thao tác lại: không thấy SQL nào chạy nghĩa là lỗi ở menu / trang / controller; thấy exec thì copy sang SQL Query.</a:t>
            </a:r>
          </a:p>
          <a:p>
            <a:r>
              <a:t>3. Kiểm đúng bản đang chạy: đúng database, procedure trên DB đúng bản vừa sửa, file controller trên site đúng bản vừa sửa.</a:t>
            </a:r>
          </a:p>
          <a:p>
            <a:r>
              <a:t>4. Chạy lại với cùng tham số trong BEGIN TRAN / ROLLBACK; xem ErrorLine, thêm PRINT theo bước hoặc Debug từng bước.</a:t>
            </a:r>
          </a:p>
          <a:p>
            <a:r>
              <a:t>5. Số lệch: so với số dư / phát sinh từng TK — thường khớp đúng một TK hoặc một phiếu; hỏi lại nghiệp vụ trước khi kết luận nhập sai.</a:t>
            </a:r>
          </a:p>
          <a:p>
            <a:r>
              <a:t>6. Sửa nhỏ nhất có thể, chạy lại kịch bản lỗi, ghi lỗi theo mẫu.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lỗi gặp nhiều nhất khi kiểm báo cáo ở dự án thật.</a:t>
            </a:r>
          </a:p>
          <a:p>
            <a:r>
              <a:t>Một: chuỗi @Key có OR không bọc ngoặc — vì AND ưu tiên hơn OR, mọi điều kiện nối phía sau (đơn vị, tài khoản, ngày) bị vô hiệu: lọc đơn vị 01 vẫn ra công ty khác, drill-down trống. Luôn bọc ngoặc đoạn có OR.</a:t>
            </a:r>
          </a:p>
          <a:p>
            <a:r>
              <a:t>Hai: UPDATE ... FROM với join một-nhiều: SQL Server chỉ lấy một dòng bất kỳ, không cộng — báo cáo mỗi lần chạy ra một số khác. Gộp trước bằng SUM / OUTER APPLY rồi mới gán.</a:t>
            </a:r>
          </a:p>
          <a:p>
            <a:r>
              <a:t>Các lỗi khác: join 2 bảng chi tiết chỉ theo khoá cha làm số bị nhân (dùng UNION ALL + GROUP BY); thêm cột rồi UPDATE cùng batch (tách GO); tự tạo #temp trùng tên bảng tạm của procedure khi test; tham số có khoảng trắng đầu; danh sách TK dùng LIKE nguyên chuỗi (tách bằng Split); RANK cho số thứ tự trùng (dùng ROW_NUMBER); SET ANSI_NULLS OFF trong thân proc không có tác dụng.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sai số có ba nguồn: procedure / công thức sai, khai báo chỉ tiêu / mẫu sai, dữ liệu nhập sai. Đi theo thứ tự.</a:t>
            </a:r>
          </a:p>
          <a:p>
            <a:r>
              <a:t>Ví dụ thật (đã khái quát): báo cáo lưu chuyển tiền tệ có chỉ tiêu kiểm tra khác 0. Lấy số lệch so với cân đối phát sinh thì khớp đúng số dư một TK chi phí — do có phiếu nhập / sửa lùi ngày sau khi đã kết chuyển. Sửa: chạy lại kết chuyển rồi khoá sổ. Lần khác: chỉ tiêu thiếu một tài khoản; bút toán không dùng tiền bị tính hai lần; đặt ngược chiều Nợ / Có của dòng thu / chi ra 0.</a:t>
            </a:r>
          </a:p>
          <a:p>
            <a:r>
              <a:t>Ví dụ khác: sổ đối chiếu công nợ cột tổng sai đúng bằng một khoản — do một câu UPDATE phía sau ghi đè. Pivot tên cột lệch số — header sắp theo tên, dữ liệu sắp theo mã.</a:t>
            </a:r>
          </a:p>
          <a:p>
            <a:r>
              <a:t>Bcode có Check LCTT / CĐKT trong menu Triển khai để chỉ ra chỉ tiêu lệch.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Lỗi phía web / controller.</a:t>
            </a:r>
          </a:p>
          <a:p>
            <a:r>
              <a:t>"Có lỗi chưa xác định" mà Profiler không thấy SQL nào: lỗi nằm trước procedure — thường thiếu dòng wcommand của trang drill-down hoặc thiếu file Main\x.aspx (404). Bấm Chi tiết hoặc F12 → Network → Response để xem lỗi thật.</a:t>
            </a:r>
          </a:p>
          <a:p>
            <a:r>
              <a:t>File .f phải lưu UTF-8 có BOM + CRLF; thiếu BOM thì chữ lạ; dán nội dung vào công cụ khác có thể nhân đôi BOM → Data at the root level is invalid.</a:t>
            </a:r>
          </a:p>
          <a:p>
            <a:r>
              <a:t>Fast cache controller: xoá .f cũ, Refresh Web.config, Clear Structure App.</a:t>
            </a:r>
          </a:p>
          <a:p>
            <a:r>
              <a:t>GetGridViewPage failed: trong Filter Processing phải select các biến tiêu đề trước rồi mới exec procedure, và không đặt cột trùng tên field lưới.</a:t>
            </a:r>
          </a:p>
          <a:p>
            <a:r>
              <a:t>Drill-down: g._fields đánh số từ 0, _activeColumn từ 1.</a:t>
            </a:r>
          </a:p>
          <a:p>
            <a:r>
              <a:t>Trang aspx: Fast gộp HTML thành một dòng nên comment // trong JS nuốt phần sau — dùng /* */. Dòng 1 trống / BOM trước &lt;%@ Page cũng lỗi.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Rất nhiều lần "sửa rồi mà vẫn lỗi" là do chạy nhầm database (App / Sys, nhầm dự án), ALTER vào bản _bk, mở tab lấy lại nội dung cũ của procedure, hoặc site chưa nhận file mới.</a:t>
            </a:r>
          </a:p>
          <a:p>
            <a:r>
              <a:t>Ba câu kiểm: modify_date và OBJECT_DEFINITION LIKE đoạn mới (lưu ý đoạn cũ nằm trong comment vẫn làm LIKE khớp — tìm đoạn chỉ bản mới có); sys.parameters để đếm tham số; dm_exec_procedure_stats để biết web vừa gọi procedure nào.</a:t>
            </a:r>
          </a:p>
          <a:p>
            <a:r>
              <a:t>Trong Bcode: nhìn ô WS đang là database nào; Lịch sử sửa procedure cho biết bản nào đã chạy; BcodeViewer hiện đường dẫn đầy đủ của file đang sửa; File Lookup có Last Modified.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bấm Lưu một hoá đơn bán (HDA), command Inserted của controller (bị mã hoá) gửi xuống SQL cả chuỗi lệnh — bật Profiler là đọc được nguyên văn.</a:t>
            </a:r>
          </a:p>
          <a:p>
            <a:r>
              <a:t>Thứ tự: kiểm tra (ngày khoá sổ, mã số thuế, tồn âm, số chứng từ) → cấp stt_rec bằng GetIdentityNumber → ghi m81 / d81, ctgt21, hoá đơn điện tử hddt00 → UpdateInquiryTable ghi i81, UpdateGrandTable ghi c81 → cập nhật tồn hiện thời (cộng dồn vào cdvt13…) → Posting$Inventory ghi sổ kho r70 (và r90 nếu hoá đơn kiêm phiếu xuất) → fs_PostSVTran dựng bút toán vào bảng trung gian ct00, fs20_AfterUpdateGL, rồi chép sang r00; sổ thuế r20 từ ctgt20 → AfterUpdate$SV, CurrentCustomerBalance cập nhật dư nợ hiện thời.</a:t>
            </a:r>
          </a:p>
          <a:p>
            <a:r>
              <a:t>status 0 chỉ lưu, 1 đưa vào p00 chờ chuyển, 2 ghi sổ cái ngay.</a:t>
            </a:r>
          </a:p>
          <a:p>
            <a:r>
              <a:t>Bài học khi bắt lỗi "báo cáo không thấy chứng từ": kiểm từng sổ theo đúng chuỗi này — sổ cái có mà sổ kho không có, hay ngược lại. Sổ bài tập có script 01_PostHoaDonBan.sql làm lại chuỗi này cho dữ liệu mẫu (bài 1.10, 9.7).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lỗi sửa xong ghi theo mẫu này vào ghi chú yêu cầu hoặc Note của Bcode. Sau vài tháng, đây là kho kinh nghiệm của cả nhóm.</a:t>
            </a:r>
          </a:p>
          <a:p>
            <a:r>
              <a:t>Triển khai sửa lỗi: giao procedure bằng file .sql, chạy xong kiểm sys.parameters / modify_date; triển khai đủ bộ procedure + controller + trang + wcommand (+ mẫu in); procedure có UPDATE bảng thật thì test trong BEGIN TRAN / ROLLBACK.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viên làm trên dự án thử, người hướng dẫn đi kiểm từng máy. Ai xong sớm làm luôn bài tập về nhà.</a:t>
            </a:r>
          </a:p>
          <a:p>
            <a:r>
              <a:t>Bài tập về nhà: Ghi lại 1 lỗi đã gặp trong tuần theo mẫu: hiện tượng → nguyên nhân → cách tìm → cách sửa → cách phòng.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nhanh cả lớp; đáp án:</a:t>
            </a:r>
          </a:p>
          <a:p>
            <a:r>
              <a:t>1. Tái hiện được lỗi (đúng user, đúng dữ liệu, đúng màn hình) và ghi lại thông báo.</a:t>
            </a:r>
          </a:p>
          <a:p>
            <a:r>
              <a:t>2. Chạy lại procedure với cùng tham số (Profiler), đối chiếu từng nhóm chứng từ / kỳ / đơn vị.</a:t>
            </a:r>
          </a:p>
          <a:p>
            <a:r>
              <a:t>3. Quyền / đơn vị cơ sở / tham số của user (lọc theo @@userID, @@unit).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280160"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058400" cy="548640"/>
          </a:xfrm>
          <a:prstGeom prst="rect">
            <a:avLst/>
          </a:prstGeom>
          <a:noFill/>
        </p:spPr>
        <p:txBody>
          <a:bodyPr wrap="square" anchor="t" lIns="45720" rIns="45720" tIns="27432" bIns="27432">
            <a:spAutoFit/>
          </a:bodyPr>
          <a:lstStyle/>
          <a:p>
            <a:pPr algn="l"/>
            <a:r>
              <a:rPr sz="1800" b="1" i="0">
                <a:solidFill>
                  <a:srgbClr val="F2B705"/>
                </a:solidFill>
                <a:latin typeface="Segoe UI"/>
                <a:ea typeface="Segoe UI"/>
                <a:cs typeface="Segoe UI"/>
              </a:rPr>
              <a:t>BUỔI 9 / 10  ·  NÂNG CAO</a:t>
            </a:r>
          </a:p>
        </p:txBody>
      </p:sp>
      <p:sp>
        <p:nvSpPr>
          <p:cNvPr id="5" name="TextBox 4"/>
          <p:cNvSpPr txBox="1"/>
          <p:nvPr/>
        </p:nvSpPr>
        <p:spPr>
          <a:xfrm>
            <a:off x="777240" y="1554480"/>
            <a:ext cx="10789920" cy="914400"/>
          </a:xfrm>
          <a:prstGeom prst="rect">
            <a:avLst/>
          </a:prstGeom>
          <a:noFill/>
        </p:spPr>
        <p:txBody>
          <a:bodyPr wrap="square" anchor="t" lIns="45720" rIns="45720" tIns="27432" bIns="27432">
            <a:spAutoFit/>
          </a:bodyPr>
          <a:lstStyle/>
          <a:p>
            <a:pPr algn="l"/>
            <a:r>
              <a:rPr sz="2200" b="0" i="0">
                <a:solidFill>
                  <a:srgbClr val="D6E4F0"/>
                </a:solidFill>
                <a:latin typeface="Segoe UI"/>
                <a:ea typeface="Segoe UI"/>
                <a:cs typeface="Segoe UI"/>
              </a:rPr>
              <a:t>FastBusiness Online &amp; Bcode</a:t>
            </a:r>
          </a:p>
        </p:txBody>
      </p:sp>
      <p:sp>
        <p:nvSpPr>
          <p:cNvPr id="6" name="TextBox 5"/>
          <p:cNvSpPr txBox="1"/>
          <p:nvPr/>
        </p:nvSpPr>
        <p:spPr>
          <a:xfrm>
            <a:off x="777240" y="2606040"/>
            <a:ext cx="10789920" cy="2194560"/>
          </a:xfrm>
          <a:prstGeom prst="rect">
            <a:avLst/>
          </a:prstGeom>
          <a:noFill/>
        </p:spPr>
        <p:txBody>
          <a:bodyPr wrap="square" anchor="t" lIns="45720" rIns="45720" tIns="27432" bIns="27432">
            <a:spAutoFit/>
          </a:bodyPr>
          <a:lstStyle/>
          <a:p>
            <a:pPr algn="l"/>
            <a:r>
              <a:rPr sz="4400" b="1" i="0">
                <a:solidFill>
                  <a:srgbClr val="FFFFFF"/>
                </a:solidFill>
                <a:latin typeface="Segoe UI"/>
                <a:ea typeface="Segoe UI"/>
                <a:cs typeface="Segoe UI"/>
              </a:rPr>
              <a:t>Bắt lỗi và xử lý sự cố thực tế</a:t>
            </a:r>
          </a:p>
        </p:txBody>
      </p:sp>
      <p:sp>
        <p:nvSpPr>
          <p:cNvPr id="7" name="TextBox 6"/>
          <p:cNvSpPr txBox="1"/>
          <p:nvPr/>
        </p:nvSpPr>
        <p:spPr>
          <a:xfrm>
            <a:off x="804672" y="5760720"/>
            <a:ext cx="10515600" cy="548640"/>
          </a:xfrm>
          <a:prstGeom prst="rect">
            <a:avLst/>
          </a:prstGeom>
          <a:noFill/>
        </p:spPr>
        <p:txBody>
          <a:bodyPr wrap="square" anchor="t" lIns="45720" rIns="45720" tIns="27432" bIns="27432">
            <a:spAutoFit/>
          </a:bodyPr>
          <a:lstStyle/>
          <a:p>
            <a:pPr algn="l"/>
            <a:r>
              <a:rPr sz="1400" b="0" i="0">
                <a:solidFill>
                  <a:srgbClr val="B8CADB"/>
                </a:solidFill>
                <a:latin typeface="Segoe UI"/>
                <a:ea typeface="Segoe UI"/>
                <a:cs typeface="Segoe UI"/>
              </a:rPr>
              <a:t>Thời lượng 3 giờ · tài liệu chi tiết: DaoTao_Fast_Bcode.docx — Buổi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Mục tiêu và lịch trình</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2</a:t>
            </a:r>
          </a:p>
        </p:txBody>
      </p:sp>
      <p:sp>
        <p:nvSpPr>
          <p:cNvPr id="7" name="TextBox 6"/>
          <p:cNvSpPr txBox="1"/>
          <p:nvPr/>
        </p:nvSpPr>
        <p:spPr>
          <a:xfrm>
            <a:off x="640080" y="1325880"/>
            <a:ext cx="5120640" cy="411480"/>
          </a:xfrm>
          <a:prstGeom prst="rect">
            <a:avLst/>
          </a:prstGeom>
          <a:noFill/>
        </p:spPr>
        <p:txBody>
          <a:bodyPr wrap="square" anchor="t" lIns="45720" rIns="45720" tIns="27432" bIns="27432">
            <a:spAutoFit/>
          </a:bodyPr>
          <a:lstStyle/>
          <a:p>
            <a:pPr algn="l"/>
            <a:r>
              <a:rPr sz="1800" b="1" i="0">
                <a:solidFill>
                  <a:srgbClr val="1F4E79"/>
                </a:solidFill>
                <a:latin typeface="Segoe UI"/>
                <a:ea typeface="Segoe UI"/>
                <a:cs typeface="Segoe UI"/>
              </a:rPr>
              <a:t>Học xong buổi này, bạn:</a:t>
            </a:r>
          </a:p>
        </p:txBody>
      </p:sp>
      <p:sp>
        <p:nvSpPr>
          <p:cNvPr id="8" name="TextBox 7"/>
          <p:cNvSpPr txBox="1"/>
          <p:nvPr/>
        </p:nvSpPr>
        <p:spPr>
          <a:xfrm>
            <a:off x="640080" y="1783080"/>
            <a:ext cx="5212080" cy="42062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Có quy trình chung để tìm nguyên nhân lỗi</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Nhận ra các lỗi Fast hay gặp: số liệu lệch, phân kỳ, đơn vị cơ sở, controller, mẫu in, triển khai</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Biết dùng đúng công cụ Bcode cho từng loại lỗi</a:t>
            </a:r>
          </a:p>
        </p:txBody>
      </p:sp>
      <p:graphicFrame>
        <p:nvGraphicFramePr>
          <p:cNvPr id="9" name="Table 8"/>
          <p:cNvGraphicFramePr>
            <a:graphicFrameLocks noGrp="1"/>
          </p:cNvGraphicFramePr>
          <p:nvPr/>
        </p:nvGraphicFramePr>
        <p:xfrm>
          <a:off x="6126480" y="1371600"/>
          <a:ext cx="5486400" cy="2011680"/>
        </p:xfrm>
        <a:graphic>
          <a:graphicData uri="http://schemas.openxmlformats.org/drawingml/2006/table">
            <a:tbl>
              <a:tblPr firstRow="1" bandRow="1">
                <a:tableStyleId>{5940675A-B579-460E-94D1-54222C63F5DA}</a:tableStyleId>
              </a:tblPr>
              <a:tblGrid>
                <a:gridCol w="457200"/>
                <a:gridCol w="4023360"/>
                <a:gridCol w="1005840"/>
              </a:tblGrid>
              <a:tr h="502920">
                <a:tc>
                  <a:txBody>
                    <a:bodyPr wrap="square"/>
                    <a:lstStyle/>
                    <a:p>
                      <a:r>
                        <a:rPr sz="1400" b="1" i="0">
                          <a:solidFill>
                            <a:srgbClr val="FFFFFF"/>
                          </a:solidFill>
                          <a:latin typeface="Segoe UI"/>
                          <a:ea typeface="Segoe UI"/>
                          <a:cs typeface="Segoe UI"/>
                        </a:rPr>
                        <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Nội dung</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Thời gian</a:t>
                      </a:r>
                    </a:p>
                  </a:txBody>
                  <a:tcPr marL="73152" marR="73152" marT="36576" marB="36576" anchor="ctr">
                    <a:solidFill>
                      <a:srgbClr val="1F4E79"/>
                    </a:solidFill>
                  </a:tcPr>
                </a:tc>
              </a:tr>
              <a:tr h="502920">
                <a:tc>
                  <a:txBody>
                    <a:bodyPr wrap="square"/>
                    <a:lstStyle/>
                    <a:p>
                      <a:r>
                        <a:rPr sz="1400" b="0" i="0">
                          <a:solidFill>
                            <a:srgbClr val="263238"/>
                          </a:solidFill>
                          <a:latin typeface="Segoe UI"/>
                          <a:ea typeface="Segoe UI"/>
                          <a:cs typeface="Segoe UI"/>
                        </a:rPr>
                        <a:t>1</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Quy trình bắt lỗi 6 bước</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30'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2</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Các nhóm lỗi thực tế</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90'</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3</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Thực hành xử lý tình huống</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60'</a:t>
                      </a:r>
                    </a:p>
                  </a:txBody>
                  <a:tcPr marL="73152" marR="73152" marT="36576" marB="36576" anchor="ctr">
                    <a:solidFill>
                      <a:srgbClr val="FFFFFF"/>
                    </a:solidFill>
                  </a:tcPr>
                </a:tc>
              </a:tr>
            </a:tbl>
          </a:graphicData>
        </a:graphic>
      </p:graphicFrame>
      <p:sp>
        <p:nvSpPr>
          <p:cNvPr id="10" name="Rounded Rectangle 9"/>
          <p:cNvSpPr/>
          <p:nvPr/>
        </p:nvSpPr>
        <p:spPr>
          <a:xfrm>
            <a:off x="640080" y="5623560"/>
            <a:ext cx="10927080" cy="64008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623560"/>
            <a:ext cx="91440" cy="6400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Chuẩn bị: Dự án thử; một số tình huống lỗi người hướng dẫn chuẩn bị sẵn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Quy trình bắt lỗi 6 bước</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3</a:t>
            </a:r>
          </a:p>
        </p:txBody>
      </p:sp>
      <p:sp>
        <p:nvSpPr>
          <p:cNvPr id="7" name="Rounded Rectangle 6"/>
          <p:cNvSpPr/>
          <p:nvPr/>
        </p:nvSpPr>
        <p:spPr>
          <a:xfrm>
            <a:off x="640080" y="1828800"/>
            <a:ext cx="1577339" cy="173736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1. Tái hiện</a:t>
            </a:r>
          </a:p>
        </p:txBody>
      </p:sp>
      <p:sp>
        <p:nvSpPr>
          <p:cNvPr id="9" name="TextBox 8"/>
          <p:cNvSpPr txBox="1"/>
          <p:nvPr/>
        </p:nvSpPr>
        <p:spPr>
          <a:xfrm>
            <a:off x="713231"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đúng user, đơn vị,</a:t>
            </a:r>
          </a:p>
          <a:p>
            <a:pPr algn="ctr"/>
            <a:r>
              <a:rPr sz="1200" b="0" i="0">
                <a:solidFill>
                  <a:srgbClr val="E3ECF5"/>
                </a:solidFill>
                <a:latin typeface="Segoe UI"/>
                <a:ea typeface="Segoe UI"/>
                <a:cs typeface="Segoe UI"/>
              </a:rPr>
              <a:t>lấy lỗi thật</a:t>
            </a:r>
          </a:p>
        </p:txBody>
      </p:sp>
      <p:sp>
        <p:nvSpPr>
          <p:cNvPr id="10" name="Right Arrow 9"/>
          <p:cNvSpPr/>
          <p:nvPr/>
        </p:nvSpPr>
        <p:spPr>
          <a:xfrm>
            <a:off x="2253996" y="257860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10028" y="1828800"/>
            <a:ext cx="1577339" cy="173736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83180"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2. Khoanh vùng</a:t>
            </a:r>
          </a:p>
        </p:txBody>
      </p:sp>
      <p:sp>
        <p:nvSpPr>
          <p:cNvPr id="13" name="TextBox 12"/>
          <p:cNvSpPr txBox="1"/>
          <p:nvPr/>
        </p:nvSpPr>
        <p:spPr>
          <a:xfrm>
            <a:off x="2583180"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Profiler: trước</a:t>
            </a:r>
          </a:p>
          <a:p>
            <a:pPr algn="ctr"/>
            <a:r>
              <a:rPr sz="1200" b="0" i="0">
                <a:solidFill>
                  <a:srgbClr val="E3ECF5"/>
                </a:solidFill>
                <a:latin typeface="Segoe UI"/>
                <a:ea typeface="Segoe UI"/>
                <a:cs typeface="Segoe UI"/>
              </a:rPr>
              <a:t>hay trong proc?</a:t>
            </a:r>
          </a:p>
        </p:txBody>
      </p:sp>
      <p:sp>
        <p:nvSpPr>
          <p:cNvPr id="14" name="Right Arrow 13"/>
          <p:cNvSpPr/>
          <p:nvPr/>
        </p:nvSpPr>
        <p:spPr>
          <a:xfrm>
            <a:off x="4123944" y="257860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9976" y="1828800"/>
            <a:ext cx="1577339" cy="173736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3128"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3. Đúng bản?</a:t>
            </a:r>
          </a:p>
        </p:txBody>
      </p:sp>
      <p:sp>
        <p:nvSpPr>
          <p:cNvPr id="17" name="TextBox 16"/>
          <p:cNvSpPr txBox="1"/>
          <p:nvPr/>
        </p:nvSpPr>
        <p:spPr>
          <a:xfrm>
            <a:off x="4453128"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DB, proc, file</a:t>
            </a:r>
          </a:p>
          <a:p>
            <a:pPr algn="ctr"/>
            <a:r>
              <a:rPr sz="1200" b="0" i="0">
                <a:solidFill>
                  <a:srgbClr val="E3ECF5"/>
                </a:solidFill>
                <a:latin typeface="Segoe UI"/>
                <a:ea typeface="Segoe UI"/>
                <a:cs typeface="Segoe UI"/>
              </a:rPr>
              <a:t>đang chạy</a:t>
            </a:r>
          </a:p>
        </p:txBody>
      </p:sp>
      <p:sp>
        <p:nvSpPr>
          <p:cNvPr id="18" name="Right Arrow 17"/>
          <p:cNvSpPr/>
          <p:nvPr/>
        </p:nvSpPr>
        <p:spPr>
          <a:xfrm>
            <a:off x="5993892" y="257860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9924" y="1828800"/>
            <a:ext cx="1577339" cy="173736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4. Chạy lại</a:t>
            </a:r>
          </a:p>
        </p:txBody>
      </p:sp>
      <p:sp>
        <p:nvSpPr>
          <p:cNvPr id="21" name="TextBox 20"/>
          <p:cNvSpPr txBox="1"/>
          <p:nvPr/>
        </p:nvSpPr>
        <p:spPr>
          <a:xfrm>
            <a:off x="6323076"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cùng tham số,</a:t>
            </a:r>
          </a:p>
          <a:p>
            <a:pPr algn="ctr"/>
            <a:r>
              <a:rPr sz="1200" b="0" i="0">
                <a:solidFill>
                  <a:srgbClr val="E3ECF5"/>
                </a:solidFill>
                <a:latin typeface="Segoe UI"/>
                <a:ea typeface="Segoe UI"/>
                <a:cs typeface="Segoe UI"/>
              </a:rPr>
              <a:t>TRAN / ROLLBACK</a:t>
            </a:r>
          </a:p>
        </p:txBody>
      </p:sp>
      <p:sp>
        <p:nvSpPr>
          <p:cNvPr id="22" name="Right Arrow 21"/>
          <p:cNvSpPr/>
          <p:nvPr/>
        </p:nvSpPr>
        <p:spPr>
          <a:xfrm>
            <a:off x="7863840" y="257860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9871" y="1828800"/>
            <a:ext cx="1577339" cy="173736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93023"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5. Đối chiếu</a:t>
            </a:r>
          </a:p>
        </p:txBody>
      </p:sp>
      <p:sp>
        <p:nvSpPr>
          <p:cNvPr id="25" name="TextBox 24"/>
          <p:cNvSpPr txBox="1"/>
          <p:nvPr/>
        </p:nvSpPr>
        <p:spPr>
          <a:xfrm>
            <a:off x="8193023"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số lệch khớp</a:t>
            </a:r>
          </a:p>
          <a:p>
            <a:pPr algn="ctr"/>
            <a:r>
              <a:rPr sz="1200" b="0" i="0">
                <a:solidFill>
                  <a:srgbClr val="E3ECF5"/>
                </a:solidFill>
                <a:latin typeface="Segoe UI"/>
                <a:ea typeface="Segoe UI"/>
                <a:cs typeface="Segoe UI"/>
              </a:rPr>
              <a:t>TK / phiếu / kỳ</a:t>
            </a:r>
          </a:p>
        </p:txBody>
      </p:sp>
      <p:sp>
        <p:nvSpPr>
          <p:cNvPr id="26" name="Right Arrow 25"/>
          <p:cNvSpPr/>
          <p:nvPr/>
        </p:nvSpPr>
        <p:spPr>
          <a:xfrm>
            <a:off x="9733787" y="257860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989819" y="1828800"/>
            <a:ext cx="1577339" cy="173736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2972" y="1920240"/>
            <a:ext cx="1431036" cy="781812"/>
          </a:xfrm>
          <a:prstGeom prst="rect">
            <a:avLst/>
          </a:prstGeom>
          <a:noFill/>
        </p:spPr>
        <p:txBody>
          <a:bodyPr wrap="square" anchor="ctr" lIns="45720" rIns="45720" tIns="27432" bIns="27432">
            <a:spAutoFit/>
          </a:bodyPr>
          <a:lstStyle/>
          <a:p>
            <a:pPr algn="ctr"/>
            <a:r>
              <a:rPr sz="1400" b="1" i="0">
                <a:solidFill>
                  <a:srgbClr val="FFFFFF"/>
                </a:solidFill>
                <a:latin typeface="Segoe UI"/>
                <a:ea typeface="Segoe UI"/>
                <a:cs typeface="Segoe UI"/>
              </a:rPr>
              <a:t>6. Sửa &amp; ghi</a:t>
            </a:r>
          </a:p>
        </p:txBody>
      </p:sp>
      <p:sp>
        <p:nvSpPr>
          <p:cNvPr id="29" name="TextBox 28"/>
          <p:cNvSpPr txBox="1"/>
          <p:nvPr/>
        </p:nvSpPr>
        <p:spPr>
          <a:xfrm>
            <a:off x="10062972" y="2697480"/>
            <a:ext cx="1431036" cy="833932"/>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sửa nhỏ, kiểm,</a:t>
            </a:r>
          </a:p>
          <a:p>
            <a:pPr algn="ctr"/>
            <a:r>
              <a:rPr sz="1200" b="0" i="0">
                <a:solidFill>
                  <a:srgbClr val="E3ECF5"/>
                </a:solidFill>
                <a:latin typeface="Segoe UI"/>
                <a:ea typeface="Segoe UI"/>
                <a:cs typeface="Segoe UI"/>
              </a:rPr>
              <a:t>ghi lỗi</a:t>
            </a:r>
          </a:p>
        </p:txBody>
      </p:sp>
      <p:sp>
        <p:nvSpPr>
          <p:cNvPr id="30" name="TextBox 29"/>
          <p:cNvSpPr txBox="1"/>
          <p:nvPr/>
        </p:nvSpPr>
        <p:spPr>
          <a:xfrm>
            <a:off x="640080" y="3977639"/>
            <a:ext cx="10881360" cy="2286000"/>
          </a:xfrm>
          <a:prstGeom prst="rect">
            <a:avLst/>
          </a:prstGeom>
          <a:noFill/>
        </p:spPr>
        <p:txBody>
          <a:bodyPr wrap="square">
            <a:spAutoFit/>
          </a:bodyPr>
          <a:lstStyle/>
          <a:p>
            <a:pPr>
              <a:spcAft>
                <a:spcPts val="1000"/>
              </a:spcAft>
            </a:pPr>
            <a:r>
              <a:rPr sz="1800" b="1" i="0">
                <a:solidFill>
                  <a:srgbClr val="F2B705"/>
                </a:solidFill>
                <a:latin typeface="Segoe UI"/>
                <a:ea typeface="Segoe UI"/>
                <a:cs typeface="Segoe UI"/>
              </a:rPr>
              <a:t>▪  </a:t>
            </a:r>
            <a:r>
              <a:rPr sz="1800" b="0" i="0">
                <a:solidFill>
                  <a:srgbClr val="263238"/>
                </a:solidFill>
                <a:latin typeface="Segoe UI"/>
                <a:ea typeface="Segoe UI"/>
                <a:cs typeface="Segoe UI"/>
              </a:rPr>
              <a:t>Chưa tái hiện được thì </a:t>
            </a:r>
            <a:r>
              <a:rPr sz="1800" b="1" i="0">
                <a:solidFill>
                  <a:srgbClr val="1F4E79"/>
                </a:solidFill>
                <a:latin typeface="Segoe UI"/>
                <a:ea typeface="Segoe UI"/>
                <a:cs typeface="Segoe UI"/>
              </a:rPr>
              <a:t>chưa sửa</a:t>
            </a:r>
            <a:r>
              <a:rPr sz="1800" b="0" i="0">
                <a:solidFill>
                  <a:srgbClr val="263238"/>
                </a:solidFill>
                <a:latin typeface="Segoe UI"/>
                <a:ea typeface="Segoe UI"/>
                <a:cs typeface="Segoe UI"/>
              </a:rPr>
              <a:t> — hỏi lại: user nào, đơn vị nào, ngày nào, bấm gì, ảnh chụp.</a:t>
            </a:r>
          </a:p>
          <a:p>
            <a:pPr>
              <a:spcAft>
                <a:spcPts val="1000"/>
              </a:spcAft>
            </a:pPr>
            <a:r>
              <a:rPr sz="1800" b="1" i="0">
                <a:solidFill>
                  <a:srgbClr val="F2B705"/>
                </a:solidFill>
                <a:latin typeface="Segoe UI"/>
                <a:ea typeface="Segoe UI"/>
                <a:cs typeface="Segoe UI"/>
              </a:rPr>
              <a:t>▪  </a:t>
            </a:r>
            <a:r>
              <a:rPr sz="1800" b="0" i="0">
                <a:solidFill>
                  <a:srgbClr val="263238"/>
                </a:solidFill>
                <a:latin typeface="Segoe UI"/>
                <a:ea typeface="Segoe UI"/>
                <a:cs typeface="Segoe UI"/>
              </a:rPr>
              <a:t>Profiler không thấy SQL → lỗi </a:t>
            </a:r>
            <a:r>
              <a:rPr sz="1800" b="1" i="0">
                <a:solidFill>
                  <a:srgbClr val="1F4E79"/>
                </a:solidFill>
                <a:latin typeface="Segoe UI"/>
                <a:ea typeface="Segoe UI"/>
                <a:cs typeface="Segoe UI"/>
              </a:rPr>
              <a:t>trước</a:t>
            </a:r>
            <a:r>
              <a:rPr sz="1800" b="0" i="0">
                <a:solidFill>
                  <a:srgbClr val="263238"/>
                </a:solidFill>
                <a:latin typeface="Segoe UI"/>
                <a:ea typeface="Segoe UI"/>
                <a:cs typeface="Segoe UI"/>
              </a:rPr>
              <a:t> procedure (menu, trang, controller).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Lỗi SQL gặp nhiều nhất</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4</a:t>
            </a:r>
          </a:p>
        </p:txBody>
      </p:sp>
      <p:sp>
        <p:nvSpPr>
          <p:cNvPr id="7" name="Rounded Rectangle 6"/>
          <p:cNvSpPr/>
          <p:nvPr/>
        </p:nvSpPr>
        <p:spPr>
          <a:xfrm>
            <a:off x="640080" y="1600200"/>
            <a:ext cx="7315200" cy="3203955"/>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09928"/>
            <a:ext cx="6995160" cy="4462272"/>
          </a:xfrm>
          <a:prstGeom prst="rect">
            <a:avLst/>
          </a:prstGeom>
          <a:noFill/>
        </p:spPr>
        <p:txBody>
          <a:bodyPr wrap="none">
            <a:spAutoFit/>
          </a:bodyPr>
          <a:lstStyle/>
          <a:p>
            <a:pPr>
              <a:lnSpc>
                <a:spcPct val="100000"/>
              </a:lnSpc>
              <a:spcAft>
                <a:spcPts val="0"/>
              </a:spcAft>
            </a:pPr>
            <a:r>
              <a:rPr sz="1400" b="0" i="1">
                <a:solidFill>
                  <a:srgbClr val="7FB06A"/>
                </a:solidFill>
                <a:latin typeface="Consolas"/>
                <a:ea typeface="Consolas"/>
                <a:cs typeface="Consolas"/>
              </a:rPr>
              <a:t>-- 1) OR không bọc ngoặc: mất mọi điều kiện phía sau</a:t>
            </a:r>
          </a:p>
          <a:p>
            <a:pPr>
              <a:lnSpc>
                <a:spcPct val="100000"/>
              </a:lnSpc>
              <a:spcAft>
                <a:spcPts val="0"/>
              </a:spcAft>
            </a:pPr>
            <a:r>
              <a:rPr sz="1400" b="1" i="0">
                <a:solidFill>
                  <a:srgbClr val="6CB6FF"/>
                </a:solidFill>
                <a:latin typeface="Consolas"/>
                <a:ea typeface="Consolas"/>
                <a:cs typeface="Consolas"/>
              </a:rPr>
              <a:t>SET</a:t>
            </a:r>
            <a:r>
              <a:rPr sz="1400" b="0" i="0">
                <a:solidFill>
                  <a:srgbClr val="E6E6E6"/>
                </a:solidFill>
                <a:latin typeface="Consolas"/>
                <a:ea typeface="Consolas"/>
                <a:cs typeface="Consolas"/>
              </a:rPr>
              <a:t> @Key = ' kh.noi_bo_yn = 1 </a:t>
            </a:r>
            <a:r>
              <a:rPr sz="1400" b="1" i="0">
                <a:solidFill>
                  <a:srgbClr val="6CB6FF"/>
                </a:solidFill>
                <a:latin typeface="Consolas"/>
                <a:ea typeface="Consolas"/>
                <a:cs typeface="Consolas"/>
              </a:rPr>
              <a:t>or</a:t>
            </a:r>
            <a:r>
              <a:rPr sz="1400" b="0" i="0">
                <a:solidFill>
                  <a:srgbClr val="E6E6E6"/>
                </a:solidFill>
                <a:latin typeface="Consolas"/>
                <a:ea typeface="Consolas"/>
                <a:cs typeface="Consolas"/>
              </a:rPr>
              <a:t> 1 = 1'</a:t>
            </a:r>
          </a:p>
          <a:p>
            <a:pPr>
              <a:lnSpc>
                <a:spcPct val="100000"/>
              </a:lnSpc>
              <a:spcAft>
                <a:spcPts val="0"/>
              </a:spcAft>
            </a:pPr>
            <a:r>
              <a:rPr sz="1400" b="1" i="0">
                <a:solidFill>
                  <a:srgbClr val="6CB6FF"/>
                </a:solidFill>
                <a:latin typeface="Consolas"/>
                <a:ea typeface="Consolas"/>
                <a:cs typeface="Consolas"/>
              </a:rPr>
              <a:t>SET</a:t>
            </a:r>
            <a:r>
              <a:rPr sz="1400" b="0" i="0">
                <a:solidFill>
                  <a:srgbClr val="E6E6E6"/>
                </a:solidFill>
                <a:latin typeface="Consolas"/>
                <a:ea typeface="Consolas"/>
                <a:cs typeface="Consolas"/>
              </a:rPr>
              <a:t> @Key = @Key + ' </a:t>
            </a:r>
            <a:r>
              <a:rPr sz="1400" b="1" i="0">
                <a:solidFill>
                  <a:srgbClr val="6CB6FF"/>
                </a:solidFill>
                <a:latin typeface="Consolas"/>
                <a:ea typeface="Consolas"/>
                <a:cs typeface="Consolas"/>
              </a:rPr>
              <a:t>and</a:t>
            </a:r>
            <a:r>
              <a:rPr sz="1400" b="0" i="0">
                <a:solidFill>
                  <a:srgbClr val="E6E6E6"/>
                </a:solidFill>
                <a:latin typeface="Consolas"/>
                <a:ea typeface="Consolas"/>
                <a:cs typeface="Consolas"/>
              </a:rPr>
              <a:t> a.ma_dvcs = ''01'''   </a:t>
            </a:r>
            <a:r>
              <a:rPr sz="1400" b="0" i="1">
                <a:solidFill>
                  <a:srgbClr val="7FB06A"/>
                </a:solidFill>
                <a:latin typeface="Consolas"/>
                <a:ea typeface="Consolas"/>
                <a:cs typeface="Consolas"/>
              </a:rPr>
              <a:t>-- lấy HẾT đơn vị</a:t>
            </a:r>
          </a:p>
          <a:p>
            <a:pPr>
              <a:lnSpc>
                <a:spcPct val="100000"/>
              </a:lnSpc>
              <a:spcAft>
                <a:spcPts val="0"/>
              </a:spcAft>
            </a:pPr>
            <a:r>
              <a:rPr sz="1400" b="0" i="1">
                <a:solidFill>
                  <a:srgbClr val="7FB06A"/>
                </a:solidFill>
                <a:latin typeface="Consolas"/>
                <a:ea typeface="Consolas"/>
                <a:cs typeface="Consolas"/>
              </a:rPr>
              <a:t>-- Đúng:</a:t>
            </a:r>
          </a:p>
          <a:p>
            <a:pPr>
              <a:lnSpc>
                <a:spcPct val="100000"/>
              </a:lnSpc>
              <a:spcAft>
                <a:spcPts val="0"/>
              </a:spcAft>
            </a:pPr>
            <a:r>
              <a:rPr sz="1400" b="1" i="0">
                <a:solidFill>
                  <a:srgbClr val="6CB6FF"/>
                </a:solidFill>
                <a:latin typeface="Consolas"/>
                <a:ea typeface="Consolas"/>
                <a:cs typeface="Consolas"/>
              </a:rPr>
              <a:t>SET</a:t>
            </a:r>
            <a:r>
              <a:rPr sz="1400" b="0" i="0">
                <a:solidFill>
                  <a:srgbClr val="E6E6E6"/>
                </a:solidFill>
                <a:latin typeface="Consolas"/>
                <a:ea typeface="Consolas"/>
                <a:cs typeface="Consolas"/>
              </a:rPr>
              <a:t> @Key = ' (kh.noi_bo_yn = 1 </a:t>
            </a:r>
            <a:r>
              <a:rPr sz="1400" b="1" i="0">
                <a:solidFill>
                  <a:srgbClr val="6CB6FF"/>
                </a:solidFill>
                <a:latin typeface="Consolas"/>
                <a:ea typeface="Consolas"/>
                <a:cs typeface="Consolas"/>
              </a:rPr>
              <a:t>or</a:t>
            </a:r>
            <a:r>
              <a:rPr sz="1400" b="0" i="0">
                <a:solidFill>
                  <a:srgbClr val="E6E6E6"/>
                </a:solidFill>
                <a:latin typeface="Consolas"/>
                <a:ea typeface="Consolas"/>
                <a:cs typeface="Consolas"/>
              </a:rPr>
              <a:t> 1 = 1)'</a:t>
            </a:r>
          </a:p>
          <a:p>
            <a:pPr>
              <a:lnSpc>
                <a:spcPct val="100000"/>
              </a:lnSpc>
              <a:spcAft>
                <a:spcPts val="0"/>
              </a:spcAft>
            </a:pPr>
            <a:r>
              <a:rPr sz="1400" b="0" i="0">
                <a:solidFill>
                  <a:srgbClr val="E6E6E6"/>
                </a:solidFill>
                <a:latin typeface="Consolas"/>
                <a:ea typeface="Consolas"/>
                <a:cs typeface="Consolas"/>
              </a:rPr>
              <a:t> </a:t>
            </a:r>
          </a:p>
          <a:p>
            <a:pPr>
              <a:lnSpc>
                <a:spcPct val="100000"/>
              </a:lnSpc>
              <a:spcAft>
                <a:spcPts val="0"/>
              </a:spcAft>
            </a:pPr>
            <a:r>
              <a:rPr sz="1400" b="0" i="1">
                <a:solidFill>
                  <a:srgbClr val="7FB06A"/>
                </a:solidFill>
                <a:latin typeface="Consolas"/>
                <a:ea typeface="Consolas"/>
                <a:cs typeface="Consolas"/>
              </a:rPr>
              <a:t>-- 2) UPDATE ... FROM join 1-n: lấy 1 dòng bất kỳ</a:t>
            </a:r>
          </a:p>
          <a:p>
            <a:pPr>
              <a:lnSpc>
                <a:spcPct val="100000"/>
              </a:lnSpc>
              <a:spcAft>
                <a:spcPts val="0"/>
              </a:spcAft>
            </a:pPr>
            <a:r>
              <a:rPr sz="1400" b="1" i="0">
                <a:solidFill>
                  <a:srgbClr val="6CB6FF"/>
                </a:solidFill>
                <a:latin typeface="Consolas"/>
                <a:ea typeface="Consolas"/>
                <a:cs typeface="Consolas"/>
              </a:rPr>
              <a:t>UPDATE</a:t>
            </a:r>
            <a:r>
              <a:rPr sz="1400" b="0" i="0">
                <a:solidFill>
                  <a:srgbClr val="E6E6E6"/>
                </a:solidFill>
                <a:latin typeface="Consolas"/>
                <a:ea typeface="Consolas"/>
                <a:cs typeface="Consolas"/>
              </a:rPr>
              <a:t> a </a:t>
            </a:r>
            <a:r>
              <a:rPr sz="1400" b="1" i="0">
                <a:solidFill>
                  <a:srgbClr val="6CB6FF"/>
                </a:solidFill>
                <a:latin typeface="Consolas"/>
                <a:ea typeface="Consolas"/>
                <a:cs typeface="Consolas"/>
              </a:rPr>
              <a:t>SET</a:t>
            </a:r>
            <a:r>
              <a:rPr sz="1400" b="0" i="0">
                <a:solidFill>
                  <a:srgbClr val="E6E6E6"/>
                </a:solidFill>
                <a:latin typeface="Consolas"/>
                <a:ea typeface="Consolas"/>
                <a:cs typeface="Consolas"/>
              </a:rPr>
              <a:t> a.tt = b.tien</a:t>
            </a:r>
          </a:p>
          <a:p>
            <a:pPr>
              <a:lnSpc>
                <a:spcPct val="100000"/>
              </a:lnSpc>
              <a:spcAft>
                <a:spcPts val="0"/>
              </a:spcAft>
            </a:pPr>
            <a:r>
              <a:rPr sz="1400" b="1" i="0">
                <a:solidFill>
                  <a:srgbClr val="6CB6FF"/>
                </a:solidFill>
                <a:latin typeface="Consolas"/>
                <a:ea typeface="Consolas"/>
                <a:cs typeface="Consolas"/>
              </a:rPr>
              <a:t>FROM</a:t>
            </a:r>
            <a:r>
              <a:rPr sz="1400" b="0" i="0">
                <a:solidFill>
                  <a:srgbClr val="E6E6E6"/>
                </a:solidFill>
                <a:latin typeface="Consolas"/>
                <a:ea typeface="Consolas"/>
                <a:cs typeface="Consolas"/>
              </a:rPr>
              <a:t> #hd a </a:t>
            </a:r>
            <a:r>
              <a:rPr sz="1400" b="1" i="0">
                <a:solidFill>
                  <a:srgbClr val="6CB6FF"/>
                </a:solidFill>
                <a:latin typeface="Consolas"/>
                <a:ea typeface="Consolas"/>
                <a:cs typeface="Consolas"/>
              </a:rPr>
              <a:t>JOIN</a:t>
            </a:r>
            <a:r>
              <a:rPr sz="1400" b="0" i="0">
                <a:solidFill>
                  <a:srgbClr val="E6E6E6"/>
                </a:solidFill>
                <a:latin typeface="Consolas"/>
                <a:ea typeface="Consolas"/>
                <a:cs typeface="Consolas"/>
              </a:rPr>
              <a:t> #tt b </a:t>
            </a:r>
            <a:r>
              <a:rPr sz="1400" b="1" i="0">
                <a:solidFill>
                  <a:srgbClr val="6CB6FF"/>
                </a:solidFill>
                <a:latin typeface="Consolas"/>
                <a:ea typeface="Consolas"/>
                <a:cs typeface="Consolas"/>
              </a:rPr>
              <a:t>ON</a:t>
            </a:r>
            <a:r>
              <a:rPr sz="1400" b="0" i="0">
                <a:solidFill>
                  <a:srgbClr val="E6E6E6"/>
                </a:solidFill>
                <a:latin typeface="Consolas"/>
                <a:ea typeface="Consolas"/>
                <a:cs typeface="Consolas"/>
              </a:rPr>
              <a:t> a.ma_hd = b.ma_hd </a:t>
            </a:r>
            <a:r>
              <a:rPr sz="1400" b="1" i="0">
                <a:solidFill>
                  <a:srgbClr val="6CB6FF"/>
                </a:solidFill>
                <a:latin typeface="Consolas"/>
                <a:ea typeface="Consolas"/>
                <a:cs typeface="Consolas"/>
              </a:rPr>
              <a:t>OR</a:t>
            </a:r>
            <a:r>
              <a:rPr sz="1400" b="0" i="0">
                <a:solidFill>
                  <a:srgbClr val="E6E6E6"/>
                </a:solidFill>
                <a:latin typeface="Consolas"/>
                <a:ea typeface="Consolas"/>
                <a:cs typeface="Consolas"/>
              </a:rPr>
              <a:t> a.ma_hd_cu = b.ma_hd</a:t>
            </a:r>
          </a:p>
          <a:p>
            <a:pPr>
              <a:lnSpc>
                <a:spcPct val="100000"/>
              </a:lnSpc>
              <a:spcAft>
                <a:spcPts val="0"/>
              </a:spcAft>
            </a:pPr>
            <a:r>
              <a:rPr sz="1400" b="0" i="1">
                <a:solidFill>
                  <a:srgbClr val="7FB06A"/>
                </a:solidFill>
                <a:latin typeface="Consolas"/>
                <a:ea typeface="Consolas"/>
                <a:cs typeface="Consolas"/>
              </a:rPr>
              <a:t>-- Đúng: cộng trước</a:t>
            </a:r>
          </a:p>
          <a:p>
            <a:pPr>
              <a:lnSpc>
                <a:spcPct val="100000"/>
              </a:lnSpc>
              <a:spcAft>
                <a:spcPts val="0"/>
              </a:spcAft>
            </a:pPr>
            <a:r>
              <a:rPr sz="1400" b="1" i="0">
                <a:solidFill>
                  <a:srgbClr val="6CB6FF"/>
                </a:solidFill>
                <a:latin typeface="Consolas"/>
                <a:ea typeface="Consolas"/>
                <a:cs typeface="Consolas"/>
              </a:rPr>
              <a:t>UPDATE</a:t>
            </a:r>
            <a:r>
              <a:rPr sz="1400" b="0" i="0">
                <a:solidFill>
                  <a:srgbClr val="E6E6E6"/>
                </a:solidFill>
                <a:latin typeface="Consolas"/>
                <a:ea typeface="Consolas"/>
                <a:cs typeface="Consolas"/>
              </a:rPr>
              <a:t> a </a:t>
            </a:r>
            <a:r>
              <a:rPr sz="1400" b="1" i="0">
                <a:solidFill>
                  <a:srgbClr val="6CB6FF"/>
                </a:solidFill>
                <a:latin typeface="Consolas"/>
                <a:ea typeface="Consolas"/>
                <a:cs typeface="Consolas"/>
              </a:rPr>
              <a:t>SET</a:t>
            </a:r>
            <a:r>
              <a:rPr sz="1400" b="0" i="0">
                <a:solidFill>
                  <a:srgbClr val="E6E6E6"/>
                </a:solidFill>
                <a:latin typeface="Consolas"/>
                <a:ea typeface="Consolas"/>
                <a:cs typeface="Consolas"/>
              </a:rPr>
              <a:t> a.tt = x.tien </a:t>
            </a:r>
            <a:r>
              <a:rPr sz="1400" b="1" i="0">
                <a:solidFill>
                  <a:srgbClr val="6CB6FF"/>
                </a:solidFill>
                <a:latin typeface="Consolas"/>
                <a:ea typeface="Consolas"/>
                <a:cs typeface="Consolas"/>
              </a:rPr>
              <a:t>FROM</a:t>
            </a:r>
            <a:r>
              <a:rPr sz="1400" b="0" i="0">
                <a:solidFill>
                  <a:srgbClr val="E6E6E6"/>
                </a:solidFill>
                <a:latin typeface="Consolas"/>
                <a:ea typeface="Consolas"/>
                <a:cs typeface="Consolas"/>
              </a:rPr>
              <a:t> #hd a</a:t>
            </a:r>
          </a:p>
          <a:p>
            <a:pPr>
              <a:lnSpc>
                <a:spcPct val="100000"/>
              </a:lnSpc>
              <a:spcAft>
                <a:spcPts val="0"/>
              </a:spcAft>
            </a:pPr>
            <a:r>
              <a:rPr sz="1400" b="0" i="0">
                <a:solidFill>
                  <a:srgbClr val="E6E6E6"/>
                </a:solidFill>
                <a:latin typeface="Consolas"/>
                <a:ea typeface="Consolas"/>
                <a:cs typeface="Consolas"/>
              </a:rPr>
              <a:t>OUTER APPLY (</a:t>
            </a:r>
            <a:r>
              <a:rPr sz="1400" b="1" i="0">
                <a:solidFill>
                  <a:srgbClr val="6CB6FF"/>
                </a:solidFill>
                <a:latin typeface="Consolas"/>
                <a:ea typeface="Consolas"/>
                <a:cs typeface="Consolas"/>
              </a:rPr>
              <a:t>SELECT</a:t>
            </a:r>
            <a:r>
              <a:rPr sz="1400" b="0" i="0">
                <a:solidFill>
                  <a:srgbClr val="E6E6E6"/>
                </a:solidFill>
                <a:latin typeface="Consolas"/>
                <a:ea typeface="Consolas"/>
                <a:cs typeface="Consolas"/>
              </a:rPr>
              <a:t> </a:t>
            </a:r>
            <a:r>
              <a:rPr sz="1400" b="1" i="0">
                <a:solidFill>
                  <a:srgbClr val="6CB6FF"/>
                </a:solidFill>
                <a:latin typeface="Consolas"/>
                <a:ea typeface="Consolas"/>
                <a:cs typeface="Consolas"/>
              </a:rPr>
              <a:t>SUM</a:t>
            </a:r>
            <a:r>
              <a:rPr sz="1400" b="0" i="0">
                <a:solidFill>
                  <a:srgbClr val="E6E6E6"/>
                </a:solidFill>
                <a:latin typeface="Consolas"/>
                <a:ea typeface="Consolas"/>
                <a:cs typeface="Consolas"/>
              </a:rPr>
              <a:t>(t.tien) tien </a:t>
            </a:r>
            <a:r>
              <a:rPr sz="1400" b="1" i="0">
                <a:solidFill>
                  <a:srgbClr val="6CB6FF"/>
                </a:solidFill>
                <a:latin typeface="Consolas"/>
                <a:ea typeface="Consolas"/>
                <a:cs typeface="Consolas"/>
              </a:rPr>
              <a:t>FROM</a:t>
            </a:r>
            <a:r>
              <a:rPr sz="1400" b="0" i="0">
                <a:solidFill>
                  <a:srgbClr val="E6E6E6"/>
                </a:solidFill>
                <a:latin typeface="Consolas"/>
                <a:ea typeface="Consolas"/>
                <a:cs typeface="Consolas"/>
              </a:rPr>
              <a:t> #tt t</a:t>
            </a:r>
          </a:p>
          <a:p>
            <a:pPr>
              <a:lnSpc>
                <a:spcPct val="100000"/>
              </a:lnSpc>
              <a:spcAft>
                <a:spcPts val="0"/>
              </a:spcAft>
            </a:pPr>
            <a:r>
              <a:rPr sz="1400" b="0" i="0">
                <a:solidFill>
                  <a:srgbClr val="E6E6E6"/>
                </a:solidFill>
                <a:latin typeface="Consolas"/>
                <a:ea typeface="Consolas"/>
                <a:cs typeface="Consolas"/>
              </a:rPr>
              <a:t>             </a:t>
            </a:r>
            <a:r>
              <a:rPr sz="1400" b="1" i="0">
                <a:solidFill>
                  <a:srgbClr val="6CB6FF"/>
                </a:solidFill>
                <a:latin typeface="Consolas"/>
                <a:ea typeface="Consolas"/>
                <a:cs typeface="Consolas"/>
              </a:rPr>
              <a:t>WHERE</a:t>
            </a:r>
            <a:r>
              <a:rPr sz="1400" b="0" i="0">
                <a:solidFill>
                  <a:srgbClr val="E6E6E6"/>
                </a:solidFill>
                <a:latin typeface="Consolas"/>
                <a:ea typeface="Consolas"/>
                <a:cs typeface="Consolas"/>
              </a:rPr>
              <a:t> t.ma_hd </a:t>
            </a:r>
            <a:r>
              <a:rPr sz="1400" b="1" i="0">
                <a:solidFill>
                  <a:srgbClr val="6CB6FF"/>
                </a:solidFill>
                <a:latin typeface="Consolas"/>
                <a:ea typeface="Consolas"/>
                <a:cs typeface="Consolas"/>
              </a:rPr>
              <a:t>IN</a:t>
            </a:r>
            <a:r>
              <a:rPr sz="1400" b="0" i="0">
                <a:solidFill>
                  <a:srgbClr val="E6E6E6"/>
                </a:solidFill>
                <a:latin typeface="Consolas"/>
                <a:ea typeface="Consolas"/>
                <a:cs typeface="Consolas"/>
              </a:rPr>
              <a:t> (a.ma_hd, a.ma_hd_cu)) x</a:t>
            </a:r>
          </a:p>
        </p:txBody>
      </p:sp>
      <p:sp>
        <p:nvSpPr>
          <p:cNvPr id="9" name="TextBox 8"/>
          <p:cNvSpPr txBox="1"/>
          <p:nvPr/>
        </p:nvSpPr>
        <p:spPr>
          <a:xfrm>
            <a:off x="8183879" y="1600200"/>
            <a:ext cx="3474720" cy="466344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Bọc ngoặc mọi </a:t>
            </a:r>
            <a:r>
              <a:rPr sz="1500" b="1" i="0">
                <a:solidFill>
                  <a:srgbClr val="1F4E79"/>
                </a:solidFill>
                <a:latin typeface="Segoe UI"/>
                <a:ea typeface="Segoe UI"/>
                <a:cs typeface="Segoe UI"/>
              </a:rPr>
              <a:t>OR</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Không UPDATE…FROM </a:t>
            </a:r>
            <a:r>
              <a:rPr sz="1500" b="1" i="0">
                <a:solidFill>
                  <a:srgbClr val="1F4E79"/>
                </a:solidFill>
                <a:latin typeface="Segoe UI"/>
                <a:ea typeface="Segoe UI"/>
                <a:cs typeface="Segoe UI"/>
              </a:rPr>
              <a:t>1-n</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Join 2 chi tiết → </a:t>
            </a:r>
            <a:r>
              <a:rPr sz="1400" b="0" i="0">
                <a:solidFill>
                  <a:srgbClr val="B02A2A"/>
                </a:solidFill>
                <a:latin typeface="Consolas"/>
                <a:ea typeface="Consolas"/>
                <a:cs typeface="Consolas"/>
              </a:rPr>
              <a:t>UNION ALL</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GROUP BY</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Thêm cột rồi UPDATE → tách </a:t>
            </a:r>
            <a:r>
              <a:rPr sz="1400" b="0" i="0">
                <a:solidFill>
                  <a:srgbClr val="B02A2A"/>
                </a:solidFill>
                <a:latin typeface="Consolas"/>
                <a:ea typeface="Consolas"/>
                <a:cs typeface="Consolas"/>
              </a:rPr>
              <a:t>GO</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Tham số: </a:t>
            </a:r>
            <a:r>
              <a:rPr sz="1400" b="0" i="0">
                <a:solidFill>
                  <a:srgbClr val="B02A2A"/>
                </a:solidFill>
                <a:latin typeface="Consolas"/>
                <a:ea typeface="Consolas"/>
                <a:cs typeface="Consolas"/>
              </a:rPr>
              <a:t>LTRIM</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Split</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ROW_NUMBER</a:t>
            </a:r>
            <a:r>
              <a:rPr sz="1500" b="0" i="0">
                <a:solidFill>
                  <a:srgbClr val="263238"/>
                </a:solidFill>
                <a:latin typeface="Segoe UI"/>
                <a:ea typeface="Segoe UI"/>
                <a:cs typeface="Segoe UI"/>
              </a:rPr>
              <a:t> thay </a:t>
            </a:r>
            <a:r>
              <a:rPr sz="1400" b="0" i="0">
                <a:solidFill>
                  <a:srgbClr val="B02A2A"/>
                </a:solidFill>
                <a:latin typeface="Consolas"/>
                <a:ea typeface="Consolas"/>
                <a:cs typeface="Consolas"/>
              </a:rPr>
              <a:t>RANK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Số liệu báo cáo lệch — tìm ở đâu</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5</a:t>
            </a:r>
          </a:p>
        </p:txBody>
      </p:sp>
      <p:sp>
        <p:nvSpPr>
          <p:cNvPr id="7" name="Rounded Rectangle 6"/>
          <p:cNvSpPr/>
          <p:nvPr/>
        </p:nvSpPr>
        <p:spPr>
          <a:xfrm>
            <a:off x="640080" y="1645920"/>
            <a:ext cx="2526029" cy="35661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2526029"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74519"/>
            <a:ext cx="2160270" cy="822960"/>
          </a:xfrm>
          <a:prstGeom prst="rect">
            <a:avLst/>
          </a:prstGeom>
          <a:noFill/>
        </p:spPr>
        <p:txBody>
          <a:bodyPr wrap="square" anchor="t" lIns="45720" rIns="45720" tIns="27432" bIns="27432">
            <a:spAutoFit/>
          </a:bodyPr>
          <a:lstStyle/>
          <a:p>
            <a:pPr algn="l"/>
            <a:r>
              <a:rPr sz="1800" b="1" i="0">
                <a:solidFill>
                  <a:srgbClr val="1F4E79"/>
                </a:solidFill>
                <a:latin typeface="Segoe UI"/>
                <a:ea typeface="Segoe UI"/>
                <a:cs typeface="Segoe UI"/>
              </a:rPr>
              <a:t>1. Đúng bản?</a:t>
            </a:r>
          </a:p>
        </p:txBody>
      </p:sp>
      <p:sp>
        <p:nvSpPr>
          <p:cNvPr id="10" name="TextBox 9"/>
          <p:cNvSpPr txBox="1"/>
          <p:nvPr/>
        </p:nvSpPr>
        <p:spPr>
          <a:xfrm>
            <a:off x="777240" y="2606040"/>
            <a:ext cx="2251710" cy="251460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Chạy lại procedure với tham số từ Profiler</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Khác web → khác bản / khác DB</a:t>
            </a:r>
          </a:p>
        </p:txBody>
      </p:sp>
      <p:sp>
        <p:nvSpPr>
          <p:cNvPr id="11" name="Rounded Rectangle 10"/>
          <p:cNvSpPr/>
          <p:nvPr/>
        </p:nvSpPr>
        <p:spPr>
          <a:xfrm>
            <a:off x="3440429" y="1645920"/>
            <a:ext cx="2526029" cy="35661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40429" y="1645920"/>
            <a:ext cx="2526029" cy="1097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3309" y="1874519"/>
            <a:ext cx="2160270" cy="822960"/>
          </a:xfrm>
          <a:prstGeom prst="rect">
            <a:avLst/>
          </a:prstGeom>
          <a:noFill/>
        </p:spPr>
        <p:txBody>
          <a:bodyPr wrap="square" anchor="t" lIns="45720" rIns="45720" tIns="27432" bIns="27432">
            <a:spAutoFit/>
          </a:bodyPr>
          <a:lstStyle/>
          <a:p>
            <a:pPr algn="l"/>
            <a:r>
              <a:rPr sz="1800" b="1" i="0">
                <a:solidFill>
                  <a:srgbClr val="2E75B6"/>
                </a:solidFill>
                <a:latin typeface="Segoe UI"/>
                <a:ea typeface="Segoe UI"/>
                <a:cs typeface="Segoe UI"/>
              </a:rPr>
              <a:t>2. Khớp một khoản</a:t>
            </a:r>
          </a:p>
        </p:txBody>
      </p:sp>
      <p:sp>
        <p:nvSpPr>
          <p:cNvPr id="14" name="TextBox 13"/>
          <p:cNvSpPr txBox="1"/>
          <p:nvPr/>
        </p:nvSpPr>
        <p:spPr>
          <a:xfrm>
            <a:off x="3577589" y="2606040"/>
            <a:ext cx="2251710" cy="251460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So số lệch với số dư / phát sinh từng TK</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Lọc bảng kê theo tháng, ngày tạo </a:t>
            </a:r>
            <a:r>
              <a:rPr sz="1400" b="0" i="0">
                <a:solidFill>
                  <a:srgbClr val="B02A2A"/>
                </a:solidFill>
                <a:latin typeface="Consolas"/>
                <a:ea typeface="Consolas"/>
                <a:cs typeface="Consolas"/>
              </a:rPr>
              <a:t>datetime0</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Phiếu lùi ngày sau kết chuyển, hạch toán ngược</a:t>
            </a:r>
          </a:p>
        </p:txBody>
      </p:sp>
      <p:sp>
        <p:nvSpPr>
          <p:cNvPr id="15" name="Rounded Rectangle 14"/>
          <p:cNvSpPr/>
          <p:nvPr/>
        </p:nvSpPr>
        <p:spPr>
          <a:xfrm>
            <a:off x="6240779" y="1645920"/>
            <a:ext cx="2526029" cy="35661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0779" y="1645920"/>
            <a:ext cx="2526029" cy="1097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1874519"/>
            <a:ext cx="2160270" cy="822960"/>
          </a:xfrm>
          <a:prstGeom prst="rect">
            <a:avLst/>
          </a:prstGeom>
          <a:noFill/>
        </p:spPr>
        <p:txBody>
          <a:bodyPr wrap="square" anchor="t" lIns="45720" rIns="45720" tIns="27432" bIns="27432">
            <a:spAutoFit/>
          </a:bodyPr>
          <a:lstStyle/>
          <a:p>
            <a:pPr algn="l"/>
            <a:r>
              <a:rPr sz="1800" b="1" i="0">
                <a:solidFill>
                  <a:srgbClr val="8E44AD"/>
                </a:solidFill>
                <a:latin typeface="Segoe UI"/>
                <a:ea typeface="Segoe UI"/>
                <a:cs typeface="Segoe UI"/>
              </a:rPr>
              <a:t>3. Khai báo</a:t>
            </a:r>
          </a:p>
        </p:txBody>
      </p:sp>
      <p:sp>
        <p:nvSpPr>
          <p:cNvPr id="18" name="TextBox 17"/>
          <p:cNvSpPr txBox="1"/>
          <p:nvPr/>
        </p:nvSpPr>
        <p:spPr>
          <a:xfrm>
            <a:off x="6377940" y="2606040"/>
            <a:ext cx="2251710" cy="251460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Chỉ tiêu thiếu TK, trùng </a:t>
            </a:r>
            <a:r>
              <a:rPr sz="1400" b="0" i="0">
                <a:solidFill>
                  <a:srgbClr val="B02A2A"/>
                </a:solidFill>
                <a:latin typeface="Consolas"/>
                <a:ea typeface="Consolas"/>
                <a:cs typeface="Consolas"/>
              </a:rPr>
              <a:t>stt</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Mã thừa tiền tố, gom 2 lần</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Giá trị không thuộc option</a:t>
            </a:r>
          </a:p>
        </p:txBody>
      </p:sp>
      <p:sp>
        <p:nvSpPr>
          <p:cNvPr id="19" name="Rounded Rectangle 18"/>
          <p:cNvSpPr/>
          <p:nvPr/>
        </p:nvSpPr>
        <p:spPr>
          <a:xfrm>
            <a:off x="9041129" y="1645920"/>
            <a:ext cx="2526029" cy="35661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41129" y="1645920"/>
            <a:ext cx="2526029" cy="1097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4009" y="1874519"/>
            <a:ext cx="2160270" cy="822960"/>
          </a:xfrm>
          <a:prstGeom prst="rect">
            <a:avLst/>
          </a:prstGeom>
          <a:noFill/>
        </p:spPr>
        <p:txBody>
          <a:bodyPr wrap="square" anchor="t" lIns="45720" rIns="45720" tIns="27432" bIns="27432">
            <a:spAutoFit/>
          </a:bodyPr>
          <a:lstStyle/>
          <a:p>
            <a:pPr algn="l"/>
            <a:r>
              <a:rPr sz="1800" b="1" i="0">
                <a:solidFill>
                  <a:srgbClr val="27AE60"/>
                </a:solidFill>
                <a:latin typeface="Segoe UI"/>
                <a:ea typeface="Segoe UI"/>
                <a:cs typeface="Segoe UI"/>
              </a:rPr>
              <a:t>4. Công thức</a:t>
            </a:r>
          </a:p>
        </p:txBody>
      </p:sp>
      <p:sp>
        <p:nvSpPr>
          <p:cNvPr id="22" name="TextBox 21"/>
          <p:cNvSpPr txBox="1"/>
          <p:nvPr/>
        </p:nvSpPr>
        <p:spPr>
          <a:xfrm>
            <a:off x="9178289" y="2606040"/>
            <a:ext cx="2251710" cy="251460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Chỉ khi 1–3 sạch</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Hỏi nghiệp vụ trước khi nói “nhập sai”</a:t>
            </a:r>
          </a:p>
        </p:txBody>
      </p:sp>
      <p:sp>
        <p:nvSpPr>
          <p:cNvPr id="23" name="Rounded Rectangle 22"/>
          <p:cNvSpPr/>
          <p:nvPr/>
        </p:nvSpPr>
        <p:spPr>
          <a:xfrm>
            <a:off x="640080" y="5486400"/>
            <a:ext cx="10927080" cy="640080"/>
          </a:xfrm>
          <a:prstGeom prst="roundRect">
            <a:avLst>
              <a:gd name="adj" fmla="val 8000"/>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486400"/>
            <a:ext cx="91440"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5541264"/>
            <a:ext cx="10607040" cy="548640"/>
          </a:xfrm>
          <a:prstGeom prst="rect">
            <a:avLst/>
          </a:prstGeom>
          <a:noFill/>
        </p:spPr>
        <p:txBody>
          <a:bodyPr wrap="square" anchor="ctr" lIns="45720" rIns="45720" tIns="27432" bIns="27432">
            <a:spAutoFit/>
          </a:bodyPr>
          <a:lstStyle/>
          <a:p>
            <a:pPr algn="l"/>
            <a:r>
              <a:rPr sz="1500" b="1" i="0">
                <a:solidFill>
                  <a:srgbClr val="2E75B6"/>
                </a:solidFill>
                <a:latin typeface="Segoe UI"/>
                <a:ea typeface="Segoe UI"/>
                <a:cs typeface="Segoe UI"/>
              </a:rPr>
              <a:t>Mẹo:</a:t>
            </a:r>
            <a:r>
              <a:rPr sz="1500" b="0" i="0">
                <a:solidFill>
                  <a:srgbClr val="263238"/>
                </a:solidFill>
                <a:latin typeface="Segoe UI"/>
                <a:ea typeface="Segoe UI"/>
                <a:cs typeface="Segoe UI"/>
              </a:rPr>
              <a:t> Bcode: menu Triển khai → </a:t>
            </a:r>
            <a:r>
              <a:rPr sz="1500" b="1" i="0">
                <a:solidFill>
                  <a:srgbClr val="1F4E79"/>
                </a:solidFill>
                <a:latin typeface="Segoe UI"/>
                <a:ea typeface="Segoe UI"/>
                <a:cs typeface="Segoe UI"/>
              </a:rPr>
              <a:t>Check LCTT / CĐKT</a:t>
            </a:r>
            <a:r>
              <a:rPr sz="1500" b="0" i="0">
                <a:solidFill>
                  <a:srgbClr val="263238"/>
                </a:solidFill>
                <a:latin typeface="Segoe UI"/>
                <a:ea typeface="Segoe UI"/>
                <a:cs typeface="Segoe UI"/>
              </a:rPr>
              <a:t> chỉ ra chỉ tiêu lệch ở đâu.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Lỗi controller, trang, menu</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6</a:t>
            </a:r>
          </a:p>
        </p:txBody>
      </p:sp>
      <p:graphicFrame>
        <p:nvGraphicFramePr>
          <p:cNvPr id="7" name="Table 6"/>
          <p:cNvGraphicFramePr>
            <a:graphicFrameLocks noGrp="1"/>
          </p:cNvGraphicFramePr>
          <p:nvPr/>
        </p:nvGraphicFramePr>
        <p:xfrm>
          <a:off x="640080" y="1600200"/>
          <a:ext cx="10881360" cy="4389120"/>
        </p:xfrm>
        <a:graphic>
          <a:graphicData uri="http://schemas.openxmlformats.org/drawingml/2006/table">
            <a:tbl>
              <a:tblPr firstRow="1" bandRow="1">
                <a:tableStyleId>{5940675A-B579-460E-94D1-54222C63F5DA}</a:tableStyleId>
              </a:tblPr>
              <a:tblGrid>
                <a:gridCol w="4937760"/>
                <a:gridCol w="5943600"/>
              </a:tblGrid>
              <a:tr h="548640">
                <a:tc>
                  <a:txBody>
                    <a:bodyPr wrap="square"/>
                    <a:lstStyle/>
                    <a:p>
                      <a:r>
                        <a:rPr sz="1400" b="1" i="0">
                          <a:solidFill>
                            <a:srgbClr val="FFFFFF"/>
                          </a:solidFill>
                          <a:latin typeface="Segoe UI"/>
                          <a:ea typeface="Segoe UI"/>
                          <a:cs typeface="Segoe UI"/>
                        </a:rPr>
                        <a:t>Hiện tượng</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Nguyên nhân → cách xử lý</a:t>
                      </a:r>
                    </a:p>
                  </a:txBody>
                  <a:tcPr marL="73152" marR="73152" marT="36576" marB="36576" anchor="ctr">
                    <a:solidFill>
                      <a:srgbClr val="1F4E79"/>
                    </a:solidFill>
                  </a:tcPr>
                </a:tc>
              </a:tr>
              <a:tr h="548640">
                <a:tc>
                  <a:txBody>
                    <a:bodyPr wrap="square"/>
                    <a:lstStyle/>
                    <a:p>
                      <a:r>
                        <a:rPr sz="1400" b="0" i="0">
                          <a:solidFill>
                            <a:srgbClr val="263238"/>
                          </a:solidFill>
                          <a:latin typeface="Segoe UI"/>
                          <a:ea typeface="Segoe UI"/>
                          <a:cs typeface="Segoe UI"/>
                        </a:rPr>
                        <a:t>“Có lỗi chưa xác định”, Profiler không thấy SQL</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Thiếu dòng </a:t>
                      </a:r>
                      <a:r>
                        <a:rPr sz="1300" b="0" i="0">
                          <a:solidFill>
                            <a:srgbClr val="B02A2A"/>
                          </a:solidFill>
                          <a:latin typeface="Consolas"/>
                          <a:ea typeface="Consolas"/>
                          <a:cs typeface="Consolas"/>
                        </a:rPr>
                        <a:t>wcommand</a:t>
                      </a:r>
                      <a:r>
                        <a:rPr sz="1400" b="0" i="0">
                          <a:solidFill>
                            <a:srgbClr val="263238"/>
                          </a:solidFill>
                          <a:latin typeface="Segoe UI"/>
                          <a:ea typeface="Segoe UI"/>
                          <a:cs typeface="Segoe UI"/>
                        </a:rPr>
                        <a:t> / thiếu </a:t>
                      </a:r>
                      <a:r>
                        <a:rPr sz="1300" b="0" i="0">
                          <a:solidFill>
                            <a:srgbClr val="B02A2A"/>
                          </a:solidFill>
                          <a:latin typeface="Consolas"/>
                          <a:ea typeface="Consolas"/>
                          <a:cs typeface="Consolas"/>
                        </a:rPr>
                        <a:t>Main\x.aspx</a:t>
                      </a:r>
                      <a:r>
                        <a:rPr sz="1400" b="0" i="0">
                          <a:solidFill>
                            <a:srgbClr val="263238"/>
                          </a:solidFill>
                          <a:latin typeface="Segoe UI"/>
                          <a:ea typeface="Segoe UI"/>
                          <a:cs typeface="Segoe UI"/>
                        </a:rPr>
                        <a:t> → bấm Chi tiết, F12 Network</a:t>
                      </a:r>
                    </a:p>
                  </a:txBody>
                  <a:tcPr marL="73152" marR="73152" marT="36576" marB="36576" anchor="ctr">
                    <a:solidFill>
                      <a:srgbClr val="FFFFFF"/>
                    </a:solidFill>
                  </a:tcPr>
                </a:tc>
              </a:tr>
              <a:tr h="548640">
                <a:tc>
                  <a:txBody>
                    <a:bodyPr wrap="square"/>
                    <a:lstStyle/>
                    <a:p>
                      <a:r>
                        <a:rPr sz="1300" b="0" i="0">
                          <a:solidFill>
                            <a:srgbClr val="B02A2A"/>
                          </a:solidFill>
                          <a:latin typeface="Consolas"/>
                          <a:ea typeface="Consolas"/>
                          <a:cs typeface="Consolas"/>
                        </a:rPr>
                        <a:t>.f</a:t>
                      </a:r>
                      <a:r>
                        <a:rPr sz="1400" b="0" i="0">
                          <a:solidFill>
                            <a:srgbClr val="263238"/>
                          </a:solidFill>
                          <a:latin typeface="Segoe UI"/>
                          <a:ea typeface="Segoe UI"/>
                          <a:cs typeface="Segoe UI"/>
                        </a:rPr>
                        <a:t> hiện chữ lạ / “Data at the root level is invalid”</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Thiếu BOM / dán làm nhân đôi BOM → lưu UTF-8 BOM, chép nguyên file</a:t>
                      </a:r>
                    </a:p>
                  </a:txBody>
                  <a:tcPr marL="73152" marR="73152" marT="36576" marB="36576" anchor="ctr">
                    <a:solidFill>
                      <a:srgbClr val="F4F7FB"/>
                    </a:solidFill>
                  </a:tcPr>
                </a:tc>
              </a:tr>
              <a:tr h="548640">
                <a:tc>
                  <a:txBody>
                    <a:bodyPr wrap="square"/>
                    <a:lstStyle/>
                    <a:p>
                      <a:r>
                        <a:rPr sz="1400" b="0" i="0">
                          <a:solidFill>
                            <a:srgbClr val="263238"/>
                          </a:solidFill>
                          <a:latin typeface="Segoe UI"/>
                          <a:ea typeface="Segoe UI"/>
                          <a:cs typeface="Segoe UI"/>
                        </a:rPr>
                        <a:t>Sửa file mà web vẫn như cũ</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Cache → xoá </a:t>
                      </a:r>
                      <a:r>
                        <a:rPr sz="1300" b="0" i="0">
                          <a:solidFill>
                            <a:srgbClr val="B02A2A"/>
                          </a:solidFill>
                          <a:latin typeface="Consolas"/>
                          <a:ea typeface="Consolas"/>
                          <a:cs typeface="Consolas"/>
                        </a:rPr>
                        <a:t>.f</a:t>
                      </a:r>
                      <a:r>
                        <a:rPr sz="1400" b="0" i="0">
                          <a:solidFill>
                            <a:srgbClr val="263238"/>
                          </a:solidFill>
                          <a:latin typeface="Segoe UI"/>
                          <a:ea typeface="Segoe UI"/>
                          <a:cs typeface="Segoe UI"/>
                        </a:rPr>
                        <a:t> cũ, Refresh Web.config, Clear Structure App</a:t>
                      </a:r>
                    </a:p>
                  </a:txBody>
                  <a:tcPr marL="73152" marR="73152" marT="36576" marB="36576" anchor="ctr">
                    <a:solidFill>
                      <a:srgbClr val="FFFFFF"/>
                    </a:solidFill>
                  </a:tcPr>
                </a:tc>
              </a:tr>
              <a:tr h="548640">
                <a:tc>
                  <a:txBody>
                    <a:bodyPr wrap="square"/>
                    <a:lstStyle/>
                    <a:p>
                      <a:r>
                        <a:rPr sz="1300" b="0" i="0">
                          <a:solidFill>
                            <a:srgbClr val="B02A2A"/>
                          </a:solidFill>
                          <a:latin typeface="Consolas"/>
                          <a:ea typeface="Consolas"/>
                          <a:cs typeface="Consolas"/>
                        </a:rPr>
                        <a:t>GetGridViewPage failed</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Filter Processing: </a:t>
                      </a:r>
                      <a:r>
                        <a:rPr sz="1300" b="0" i="0">
                          <a:solidFill>
                            <a:srgbClr val="B02A2A"/>
                          </a:solidFill>
                          <a:latin typeface="Consolas"/>
                          <a:ea typeface="Consolas"/>
                          <a:cs typeface="Consolas"/>
                        </a:rPr>
                        <a:t>select</a:t>
                      </a:r>
                      <a:r>
                        <a:rPr sz="1400" b="0" i="0">
                          <a:solidFill>
                            <a:srgbClr val="263238"/>
                          </a:solidFill>
                          <a:latin typeface="Segoe UI"/>
                          <a:ea typeface="Segoe UI"/>
                          <a:cs typeface="Segoe UI"/>
                        </a:rPr>
                        <a:t> tiêu đề trước, </a:t>
                      </a:r>
                      <a:r>
                        <a:rPr sz="1300" b="0" i="0">
                          <a:solidFill>
                            <a:srgbClr val="B02A2A"/>
                          </a:solidFill>
                          <a:latin typeface="Consolas"/>
                          <a:ea typeface="Consolas"/>
                          <a:cs typeface="Consolas"/>
                        </a:rPr>
                        <a:t>exec</a:t>
                      </a:r>
                      <a:r>
                        <a:rPr sz="1400" b="0" i="0">
                          <a:solidFill>
                            <a:srgbClr val="263238"/>
                          </a:solidFill>
                          <a:latin typeface="Segoe UI"/>
                          <a:ea typeface="Segoe UI"/>
                          <a:cs typeface="Segoe UI"/>
                        </a:rPr>
                        <a:t> sau; cột không trùng field lưới</a:t>
                      </a:r>
                    </a:p>
                  </a:txBody>
                  <a:tcPr marL="73152" marR="73152" marT="36576" marB="36576" anchor="ctr">
                    <a:solidFill>
                      <a:srgbClr val="F4F7FB"/>
                    </a:solidFill>
                  </a:tcPr>
                </a:tc>
              </a:tr>
              <a:tr h="548640">
                <a:tc>
                  <a:txBody>
                    <a:bodyPr wrap="square"/>
                    <a:lstStyle/>
                    <a:p>
                      <a:r>
                        <a:rPr sz="1400" b="0" i="0">
                          <a:solidFill>
                            <a:srgbClr val="263238"/>
                          </a:solidFill>
                          <a:latin typeface="Segoe UI"/>
                          <a:ea typeface="Segoe UI"/>
                          <a:cs typeface="Segoe UI"/>
                        </a:rPr>
                        <a:t>Drill-down mở sai cột</a:t>
                      </a:r>
                    </a:p>
                  </a:txBody>
                  <a:tcPr marL="73152" marR="73152" marT="36576" marB="36576" anchor="ctr">
                    <a:solidFill>
                      <a:srgbClr val="FFFFFF"/>
                    </a:solidFill>
                  </a:tcPr>
                </a:tc>
                <a:tc>
                  <a:txBody>
                    <a:bodyPr wrap="square"/>
                    <a:lstStyle/>
                    <a:p>
                      <a:r>
                        <a:rPr sz="1300" b="0" i="0">
                          <a:solidFill>
                            <a:srgbClr val="B02A2A"/>
                          </a:solidFill>
                          <a:latin typeface="Consolas"/>
                          <a:ea typeface="Consolas"/>
                          <a:cs typeface="Consolas"/>
                        </a:rPr>
                        <a:t>g._fields</a:t>
                      </a:r>
                      <a:r>
                        <a:rPr sz="1400" b="0" i="0">
                          <a:solidFill>
                            <a:srgbClr val="263238"/>
                          </a:solidFill>
                          <a:latin typeface="Segoe UI"/>
                          <a:ea typeface="Segoe UI"/>
                          <a:cs typeface="Segoe UI"/>
                        </a:rPr>
                        <a:t> từ 0, </a:t>
                      </a:r>
                      <a:r>
                        <a:rPr sz="1300" b="0" i="0">
                          <a:solidFill>
                            <a:srgbClr val="B02A2A"/>
                          </a:solidFill>
                          <a:latin typeface="Consolas"/>
                          <a:ea typeface="Consolas"/>
                          <a:cs typeface="Consolas"/>
                        </a:rPr>
                        <a:t>_activeColumn</a:t>
                      </a:r>
                      <a:r>
                        <a:rPr sz="1400" b="0" i="0">
                          <a:solidFill>
                            <a:srgbClr val="263238"/>
                          </a:solidFill>
                          <a:latin typeface="Segoe UI"/>
                          <a:ea typeface="Segoe UI"/>
                          <a:cs typeface="Segoe UI"/>
                        </a:rPr>
                        <a:t> từ 1 → </a:t>
                      </a:r>
                      <a:r>
                        <a:rPr sz="1300" b="0" i="0">
                          <a:solidFill>
                            <a:srgbClr val="B02A2A"/>
                          </a:solidFill>
                          <a:latin typeface="Consolas"/>
                          <a:ea typeface="Consolas"/>
                          <a:cs typeface="Consolas"/>
                        </a:rPr>
                        <a:t>[col - 1]</a:t>
                      </a:r>
                    </a:p>
                  </a:txBody>
                  <a:tcPr marL="73152" marR="73152" marT="36576" marB="36576" anchor="ctr">
                    <a:solidFill>
                      <a:srgbClr val="FFFFFF"/>
                    </a:solidFill>
                  </a:tcPr>
                </a:tc>
              </a:tr>
              <a:tr h="548640">
                <a:tc>
                  <a:txBody>
                    <a:bodyPr wrap="square"/>
                    <a:lstStyle/>
                    <a:p>
                      <a:r>
                        <a:rPr sz="1400" b="0" i="0">
                          <a:solidFill>
                            <a:srgbClr val="263238"/>
                          </a:solidFill>
                          <a:latin typeface="Segoe UI"/>
                          <a:ea typeface="Segoe UI"/>
                          <a:cs typeface="Segoe UI"/>
                        </a:rPr>
                        <a:t>JS trong trang chết</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Fast gộp HTML 1 dòng → dùng </a:t>
                      </a:r>
                      <a:r>
                        <a:rPr sz="1300" b="0" i="0">
                          <a:solidFill>
                            <a:srgbClr val="B02A2A"/>
                          </a:solidFill>
                          <a:latin typeface="Consolas"/>
                          <a:ea typeface="Consolas"/>
                          <a:cs typeface="Consolas"/>
                        </a:rPr>
                        <a:t>/* */</a:t>
                      </a:r>
                      <a:r>
                        <a:rPr sz="1400" b="0" i="0">
                          <a:solidFill>
                            <a:srgbClr val="263238"/>
                          </a:solidFill>
                          <a:latin typeface="Segoe UI"/>
                          <a:ea typeface="Segoe UI"/>
                          <a:cs typeface="Segoe UI"/>
                        </a:rPr>
                        <a:t> thay </a:t>
                      </a:r>
                      <a:r>
                        <a:rPr sz="1300" b="0" i="0">
                          <a:solidFill>
                            <a:srgbClr val="B02A2A"/>
                          </a:solidFill>
                          <a:latin typeface="Consolas"/>
                          <a:ea typeface="Consolas"/>
                          <a:cs typeface="Consolas"/>
                        </a:rPr>
                        <a:t>//</a:t>
                      </a:r>
                    </a:p>
                  </a:txBody>
                  <a:tcPr marL="73152" marR="73152" marT="36576" marB="36576" anchor="ctr">
                    <a:solidFill>
                      <a:srgbClr val="F4F7FB"/>
                    </a:solidFill>
                  </a:tcPr>
                </a:tc>
              </a:tr>
              <a:tr h="548640">
                <a:tc>
                  <a:txBody>
                    <a:bodyPr wrap="square"/>
                    <a:lstStyle/>
                    <a:p>
                      <a:r>
                        <a:rPr sz="1400" b="0" i="0">
                          <a:solidFill>
                            <a:srgbClr val="263238"/>
                          </a:solidFill>
                          <a:latin typeface="Segoe UI"/>
                          <a:ea typeface="Segoe UI"/>
                          <a:cs typeface="Segoe UI"/>
                        </a:rPr>
                        <a:t>Filter báo “too many arguments”</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Procedure trên DB là bản cũ → triển khai bản mới</a:t>
                      </a:r>
                    </a:p>
                  </a:txBody>
                  <a:tcPr marL="73152" marR="73152" marT="36576" marB="36576"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“Sửa rồi mà vẫn lỗi” — có đúng bản đang chạy?</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7</a:t>
            </a:r>
          </a:p>
        </p:txBody>
      </p:sp>
      <p:sp>
        <p:nvSpPr>
          <p:cNvPr id="7" name="Rounded Rectangle 6"/>
          <p:cNvSpPr/>
          <p:nvPr/>
        </p:nvSpPr>
        <p:spPr>
          <a:xfrm>
            <a:off x="640080" y="1600200"/>
            <a:ext cx="7589520" cy="3203955"/>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09928"/>
            <a:ext cx="7269480" cy="4462272"/>
          </a:xfrm>
          <a:prstGeom prst="rect">
            <a:avLst/>
          </a:prstGeom>
          <a:noFill/>
        </p:spPr>
        <p:txBody>
          <a:bodyPr wrap="none">
            <a:spAutoFit/>
          </a:bodyPr>
          <a:lstStyle/>
          <a:p>
            <a:pPr>
              <a:lnSpc>
                <a:spcPct val="100000"/>
              </a:lnSpc>
              <a:spcAft>
                <a:spcPts val="0"/>
              </a:spcAft>
            </a:pPr>
            <a:r>
              <a:rPr sz="1300" b="0" i="1">
                <a:solidFill>
                  <a:srgbClr val="7FB06A"/>
                </a:solidFill>
                <a:latin typeface="Consolas"/>
                <a:ea typeface="Consolas"/>
                <a:cs typeface="Consolas"/>
              </a:rPr>
              <a:t>-- Procedure trên DB: sửa lúc nào? có đoạn mới chưa?</a:t>
            </a:r>
          </a:p>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name, modify_date </a:t>
            </a:r>
            <a:r>
              <a:rPr sz="1300" b="1" i="0">
                <a:solidFill>
                  <a:srgbClr val="6CB6FF"/>
                </a:solidFill>
                <a:latin typeface="Consolas"/>
                <a:ea typeface="Consolas"/>
                <a:cs typeface="Consolas"/>
              </a:rPr>
              <a:t>FROM</a:t>
            </a:r>
            <a:r>
              <a:rPr sz="1300" b="0" i="0">
                <a:solidFill>
                  <a:srgbClr val="E6E6E6"/>
                </a:solidFill>
                <a:latin typeface="Consolas"/>
                <a:ea typeface="Consolas"/>
                <a:cs typeface="Consolas"/>
              </a:rPr>
              <a:t> sys.procedures</a:t>
            </a:r>
          </a:p>
          <a:p>
            <a:pPr>
              <a:lnSpc>
                <a:spcPct val="100000"/>
              </a:lnSpc>
              <a:spcAft>
                <a:spcPts val="0"/>
              </a:spcAft>
            </a:pPr>
            <a:r>
              <a:rPr sz="1300" b="0" i="0">
                <a:solidFill>
                  <a:srgbClr val="E6E6E6"/>
                </a:solidFill>
                <a:latin typeface="Consolas"/>
                <a:ea typeface="Consolas"/>
                <a:cs typeface="Consolas"/>
              </a:rPr>
              <a:t>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name = 'rs_BangKeNhapTheoVatTu'</a:t>
            </a:r>
          </a:p>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a:t>
            </a:r>
            <a:r>
              <a:rPr sz="1300" b="1" i="0">
                <a:solidFill>
                  <a:srgbClr val="6CB6FF"/>
                </a:solidFill>
                <a:latin typeface="Consolas"/>
                <a:ea typeface="Consolas"/>
                <a:cs typeface="Consolas"/>
              </a:rPr>
              <a:t>CASE</a:t>
            </a:r>
            <a:r>
              <a:rPr sz="1300" b="0" i="0">
                <a:solidFill>
                  <a:srgbClr val="E6E6E6"/>
                </a:solidFill>
                <a:latin typeface="Consolas"/>
                <a:ea typeface="Consolas"/>
                <a:cs typeface="Consolas"/>
              </a:rPr>
              <a:t> </a:t>
            </a:r>
            <a:r>
              <a:rPr sz="1300" b="1" i="0">
                <a:solidFill>
                  <a:srgbClr val="6CB6FF"/>
                </a:solidFill>
                <a:latin typeface="Consolas"/>
                <a:ea typeface="Consolas"/>
                <a:cs typeface="Consolas"/>
              </a:rPr>
              <a:t>WHEN</a:t>
            </a:r>
            <a:r>
              <a:rPr sz="1300" b="0" i="0">
                <a:solidFill>
                  <a:srgbClr val="E6E6E6"/>
                </a:solidFill>
                <a:latin typeface="Consolas"/>
                <a:ea typeface="Consolas"/>
                <a:cs typeface="Consolas"/>
              </a:rPr>
              <a:t> OBJECT_DEFINITION(OBJECT_ID('dbo.rs_BangKeNhapTheoVatTu'))</a:t>
            </a:r>
          </a:p>
          <a:p>
            <a:pPr>
              <a:lnSpc>
                <a:spcPct val="100000"/>
              </a:lnSpc>
              <a:spcAft>
                <a:spcPts val="0"/>
              </a:spcAft>
            </a:pPr>
            <a:r>
              <a:rPr sz="1300" b="0" i="0">
                <a:solidFill>
                  <a:srgbClr val="E6E6E6"/>
                </a:solidFill>
                <a:latin typeface="Consolas"/>
                <a:ea typeface="Consolas"/>
                <a:cs typeface="Consolas"/>
              </a:rPr>
              <a:t>            </a:t>
            </a:r>
            <a:r>
              <a:rPr sz="1300" b="1" i="0">
                <a:solidFill>
                  <a:srgbClr val="6CB6FF"/>
                </a:solidFill>
                <a:latin typeface="Consolas"/>
                <a:ea typeface="Consolas"/>
                <a:cs typeface="Consolas"/>
              </a:rPr>
              <a:t>LIKE</a:t>
            </a:r>
            <a:r>
              <a:rPr sz="1300" b="0" i="0">
                <a:solidFill>
                  <a:srgbClr val="E6E6E6"/>
                </a:solidFill>
                <a:latin typeface="Consolas"/>
                <a:ea typeface="Consolas"/>
                <a:cs typeface="Consolas"/>
              </a:rPr>
              <a:t> '%đoạn mới%' </a:t>
            </a:r>
            <a:r>
              <a:rPr sz="1300" b="1" i="0">
                <a:solidFill>
                  <a:srgbClr val="6CB6FF"/>
                </a:solidFill>
                <a:latin typeface="Consolas"/>
                <a:ea typeface="Consolas"/>
                <a:cs typeface="Consolas"/>
              </a:rPr>
              <a:t>THEN</a:t>
            </a:r>
            <a:r>
              <a:rPr sz="1300" b="0" i="0">
                <a:solidFill>
                  <a:srgbClr val="E6E6E6"/>
                </a:solidFill>
                <a:latin typeface="Consolas"/>
                <a:ea typeface="Consolas"/>
                <a:cs typeface="Consolas"/>
              </a:rPr>
              <a:t> 'MỚI' </a:t>
            </a:r>
            <a:r>
              <a:rPr sz="1300" b="1" i="0">
                <a:solidFill>
                  <a:srgbClr val="6CB6FF"/>
                </a:solidFill>
                <a:latin typeface="Consolas"/>
                <a:ea typeface="Consolas"/>
                <a:cs typeface="Consolas"/>
              </a:rPr>
              <a:t>ELSE</a:t>
            </a:r>
            <a:r>
              <a:rPr sz="1300" b="0" i="0">
                <a:solidFill>
                  <a:srgbClr val="E6E6E6"/>
                </a:solidFill>
                <a:latin typeface="Consolas"/>
                <a:ea typeface="Consolas"/>
                <a:cs typeface="Consolas"/>
              </a:rPr>
              <a:t> 'CŨ' </a:t>
            </a:r>
            <a:r>
              <a:rPr sz="1300" b="1" i="0">
                <a:solidFill>
                  <a:srgbClr val="6CB6FF"/>
                </a:solidFill>
                <a:latin typeface="Consolas"/>
                <a:ea typeface="Consolas"/>
                <a:cs typeface="Consolas"/>
              </a:rPr>
              <a:t>END</a:t>
            </a:r>
          </a:p>
          <a:p>
            <a:pPr>
              <a:lnSpc>
                <a:spcPct val="100000"/>
              </a:lnSpc>
              <a:spcAft>
                <a:spcPts val="0"/>
              </a:spcAft>
            </a:pPr>
            <a:r>
              <a:rPr sz="1300" b="0" i="0">
                <a:solidFill>
                  <a:srgbClr val="E6E6E6"/>
                </a:solidFill>
                <a:latin typeface="Consolas"/>
                <a:ea typeface="Consolas"/>
                <a:cs typeface="Consolas"/>
              </a:rPr>
              <a:t> </a:t>
            </a:r>
          </a:p>
          <a:p>
            <a:pPr>
              <a:lnSpc>
                <a:spcPct val="100000"/>
              </a:lnSpc>
              <a:spcAft>
                <a:spcPts val="0"/>
              </a:spcAft>
            </a:pPr>
            <a:r>
              <a:rPr sz="1300" b="0" i="1">
                <a:solidFill>
                  <a:srgbClr val="7FB06A"/>
                </a:solidFill>
                <a:latin typeface="Consolas"/>
                <a:ea typeface="Consolas"/>
                <a:cs typeface="Consolas"/>
              </a:rPr>
              <a:t>-- Số tham số (Filter gọi nhiều hơn -&gt; too many arguments)</a:t>
            </a:r>
          </a:p>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name, parameter_id </a:t>
            </a:r>
            <a:r>
              <a:rPr sz="1300" b="1" i="0">
                <a:solidFill>
                  <a:srgbClr val="6CB6FF"/>
                </a:solidFill>
                <a:latin typeface="Consolas"/>
                <a:ea typeface="Consolas"/>
                <a:cs typeface="Consolas"/>
              </a:rPr>
              <a:t>FROM</a:t>
            </a:r>
            <a:r>
              <a:rPr sz="1300" b="0" i="0">
                <a:solidFill>
                  <a:srgbClr val="E6E6E6"/>
                </a:solidFill>
                <a:latin typeface="Consolas"/>
                <a:ea typeface="Consolas"/>
                <a:cs typeface="Consolas"/>
              </a:rPr>
              <a:t> sys.parameters</a:t>
            </a:r>
          </a:p>
          <a:p>
            <a:pPr>
              <a:lnSpc>
                <a:spcPct val="100000"/>
              </a:lnSpc>
              <a:spcAft>
                <a:spcPts val="0"/>
              </a:spcAft>
            </a:pPr>
            <a:r>
              <a:rPr sz="1300" b="0" i="0">
                <a:solidFill>
                  <a:srgbClr val="E6E6E6"/>
                </a:solidFill>
                <a:latin typeface="Consolas"/>
                <a:ea typeface="Consolas"/>
                <a:cs typeface="Consolas"/>
              </a:rPr>
              <a:t>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object_id = OBJECT_ID('dbo.rs_BangKeNhapTheoVatTu')</a:t>
            </a:r>
          </a:p>
          <a:p>
            <a:pPr>
              <a:lnSpc>
                <a:spcPct val="100000"/>
              </a:lnSpc>
              <a:spcAft>
                <a:spcPts val="0"/>
              </a:spcAft>
            </a:pPr>
            <a:r>
              <a:rPr sz="1300" b="0" i="0">
                <a:solidFill>
                  <a:srgbClr val="E6E6E6"/>
                </a:solidFill>
                <a:latin typeface="Consolas"/>
                <a:ea typeface="Consolas"/>
                <a:cs typeface="Consolas"/>
              </a:rPr>
              <a:t> </a:t>
            </a:r>
          </a:p>
          <a:p>
            <a:pPr>
              <a:lnSpc>
                <a:spcPct val="100000"/>
              </a:lnSpc>
              <a:spcAft>
                <a:spcPts val="0"/>
              </a:spcAft>
            </a:pPr>
            <a:r>
              <a:rPr sz="1300" b="0" i="1">
                <a:solidFill>
                  <a:srgbClr val="7FB06A"/>
                </a:solidFill>
                <a:latin typeface="Consolas"/>
                <a:ea typeface="Consolas"/>
                <a:cs typeface="Consolas"/>
              </a:rPr>
              <a:t>-- Procedure nào vừa được web gọi?</a:t>
            </a:r>
          </a:p>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a:t>
            </a:r>
            <a:r>
              <a:rPr sz="1300" b="1" i="0">
                <a:solidFill>
                  <a:srgbClr val="6CB6FF"/>
                </a:solidFill>
                <a:latin typeface="Consolas"/>
                <a:ea typeface="Consolas"/>
                <a:cs typeface="Consolas"/>
              </a:rPr>
              <a:t>TOP</a:t>
            </a:r>
            <a:r>
              <a:rPr sz="1300" b="0" i="0">
                <a:solidFill>
                  <a:srgbClr val="E6E6E6"/>
                </a:solidFill>
                <a:latin typeface="Consolas"/>
                <a:ea typeface="Consolas"/>
                <a:cs typeface="Consolas"/>
              </a:rPr>
              <a:t> 20 OBJECT_NAME(object_id, database_id), last_execution_time</a:t>
            </a:r>
          </a:p>
          <a:p>
            <a:pPr>
              <a:lnSpc>
                <a:spcPct val="100000"/>
              </a:lnSpc>
              <a:spcAft>
                <a:spcPts val="0"/>
              </a:spcAft>
            </a:pPr>
            <a:r>
              <a:rPr sz="1300" b="1" i="0">
                <a:solidFill>
                  <a:srgbClr val="6CB6FF"/>
                </a:solidFill>
                <a:latin typeface="Consolas"/>
                <a:ea typeface="Consolas"/>
                <a:cs typeface="Consolas"/>
              </a:rPr>
              <a:t>FROM</a:t>
            </a:r>
            <a:r>
              <a:rPr sz="1300" b="0" i="0">
                <a:solidFill>
                  <a:srgbClr val="E6E6E6"/>
                </a:solidFill>
                <a:latin typeface="Consolas"/>
                <a:ea typeface="Consolas"/>
                <a:cs typeface="Consolas"/>
              </a:rPr>
              <a:t> sys.dm_exec_procedure_stats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database_id = DB_ID()</a:t>
            </a:r>
          </a:p>
          <a:p>
            <a:pPr>
              <a:lnSpc>
                <a:spcPct val="100000"/>
              </a:lnSpc>
              <a:spcAft>
                <a:spcPts val="0"/>
              </a:spcAft>
            </a:pPr>
            <a:r>
              <a:rPr sz="1300" b="1" i="0">
                <a:solidFill>
                  <a:srgbClr val="6CB6FF"/>
                </a:solidFill>
                <a:latin typeface="Consolas"/>
                <a:ea typeface="Consolas"/>
                <a:cs typeface="Consolas"/>
              </a:rPr>
              <a:t>ORDER BY</a:t>
            </a:r>
            <a:r>
              <a:rPr sz="1300" b="0" i="0">
                <a:solidFill>
                  <a:srgbClr val="E6E6E6"/>
                </a:solidFill>
                <a:latin typeface="Consolas"/>
                <a:ea typeface="Consolas"/>
                <a:cs typeface="Consolas"/>
              </a:rPr>
              <a:t> last_execution_time DESC</a:t>
            </a:r>
          </a:p>
        </p:txBody>
      </p:sp>
      <p:sp>
        <p:nvSpPr>
          <p:cNvPr id="9" name="TextBox 8"/>
          <p:cNvSpPr txBox="1"/>
          <p:nvPr/>
        </p:nvSpPr>
        <p:spPr>
          <a:xfrm>
            <a:off x="8458200" y="1600200"/>
            <a:ext cx="3200400" cy="466344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Ô </a:t>
            </a:r>
            <a:r>
              <a:rPr sz="1500" b="1" i="0">
                <a:solidFill>
                  <a:srgbClr val="1F4E79"/>
                </a:solidFill>
                <a:latin typeface="Segoe UI"/>
                <a:ea typeface="Segoe UI"/>
                <a:cs typeface="Segoe UI"/>
              </a:rPr>
              <a:t>WS</a:t>
            </a:r>
            <a:r>
              <a:rPr sz="1500" b="0" i="0">
                <a:solidFill>
                  <a:srgbClr val="263238"/>
                </a:solidFill>
                <a:latin typeface="Segoe UI"/>
                <a:ea typeface="Segoe UI"/>
                <a:cs typeface="Segoe UI"/>
              </a:rPr>
              <a:t> đúng database?</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Không ALTER nhầm </a:t>
            </a:r>
            <a:r>
              <a:rPr sz="1400" b="0" i="0">
                <a:solidFill>
                  <a:srgbClr val="B02A2A"/>
                </a:solidFill>
                <a:latin typeface="Consolas"/>
                <a:ea typeface="Consolas"/>
                <a:cs typeface="Consolas"/>
              </a:rPr>
              <a:t>_bk</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modify_date</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OBJECT_DEFINITION</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sys.parameters</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Viewer: đường dẫn file</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Lịch sử sửa procedure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Lưu một hoá đơn bán ghi vào những đâu?</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8</a:t>
            </a:r>
          </a:p>
        </p:txBody>
      </p:sp>
      <p:sp>
        <p:nvSpPr>
          <p:cNvPr id="7" name="Rounded Rectangle 6"/>
          <p:cNvSpPr/>
          <p:nvPr/>
        </p:nvSpPr>
        <p:spPr>
          <a:xfrm>
            <a:off x="640080" y="1828800"/>
            <a:ext cx="1577339" cy="155448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m81 / d81</a:t>
            </a:r>
          </a:p>
        </p:txBody>
      </p:sp>
      <p:sp>
        <p:nvSpPr>
          <p:cNvPr id="9" name="TextBox 8"/>
          <p:cNvSpPr txBox="1"/>
          <p:nvPr/>
        </p:nvSpPr>
        <p:spPr>
          <a:xfrm>
            <a:off x="713231"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chứng từ</a:t>
            </a:r>
          </a:p>
          <a:p>
            <a:pPr algn="ctr"/>
            <a:r>
              <a:rPr sz="1100" b="0" i="0">
                <a:solidFill>
                  <a:srgbClr val="E3ECF5"/>
                </a:solidFill>
                <a:latin typeface="Segoe UI"/>
                <a:ea typeface="Segoe UI"/>
                <a:cs typeface="Segoe UI"/>
              </a:rPr>
              <a:t>ctgt21, hddt00</a:t>
            </a:r>
          </a:p>
        </p:txBody>
      </p:sp>
      <p:sp>
        <p:nvSpPr>
          <p:cNvPr id="10" name="Right Arrow 9"/>
          <p:cNvSpPr/>
          <p:nvPr/>
        </p:nvSpPr>
        <p:spPr>
          <a:xfrm>
            <a:off x="2253996" y="248716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10028" y="1828800"/>
            <a:ext cx="1577339" cy="15544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83180"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i81 / c81</a:t>
            </a:r>
          </a:p>
        </p:txBody>
      </p:sp>
      <p:sp>
        <p:nvSpPr>
          <p:cNvPr id="13" name="TextBox 12"/>
          <p:cNvSpPr txBox="1"/>
          <p:nvPr/>
        </p:nvSpPr>
        <p:spPr>
          <a:xfrm>
            <a:off x="2583180"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tra cứu,</a:t>
            </a:r>
          </a:p>
          <a:p>
            <a:pPr algn="ctr"/>
            <a:r>
              <a:rPr sz="1100" b="0" i="0">
                <a:solidFill>
                  <a:srgbClr val="E3ECF5"/>
                </a:solidFill>
                <a:latin typeface="Segoe UI"/>
                <a:ea typeface="Segoe UI"/>
                <a:cs typeface="Segoe UI"/>
              </a:rPr>
              <a:t>sổ chứng từ</a:t>
            </a:r>
          </a:p>
        </p:txBody>
      </p:sp>
      <p:sp>
        <p:nvSpPr>
          <p:cNvPr id="14" name="Right Arrow 13"/>
          <p:cNvSpPr/>
          <p:nvPr/>
        </p:nvSpPr>
        <p:spPr>
          <a:xfrm>
            <a:off x="4123944" y="248716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9976" y="1828800"/>
            <a:ext cx="1577339" cy="155448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3128"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cdvt13…</a:t>
            </a:r>
          </a:p>
        </p:txBody>
      </p:sp>
      <p:sp>
        <p:nvSpPr>
          <p:cNvPr id="17" name="TextBox 16"/>
          <p:cNvSpPr txBox="1"/>
          <p:nvPr/>
        </p:nvSpPr>
        <p:spPr>
          <a:xfrm>
            <a:off x="4453128"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tồn hiện thời</a:t>
            </a:r>
          </a:p>
          <a:p>
            <a:pPr algn="ctr"/>
            <a:r>
              <a:rPr sz="1100" b="0" i="0">
                <a:solidFill>
                  <a:srgbClr val="E3ECF5"/>
                </a:solidFill>
                <a:latin typeface="Segoe UI"/>
                <a:ea typeface="Segoe UI"/>
                <a:cs typeface="Segoe UI"/>
              </a:rPr>
              <a:t>(cộng dồn)</a:t>
            </a:r>
          </a:p>
        </p:txBody>
      </p:sp>
      <p:sp>
        <p:nvSpPr>
          <p:cNvPr id="18" name="Right Arrow 17"/>
          <p:cNvSpPr/>
          <p:nvPr/>
        </p:nvSpPr>
        <p:spPr>
          <a:xfrm>
            <a:off x="5993892" y="248716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9924" y="1828800"/>
            <a:ext cx="1577339" cy="15544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r70 / r90</a:t>
            </a:r>
          </a:p>
        </p:txBody>
      </p:sp>
      <p:sp>
        <p:nvSpPr>
          <p:cNvPr id="21" name="TextBox 20"/>
          <p:cNvSpPr txBox="1"/>
          <p:nvPr/>
        </p:nvSpPr>
        <p:spPr>
          <a:xfrm>
            <a:off x="6323076"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sổ kho</a:t>
            </a:r>
          </a:p>
          <a:p>
            <a:pPr algn="ctr"/>
            <a:r>
              <a:rPr sz="1100" b="0" i="0">
                <a:solidFill>
                  <a:srgbClr val="E3ECF5"/>
                </a:solidFill>
                <a:latin typeface="Segoe UI"/>
                <a:ea typeface="Segoe UI"/>
                <a:cs typeface="Segoe UI"/>
              </a:rPr>
              <a:t>Posting$Inventory</a:t>
            </a:r>
          </a:p>
        </p:txBody>
      </p:sp>
      <p:sp>
        <p:nvSpPr>
          <p:cNvPr id="22" name="Right Arrow 21"/>
          <p:cNvSpPr/>
          <p:nvPr/>
        </p:nvSpPr>
        <p:spPr>
          <a:xfrm>
            <a:off x="7863840" y="248716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9871" y="1828800"/>
            <a:ext cx="1577339" cy="155448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93023"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r00 / r20</a:t>
            </a:r>
          </a:p>
        </p:txBody>
      </p:sp>
      <p:sp>
        <p:nvSpPr>
          <p:cNvPr id="25" name="TextBox 24"/>
          <p:cNvSpPr txBox="1"/>
          <p:nvPr/>
        </p:nvSpPr>
        <p:spPr>
          <a:xfrm>
            <a:off x="8193023"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sổ cái, thuế</a:t>
            </a:r>
          </a:p>
          <a:p>
            <a:pPr algn="ctr"/>
            <a:r>
              <a:rPr sz="1100" b="0" i="0">
                <a:solidFill>
                  <a:srgbClr val="E3ECF5"/>
                </a:solidFill>
                <a:latin typeface="Segoe UI"/>
                <a:ea typeface="Segoe UI"/>
                <a:cs typeface="Segoe UI"/>
              </a:rPr>
              <a:t>fs_PostSVTran</a:t>
            </a:r>
          </a:p>
        </p:txBody>
      </p:sp>
      <p:sp>
        <p:nvSpPr>
          <p:cNvPr id="26" name="Right Arrow 25"/>
          <p:cNvSpPr/>
          <p:nvPr/>
        </p:nvSpPr>
        <p:spPr>
          <a:xfrm>
            <a:off x="9733787" y="248716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989819" y="1828800"/>
            <a:ext cx="1577339" cy="15544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2972" y="1920240"/>
            <a:ext cx="1431036" cy="699516"/>
          </a:xfrm>
          <a:prstGeom prst="rect">
            <a:avLst/>
          </a:prstGeom>
          <a:noFill/>
        </p:spPr>
        <p:txBody>
          <a:bodyPr wrap="square" anchor="ctr" lIns="45720" rIns="45720" tIns="27432" bIns="27432">
            <a:spAutoFit/>
          </a:bodyPr>
          <a:lstStyle/>
          <a:p>
            <a:pPr algn="ctr"/>
            <a:r>
              <a:rPr sz="1300" b="1" i="0">
                <a:solidFill>
                  <a:srgbClr val="FFFFFF"/>
                </a:solidFill>
                <a:latin typeface="Segoe UI"/>
                <a:ea typeface="Segoe UI"/>
                <a:cs typeface="Segoe UI"/>
              </a:rPr>
              <a:t>dmkh.du13</a:t>
            </a:r>
          </a:p>
        </p:txBody>
      </p:sp>
      <p:sp>
        <p:nvSpPr>
          <p:cNvPr id="29" name="TextBox 28"/>
          <p:cNvSpPr txBox="1"/>
          <p:nvPr/>
        </p:nvSpPr>
        <p:spPr>
          <a:xfrm>
            <a:off x="10062972" y="2606040"/>
            <a:ext cx="1431036" cy="746150"/>
          </a:xfrm>
          <a:prstGeom prst="rect">
            <a:avLst/>
          </a:prstGeom>
          <a:noFill/>
        </p:spPr>
        <p:txBody>
          <a:bodyPr wrap="square" anchor="t" lIns="45720" rIns="45720" tIns="27432" bIns="27432">
            <a:spAutoFit/>
          </a:bodyPr>
          <a:lstStyle/>
          <a:p>
            <a:pPr algn="ctr"/>
            <a:r>
              <a:rPr sz="1100" b="0" i="0">
                <a:solidFill>
                  <a:srgbClr val="E3ECF5"/>
                </a:solidFill>
                <a:latin typeface="Segoe UI"/>
                <a:ea typeface="Segoe UI"/>
                <a:cs typeface="Segoe UI"/>
              </a:rPr>
              <a:t>dư nợ</a:t>
            </a:r>
          </a:p>
          <a:p>
            <a:pPr algn="ctr"/>
            <a:r>
              <a:rPr sz="1100" b="0" i="0">
                <a:solidFill>
                  <a:srgbClr val="E3ECF5"/>
                </a:solidFill>
                <a:latin typeface="Segoe UI"/>
                <a:ea typeface="Segoe UI"/>
                <a:cs typeface="Segoe UI"/>
              </a:rPr>
              <a:t>hiện thời</a:t>
            </a:r>
          </a:p>
        </p:txBody>
      </p:sp>
      <p:sp>
        <p:nvSpPr>
          <p:cNvPr id="30" name="TextBox 29"/>
          <p:cNvSpPr txBox="1"/>
          <p:nvPr/>
        </p:nvSpPr>
        <p:spPr>
          <a:xfrm>
            <a:off x="640080" y="3977639"/>
            <a:ext cx="10881360" cy="22860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Đọc chuỗi này bằng </a:t>
            </a:r>
            <a:r>
              <a:rPr sz="1600" b="1" i="0">
                <a:solidFill>
                  <a:srgbClr val="1F4E79"/>
                </a:solidFill>
                <a:latin typeface="Segoe UI"/>
                <a:ea typeface="Segoe UI"/>
                <a:cs typeface="Segoe UI"/>
              </a:rPr>
              <a:t>SQL Profiler</a:t>
            </a:r>
            <a:r>
              <a:rPr sz="1600" b="0" i="0">
                <a:solidFill>
                  <a:srgbClr val="263238"/>
                </a:solidFill>
                <a:latin typeface="Segoe UI"/>
                <a:ea typeface="Segoe UI"/>
                <a:cs typeface="Segoe UI"/>
              </a:rPr>
              <a:t> khi bấm Lưu — command của controller bị mã hoá nhưng SQL gửi xuống thì không.</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status</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0</a:t>
            </a:r>
            <a:r>
              <a:rPr sz="1600" b="0" i="0">
                <a:solidFill>
                  <a:srgbClr val="263238"/>
                </a:solidFill>
                <a:latin typeface="Segoe UI"/>
                <a:ea typeface="Segoe UI"/>
                <a:cs typeface="Segoe UI"/>
              </a:rPr>
              <a:t> chỉ lưu · </a:t>
            </a:r>
            <a:r>
              <a:rPr sz="1500" b="0" i="0">
                <a:solidFill>
                  <a:srgbClr val="B02A2A"/>
                </a:solidFill>
                <a:latin typeface="Consolas"/>
                <a:ea typeface="Consolas"/>
                <a:cs typeface="Consolas"/>
              </a:rPr>
              <a:t>1</a:t>
            </a:r>
            <a:r>
              <a:rPr sz="1600" b="0" i="0">
                <a:solidFill>
                  <a:srgbClr val="263238"/>
                </a:solidFill>
                <a:latin typeface="Segoe UI"/>
                <a:ea typeface="Segoe UI"/>
                <a:cs typeface="Segoe UI"/>
              </a:rPr>
              <a:t> chờ chuyển (p00) · </a:t>
            </a:r>
            <a:r>
              <a:rPr sz="1500" b="0" i="0">
                <a:solidFill>
                  <a:srgbClr val="B02A2A"/>
                </a:solidFill>
                <a:latin typeface="Consolas"/>
                <a:ea typeface="Consolas"/>
                <a:cs typeface="Consolas"/>
              </a:rPr>
              <a:t>2</a:t>
            </a:r>
            <a:r>
              <a:rPr sz="1600" b="0" i="0">
                <a:solidFill>
                  <a:srgbClr val="263238"/>
                </a:solidFill>
                <a:latin typeface="Segoe UI"/>
                <a:ea typeface="Segoe UI"/>
                <a:cs typeface="Segoe UI"/>
              </a:rPr>
              <a:t> ghi sổ cái ngay.</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Tồn / dư nợ hiện thời </a:t>
            </a:r>
            <a:r>
              <a:rPr sz="1600" b="1" i="0">
                <a:solidFill>
                  <a:srgbClr val="1F4E79"/>
                </a:solidFill>
                <a:latin typeface="Segoe UI"/>
                <a:ea typeface="Segoe UI"/>
                <a:cs typeface="Segoe UI"/>
              </a:rPr>
              <a:t>cộng dồn</a:t>
            </a:r>
            <a:r>
              <a:rPr sz="1600" b="0" i="0">
                <a:solidFill>
                  <a:srgbClr val="263238"/>
                </a:solidFill>
                <a:latin typeface="Segoe UI"/>
                <a:ea typeface="Segoe UI"/>
                <a:cs typeface="Segoe UI"/>
              </a:rPr>
              <a:t> — post lại hai lần là sai số.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Mẫu ghi lỗi</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9</a:t>
            </a:r>
          </a:p>
        </p:txBody>
      </p:sp>
      <p:graphicFrame>
        <p:nvGraphicFramePr>
          <p:cNvPr id="7" name="Table 6"/>
          <p:cNvGraphicFramePr>
            <a:graphicFrameLocks noGrp="1"/>
          </p:cNvGraphicFramePr>
          <p:nvPr/>
        </p:nvGraphicFramePr>
        <p:xfrm>
          <a:off x="640080" y="1600200"/>
          <a:ext cx="10881360" cy="3291840"/>
        </p:xfrm>
        <a:graphic>
          <a:graphicData uri="http://schemas.openxmlformats.org/drawingml/2006/table">
            <a:tbl>
              <a:tblPr firstRow="1" bandRow="1">
                <a:tableStyleId>{5940675A-B579-460E-94D1-54222C63F5DA}</a:tableStyleId>
              </a:tblPr>
              <a:tblGrid>
                <a:gridCol w="2743200"/>
                <a:gridCol w="8138160"/>
              </a:tblGrid>
              <a:tr h="548640">
                <a:tc>
                  <a:txBody>
                    <a:bodyPr wrap="square"/>
                    <a:lstStyle/>
                    <a:p>
                      <a:r>
                        <a:rPr sz="1600" b="1" i="0">
                          <a:solidFill>
                            <a:srgbClr val="FFFFFF"/>
                          </a:solidFill>
                          <a:latin typeface="Segoe UI"/>
                          <a:ea typeface="Segoe UI"/>
                          <a:cs typeface="Segoe UI"/>
                        </a:rPr>
                        <a:t>Mục</a:t>
                      </a:r>
                    </a:p>
                  </a:txBody>
                  <a:tcPr marL="73152" marR="73152" marT="36576" marB="36576" anchor="ctr">
                    <a:solidFill>
                      <a:srgbClr val="1F4E79"/>
                    </a:solidFill>
                  </a:tcPr>
                </a:tc>
                <a:tc>
                  <a:txBody>
                    <a:bodyPr wrap="square"/>
                    <a:lstStyle/>
                    <a:p>
                      <a:r>
                        <a:rPr sz="1600" b="1" i="0">
                          <a:solidFill>
                            <a:srgbClr val="FFFFFF"/>
                          </a:solidFill>
                          <a:latin typeface="Segoe UI"/>
                          <a:ea typeface="Segoe UI"/>
                          <a:cs typeface="Segoe UI"/>
                        </a:rPr>
                        <a:t>Ghi gì</a:t>
                      </a:r>
                    </a:p>
                  </a:txBody>
                  <a:tcPr marL="73152" marR="73152" marT="36576" marB="36576" anchor="ctr">
                    <a:solidFill>
                      <a:srgbClr val="1F4E79"/>
                    </a:solidFill>
                  </a:tcPr>
                </a:tc>
              </a:tr>
              <a:tr h="548640">
                <a:tc>
                  <a:txBody>
                    <a:bodyPr wrap="square"/>
                    <a:lstStyle/>
                    <a:p>
                      <a:r>
                        <a:rPr sz="1600" b="0" i="0">
                          <a:solidFill>
                            <a:srgbClr val="263238"/>
                          </a:solidFill>
                          <a:latin typeface="Segoe UI"/>
                          <a:ea typeface="Segoe UI"/>
                          <a:cs typeface="Segoe UI"/>
                        </a:rPr>
                        <a:t>Hiện tượng</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Màn hình, user, đơn vị, tham số, thông báo gốc (ảnh)</a:t>
                      </a:r>
                    </a:p>
                  </a:txBody>
                  <a:tcPr marL="73152" marR="73152" marT="36576" marB="36576" anchor="ctr">
                    <a:solidFill>
                      <a:srgbClr val="FFFFFF"/>
                    </a:solidFill>
                  </a:tcPr>
                </a:tc>
              </a:tr>
              <a:tr h="548640">
                <a:tc>
                  <a:txBody>
                    <a:bodyPr wrap="square"/>
                    <a:lstStyle/>
                    <a:p>
                      <a:r>
                        <a:rPr sz="1600" b="0" i="0">
                          <a:solidFill>
                            <a:srgbClr val="263238"/>
                          </a:solidFill>
                          <a:latin typeface="Segoe UI"/>
                          <a:ea typeface="Segoe UI"/>
                          <a:cs typeface="Segoe UI"/>
                        </a:rPr>
                        <a:t>Nguyên nhân</a:t>
                      </a:r>
                    </a:p>
                  </a:txBody>
                  <a:tcPr marL="73152" marR="73152" marT="36576" marB="36576" anchor="ctr">
                    <a:solidFill>
                      <a:srgbClr val="F4F7FB"/>
                    </a:solidFill>
                  </a:tcPr>
                </a:tc>
                <a:tc>
                  <a:txBody>
                    <a:bodyPr wrap="square"/>
                    <a:lstStyle/>
                    <a:p>
                      <a:r>
                        <a:rPr sz="1600" b="0" i="0">
                          <a:solidFill>
                            <a:srgbClr val="263238"/>
                          </a:solidFill>
                          <a:latin typeface="Segoe UI"/>
                          <a:ea typeface="Segoe UI"/>
                          <a:cs typeface="Segoe UI"/>
                        </a:rPr>
                        <a:t>Một câu, chỉ rõ file / procedure / dòng</a:t>
                      </a:r>
                    </a:p>
                  </a:txBody>
                  <a:tcPr marL="73152" marR="73152" marT="36576" marB="36576" anchor="ctr">
                    <a:solidFill>
                      <a:srgbClr val="F4F7FB"/>
                    </a:solidFill>
                  </a:tcPr>
                </a:tc>
              </a:tr>
              <a:tr h="548640">
                <a:tc>
                  <a:txBody>
                    <a:bodyPr wrap="square"/>
                    <a:lstStyle/>
                    <a:p>
                      <a:r>
                        <a:rPr sz="1600" b="0" i="0">
                          <a:solidFill>
                            <a:srgbClr val="263238"/>
                          </a:solidFill>
                          <a:latin typeface="Segoe UI"/>
                          <a:ea typeface="Segoe UI"/>
                          <a:cs typeface="Segoe UI"/>
                        </a:rPr>
                        <a:t>Cách tìm ra</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Công cụ + câu SQL đã dùng</a:t>
                      </a:r>
                    </a:p>
                  </a:txBody>
                  <a:tcPr marL="73152" marR="73152" marT="36576" marB="36576" anchor="ctr">
                    <a:solidFill>
                      <a:srgbClr val="FFFFFF"/>
                    </a:solidFill>
                  </a:tcPr>
                </a:tc>
              </a:tr>
              <a:tr h="548640">
                <a:tc>
                  <a:txBody>
                    <a:bodyPr wrap="square"/>
                    <a:lstStyle/>
                    <a:p>
                      <a:r>
                        <a:rPr sz="1600" b="0" i="0">
                          <a:solidFill>
                            <a:srgbClr val="263238"/>
                          </a:solidFill>
                          <a:latin typeface="Segoe UI"/>
                          <a:ea typeface="Segoe UI"/>
                          <a:cs typeface="Segoe UI"/>
                        </a:rPr>
                        <a:t>Cách sửa</a:t>
                      </a:r>
                    </a:p>
                  </a:txBody>
                  <a:tcPr marL="73152" marR="73152" marT="36576" marB="36576" anchor="ctr">
                    <a:solidFill>
                      <a:srgbClr val="F4F7FB"/>
                    </a:solidFill>
                  </a:tcPr>
                </a:tc>
                <a:tc>
                  <a:txBody>
                    <a:bodyPr wrap="square"/>
                    <a:lstStyle/>
                    <a:p>
                      <a:r>
                        <a:rPr sz="1600" b="0" i="0">
                          <a:solidFill>
                            <a:srgbClr val="263238"/>
                          </a:solidFill>
                          <a:latin typeface="Segoe UI"/>
                          <a:ea typeface="Segoe UI"/>
                          <a:cs typeface="Segoe UI"/>
                        </a:rPr>
                        <a:t>File / object đã sửa, gói update</a:t>
                      </a:r>
                    </a:p>
                  </a:txBody>
                  <a:tcPr marL="73152" marR="73152" marT="36576" marB="36576" anchor="ctr">
                    <a:solidFill>
                      <a:srgbClr val="F4F7FB"/>
                    </a:solidFill>
                  </a:tcPr>
                </a:tc>
              </a:tr>
              <a:tr h="548640">
                <a:tc>
                  <a:txBody>
                    <a:bodyPr wrap="square"/>
                    <a:lstStyle/>
                    <a:p>
                      <a:r>
                        <a:rPr sz="1600" b="0" i="0">
                          <a:solidFill>
                            <a:srgbClr val="263238"/>
                          </a:solidFill>
                          <a:latin typeface="Segoe UI"/>
                          <a:ea typeface="Segoe UI"/>
                          <a:cs typeface="Segoe UI"/>
                        </a:rPr>
                        <a:t>Cách phòng</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Quy tắc rút ra (vd luôn bọc ngoặc OR trong @Key)</a:t>
                      </a:r>
                    </a:p>
                  </a:txBody>
                  <a:tcPr marL="73152" marR="73152" marT="36576" marB="36576" anchor="ctr">
                    <a:solidFill>
                      <a:srgbClr val="FFFFFF"/>
                    </a:solidFill>
                  </a:tcPr>
                </a:tc>
              </a:tr>
            </a:tbl>
          </a:graphicData>
        </a:graphic>
      </p:graphicFrame>
      <p:sp>
        <p:nvSpPr>
          <p:cNvPr id="8" name="Rounded Rectangle 7"/>
          <p:cNvSpPr/>
          <p:nvPr/>
        </p:nvSpPr>
        <p:spPr>
          <a:xfrm>
            <a:off x="640080" y="5120640"/>
            <a:ext cx="10927080" cy="73152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5120640"/>
            <a:ext cx="91440" cy="73152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5175503"/>
            <a:ext cx="10607040" cy="640080"/>
          </a:xfrm>
          <a:prstGeom prst="rect">
            <a:avLst/>
          </a:prstGeom>
          <a:noFill/>
        </p:spPr>
        <p:txBody>
          <a:bodyPr wrap="square" anchor="ctr" lIns="45720" rIns="45720" tIns="27432" bIns="27432">
            <a:spAutoFit/>
          </a:bodyPr>
          <a:lstStyle/>
          <a:p>
            <a:pPr algn="l"/>
            <a:r>
              <a:rPr sz="1500" b="1" i="0">
                <a:solidFill>
                  <a:srgbClr val="F2B705"/>
                </a:solidFill>
                <a:latin typeface="Segoe UI"/>
                <a:ea typeface="Segoe UI"/>
                <a:cs typeface="Segoe UI"/>
              </a:rPr>
              <a:t>Lưu ý:</a:t>
            </a:r>
            <a:r>
              <a:rPr sz="1500" b="0" i="0">
                <a:solidFill>
                  <a:srgbClr val="263238"/>
                </a:solidFill>
                <a:latin typeface="Segoe UI"/>
                <a:ea typeface="Segoe UI"/>
                <a:cs typeface="Segoe UI"/>
              </a:rPr>
              <a:t> Triển khai </a:t>
            </a:r>
            <a:r>
              <a:rPr sz="1500" b="1" i="0">
                <a:solidFill>
                  <a:srgbClr val="1F4E79"/>
                </a:solidFill>
                <a:latin typeface="Segoe UI"/>
                <a:ea typeface="Segoe UI"/>
                <a:cs typeface="Segoe UI"/>
              </a:rPr>
              <a:t>đủ bộ</a:t>
            </a:r>
            <a:r>
              <a:rPr sz="1500" b="0" i="0">
                <a:solidFill>
                  <a:srgbClr val="263238"/>
                </a:solidFill>
                <a:latin typeface="Segoe UI"/>
                <a:ea typeface="Segoe UI"/>
                <a:cs typeface="Segoe UI"/>
              </a:rPr>
              <a:t>: procedure + Filter / Grid / Report + </a:t>
            </a:r>
            <a:r>
              <a:rPr sz="1400" b="0" i="0">
                <a:solidFill>
                  <a:srgbClr val="B02A2A"/>
                </a:solidFill>
                <a:latin typeface="Consolas"/>
                <a:ea typeface="Consolas"/>
                <a:cs typeface="Consolas"/>
              </a:rPr>
              <a:t>Main\*.aspx</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wcommand</a:t>
            </a:r>
            <a:r>
              <a:rPr sz="1500" b="0" i="0">
                <a:solidFill>
                  <a:srgbClr val="263238"/>
                </a:solidFill>
                <a:latin typeface="Segoe UI"/>
                <a:ea typeface="Segoe UI"/>
                <a:cs typeface="Segoe UI"/>
              </a:rPr>
              <a:t> (+ mẫu in). Thiếu một thứ là lỗi ở khách.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Thực hành tại lớp</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10</a:t>
            </a:r>
          </a:p>
        </p:txBody>
      </p:sp>
      <p:sp>
        <p:nvSpPr>
          <p:cNvPr id="7" name="TextBox 6"/>
          <p:cNvSpPr txBox="1"/>
          <p:nvPr/>
        </p:nvSpPr>
        <p:spPr>
          <a:xfrm>
            <a:off x="640080" y="1371600"/>
            <a:ext cx="10881360" cy="3108960"/>
          </a:xfrm>
          <a:prstGeom prst="rect">
            <a:avLst/>
          </a:prstGeom>
          <a:noFill/>
        </p:spPr>
        <p:txBody>
          <a:bodyPr wrap="square">
            <a:spAutoFit/>
          </a:bodyPr>
          <a:lstStyle/>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1.</a:t>
            </a:r>
            <a:r>
              <a:rPr sz="2000" b="0" i="0">
                <a:solidFill>
                  <a:srgbClr val="263238"/>
                </a:solidFill>
                <a:latin typeface="Segoe UI"/>
                <a:ea typeface="Segoe UI"/>
                <a:cs typeface="Segoe UI"/>
              </a:rPr>
              <a:t> Mỗi học viên nhận 2 tình huống lỗi, làm theo quy trình 6 bước, trình bày cách tìm ra nguyên nhân.</a:t>
            </a:r>
          </a:p>
        </p:txBody>
      </p:sp>
      <p:sp>
        <p:nvSpPr>
          <p:cNvPr id="8" name="Rounded Rectangle 7"/>
          <p:cNvSpPr/>
          <p:nvPr/>
        </p:nvSpPr>
        <p:spPr>
          <a:xfrm>
            <a:off x="640080" y="4434840"/>
            <a:ext cx="10927080" cy="685800"/>
          </a:xfrm>
          <a:prstGeom prst="roundRect">
            <a:avLst>
              <a:gd name="adj" fmla="val 8000"/>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34840"/>
            <a:ext cx="91440" cy="6858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489703"/>
            <a:ext cx="10607040" cy="594360"/>
          </a:xfrm>
          <a:prstGeom prst="rect">
            <a:avLst/>
          </a:prstGeom>
          <a:noFill/>
        </p:spPr>
        <p:txBody>
          <a:bodyPr wrap="square" anchor="ctr" lIns="45720" rIns="45720" tIns="27432" bIns="27432">
            <a:spAutoFit/>
          </a:bodyPr>
          <a:lstStyle/>
          <a:p>
            <a:pPr algn="l"/>
            <a:r>
              <a:rPr sz="1500" b="1" i="0">
                <a:solidFill>
                  <a:srgbClr val="2E75B6"/>
                </a:solidFill>
                <a:latin typeface="Segoe UI"/>
                <a:ea typeface="Segoe UI"/>
                <a:cs typeface="Segoe UI"/>
              </a:rPr>
              <a:t>Mẹo:</a:t>
            </a:r>
            <a:r>
              <a:rPr sz="1500" b="0" i="0">
                <a:solidFill>
                  <a:srgbClr val="263238"/>
                </a:solidFill>
                <a:latin typeface="Segoe UI"/>
                <a:ea typeface="Segoe UI"/>
                <a:cs typeface="Segoe UI"/>
              </a:rPr>
              <a:t> </a:t>
            </a:r>
            <a:r>
              <a:rPr sz="1500" b="1" i="0">
                <a:solidFill>
                  <a:srgbClr val="1F4E79"/>
                </a:solidFill>
                <a:latin typeface="Segoe UI"/>
                <a:ea typeface="Segoe UI"/>
                <a:cs typeface="Segoe UI"/>
              </a:rPr>
              <a:t>Trên database:</a:t>
            </a:r>
            <a:r>
              <a:rPr sz="1500" b="0" i="0">
                <a:solidFill>
                  <a:srgbClr val="263238"/>
                </a:solidFill>
                <a:latin typeface="Segoe UI"/>
                <a:ea typeface="Segoe UI"/>
                <a:cs typeface="Segoe UI"/>
              </a:rPr>
              <a:t> Sổ bài tập thực hành — Buổi 9 (FBOSP2422_App / _Sys, chạy </a:t>
            </a:r>
            <a:r>
              <a:rPr sz="1400" b="0" i="0">
                <a:solidFill>
                  <a:srgbClr val="B02A2A"/>
                </a:solidFill>
                <a:latin typeface="Consolas"/>
                <a:ea typeface="Consolas"/>
                <a:cs typeface="Consolas"/>
              </a:rPr>
              <a:t>00_TaoDuLieuMau.sql</a:t>
            </a:r>
            <a:r>
              <a:rPr sz="1500" b="0" i="0">
                <a:solidFill>
                  <a:srgbClr val="263238"/>
                </a:solidFill>
                <a:latin typeface="Segoe UI"/>
                <a:ea typeface="Segoe UI"/>
                <a:cs typeface="Segoe UI"/>
              </a:rPr>
              <a:t> trước).</a:t>
            </a:r>
          </a:p>
        </p:txBody>
      </p:sp>
      <p:sp>
        <p:nvSpPr>
          <p:cNvPr id="11" name="Rounded Rectangle 10"/>
          <p:cNvSpPr/>
          <p:nvPr/>
        </p:nvSpPr>
        <p:spPr>
          <a:xfrm>
            <a:off x="640080" y="5257800"/>
            <a:ext cx="10927080" cy="914400"/>
          </a:xfrm>
          <a:prstGeom prst="roundRect">
            <a:avLst>
              <a:gd name="adj" fmla="val 8000"/>
            </a:avLst>
          </a:prstGeom>
          <a:solidFill>
            <a:srgbClr val="FFFFFF"/>
          </a:solidFill>
          <a:ln w="15875">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257800"/>
            <a:ext cx="91440" cy="914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312664"/>
            <a:ext cx="10607040" cy="822960"/>
          </a:xfrm>
          <a:prstGeom prst="rect">
            <a:avLst/>
          </a:prstGeom>
          <a:noFill/>
        </p:spPr>
        <p:txBody>
          <a:bodyPr wrap="square" anchor="ctr" lIns="45720" rIns="45720" tIns="27432" bIns="27432">
            <a:spAutoFit/>
          </a:bodyPr>
          <a:lstStyle/>
          <a:p>
            <a:pPr algn="l"/>
            <a:r>
              <a:rPr sz="1600" b="1" i="0">
                <a:solidFill>
                  <a:srgbClr val="27AE60"/>
                </a:solidFill>
                <a:latin typeface="Segoe UI"/>
                <a:ea typeface="Segoe UI"/>
                <a:cs typeface="Segoe UI"/>
              </a:rPr>
              <a:t>Bài tập:</a:t>
            </a:r>
            <a:r>
              <a:rPr sz="1600" b="0" i="0">
                <a:solidFill>
                  <a:srgbClr val="263238"/>
                </a:solidFill>
                <a:latin typeface="Segoe UI"/>
                <a:ea typeface="Segoe UI"/>
                <a:cs typeface="Segoe UI"/>
              </a:rPr>
              <a:t> </a:t>
            </a:r>
            <a:r>
              <a:rPr sz="1600" b="1" i="0">
                <a:solidFill>
                  <a:srgbClr val="1F4E79"/>
                </a:solidFill>
                <a:latin typeface="Segoe UI"/>
                <a:ea typeface="Segoe UI"/>
                <a:cs typeface="Segoe UI"/>
              </a:rPr>
              <a:t>Về nhà:</a:t>
            </a:r>
            <a:r>
              <a:rPr sz="1600" b="0" i="0">
                <a:solidFill>
                  <a:srgbClr val="263238"/>
                </a:solidFill>
                <a:latin typeface="Segoe UI"/>
                <a:ea typeface="Segoe UI"/>
                <a:cs typeface="Segoe UI"/>
              </a:rPr>
              <a:t> Ghi lại 1 lỗi đã gặp trong tuần theo mẫu: hiện tượng → nguyên nhân → cách tìm → cách sửa → cách phòng.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Tự kiểm tra</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9 · Bắt lỗi và xử lý sự cố thực tế</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11</a:t>
            </a:r>
          </a:p>
        </p:txBody>
      </p:sp>
      <p:sp>
        <p:nvSpPr>
          <p:cNvPr id="7" name="TextBox 6"/>
          <p:cNvSpPr txBox="1"/>
          <p:nvPr/>
        </p:nvSpPr>
        <p:spPr>
          <a:xfrm>
            <a:off x="640080" y="1371600"/>
            <a:ext cx="10881360" cy="4754880"/>
          </a:xfrm>
          <a:prstGeom prst="rect">
            <a:avLst/>
          </a:prstGeom>
          <a:noFill/>
        </p:spPr>
        <p:txBody>
          <a:bodyPr wrap="square">
            <a:spAutoFit/>
          </a:bodyPr>
          <a:lstStyle/>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1.</a:t>
            </a:r>
            <a:r>
              <a:rPr sz="2100" b="0" i="0">
                <a:solidFill>
                  <a:srgbClr val="263238"/>
                </a:solidFill>
                <a:latin typeface="Segoe UI"/>
                <a:ea typeface="Segoe UI"/>
                <a:cs typeface="Segoe UI"/>
              </a:rPr>
              <a:t> Bước đầu tiên khi nhận báo lỗi?</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2.</a:t>
            </a:r>
            <a:r>
              <a:rPr sz="2100" b="0" i="0">
                <a:solidFill>
                  <a:srgbClr val="263238"/>
                </a:solidFill>
                <a:latin typeface="Segoe UI"/>
                <a:ea typeface="Segoe UI"/>
                <a:cs typeface="Segoe UI"/>
              </a:rPr>
              <a:t> Báo cáo lệch số với sổ cái, bắt đầu kiểm ở đâu?</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3.</a:t>
            </a:r>
            <a:r>
              <a:rPr sz="2100" b="0" i="0">
                <a:solidFill>
                  <a:srgbClr val="263238"/>
                </a:solidFill>
                <a:latin typeface="Segoe UI"/>
                <a:ea typeface="Segoe UI"/>
                <a:cs typeface="Segoe UI"/>
              </a:rPr>
              <a:t> Lỗi chỉ xảy ra với 1 user — nghĩ tới gì trước?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