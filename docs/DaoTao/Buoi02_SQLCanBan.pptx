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Buổi 2: SQL căn bản để đọc dữ liệu Fast (Cơ bản, 3 giờ).</a:t>
            </a:r>
          </a:p>
          <a:p>
            <a:r>
              <a:t>Chuẩn bị: Dự án thử có dữ liệu danh mục và vài chứng từ.</a:t>
            </a:r>
          </a:p>
          <a:p>
            <a:r>
              <a:t>Nhắc lại bài tập về nhà của buổi trước trước khi vào nội dung mới (5–10 phút).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Mục tiêu:</a:t>
            </a:r>
          </a:p>
          <a:p>
            <a:r>
              <a:t>- Viết được SELECT / WHERE / ORDER BY / TOP trên bảng Fast</a:t>
            </a:r>
          </a:p>
          <a:p>
            <a:r>
              <a:t>- JOIN danh mục với chứng từ, master với detail</a:t>
            </a:r>
          </a:p>
          <a:p>
            <a:r>
              <a:t>- GROUP BY / HAVING để đếm, cộng, tìm trùng</a:t>
            </a:r>
          </a:p>
          <a:p>
            <a:r>
              <a:t>- Dùng thành thạo tab SQL Query: chạy, nhiều kết quả, lưu Excel / CSV</a:t>
            </a:r>
          </a:p>
          <a:p>
            <a:r>
              <a:t>Lịch trình:</a:t>
            </a:r>
          </a:p>
          <a:p>
            <a:r>
              <a:t>1. SELECT, WHERE, toán tử, chuỗi N'…' (30')</a:t>
            </a:r>
          </a:p>
          <a:p>
            <a:r>
              <a:t>2. JOIN, đọc thuộc tính information để biết ghép bảng (40')</a:t>
            </a:r>
          </a:p>
          <a:p>
            <a:r>
              <a:t>3. GROUP BY, HAVING, hàm hay dùng (30')</a:t>
            </a:r>
          </a:p>
          <a:p>
            <a:r>
              <a:t>4. Kiểu dữ liệu Fast, ngày tháng (20')</a:t>
            </a:r>
          </a:p>
          <a:p>
            <a:r>
              <a:t>5. SQL Query trên Bcode: F5, F12, Ctrl+E, Save as CSV / XLSX, Debug (40')</a:t>
            </a:r>
          </a:p>
          <a:p>
            <a:r>
              <a:t>6. Thực hành (20')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SELECT cơ bản trên dmkh. Nhắc các toán tử: =, &lt;&gt;, LIKE với % và _, IN, BETWEEN, IS NULL.</a:t>
            </a:r>
          </a:p>
          <a:p>
            <a:r>
              <a:t>Chuỗi tiếng Việt phải có tiền tố N, ví dụ N'Bộ phận' — thiếu N thì mất dấu.</a:t>
            </a:r>
          </a:p>
          <a:p>
            <a:r>
              <a:t>GROUP BY để đếm / cộng theo nhóm; HAVING để lọc sau khi nhóm. Câu tìm tên trùng rất hay dùng khi dọn dữ liệu danh mục.</a:t>
            </a:r>
          </a:p>
          <a:p>
            <a:r>
              <a:t>Cho học viên tự chạy trên dự án thử: đổi điều kiện LIKE, thêm cột.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Muốn biết ghép bảng nào thì nhìn thuộc tính information của field tra cứu trong controller: ma_nvbh$dmnvbh.ten_nvbh%l nghĩa là dmkh.ma_nvbh ghép dmnvbh lấy ten_nvbh.</a:t>
            </a:r>
          </a:p>
          <a:p>
            <a:r>
              <a:t>INNER JOIN chỉ lấy dòng có ở cả hai bên; LEFT JOIN giữ hết bảng trái.</a:t>
            </a:r>
          </a:p>
          <a:p>
            <a:r>
              <a:t>Luôn đặt bí danh vì Fast có nhiều cột trùng tên (status, ma_dvcs...).</a:t>
            </a:r>
          </a:p>
          <a:p>
            <a:r>
              <a:t>Ví dụ 2: chứng từ master + detail nối bằng stt_rec. Lọc ngày dùng dạng yyyymmdd và khoảng nửa mở (&gt;= đầu tháng, &lt; đầu tháng sau).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Bảng tạm #temp sống tới hết kết nối / hết procedure — dùng nhiều trong procedure Fast. Biến bảng @t nhỏ, sống trong một batch. CTE (WITH ... AS) giúp đặt tên cho truy vấn con, kết hợp ROW_NUMBER để tìm bản trùng.</a:t>
            </a:r>
          </a:p>
          <a:p>
            <a:r>
              <a:t>Mẹo của Fast: SELECT TOP 0 ... INTO #report FROM bảng để tạo bảng tạm đúng kiểu cột rồi mới INSERT.</a:t>
            </a:r>
          </a:p>
          <a:p>
            <a:r>
              <a:t>Kiểu dữ liệu: mã là varchar, độ dài theo bảng gốc — luôn xem cấu trúc ở tab Table; tên là nvarchar; tiền / số lượng numeric(19,4); ngày smalldatetime; tháng năm là int riêng.</a:t>
            </a:r>
          </a:p>
          <a:p>
            <a:r>
              <a:t>Ngày tháng: dùng chuỗi 'yyyymmdd', không dùng '01/02/2026' vì phụ thuộc cài đặt ngôn ngữ.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Ctrl+Shift+Q mở tab SQL Query. F5 hoặc Ctrl+Enter chạy — có bôi đen thì chỉ chạy đoạn bôi đen. Alt+F5 dừng.</a:t>
            </a:r>
          </a:p>
          <a:p>
            <a:r>
              <a:t>Nhiều bảng kết quả: chọn Xếp chồng hoặc Từng tab. Chọn nhiều ô số thì thanh dưới hiện Sum / Count / Average.</a:t>
            </a:r>
          </a:p>
          <a:p>
            <a:r>
              <a:t>Lỗi: tab Message tự mở, bấm "dòng N" để nhảy tới dòng lỗi.</a:t>
            </a:r>
          </a:p>
          <a:p>
            <a:r>
              <a:t>Ctrl+S lưu file .sql, Ctrl+F tìm, F7 định dạng code, F12 xem nhanh bảng / procedure dưới con trỏ, Ctrl+I nhờ AI viết / sửa SQL (cần API key), Check Fields kiểm tra cột tồn tại mà không chạy thật.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nhóm tính năng hay dùng ở SQL Query.</a:t>
            </a:r>
          </a:p>
          <a:p>
            <a:r>
              <a:t>Excel / CSV: Ctrl+E ở lưới kết quả xuất nhanh ra Excel vào thư mục tạm rồi mở luôn. Muốn lưu đúng chỗ thì chuột phải → Lưu ra file → Save as Excel hoặc Save as CSV. Lưu toàn bộ dòng của bảng, kể cả khi lưới không hiện hết. Excel giữ được số 0 đầu của mã; CSV mở bằng Excel thì Excel tự đoán kiểu, có thể mất số 0.</a:t>
            </a:r>
          </a:p>
          <a:p>
            <a:r>
              <a:t>Debug: chỉ có ở chế độ Web. Mỗi bước chạy lại trong BEGIN TRAN rồi luôn ROLLBACK, nên an toàn nhưng script nặng sẽ chậm.</a:t>
            </a:r>
          </a:p>
          <a:p>
            <a:r>
              <a:t>Lịch sử: Bcode không tự lưu mọi câu chạy, phải Ctrl+Alt+H. Nhưng mọi lần CREATE / ALTER procedure, function, view, trigger thì Bcode tự ghi phiên bản — rất hữu ích khi cần rollback (chương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Học viên làm trên dự án thử, người hướng dẫn đi kiểm từng máy. Ai xong sớm làm luôn bài tập về nhà.</a:t>
            </a:r>
          </a:p>
          <a:p>
            <a:r>
              <a:t>Bài tập về nhà: Viết 5 câu truy vấn trả lời 5 câu hỏi nghiệp vụ người hướng dẫn giao (vd khách nào chưa phát sinh chứng từ trong năm).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Hỏi nhanh cả lớp; đáp án:</a:t>
            </a:r>
          </a:p>
          <a:p>
            <a:r>
              <a:t>1. Thiếu N thì chuỗi tiếng Việt bị mất dấu (không phải unicode).</a:t>
            </a:r>
          </a:p>
          <a:p>
            <a:r>
              <a:t>2. INNER chỉ lấy dòng có ở cả 2 bảng; LEFT giữ hết bảng trái, bên phải không có thì NULL.</a:t>
            </a:r>
          </a:p>
          <a:p>
            <a:r>
              <a:t>3. ngay_ct &gt;= '20260101' AND ngay_ct &lt; '20260201'.</a:t>
            </a:r>
          </a:p>
          <a:p>
            <a:r>
              <a:t>4. numeric(19,4).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73D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BUỔI 2 / 10  ·  CƠ BẢN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6E4F0"/>
                </a:solidFill>
                <a:latin typeface="Segoe UI"/>
                <a:ea typeface="Segoe UI"/>
                <a:cs typeface="Segoe UI"/>
              </a:rPr>
              <a:t>FastBusiness Online &amp; Bcode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7899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SQL căn bản để đọc dữ liệu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CADB"/>
                </a:solidFill>
                <a:latin typeface="Segoe UI"/>
                <a:ea typeface="Segoe UI"/>
                <a:cs typeface="Segoe UI"/>
              </a:rPr>
              <a:t>Thời lượng 3 giờ · tài liệu chi tiết: DaoTao_Fast_Bcode.docx — Buổi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Mục tiêu và lịch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Học xong buổi này, bạn: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Viết được SELECT / WHERE / ORDER BY / TOP trên bảng Fast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JOIN danh mục với chứng từ, master với detail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GROUP BY / HAVING để đếm, cộng, tìm trùng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Dùng thành thạo tab SQL Query: chạy, nhiều kết quả, lưu Excel / CSV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371600"/>
          <a:ext cx="5486400" cy="3520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57200"/>
                <a:gridCol w="402336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Nội dung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Thời gian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SELECT, WHERE, toán tử, chuỗi N'…'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JOIN, đọc thuộc tính information để biết ghép bảng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GROUP BY, HAVING, hàm hay dùng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30'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Kiểu dữ liệu Fast, ngày tháng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SQL Query trên Bcode: F5, F12, Ctrl+E, Save as CSV / XLSX, Debug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40'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6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Thực hành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20'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0080" y="5623560"/>
            <a:ext cx="1092708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91440" cy="64008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567842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Lưu ý:</a:t>
            </a:r>
            <a:r>
              <a:rPr sz="14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Chuẩn bị: Dự án thử có dữ liệu danh mục và vài chứng từ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Đọc dữ liệu: SELECT, WHERE, GROUP BY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4663440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Khách hàng còn dùng, mã bắt đầu bằng 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TOP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20 ma_kh, ten_kh, ma_so_thue, tk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status = '1'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ma_kh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LIKE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'KH%'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Số khách theo nhân viên bán hàng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ma_nvbh,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AS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so_kh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GROUP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ma_nvbh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so_kh DESC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Tên khách bị trùng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ten_kh,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GROUP BY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ten_kh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HAVING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sz="18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(*) &gt;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LIKE 'KH%'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—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%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nhiều ký tự,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_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một ký tự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 (…)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BETWEEN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IS NULL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Tiếng Việt: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N'…'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(thiếu N mất dấu)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HAVING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lọc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sau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khi nhóm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Hàm: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ISNULL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RTRIM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CASE WHEN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JOIN — ghép bảng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6949440" cy="3637787"/>
          </a:xfrm>
          <a:prstGeom prst="roundRect">
            <a:avLst>
              <a:gd name="adj" fmla="val 3000"/>
            </a:avLst>
          </a:prstGeom>
          <a:solidFill>
            <a:srgbClr val="1E2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09928"/>
            <a:ext cx="6629400" cy="4462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information="ma_nvbh$dmnvbh.ten_nvbh%l" (Dir\Customer.f)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a.ma_kh, a.ten_kh, b.ten_nvbh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dmkh a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LEFT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dmnvbh b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b.ma_nvbh = a.ma_nvbh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7FB06A"/>
                </a:solidFill>
                <a:latin typeface="Consolas"/>
                <a:ea typeface="Consolas"/>
                <a:cs typeface="Consolas"/>
              </a:rPr>
              <a:t>-- Phiếu nhập tháng 01/2026: master + detail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SELECT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m.so_ct, m.ngay_ct, d.ma_vt, v.ten_vt,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     d.ma_kho, d.so_luong, d.tien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m74$202601 m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d74$202601 d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d.stt_rec = m.stt_rec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LEFT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JOIN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dmvt v 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ON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v.ma_vt = d.ma_vt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WHERE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 &gt;= '20260101'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AND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 &lt;  '20260201'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6CB6FF"/>
                </a:solidFill>
                <a:latin typeface="Consolas"/>
                <a:ea typeface="Consolas"/>
                <a:cs typeface="Consolas"/>
              </a:rPr>
              <a:t>ORDER BY</a:t>
            </a:r>
            <a:r>
              <a:rPr sz="1500" b="0" i="0">
                <a:solidFill>
                  <a:srgbClr val="E6E6E6"/>
                </a:solidFill>
                <a:latin typeface="Consolas"/>
                <a:ea typeface="Consolas"/>
                <a:cs typeface="Consolas"/>
              </a:rPr>
              <a:t> m.ngay_ct, m.so_ct, d.line_nbr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1600200"/>
            <a:ext cx="37490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Xem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information=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của field để biết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ghép bảng nào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LEFT JOIN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giữ hết bảng trái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Luôn đặt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bí danh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a.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b.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Master–detail nối bằng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stt_rec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Lọc ngày: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&gt;= '20260101'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&lt; '20260201'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Bảng tạm, CTE và kiểu dữ liệu Fast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33284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4206240"/>
                <a:gridCol w="429768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Kiểu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Dùng cho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Lưu ý</a:t>
                      </a:r>
                    </a:p>
                  </a:txBody>
                  <a:tcPr marL="73152" marR="73152" marT="36576" marB="36576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varchar(n)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Mã: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ma_kh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ma_vt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tk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stt_rec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Cột tra cứu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cùng kiểu, độ dài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cột mã nguồn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nvarchar(n)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Tên, diễn giải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Tiếng Việt → nvarchar +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N'…'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numeric(19,4)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Tiền, số lượng, giá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Không dùng float cho tiền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smalldatetime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Ngày chứng từ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1900 → 2079, chính xác tới phút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int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Tháng, năm, kỳ,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line_nbr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Tháng / năm là </a:t>
                      </a:r>
                      <a:r>
                        <a:rPr sz="1500" b="1" i="0">
                          <a:solidFill>
                            <a:srgbClr val="1F4E79"/>
                          </a:solidFill>
                          <a:latin typeface="Segoe UI"/>
                          <a:ea typeface="Segoe UI"/>
                          <a:cs typeface="Segoe UI"/>
                        </a:rPr>
                        <a:t>cột int riêng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char(1)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 / </a:t>
                      </a:r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bit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status</a:t>
                      </a:r>
                      <a:r>
                        <a:rPr sz="1500" b="0" i="0">
                          <a:solidFill>
                            <a:srgbClr val="263238"/>
                          </a:solidFill>
                          <a:latin typeface="Segoe UI"/>
                          <a:ea typeface="Segoe UI"/>
                          <a:cs typeface="Segoe UI"/>
                        </a:rPr>
                        <a:t>, cờ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B02A2A"/>
                          </a:solidFill>
                          <a:latin typeface="Consolas"/>
                          <a:ea typeface="Consolas"/>
                          <a:cs typeface="Consolas"/>
                        </a:rPr>
                        <a:t>status = '1'</a:t>
                      </a:r>
                    </a:p>
                  </a:txBody>
                  <a:tcPr marL="73152" marR="73152" marT="36576" marB="36576" anchor="ctr"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525780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57800"/>
            <a:ext cx="91440" cy="7772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5312664"/>
            <a:ext cx="106070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Fast hay dùng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SELECT TOP 0 … INTO #report FROM bảng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để tạo bảng tạm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đúng kiểu cột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 Ngày luôn viết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'20260131'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SQL Query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pic>
        <p:nvPicPr>
          <p:cNvPr id="7" name="Picture 6" descr="bcode-sql-qu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168" y="1325880"/>
            <a:ext cx="6143182" cy="2834640"/>
          </a:xfrm>
          <a:prstGeom prst="rect">
            <a:avLst/>
          </a:prstGeom>
          <a:ln w="12700">
            <a:solidFill>
              <a:srgbClr val="C8D1D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438912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/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Ctrl+Enter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chạy (đoạn chọn)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Alt+F5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dừng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Xếp chồng / Từng tab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tìm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38912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F7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Beauty ·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F12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xem object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Ctrl+I</a:t>
            </a:r>
            <a:r>
              <a:rPr sz="17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AI viết SQL</a:t>
            </a:r>
          </a:p>
          <a:p>
            <a:pPr>
              <a:spcAft>
                <a:spcPts val="1000"/>
              </a:spcAft>
            </a:pPr>
            <a:r>
              <a:rPr sz="17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7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Check Fields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Kết quả ra file · Debug · Lịch sử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459480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xuất nhanh ra Excel, mở luôn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Chuột phải →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Save as Excel / CSV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Lưu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toàn bộ dòng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, kể cả phần chưa hiện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Excel giữ số 0 đầu mã, kiểu số / ngày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880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3880" y="1645920"/>
            <a:ext cx="3459480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6760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Debug từng bước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🐞 bật Debug từng bước →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F5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F10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bước ·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Ctrl+F10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tới con trỏ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Bảng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Variables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Luôn ROLLBACK — không đổi dữ liệu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679" y="1645920"/>
            <a:ext cx="345948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79" y="1645920"/>
            <a:ext cx="3459480" cy="10972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1874519"/>
            <a:ext cx="30937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Lịch sử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839" y="2606040"/>
            <a:ext cx="31851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Ctrl+Alt+H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lưu câu vào Lịch sử SQL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5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Ctrl+Shift+Y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mở Lịch sử SQL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Tự ghi mỗi lần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ALTER / CREATE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procedure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So sánh, khôi phục bản cũ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Thực hành tại lớp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Liệt kê 20 khách hàng còn dùng kèm tên nhân viên bán hàng.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Tổng số lượng, tiền nhập theo vật tư trong 1 tháng; chỉ lấy vật tư &gt; 100 triệu.</a:t>
            </a:r>
          </a:p>
          <a:p>
            <a:pPr>
              <a:spcAft>
                <a:spcPts val="1000"/>
              </a:spcAft>
            </a:pPr>
            <a:r>
              <a:rPr sz="20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Xuất kết quả bằng </a:t>
            </a:r>
            <a:r>
              <a:rPr sz="19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Ctrl+E</a:t>
            </a:r>
            <a:r>
              <a:rPr sz="20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và bằng Save as CSV; so sánh mã có số 0 đầu.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109270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434840"/>
            <a:ext cx="91440" cy="6858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489703"/>
            <a:ext cx="1060704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2E75B6"/>
                </a:solidFill>
                <a:latin typeface="Segoe UI"/>
                <a:ea typeface="Segoe UI"/>
                <a:cs typeface="Segoe UI"/>
              </a:rPr>
              <a:t>Mẹo: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5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Trên database: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Sổ bài tập thực hành — Buổi 2 (FBOSP2422_App / _Sys, chạy </a:t>
            </a:r>
            <a:r>
              <a:rPr sz="14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00_TaoDuLieuMau.sql</a:t>
            </a:r>
            <a:r>
              <a:rPr sz="15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trước).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257800"/>
            <a:ext cx="109270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57800"/>
            <a:ext cx="91440" cy="9144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5312664"/>
            <a:ext cx="106070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27AE60"/>
                </a:solidFill>
                <a:latin typeface="Segoe UI"/>
                <a:ea typeface="Segoe UI"/>
                <a:cs typeface="Segoe UI"/>
              </a:rPr>
              <a:t>Bài tập: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</a:t>
            </a:r>
            <a:r>
              <a:rPr sz="16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Về nhà:</a:t>
            </a:r>
            <a:r>
              <a:rPr sz="16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Viết 5 câu truy vấn trả lời 5 câu hỏi nghiệp vụ người hướng dẫn giao (vd khách nào chưa phát sinh chứng từ trong năm).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Tự kiểm tra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24128"/>
            <a:ext cx="1005840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Buổi 2 · SQL căn bản để đọc dữ liệu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6B7785"/>
                </a:solidFill>
                <a:latin typeface="Segoe UI"/>
                <a:ea typeface="Segoe UI"/>
                <a:cs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1.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Vì sao viết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N'Bộ phận'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chứ không </a:t>
            </a:r>
            <a:r>
              <a:rPr sz="2000" b="0" i="0">
                <a:solidFill>
                  <a:srgbClr val="B02A2A"/>
                </a:solidFill>
                <a:latin typeface="Consolas"/>
                <a:ea typeface="Consolas"/>
                <a:cs typeface="Consolas"/>
              </a:rPr>
              <a:t>'Bộ phận'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2.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Khác nhau giữa INNER JOIN và LEFT JOIN?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3.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Lọc cả tháng 01/2026 thế nào cho đúng?</a:t>
            </a:r>
          </a:p>
          <a:p>
            <a:pPr>
              <a:spcAft>
                <a:spcPts val="1000"/>
              </a:spcAft>
            </a:pPr>
            <a:r>
              <a:rPr sz="2100" b="1" i="0">
                <a:solidFill>
                  <a:srgbClr val="F2B705"/>
                </a:solidFill>
                <a:latin typeface="Segoe UI"/>
                <a:ea typeface="Segoe UI"/>
                <a:cs typeface="Segoe UI"/>
              </a:rPr>
              <a:t>▪  </a:t>
            </a:r>
            <a:r>
              <a:rPr sz="2100" b="1" i="0">
                <a:solidFill>
                  <a:srgbClr val="1F4E79"/>
                </a:solidFill>
                <a:latin typeface="Segoe UI"/>
                <a:ea typeface="Segoe UI"/>
                <a:cs typeface="Segoe UI"/>
              </a:rPr>
              <a:t>4.</a:t>
            </a:r>
            <a:r>
              <a:rPr sz="2100" b="0" i="0">
                <a:solidFill>
                  <a:srgbClr val="263238"/>
                </a:solidFill>
                <a:latin typeface="Segoe UI"/>
                <a:ea typeface="Segoe UI"/>
                <a:cs typeface="Segoe UI"/>
              </a:rPr>
              <a:t> Tiền / số lượng dùng kiểu gì?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