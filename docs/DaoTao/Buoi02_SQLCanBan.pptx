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2: SQL căn bản để đọc dữ liệu Fast (Cơ bản, 3 giờ).</a:t>
            </a:r>
          </a:p>
          <a:p>
            <a:r>
              <a:t>Chuẩn bị: Dự án thử có dữ liệu danh mục và vài chứng từ.</a:t>
            </a:r>
          </a:p>
          <a:p>
            <a:r>
              <a:t>Nhắc lại bài tập về nhà của buổi trước trước khi vào nội dung mới (5–10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</a:t>
            </a:r>
          </a:p>
          <a:p>
            <a:r>
              <a:t>- Viết được SELECT / WHERE / ORDER BY / TOP trên bảng Fast</a:t>
            </a:r>
          </a:p>
          <a:p>
            <a:r>
              <a:t>- JOIN danh mục với chứng từ, master với detail</a:t>
            </a:r>
          </a:p>
          <a:p>
            <a:r>
              <a:t>- GROUP BY / HAVING để đếm, cộng, tìm trùng</a:t>
            </a:r>
          </a:p>
          <a:p>
            <a:r>
              <a:t>- Dùng thành thạo tab SQL Query: chạy, nhiều kết quả, lưu Excel / CSV</a:t>
            </a:r>
          </a:p>
          <a:p>
            <a:r>
              <a:t>Lịch trình:</a:t>
            </a:r>
          </a:p>
          <a:p>
            <a:r>
              <a:t>1. SELECT, WHERE, toán tử, chuỗi N'…' (30')</a:t>
            </a:r>
          </a:p>
          <a:p>
            <a:r>
              <a:t>2. JOIN, đọc thuộc tính information để biết ghép bảng (40')</a:t>
            </a:r>
          </a:p>
          <a:p>
            <a:r>
              <a:t>3. GROUP BY, HAVING, hàm hay dùng (30')</a:t>
            </a:r>
          </a:p>
          <a:p>
            <a:r>
              <a:t>4. Kiểu dữ liệu Fast, ngày tháng (20')</a:t>
            </a:r>
          </a:p>
          <a:p>
            <a:r>
              <a:t>5. SQL Query trên Bcode: F5, F12, Ctrl+E, Save as CSV / XLSX, Debug (40')</a:t>
            </a:r>
          </a:p>
          <a:p>
            <a:r>
              <a:t>6. Thực hành (20')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SELECT cơ bản trên dmkh. Nhắc các toán tử: =, &lt;&gt;, LIKE với % và _, IN, BETWEEN, IS NULL.</a:t>
            </a:r>
          </a:p>
          <a:p>
            <a:r>
              <a:t>Chuỗi tiếng Việt phải có tiền tố N, ví dụ N'Bộ phận' — thiếu N thì mất dấu.</a:t>
            </a:r>
          </a:p>
          <a:p>
            <a:r>
              <a:t>GROUP BY để đếm / cộng theo nhóm; HAVING để lọc sau khi nhóm. Câu tìm tên trùng rất hay dùng khi dọn dữ liệu danh mục.</a:t>
            </a:r>
          </a:p>
          <a:p>
            <a:r>
              <a:t>Cho học viên tự chạy trên dự án thử: đổi điều kiện LIKE, thêm cột.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Muốn biết ghép bảng nào thì nhìn thuộc tính information của field tra cứu trong controller: ma_nvbh$dmnvbh.ten_nvbh%l nghĩa là dmkh.ma_nvbh ghép dmnvbh lấy ten_nvbh.</a:t>
            </a:r>
          </a:p>
          <a:p>
            <a:r>
              <a:t>INNER JOIN chỉ lấy dòng có ở cả hai bên; LEFT JOIN giữ hết bảng trái.</a:t>
            </a:r>
          </a:p>
          <a:p>
            <a:r>
              <a:t>Luôn đặt bí danh vì Fast có nhiều cột trùng tên (status, ma_dvcs...).</a:t>
            </a:r>
          </a:p>
          <a:p>
            <a:r>
              <a:t>Ví dụ 2: chứng từ master + detail nối bằng stt_rec. Lọc ngày dùng dạng yyyymmdd và khoảng nửa mở (&gt;= đầu tháng, &lt; đầu tháng sau).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tạm #temp sống tới hết kết nối / hết procedure — dùng nhiều trong procedure Fast. Biến bảng @t nhỏ, sống trong một batch. CTE (WITH ... AS) giúp đặt tên cho truy vấn con, kết hợp ROW_NUMBER để tìm bản trùng.</a:t>
            </a:r>
          </a:p>
          <a:p>
            <a:r>
              <a:t>Mẹo của Fast: SELECT TOP 0 ... INTO #report FROM bảng để tạo bảng tạm đúng kiểu cột rồi mới INSERT.</a:t>
            </a:r>
          </a:p>
          <a:p>
            <a:r>
              <a:t>Kiểu dữ liệu: mã là varchar, độ dài theo bảng gốc — luôn xem cấu trúc ở tab Table; tên là nvarchar; tiền / số lượng numeric(19,4); ngày smalldatetime; tháng năm là int riêng.</a:t>
            </a:r>
          </a:p>
          <a:p>
            <a:r>
              <a:t>Ngày tháng: dùng chuỗi 'yyyymmdd', không dùng '01/02/2026' vì phụ thuộc cài đặt ngôn ngữ.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Ctrl+Shift+Q mở tab SQL Query. F5 hoặc Ctrl+Enter chạy — có bôi đen thì chỉ chạy đoạn bôi đen. Alt+F5 dừng.</a:t>
            </a:r>
          </a:p>
          <a:p>
            <a:r>
              <a:t>Nhiều bảng kết quả: chọn Xếp chồng hoặc Từng tab. Chọn nhiều ô số thì thanh dưới hiện Sum / Count / Average.</a:t>
            </a:r>
          </a:p>
          <a:p>
            <a:r>
              <a:t>Lỗi: tab Message tự mở, bấm "dòng N" để nhảy tới dòng lỗi.</a:t>
            </a:r>
          </a:p>
          <a:p>
            <a:r>
              <a:t>Ctrl+S lưu file .sql, Ctrl+F tìm, F7 định dạng code, F12 xem nhanh bảng / procedure dưới con trỏ, Ctrl+I nhờ AI viết / sửa SQL (cần API key), Check Fields kiểm tra cột tồn tại mà không chạy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nhóm tính năng hay dùng ở SQL Query.</a:t>
            </a:r>
          </a:p>
          <a:p>
            <a:r>
              <a:t>Excel / CSV: Ctrl+E ở lưới kết quả xuất nhanh ra Excel vào thư mục tạm rồi mở luôn. Muốn lưu đúng chỗ thì chuột phải → Lưu ra file → Save as Excel hoặc Save as CSV. Lưu toàn bộ dòng của bảng, kể cả khi lưới không hiện hết. Excel giữ được số 0 đầu của mã; CSV mở bằng Excel thì Excel tự đoán kiểu, có thể mất số 0.</a:t>
            </a:r>
          </a:p>
          <a:p>
            <a:r>
              <a:t>Debug: chỉ có ở chế độ Web. Mỗi bước chạy lại trong BEGIN TRAN rồi luôn ROLLBACK, nên an toàn nhưng script nặng sẽ chậm.</a:t>
            </a:r>
          </a:p>
          <a:p>
            <a:r>
              <a:t>Lịch sử: Bcode không tự lưu mọi câu chạy, phải Ctrl+Alt+H. Nhưng mọi lần CREATE / ALTER procedure, function, view, trigger thì Bcode tự ghi phiên bản — rất hữu ích khi cần rollback (chương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viên làm trên dự án thử, người hướng dẫn đi kiểm từng máy. Ai xong sớm làm luôn bài tập về nhà.</a:t>
            </a:r>
          </a:p>
          <a:p>
            <a:r>
              <a:t>Bài tập về nhà: Viết 5 câu truy vấn trả lời 5 câu hỏi nghiệp vụ người hướng dẫn giao (vd khách nào chưa phát sinh chứng từ trong năm).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 cả lớp; đáp án:</a:t>
            </a:r>
          </a:p>
          <a:p>
            <a:r>
              <a:t>1. Thiếu N thì chuỗi tiếng Việt bị mất dấu (không phải unicode).</a:t>
            </a:r>
          </a:p>
          <a:p>
            <a:r>
              <a:t>2. INNER chỉ lấy dòng có ở cả 2 bảng; LEFT giữ hết bảng trái, bên phải không có thì NULL.</a:t>
            </a:r>
          </a:p>
          <a:p>
            <a:r>
              <a:t>3. ngay_ct &gt;= '20260101' AND ngay_ct &lt; '20260201'.</a:t>
            </a:r>
          </a:p>
          <a:p>
            <a:r>
              <a:t>4. numeric(19,4).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BUỔI 2 / 10  · 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Segoe UI"/>
                <a:ea typeface="Segoe UI"/>
                <a:cs typeface="Segoe UI"/>
              </a:rPr>
              <a:t>FastBusiness Online &amp;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SQL căn bản để đọc dữ liệu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B8CADB"/>
                </a:solidFill>
                <a:latin typeface="Segoe UI"/>
                <a:ea typeface="Segoe UI"/>
                <a:cs typeface="Segoe UI"/>
              </a:rPr>
              <a:t>Thời lượng 3 giờ · tài liệu chi tiết: DaoTao_Fast_Bcode.docx — Buổi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Mục tiêu và lịch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Học xong buổi này, bạn: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Viết được SELECT / WHERE / ORDER BY / TOP trên bảng Fast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JOIN danh mục với chứng từ, master với detail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GROUP BY / HAVING để đếm, cộng, tìm trùng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Dùng thành thạo tab SQL Query: chạy, nhiều kết quả, lưu Excel / CSV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486400" cy="352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0233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SELECT, WHERE, toán tử, chuỗi N'…'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JOIN, đọc thuộc tính information để biết ghép bảng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GROUP BY, HAVING, hàm hay dùng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Kiểu dữ liệu Fast, ngày tháng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SQL Query trên Bcode: F5, F12, Ctrl+E, Save as CSV / XLSX, Debug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Thực hành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bị: Dự án thử có dữ liệu danh mục và vài chứng từ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Đọc dữ liệu: SELECT, WHERE, GROUP BY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949440" cy="466344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9928"/>
            <a:ext cx="6629400" cy="4462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-- Khách hàng còn dùng, mã bắt đầu bằng KH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TOP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20 ma_kh, ten_kh, ma_so_thue, tk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dmkh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status = '1'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ma_kh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LIKE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'KH%'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ORDER BY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ma_kh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-- Số khách theo nhân viên bán hàng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ma_nvbh,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(*)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so_kh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dmkh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GROUP BY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ma_nvbh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ORDER BY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so_kh DESC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-- Tên khách bị trùng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ten_kh,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(*)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dmkh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GROUP BY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ten_kh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HAVING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8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(*) &gt;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LIKE 'KH%'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—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nhiều ký tự,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một ký tự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IN (…)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BETWEEN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IS NULL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Tiếng Việt: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N'…'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(thiếu N mất dấu)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HAVING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lọc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sau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khi nhóm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Hàm: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ISNULL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RTRIM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CASE WHEN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JOIN — ghép bảng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949440" cy="3637787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9928"/>
            <a:ext cx="6629400" cy="4462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-- information="ma_nvbh$dmnvbh.ten_nvbh%l" (Dir\Customer.f)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a.ma_kh, a.ten_kh, b.ten_nvbh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dmkh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dmnvbh b </a:t>
            </a: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b.ma_nvbh = a.ma_nvbh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7FB06A"/>
                </a:solidFill>
                <a:latin typeface="Consolas"/>
                <a:ea typeface="Consolas"/>
                <a:cs typeface="Consolas"/>
              </a:rPr>
              <a:t>-- Phiếu nhập tháng 01/2026: master + detail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m.so_ct, m.ngay_ct, d.ma_vt, v.ten_vt,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d.ma_kho, d.so_luong, d.tien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m74$202601 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d74$202601 d </a:t>
            </a: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d.stt_rec = m.stt_rec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dmvt v  </a:t>
            </a: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v.ma_vt = d.ma_vt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m.ngay_ct &gt;= '20260101'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m.ngay_ct &lt;  '20260201'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CB6FF"/>
                </a:solidFill>
                <a:latin typeface="Consolas"/>
                <a:ea typeface="Consolas"/>
                <a:cs typeface="Consolas"/>
              </a:rPr>
              <a:t>ORDER BY</a:t>
            </a:r>
            <a:r>
              <a:rPr sz="1500" b="0" i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m.ngay_ct, m.so_ct, d.line_nbr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Xem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information=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của field để biết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ghép bảng nào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LEFT JOIN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giữ hết bảng trái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Luôn đặt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bí danh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a.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b.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Master–detail nối bằng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stt_rec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Lọc ngày: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&gt;= '20260101'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và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&lt; '20260201'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Bảng tạm, CTE và kiểu dữ liệu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32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4206240"/>
                <a:gridCol w="42976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Dùng cho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Lưu ý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varchar(n)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Mã: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ma_kh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ma_vt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tk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stt_rec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Cột tra cứu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cùng kiểu, độ dài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cột mã nguồn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nvarchar(n)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Tên, diễn giải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Tiếng Việt → nvarchar +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N'…'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numeric(19,4)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Tiền, số lượng, giá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Không dùng float cho tiền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smalldatetime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Ngày chứng từ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1900 → 2079, chính xác tới phút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Tháng, năm, kỳ,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line_nbr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Tháng / năm là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cột int riêng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char(1)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/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bit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status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cờ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status = '1'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5780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914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312664"/>
            <a:ext cx="106070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Fast hay dùng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SELECT TOP 0 … INTO #report FROM bảng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để tạo bảng tạm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đúng kiểu cột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 Ngày luôn viết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'20260131'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SQL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pic>
        <p:nvPicPr>
          <p:cNvPr id="7" name="Picture 6" descr="bcode-sql-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168" y="1325880"/>
            <a:ext cx="6143182" cy="2834640"/>
          </a:xfrm>
          <a:prstGeom prst="rect">
            <a:avLst/>
          </a:prstGeom>
          <a:ln w="12700">
            <a:solidFill>
              <a:srgbClr val="C8D1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43891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F5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/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Ctrl+Enter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chạy (đoạn chọn)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Alt+F5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dừng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Xếp chồng / Từng tab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lưu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tìm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F7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Beauty ·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F12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xem object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Ctrl+I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AI viết SQL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Check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Kết quả ra file · Debug · Lịch sử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594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45948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Excel /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185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xuất nhanh ra Excel, mở luôn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Chuột phải →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Save as Excel / CSV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Lưu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toàn bộ dòng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kể cả phần chưa hiện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Excel giữ số 0 đầu mã, kiểu số / ngày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645920"/>
            <a:ext cx="34594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645920"/>
            <a:ext cx="34594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Debug từng bước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606040"/>
            <a:ext cx="3185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🐞 bật Debug từng bước →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F5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F10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bước ·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Ctrl+F10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tới con trỏ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Bảng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Variables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Luôn ROLLBACK — không đổi dữ liệu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79" y="1645920"/>
            <a:ext cx="345948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79" y="1645920"/>
            <a:ext cx="345948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59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Lịch sử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39" y="2606040"/>
            <a:ext cx="3185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Ctrl+Alt+H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lưu câu vào Lịch sử SQL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Ctrl+Shift+Y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mở Lịch sử SQL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Tự ghi mỗi lần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ALTER / CREATE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procedure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So sánh, khôi phục bản cũ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Thực hành tại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Liệt kê 20 khách hàng còn dùng kèm tên nhân viên bán hàng.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Tổng số lượng, tiền nhập theo vật tư trong 1 tháng; chỉ lấy vật tư &gt; 100 triệu.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Xuất kết quả bằng </a:t>
            </a:r>
            <a:r>
              <a:rPr sz="19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và bằng Save as CSV; so sánh mã có số 0 đầu.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Trên database: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Sổ bài tập thực hành — Buổi 2 (FBOSP2422_App / _Sys, chạy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00_TaoDuLieuMau.sql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12664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Bài tập: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Về nhà: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Viết 5 câu truy vấn trả lời 5 câu hỏi nghiệp vụ người hướng dẫn giao (vd khách nào chưa phát sinh chứng từ trong năm).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Tự kiểm 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2 · SQL căn bản để đọc dữ liệu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Vì sao viết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N'Bộ phận'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chứ không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'Bộ phận'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Khác nhau giữa INNER JOIN và LEFT JOIN?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Lọc cả tháng 01/2026 thế nào cho đúng?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4.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Tiền / số lượng dùng kiểu gì?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