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10: Đóng gói, triển khai và ôn tập (Nâng cao, 3 giờ).</a:t>
            </a:r>
          </a:p>
          <a:p>
            <a:r>
              <a:t>Chuẩn bị: Các bài làm của buổi 4–8 trên dự án thử.</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Gom thay đổi theo yêu cầu bằng Note (New) / BcodeNote</a:t>
            </a:r>
          </a:p>
          <a:p>
            <a:r>
              <a:t>- Tạo gói update đúng cấu trúc, triển khai và rollback</a:t>
            </a:r>
          </a:p>
          <a:p>
            <a:r>
              <a:t>- Tự kiểm tra bằng checklist trước khi triển khai</a:t>
            </a:r>
          </a:p>
          <a:p>
            <a:r>
              <a:t>Lịch trình:</a:t>
            </a:r>
          </a:p>
          <a:p>
            <a:r>
              <a:t>1. Note (New), BcodeNote, Gen Update (45')</a:t>
            </a:r>
          </a:p>
          <a:p>
            <a:r>
              <a:t>2. Triển khai lên dự án, rollback (30')</a:t>
            </a:r>
          </a:p>
          <a:p>
            <a:r>
              <a:t>3. Checklist, ôn tập toàn khoá (45')</a:t>
            </a:r>
          </a:p>
          <a:p>
            <a:r>
              <a:t>4. Bài kiểm tra cuối khoá (60')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(New) (Ctrl+Shift+4): mỗi yêu cầu là một mục. Bấm Sync yêu cầu để kéo các yêu cầu được giao cho bạn từ FSG về, hoặc bấm New Request để tự tạo.</a:t>
            </a:r>
          </a:p>
          <a:p>
            <a:r>
              <a:t>Trong mỗi yêu cầu khai báo: Gen All (nhập tên controller — Bcode tự lấy đủ các file và script menu liên quan), File Path (thêm từng file lẻ), SQL Object (procedure / function, chọn database App hoặc Sys), SQL Top Script (script chạy trước, ví dụ tạo bảng), Bottom Script (script chạy sau, ví dụ thêm menu), Table liên quan (lấy cấu trúc hoặc dữ liệu bảng).</a:t>
            </a:r>
          </a:p>
          <a:p>
            <a:r>
              <a:t>Xem trước gói, mở tất cả script ra để rà lại, rồi bấm Generate Update.</a:t>
            </a:r>
          </a:p>
          <a:p>
            <a:r>
              <a:t>BcodeNote.exe làm cùng việc này nhưng chuyển qua lại được nhiều dự án; cách dùng: chọn menu ở cây bên trái → Gợi ý cho yêu cầu đang mở → tick các mục cần lấy → Điền vào yêu cầu.</a:t>
            </a:r>
          </a:p>
          <a:p>
            <a:r>
              <a:t>Gen Update (Ctrl+Shift+G) đóng gói nhanh, không gắn với yêu cầu nào. Gói update gồm Script\app\APP_Script.sql, Script\sys\SYS_Script.sql, thư mục Web\... và file description.txt. Bảng (Table) trong gói không bao giờ bị DROP.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Thứ tự triển khai: sao lưu trước — các file sẽ bị ghi đè, định nghĩa procedure cũ (dùng làm script rollback); có thể backup cả database bằng Settings → Backup Database.</a:t>
            </a:r>
          </a:p>
          <a:p>
            <a:r>
              <a:t>Chạy SYS_Script trên Sys Data, APP_Script trên App Data — đọc kỹ tab Message, có lỗi thì dừng lại, không chạy tiếp.</a:t>
            </a:r>
          </a:p>
          <a:p>
            <a:r>
              <a:t>Chép thư mục Web đè vào thư mục site, giữ đúng cấu trúc thư mục.</a:t>
            </a:r>
          </a:p>
          <a:p>
            <a:r>
              <a:t>Nếu có đổi cấu trúc bảng thì chạy Actions → Clear Structure App; cần nạp lại site thì dùng Refresh Web.config.</a:t>
            </a:r>
          </a:p>
          <a:p>
            <a:r>
              <a:t>Cuối cùng mở menu trên web để kiểm tra: thêm, sửa, xoá, in, xuất Excel; ghi chú kết quả kiểm tra vào yêu cầu.</a:t>
            </a:r>
          </a:p>
          <a:p>
            <a:r>
              <a:t>Quy trình cụ thể (ai được chép file lên server của khách, vào giờ nào) theo quy định riêng của từng dự 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này nên in ra hoặc dán vào Note của mỗi yêu cầu. Mục 2 và 3 quan trọng nhất: luôn phải có đường lui (rollback), và script phải chạy lại được nhiều lần mà không lỗi (dùng IF OBJECT_ID ... IS NULL, IF COL_LENGTH ... IS NULL để kiểm tra trước khi tạo).</a:t>
            </a:r>
          </a:p>
          <a:p>
            <a:r>
              <a:t>Mục 8: repo, tài liệu và tin nhắn không bao giờ được chứa mật khẩu hay chuỗi kết nối thật.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các phím tắt hay dùng nhất. Bảng đầy đủ có trong phụ lục A của tài liệu Word và trong tab Trợ giúp.</a:t>
            </a:r>
          </a:p>
          <a:p>
            <a:r>
              <a:t>Phím tắt của BcodeViewer: Ctrl+P mở file, F12 / Ctrl+F12 xem entity và mở nơi khai báo, Shift+F12 tìm nơi dùng, Ctrl+G để Go to, Ctrl+Shift+M mở bảng Problems, Alt+P xem trước form Dir, Ctrl+Enter chạy SQL, F5 chạy menu, Ctrl+Shift+H xem lịch sử file.</a:t>
            </a:r>
          </a:p>
          <a:p>
            <a:r>
              <a:t>Mọi phím tắt đều đổi được: trong Bcode vào Settings → Giao diện (Template) → Phím tắt; trong BcodeViewer vào File → Phím tắt.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Ôn lại ba phần của khoá học (cơ bản, trung cấp, nâng cao) trước bài kiểm tra cuối khoá.</a:t>
            </a:r>
          </a:p>
          <a:p>
            <a:r>
              <a:t>Bài kiểm tra: mỗi người nhận một yêu cầu trọn gói (danh mục + báo cáo + mẫu in), làm trên dự án thử và đóng gói xong trong một ngày; người hướng dẫn chấm điểm theo checklist ở phụ lục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Bài kiểm tra cuối khoá: nhận 1 yêu cầu trọn gói (gồm danh mục, báo cáo và mẫu in), làm và đóng gói trong 1 ngày.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Script\app, Script\sys, Web\…, description.txt.</a:t>
            </a:r>
          </a:p>
          <a:p>
            <a:r>
              <a:t>2. SYS_Script.sql chạy trên Sys Data, APP_Script.sql chạy trên App Data.</a:t>
            </a:r>
          </a:p>
          <a:p>
            <a:r>
              <a:t>3. Chạy Actions → Clear Structure App, vì site còn giữ cấu trúc bảng cũ.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10 / 10  ·  NÂNG CAO</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Đóng gói, triển khai và ôn tập</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Gom thay đổi theo yêu cầu bằng Note (New) / BcodeNote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Tạo gói update đúng cấu trúc, triển khai và rollback</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Tự kiểm tra bằng checklist trước khi triển khai</a:t>
            </a:r>
          </a:p>
        </p:txBody>
      </p:sp>
      <p:graphicFrame>
        <p:nvGraphicFramePr>
          <p:cNvPr id="9" name="Table 8"/>
          <p:cNvGraphicFramePr>
            <a:graphicFrameLocks noGrp="1"/>
          </p:cNvGraphicFramePr>
          <p:nvPr/>
        </p:nvGraphicFramePr>
        <p:xfrm>
          <a:off x="6126480" y="1371600"/>
          <a:ext cx="5486400" cy="251460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Note (New), BcodeNote, Gen Update</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45'</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Triển khai lên dự án, rollback</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Checklist, ôn tập toàn khoá</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45'</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Bài kiểm tra cuối khoá</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60'</a:t>
                      </a:r>
                    </a:p>
                  </a:txBody>
                  <a:tcPr marL="73152" marR="73152" marT="36576" marB="36576" anchor="ctr">
                    <a:solidFill>
                      <a:srgbClr val="F4F7FB"/>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Các bài làm của buổi 4–8 trên dự án thử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Note (New) · BcodeNote · Gen Update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pic>
        <p:nvPicPr>
          <p:cNvPr id="7" name="Picture 6" descr="bcode-note-new.png"/>
          <p:cNvPicPr>
            <a:picLocks noChangeAspect="1"/>
          </p:cNvPicPr>
          <p:nvPr/>
        </p:nvPicPr>
        <p:blipFill>
          <a:blip r:embed="rId2"/>
          <a:stretch>
            <a:fillRect/>
          </a:stretch>
        </p:blipFill>
        <p:spPr>
          <a:xfrm>
            <a:off x="548640" y="1648010"/>
            <a:ext cx="7589520" cy="4293499"/>
          </a:xfrm>
          <a:prstGeom prst="rect">
            <a:avLst/>
          </a:prstGeom>
          <a:ln w="12700">
            <a:solidFill>
              <a:srgbClr val="C8D1DC"/>
            </a:solidFill>
          </a:ln>
        </p:spPr>
      </p:pic>
      <p:sp>
        <p:nvSpPr>
          <p:cNvPr id="8" name="TextBox 7"/>
          <p:cNvSpPr txBox="1"/>
          <p:nvPr/>
        </p:nvSpPr>
        <p:spPr>
          <a:xfrm>
            <a:off x="8366760" y="1325880"/>
            <a:ext cx="3383280" cy="475488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Gen All</a:t>
            </a:r>
            <a:r>
              <a:rPr sz="1500" b="0" i="0">
                <a:solidFill>
                  <a:srgbClr val="263238"/>
                </a:solidFill>
                <a:latin typeface="Segoe UI"/>
                <a:ea typeface="Segoe UI"/>
                <a:cs typeface="Segoe UI"/>
              </a:rPr>
              <a:t> · </a:t>
            </a:r>
            <a:r>
              <a:rPr sz="1500" b="1" i="0">
                <a:solidFill>
                  <a:srgbClr val="1F4E79"/>
                </a:solidFill>
                <a:latin typeface="Segoe UI"/>
                <a:ea typeface="Segoe UI"/>
                <a:cs typeface="Segoe UI"/>
              </a:rPr>
              <a:t>File Path</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SQL Object</a:t>
            </a:r>
            <a:r>
              <a:rPr sz="1500" b="0" i="0">
                <a:solidFill>
                  <a:srgbClr val="263238"/>
                </a:solidFill>
                <a:latin typeface="Segoe UI"/>
                <a:ea typeface="Segoe UI"/>
                <a:cs typeface="Segoe UI"/>
              </a:rPr>
              <a:t> (App / Sys)</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Top Script</a:t>
            </a:r>
            <a:r>
              <a:rPr sz="1500" b="0" i="0">
                <a:solidFill>
                  <a:srgbClr val="263238"/>
                </a:solidFill>
                <a:latin typeface="Segoe UI"/>
                <a:ea typeface="Segoe UI"/>
                <a:cs typeface="Segoe UI"/>
              </a:rPr>
              <a:t> chạy trước · </a:t>
            </a:r>
            <a:r>
              <a:rPr sz="1500" b="1" i="0">
                <a:solidFill>
                  <a:srgbClr val="1F4E79"/>
                </a:solidFill>
                <a:latin typeface="Segoe UI"/>
                <a:ea typeface="Segoe UI"/>
                <a:cs typeface="Segoe UI"/>
              </a:rPr>
              <a:t>Bottom</a:t>
            </a:r>
            <a:r>
              <a:rPr sz="1500" b="0" i="0">
                <a:solidFill>
                  <a:srgbClr val="263238"/>
                </a:solidFill>
                <a:latin typeface="Segoe UI"/>
                <a:ea typeface="Segoe UI"/>
                <a:cs typeface="Segoe UI"/>
              </a:rPr>
              <a:t> sau</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Table liên quan</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Xem trước gói → </a:t>
            </a:r>
            <a:r>
              <a:rPr sz="1500" b="1" i="0">
                <a:solidFill>
                  <a:srgbClr val="1F4E79"/>
                </a:solidFill>
                <a:latin typeface="Segoe UI"/>
                <a:ea typeface="Segoe UI"/>
                <a:cs typeface="Segoe UI"/>
              </a:rPr>
              <a:t>Generate Update</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BcodeNote: làm nhiều dự án</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Gói: </a:t>
            </a:r>
            <a:r>
              <a:rPr sz="1400" b="0" i="0">
                <a:solidFill>
                  <a:srgbClr val="B02A2A"/>
                </a:solidFill>
                <a:latin typeface="Consolas"/>
                <a:ea typeface="Consolas"/>
                <a:cs typeface="Consolas"/>
              </a:rPr>
              <a:t>Script\app</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Script\sys</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Web\…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Triển khai lên dự án</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sp>
        <p:nvSpPr>
          <p:cNvPr id="7" name="Rounded Rectangle 6"/>
          <p:cNvSpPr/>
          <p:nvPr/>
        </p:nvSpPr>
        <p:spPr>
          <a:xfrm>
            <a:off x="640080" y="1828800"/>
            <a:ext cx="195132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Sao lưu</a:t>
            </a:r>
          </a:p>
        </p:txBody>
      </p:sp>
      <p:sp>
        <p:nvSpPr>
          <p:cNvPr id="9" name="TextBox 8"/>
          <p:cNvSpPr txBox="1"/>
          <p:nvPr/>
        </p:nvSpPr>
        <p:spPr>
          <a:xfrm>
            <a:off x="713231" y="2697480"/>
            <a:ext cx="1805025" cy="833932"/>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file sẽ bị ghi đè,</a:t>
            </a:r>
          </a:p>
          <a:p>
            <a:pPr algn="ctr"/>
            <a:r>
              <a:rPr sz="1300" b="0" i="0">
                <a:solidFill>
                  <a:srgbClr val="E3ECF5"/>
                </a:solidFill>
                <a:latin typeface="Segoe UI"/>
                <a:ea typeface="Segoe UI"/>
                <a:cs typeface="Segoe UI"/>
              </a:rPr>
              <a:t>procedure cũ, database</a:t>
            </a:r>
          </a:p>
        </p:txBody>
      </p:sp>
      <p:sp>
        <p:nvSpPr>
          <p:cNvPr id="10" name="Right Arrow 9"/>
          <p:cNvSpPr/>
          <p:nvPr/>
        </p:nvSpPr>
        <p:spPr>
          <a:xfrm>
            <a:off x="2627985"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84017" y="1828800"/>
            <a:ext cx="195132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57169"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Script Sys</a:t>
            </a:r>
          </a:p>
        </p:txBody>
      </p:sp>
      <p:sp>
        <p:nvSpPr>
          <p:cNvPr id="13" name="TextBox 12"/>
          <p:cNvSpPr txBox="1"/>
          <p:nvPr/>
        </p:nvSpPr>
        <p:spPr>
          <a:xfrm>
            <a:off x="2957169" y="2697480"/>
            <a:ext cx="1805025" cy="833932"/>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chạy SYS_Script.sql</a:t>
            </a:r>
          </a:p>
          <a:p>
            <a:pPr algn="ctr"/>
            <a:r>
              <a:rPr sz="1300" b="0" i="0">
                <a:solidFill>
                  <a:srgbClr val="E3ECF5"/>
                </a:solidFill>
                <a:latin typeface="Segoe UI"/>
                <a:ea typeface="Segoe UI"/>
                <a:cs typeface="Segoe UI"/>
              </a:rPr>
              <a:t>trên Sys Data</a:t>
            </a:r>
          </a:p>
        </p:txBody>
      </p:sp>
      <p:sp>
        <p:nvSpPr>
          <p:cNvPr id="14" name="Right Arrow 13"/>
          <p:cNvSpPr/>
          <p:nvPr/>
        </p:nvSpPr>
        <p:spPr>
          <a:xfrm>
            <a:off x="4871923"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7955" y="1828800"/>
            <a:ext cx="195132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01107"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Script App</a:t>
            </a:r>
          </a:p>
        </p:txBody>
      </p:sp>
      <p:sp>
        <p:nvSpPr>
          <p:cNvPr id="17" name="TextBox 16"/>
          <p:cNvSpPr txBox="1"/>
          <p:nvPr/>
        </p:nvSpPr>
        <p:spPr>
          <a:xfrm>
            <a:off x="5201107" y="2697480"/>
            <a:ext cx="1805025" cy="833932"/>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chạy APP_Script.sql</a:t>
            </a:r>
          </a:p>
          <a:p>
            <a:pPr algn="ctr"/>
            <a:r>
              <a:rPr sz="1300" b="0" i="0">
                <a:solidFill>
                  <a:srgbClr val="E3ECF5"/>
                </a:solidFill>
                <a:latin typeface="Segoe UI"/>
                <a:ea typeface="Segoe UI"/>
                <a:cs typeface="Segoe UI"/>
              </a:rPr>
              <a:t>trên App Data</a:t>
            </a:r>
          </a:p>
        </p:txBody>
      </p:sp>
      <p:sp>
        <p:nvSpPr>
          <p:cNvPr id="18" name="Right Arrow 17"/>
          <p:cNvSpPr/>
          <p:nvPr/>
        </p:nvSpPr>
        <p:spPr>
          <a:xfrm>
            <a:off x="7115860"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71892" y="1828800"/>
            <a:ext cx="195132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45044"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Chép Web\</a:t>
            </a:r>
          </a:p>
        </p:txBody>
      </p:sp>
      <p:sp>
        <p:nvSpPr>
          <p:cNvPr id="21" name="TextBox 20"/>
          <p:cNvSpPr txBox="1"/>
          <p:nvPr/>
        </p:nvSpPr>
        <p:spPr>
          <a:xfrm>
            <a:off x="7445044" y="2697480"/>
            <a:ext cx="1805025" cy="833932"/>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đè vào site,</a:t>
            </a:r>
          </a:p>
          <a:p>
            <a:pPr algn="ctr"/>
            <a:r>
              <a:rPr sz="1300" b="0" i="0">
                <a:solidFill>
                  <a:srgbClr val="E3ECF5"/>
                </a:solidFill>
                <a:latin typeface="Segoe UI"/>
                <a:ea typeface="Segoe UI"/>
                <a:cs typeface="Segoe UI"/>
              </a:rPr>
              <a:t>giữ cấu trúc</a:t>
            </a:r>
          </a:p>
        </p:txBody>
      </p:sp>
      <p:sp>
        <p:nvSpPr>
          <p:cNvPr id="22" name="Right Arrow 21"/>
          <p:cNvSpPr/>
          <p:nvPr/>
        </p:nvSpPr>
        <p:spPr>
          <a:xfrm>
            <a:off x="9359798"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5830" y="1828800"/>
            <a:ext cx="195132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88982" y="1920240"/>
            <a:ext cx="1805025" cy="781812"/>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Kiểm tra</a:t>
            </a:r>
          </a:p>
        </p:txBody>
      </p:sp>
      <p:sp>
        <p:nvSpPr>
          <p:cNvPr id="25" name="TextBox 24"/>
          <p:cNvSpPr txBox="1"/>
          <p:nvPr/>
        </p:nvSpPr>
        <p:spPr>
          <a:xfrm>
            <a:off x="9688982" y="2697480"/>
            <a:ext cx="1805025" cy="833932"/>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Clear Structure,</a:t>
            </a:r>
          </a:p>
          <a:p>
            <a:pPr algn="ctr"/>
            <a:r>
              <a:rPr sz="1300" b="0" i="0">
                <a:solidFill>
                  <a:srgbClr val="E3ECF5"/>
                </a:solidFill>
                <a:latin typeface="Segoe UI"/>
                <a:ea typeface="Segoe UI"/>
                <a:cs typeface="Segoe UI"/>
              </a:rPr>
              <a:t>thử trên web</a:t>
            </a:r>
          </a:p>
        </p:txBody>
      </p:sp>
      <p:sp>
        <p:nvSpPr>
          <p:cNvPr id="26" name="TextBox 25"/>
          <p:cNvSpPr txBox="1"/>
          <p:nvPr/>
        </p:nvSpPr>
        <p:spPr>
          <a:xfrm>
            <a:off x="640080" y="3977639"/>
            <a:ext cx="10881360" cy="2286000"/>
          </a:xfrm>
          <a:prstGeom prst="rect">
            <a:avLst/>
          </a:prstGeom>
          <a:noFill/>
        </p:spPr>
        <p:txBody>
          <a:bodyPr wrap="square">
            <a:spAutoFit/>
          </a:bodyPr>
          <a:lstStyle/>
          <a:p>
            <a:pPr>
              <a:spcAft>
                <a:spcPts val="1000"/>
              </a:spcAft>
            </a:pPr>
            <a:r>
              <a:rPr sz="1800" b="1" i="0">
                <a:solidFill>
                  <a:srgbClr val="F2B705"/>
                </a:solidFill>
                <a:latin typeface="Segoe UI"/>
                <a:ea typeface="Segoe UI"/>
                <a:cs typeface="Segoe UI"/>
              </a:rPr>
              <a:t>▪  </a:t>
            </a:r>
            <a:r>
              <a:rPr sz="1800" b="0" i="0">
                <a:solidFill>
                  <a:srgbClr val="263238"/>
                </a:solidFill>
                <a:latin typeface="Segoe UI"/>
                <a:ea typeface="Segoe UI"/>
                <a:cs typeface="Segoe UI"/>
              </a:rPr>
              <a:t>Đọc tab </a:t>
            </a:r>
            <a:r>
              <a:rPr sz="1800" b="1" i="0">
                <a:solidFill>
                  <a:srgbClr val="1F4E79"/>
                </a:solidFill>
                <a:latin typeface="Segoe UI"/>
                <a:ea typeface="Segoe UI"/>
                <a:cs typeface="Segoe UI"/>
              </a:rPr>
              <a:t>Message</a:t>
            </a:r>
            <a:r>
              <a:rPr sz="1800" b="0" i="0">
                <a:solidFill>
                  <a:srgbClr val="263238"/>
                </a:solidFill>
                <a:latin typeface="Segoe UI"/>
                <a:ea typeface="Segoe UI"/>
                <a:cs typeface="Segoe UI"/>
              </a:rPr>
              <a:t> sau mỗi script — có lỗi thì dừng lại.</a:t>
            </a:r>
          </a:p>
          <a:p>
            <a:pPr>
              <a:spcAft>
                <a:spcPts val="1000"/>
              </a:spcAft>
            </a:pPr>
            <a:r>
              <a:rPr sz="1800" b="1" i="0">
                <a:solidFill>
                  <a:srgbClr val="F2B705"/>
                </a:solidFill>
                <a:latin typeface="Segoe UI"/>
                <a:ea typeface="Segoe UI"/>
                <a:cs typeface="Segoe UI"/>
              </a:rPr>
              <a:t>▪  </a:t>
            </a:r>
            <a:r>
              <a:rPr sz="1800" b="0" i="0">
                <a:solidFill>
                  <a:srgbClr val="263238"/>
                </a:solidFill>
                <a:latin typeface="Segoe UI"/>
                <a:ea typeface="Segoe UI"/>
                <a:cs typeface="Segoe UI"/>
              </a:rPr>
              <a:t>Đổi cấu trúc bảng → Actions → </a:t>
            </a:r>
            <a:r>
              <a:rPr sz="1800" b="1" i="0">
                <a:solidFill>
                  <a:srgbClr val="1F4E79"/>
                </a:solidFill>
                <a:latin typeface="Segoe UI"/>
                <a:ea typeface="Segoe UI"/>
                <a:cs typeface="Segoe UI"/>
              </a:rPr>
              <a:t>Clear Structure App</a:t>
            </a:r>
            <a:r>
              <a:rPr sz="1800" b="0" i="0">
                <a:solidFill>
                  <a:srgbClr val="263238"/>
                </a:solidFill>
                <a:latin typeface="Segoe UI"/>
                <a:ea typeface="Segoe UI"/>
                <a:cs typeface="Segoe UI"/>
              </a:rPr>
              <a:t>; nạp lại site → </a:t>
            </a:r>
            <a:r>
              <a:rPr sz="1800" b="1" i="0">
                <a:solidFill>
                  <a:srgbClr val="1F4E79"/>
                </a:solidFill>
                <a:latin typeface="Segoe UI"/>
                <a:ea typeface="Segoe UI"/>
                <a:cs typeface="Segoe UI"/>
              </a:rPr>
              <a:t>Refresh Web.config</a:t>
            </a:r>
            <a:r>
              <a:rPr sz="1800" b="0" i="0">
                <a:solidFill>
                  <a:srgbClr val="263238"/>
                </a:solidFill>
                <a:latin typeface="Segoe UI"/>
                <a:ea typeface="Segoe UI"/>
                <a:cs typeface="Segoe UI"/>
              </a:rPr>
              <a:t>.</a:t>
            </a:r>
          </a:p>
        </p:txBody>
      </p:sp>
      <p:sp>
        <p:nvSpPr>
          <p:cNvPr id="27" name="Rounded Rectangle 26"/>
          <p:cNvSpPr/>
          <p:nvPr/>
        </p:nvSpPr>
        <p:spPr>
          <a:xfrm>
            <a:off x="640080" y="5486400"/>
            <a:ext cx="10927080" cy="640080"/>
          </a:xfrm>
          <a:prstGeom prst="roundRect">
            <a:avLst>
              <a:gd name="adj" fmla="val 8000"/>
            </a:avLst>
          </a:prstGeom>
          <a:solidFill>
            <a:srgbClr val="FFFFFF"/>
          </a:solidFill>
          <a:ln w="15875">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486400"/>
            <a:ext cx="91440" cy="640080"/>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7" y="5541264"/>
            <a:ext cx="10607040" cy="548640"/>
          </a:xfrm>
          <a:prstGeom prst="rect">
            <a:avLst/>
          </a:prstGeom>
          <a:noFill/>
        </p:spPr>
        <p:txBody>
          <a:bodyPr wrap="square" anchor="ctr" lIns="45720" rIns="45720" tIns="27432" bIns="27432">
            <a:spAutoFit/>
          </a:bodyPr>
          <a:lstStyle/>
          <a:p>
            <a:pPr algn="l"/>
            <a:r>
              <a:rPr sz="1500" b="1" i="0">
                <a:solidFill>
                  <a:srgbClr val="8E44AD"/>
                </a:solidFill>
                <a:latin typeface="Segoe UI"/>
                <a:ea typeface="Segoe UI"/>
                <a:cs typeface="Segoe UI"/>
              </a:rPr>
              <a:t>Cần kiểm tra ở dự án:</a:t>
            </a:r>
            <a:r>
              <a:rPr sz="1500" b="0" i="0">
                <a:solidFill>
                  <a:srgbClr val="263238"/>
                </a:solidFill>
                <a:latin typeface="Segoe UI"/>
                <a:ea typeface="Segoe UI"/>
                <a:cs typeface="Segoe UI"/>
              </a:rPr>
              <a:t> Ai được chép file, chạy script trên server khách, vào giờ nào — theo quy định của từng dự án.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Phụ lục B — Checklist trước khi triển khai</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graphicFrame>
        <p:nvGraphicFramePr>
          <p:cNvPr id="7" name="Table 6"/>
          <p:cNvGraphicFramePr>
            <a:graphicFrameLocks noGrp="1"/>
          </p:cNvGraphicFramePr>
          <p:nvPr/>
        </p:nvGraphicFramePr>
        <p:xfrm>
          <a:off x="640080" y="1600200"/>
          <a:ext cx="10881360" cy="4526280"/>
        </p:xfrm>
        <a:graphic>
          <a:graphicData uri="http://schemas.openxmlformats.org/drawingml/2006/table">
            <a:tbl>
              <a:tblPr firstRow="1" bandRow="1">
                <a:tableStyleId>{5940675A-B579-460E-94D1-54222C63F5DA}</a:tableStyleId>
              </a:tblPr>
              <a:tblGrid>
                <a:gridCol w="640080"/>
                <a:gridCol w="10241280"/>
              </a:tblGrid>
              <a:tr h="502920">
                <a:tc>
                  <a:txBody>
                    <a:bodyPr wrap="square"/>
                    <a:lstStyle/>
                    <a:p>
                      <a:r>
                        <a:rPr sz="1500" b="1" i="0">
                          <a:solidFill>
                            <a:srgbClr val="FFFFFF"/>
                          </a:solidFill>
                          <a:latin typeface="Segoe UI"/>
                          <a:ea typeface="Segoe UI"/>
                          <a:cs typeface="Segoe UI"/>
                        </a:rPr>
                        <a:t>#</a:t>
                      </a:r>
                    </a:p>
                  </a:txBody>
                  <a:tcPr marL="73152" marR="73152" marT="36576" marB="36576" anchor="ctr">
                    <a:solidFill>
                      <a:srgbClr val="1F4E79"/>
                    </a:solidFill>
                  </a:tcPr>
                </a:tc>
                <a:tc>
                  <a:txBody>
                    <a:bodyPr wrap="square"/>
                    <a:lstStyle/>
                    <a:p>
                      <a:r>
                        <a:rPr sz="1500" b="1" i="0">
                          <a:solidFill>
                            <a:srgbClr val="FFFFFF"/>
                          </a:solidFill>
                          <a:latin typeface="Segoe UI"/>
                          <a:ea typeface="Segoe UI"/>
                          <a:cs typeface="Segoe UI"/>
                        </a:rPr>
                        <a:t>Hạng mục</a:t>
                      </a:r>
                    </a:p>
                  </a:txBody>
                  <a:tcPr marL="73152" marR="73152" marT="36576" marB="36576" anchor="ctr">
                    <a:solidFill>
                      <a:srgbClr val="1F4E79"/>
                    </a:solidFill>
                  </a:tcPr>
                </a:tc>
              </a:tr>
              <a:tr h="502920">
                <a:tc>
                  <a:txBody>
                    <a:bodyPr wrap="square"/>
                    <a:lstStyle/>
                    <a:p>
                      <a:r>
                        <a:rPr sz="15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Đã chạy thử trên database </a:t>
                      </a:r>
                      <a:r>
                        <a:rPr sz="1500" b="1" i="0">
                          <a:solidFill>
                            <a:srgbClr val="1F4E79"/>
                          </a:solidFill>
                          <a:latin typeface="Segoe UI"/>
                          <a:ea typeface="Segoe UI"/>
                          <a:cs typeface="Segoe UI"/>
                        </a:rPr>
                        <a:t>thử</a:t>
                      </a:r>
                      <a:r>
                        <a:rPr sz="1500" b="0" i="0">
                          <a:solidFill>
                            <a:srgbClr val="263238"/>
                          </a:solidFill>
                          <a:latin typeface="Segoe UI"/>
                          <a:ea typeface="Segoe UI"/>
                          <a:cs typeface="Segoe UI"/>
                        </a:rPr>
                        <a:t>, đúng phiên bản Fast của khách</a:t>
                      </a:r>
                    </a:p>
                  </a:txBody>
                  <a:tcPr marL="73152" marR="73152" marT="36576" marB="36576" anchor="ctr">
                    <a:solidFill>
                      <a:srgbClr val="FFFFFF"/>
                    </a:solidFill>
                  </a:tcPr>
                </a:tc>
              </a:tr>
              <a:tr h="502920">
                <a:tc>
                  <a:txBody>
                    <a:bodyPr wrap="square"/>
                    <a:lstStyle/>
                    <a:p>
                      <a:r>
                        <a:rPr sz="15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Đã sao lưu: file sẽ bị ghi đè, procedure cũ (để rollback), dữ liệu sẽ sửa</a:t>
                      </a:r>
                    </a:p>
                  </a:txBody>
                  <a:tcPr marL="73152" marR="73152" marT="36576" marB="36576" anchor="ctr">
                    <a:solidFill>
                      <a:srgbClr val="F4F7FB"/>
                    </a:solidFill>
                  </a:tcPr>
                </a:tc>
              </a:tr>
              <a:tr h="502920">
                <a:tc>
                  <a:txBody>
                    <a:bodyPr wrap="square"/>
                    <a:lstStyle/>
                    <a:p>
                      <a:r>
                        <a:rPr sz="15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Script chạy lại nhiều lần không lỗi; không </a:t>
                      </a:r>
                      <a:r>
                        <a:rPr sz="1400" b="0" i="0">
                          <a:solidFill>
                            <a:srgbClr val="B02A2A"/>
                          </a:solidFill>
                          <a:latin typeface="Consolas"/>
                          <a:ea typeface="Consolas"/>
                          <a:cs typeface="Consolas"/>
                        </a:rPr>
                        <a:t>DROP TABLE</a:t>
                      </a:r>
                      <a:r>
                        <a:rPr sz="1500" b="0" i="0">
                          <a:solidFill>
                            <a:srgbClr val="263238"/>
                          </a:solidFill>
                          <a:latin typeface="Segoe UI"/>
                          <a:ea typeface="Segoe UI"/>
                          <a:cs typeface="Segoe UI"/>
                        </a:rPr>
                        <a:t> bảng dữ liệu; UPDATE/DELETE có WHERE</a:t>
                      </a:r>
                    </a:p>
                  </a:txBody>
                  <a:tcPr marL="73152" marR="73152" marT="36576" marB="36576" anchor="ctr">
                    <a:solidFill>
                      <a:srgbClr val="FFFFFF"/>
                    </a:solidFill>
                  </a:tcPr>
                </a:tc>
              </a:tr>
              <a:tr h="502920">
                <a:tc>
                  <a:txBody>
                    <a:bodyPr wrap="square"/>
                    <a:lstStyle/>
                    <a:p>
                      <a:r>
                        <a:rPr sz="15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Đúng database: </a:t>
                      </a:r>
                      <a:r>
                        <a:rPr sz="1400" b="0" i="0">
                          <a:solidFill>
                            <a:srgbClr val="B02A2A"/>
                          </a:solidFill>
                          <a:latin typeface="Consolas"/>
                          <a:ea typeface="Consolas"/>
                          <a:cs typeface="Consolas"/>
                        </a:rPr>
                        <a:t>Script\sys</a:t>
                      </a:r>
                      <a:r>
                        <a:rPr sz="1500" b="0" i="0">
                          <a:solidFill>
                            <a:srgbClr val="263238"/>
                          </a:solidFill>
                          <a:latin typeface="Segoe UI"/>
                          <a:ea typeface="Segoe UI"/>
                          <a:cs typeface="Segoe UI"/>
                        </a:rPr>
                        <a:t> → Sys Data, </a:t>
                      </a:r>
                      <a:r>
                        <a:rPr sz="1400" b="0" i="0">
                          <a:solidFill>
                            <a:srgbClr val="B02A2A"/>
                          </a:solidFill>
                          <a:latin typeface="Consolas"/>
                          <a:ea typeface="Consolas"/>
                          <a:cs typeface="Consolas"/>
                        </a:rPr>
                        <a:t>Script\app</a:t>
                      </a:r>
                      <a:r>
                        <a:rPr sz="1500" b="0" i="0">
                          <a:solidFill>
                            <a:srgbClr val="263238"/>
                          </a:solidFill>
                          <a:latin typeface="Segoe UI"/>
                          <a:ea typeface="Segoe UI"/>
                          <a:cs typeface="Segoe UI"/>
                        </a:rPr>
                        <a:t> → App Data</a:t>
                      </a:r>
                    </a:p>
                  </a:txBody>
                  <a:tcPr marL="73152" marR="73152" marT="36576" marB="36576" anchor="ctr">
                    <a:solidFill>
                      <a:srgbClr val="F4F7FB"/>
                    </a:solidFill>
                  </a:tcPr>
                </a:tc>
              </a:tr>
              <a:tr h="502920">
                <a:tc>
                  <a:txBody>
                    <a:bodyPr wrap="square"/>
                    <a:lstStyle/>
                    <a:p>
                      <a:r>
                        <a:rPr sz="15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500" b="0" i="0">
                          <a:solidFill>
                            <a:srgbClr val="263238"/>
                          </a:solidFill>
                          <a:latin typeface="Segoe UI"/>
                          <a:ea typeface="Segoe UI"/>
                          <a:cs typeface="Segoe UI"/>
                        </a:rPr>
                        <a:t>Bảng phân kỳ: đã thêm cột cho mọi kỳ, Check Partitions Struct không báo lỗi</a:t>
                      </a:r>
                    </a:p>
                  </a:txBody>
                  <a:tcPr marL="73152" marR="73152" marT="36576" marB="36576" anchor="ctr">
                    <a:solidFill>
                      <a:srgbClr val="FFFFFF"/>
                    </a:solidFill>
                  </a:tcPr>
                </a:tc>
              </a:tr>
              <a:tr h="502920">
                <a:tc>
                  <a:txBody>
                    <a:bodyPr wrap="square"/>
                    <a:lstStyle/>
                    <a:p>
                      <a:r>
                        <a:rPr sz="1500" b="0" i="0">
                          <a:solidFill>
                            <a:srgbClr val="263238"/>
                          </a:solidFill>
                          <a:latin typeface="Segoe UI"/>
                          <a:ea typeface="Segoe UI"/>
                          <a:cs typeface="Segoe UI"/>
                        </a:rPr>
                        <a:t>6</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Problems không lỗi, không file đỏ; đủ tiêu đề v/e; có menu và phân quyền</a:t>
                      </a:r>
                    </a:p>
                  </a:txBody>
                  <a:tcPr marL="73152" marR="73152" marT="36576" marB="36576" anchor="ctr">
                    <a:solidFill>
                      <a:srgbClr val="F4F7FB"/>
                    </a:solidFill>
                  </a:tcPr>
                </a:tc>
              </a:tr>
              <a:tr h="502920">
                <a:tc>
                  <a:txBody>
                    <a:bodyPr wrap="square"/>
                    <a:lstStyle/>
                    <a:p>
                      <a:r>
                        <a:rPr sz="1500" b="0" i="0">
                          <a:solidFill>
                            <a:srgbClr val="263238"/>
                          </a:solidFill>
                          <a:latin typeface="Segoe UI"/>
                          <a:ea typeface="Segoe UI"/>
                          <a:cs typeface="Segoe UI"/>
                        </a:rPr>
                        <a:t>7</a:t>
                      </a:r>
                    </a:p>
                  </a:txBody>
                  <a:tcPr marL="73152" marR="73152" marT="36576" marB="36576" anchor="ctr">
                    <a:solidFill>
                      <a:srgbClr val="FFFFFF"/>
                    </a:solidFill>
                  </a:tcPr>
                </a:tc>
                <a:tc>
                  <a:txBody>
                    <a:bodyPr wrap="square"/>
                    <a:lstStyle/>
                    <a:p>
                      <a:r>
                        <a:rPr sz="1400" b="0" i="0">
                          <a:solidFill>
                            <a:srgbClr val="B02A2A"/>
                          </a:solidFill>
                          <a:latin typeface="Consolas"/>
                          <a:ea typeface="Consolas"/>
                          <a:cs typeface="Consolas"/>
                        </a:rPr>
                        <a:t>description.txt</a:t>
                      </a:r>
                      <a:r>
                        <a:rPr sz="1500" b="0" i="0">
                          <a:solidFill>
                            <a:srgbClr val="263238"/>
                          </a:solidFill>
                          <a:latin typeface="Segoe UI"/>
                          <a:ea typeface="Segoe UI"/>
                          <a:cs typeface="Segoe UI"/>
                        </a:rPr>
                        <a:t> ghi mã yêu cầu, nội dung, người làm, ngày làm</a:t>
                      </a:r>
                    </a:p>
                  </a:txBody>
                  <a:tcPr marL="73152" marR="73152" marT="36576" marB="36576" anchor="ctr">
                    <a:solidFill>
                      <a:srgbClr val="FFFFFF"/>
                    </a:solidFill>
                  </a:tcPr>
                </a:tc>
              </a:tr>
              <a:tr h="502920">
                <a:tc>
                  <a:txBody>
                    <a:bodyPr wrap="square"/>
                    <a:lstStyle/>
                    <a:p>
                      <a:r>
                        <a:rPr sz="1500" b="0" i="0">
                          <a:solidFill>
                            <a:srgbClr val="263238"/>
                          </a:solidFill>
                          <a:latin typeface="Segoe UI"/>
                          <a:ea typeface="Segoe UI"/>
                          <a:cs typeface="Segoe UI"/>
                        </a:rPr>
                        <a:t>8</a:t>
                      </a:r>
                    </a:p>
                  </a:txBody>
                  <a:tcPr marL="73152" marR="73152" marT="36576" marB="36576" anchor="ctr">
                    <a:solidFill>
                      <a:srgbClr val="F4F7FB"/>
                    </a:solidFill>
                  </a:tcPr>
                </a:tc>
                <a:tc>
                  <a:txBody>
                    <a:bodyPr wrap="square"/>
                    <a:lstStyle/>
                    <a:p>
                      <a:r>
                        <a:rPr sz="1500" b="0" i="0">
                          <a:solidFill>
                            <a:srgbClr val="263238"/>
                          </a:solidFill>
                          <a:latin typeface="Segoe UI"/>
                          <a:ea typeface="Segoe UI"/>
                          <a:cs typeface="Segoe UI"/>
                        </a:rPr>
                        <a:t>Không đưa mật khẩu, chuỗi kết nối, dữ liệu khách vào gói hay tài liệu</a:t>
                      </a:r>
                    </a:p>
                  </a:txBody>
                  <a:tcPr marL="73152" marR="73152" marT="36576" marB="36576" anchor="ctr">
                    <a:solidFill>
                      <a:srgbClr val="F4F7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Phụ lục A — Phím tắt Bcode quan trọng</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graphicFrame>
        <p:nvGraphicFramePr>
          <p:cNvPr id="7" name="Table 6"/>
          <p:cNvGraphicFramePr>
            <a:graphicFrameLocks noGrp="1"/>
          </p:cNvGraphicFramePr>
          <p:nvPr/>
        </p:nvGraphicFramePr>
        <p:xfrm>
          <a:off x="640080" y="1600200"/>
          <a:ext cx="10881360" cy="3867912"/>
        </p:xfrm>
        <a:graphic>
          <a:graphicData uri="http://schemas.openxmlformats.org/drawingml/2006/table">
            <a:tbl>
              <a:tblPr firstRow="1" bandRow="1">
                <a:tableStyleId>{5940675A-B579-460E-94D1-54222C63F5DA}</a:tableStyleId>
              </a:tblPr>
              <a:tblGrid>
                <a:gridCol w="3291840"/>
                <a:gridCol w="3017520"/>
                <a:gridCol w="2651760"/>
                <a:gridCol w="1920240"/>
              </a:tblGrid>
              <a:tr h="429768">
                <a:tc>
                  <a:txBody>
                    <a:bodyPr wrap="square"/>
                    <a:lstStyle/>
                    <a:p>
                      <a:r>
                        <a:rPr sz="1400" b="1" i="0">
                          <a:solidFill>
                            <a:srgbClr val="FFFFFF"/>
                          </a:solidFill>
                          <a:latin typeface="Segoe UI"/>
                          <a:ea typeface="Segoe UI"/>
                          <a:cs typeface="Segoe UI"/>
                        </a:rPr>
                        <a:t>Phím</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Việc</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Phím</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Việc</a:t>
                      </a:r>
                    </a:p>
                  </a:txBody>
                  <a:tcPr marL="73152" marR="73152" marT="36576" marB="36576" anchor="ctr">
                    <a:solidFill>
                      <a:srgbClr val="1F4E79"/>
                    </a:solidFill>
                  </a:tcPr>
                </a:tc>
              </a:tr>
              <a:tr h="429768">
                <a:tc>
                  <a:txBody>
                    <a:bodyPr wrap="square"/>
                    <a:lstStyle/>
                    <a:p>
                      <a:r>
                        <a:rPr sz="1300" b="0" i="0">
                          <a:solidFill>
                            <a:srgbClr val="B02A2A"/>
                          </a:solidFill>
                          <a:latin typeface="Consolas"/>
                          <a:ea typeface="Consolas"/>
                          <a:cs typeface="Consolas"/>
                        </a:rPr>
                        <a:t>Ctrl+P</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Tìm mọi thứ</a:t>
                      </a:r>
                    </a:p>
                  </a:txBody>
                  <a:tcPr marL="73152" marR="73152" marT="36576" marB="36576" anchor="ctr">
                    <a:solidFill>
                      <a:srgbClr val="FFFFFF"/>
                    </a:solidFill>
                  </a:tcPr>
                </a:tc>
                <a:tc>
                  <a:txBody>
                    <a:bodyPr wrap="square"/>
                    <a:lstStyle/>
                    <a:p>
                      <a:r>
                        <a:rPr sz="1300" b="0" i="0">
                          <a:solidFill>
                            <a:srgbClr val="B02A2A"/>
                          </a:solidFill>
                          <a:latin typeface="Consolas"/>
                          <a:ea typeface="Consolas"/>
                          <a:cs typeface="Consolas"/>
                        </a:rPr>
                        <a:t>Ctrl+F1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Trợ giúp</a:t>
                      </a:r>
                    </a:p>
                  </a:txBody>
                  <a:tcPr marL="73152" marR="73152" marT="36576" marB="36576" anchor="ctr">
                    <a:solidFill>
                      <a:srgbClr val="FFFFFF"/>
                    </a:solidFill>
                  </a:tcPr>
                </a:tc>
              </a:tr>
              <a:tr h="429768">
                <a:tc>
                  <a:txBody>
                    <a:bodyPr wrap="square"/>
                    <a:lstStyle/>
                    <a:p>
                      <a:r>
                        <a:rPr sz="1300" b="0" i="0">
                          <a:solidFill>
                            <a:srgbClr val="B02A2A"/>
                          </a:solidFill>
                          <a:latin typeface="Consolas"/>
                          <a:ea typeface="Consolas"/>
                          <a:cs typeface="Consolas"/>
                        </a:rPr>
                        <a:t>Ctrl+Shift+P</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Ctrl+O</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Projects / dự án khác</a:t>
                      </a:r>
                    </a:p>
                  </a:txBody>
                  <a:tcPr marL="73152" marR="73152" marT="36576" marB="36576" anchor="ctr">
                    <a:solidFill>
                      <a:srgbClr val="F4F7FB"/>
                    </a:solidFill>
                  </a:tcPr>
                </a:tc>
                <a:tc>
                  <a:txBody>
                    <a:bodyPr wrap="square"/>
                    <a:lstStyle/>
                    <a:p>
                      <a:r>
                        <a:rPr sz="1300" b="0" i="0">
                          <a:solidFill>
                            <a:srgbClr val="B02A2A"/>
                          </a:solidFill>
                          <a:latin typeface="Consolas"/>
                          <a:ea typeface="Consolas"/>
                          <a:cs typeface="Consolas"/>
                        </a:rPr>
                        <a:t>Ctrl+1</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Đổi App ↔ Sys</a:t>
                      </a:r>
                    </a:p>
                  </a:txBody>
                  <a:tcPr marL="73152" marR="73152" marT="36576" marB="36576" anchor="ctr">
                    <a:solidFill>
                      <a:srgbClr val="F4F7FB"/>
                    </a:solidFill>
                  </a:tcPr>
                </a:tc>
              </a:tr>
              <a:tr h="429768">
                <a:tc>
                  <a:txBody>
                    <a:bodyPr wrap="square"/>
                    <a:lstStyle/>
                    <a:p>
                      <a:r>
                        <a:rPr sz="1300" b="0" i="0">
                          <a:solidFill>
                            <a:srgbClr val="B02A2A"/>
                          </a:solidFill>
                          <a:latin typeface="Consolas"/>
                          <a:ea typeface="Consolas"/>
                          <a:cs typeface="Consolas"/>
                        </a:rPr>
                        <a:t>Ctrl+Shift+Q</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SQL Query</a:t>
                      </a:r>
                    </a:p>
                  </a:txBody>
                  <a:tcPr marL="73152" marR="73152" marT="36576" marB="36576" anchor="ctr">
                    <a:solidFill>
                      <a:srgbClr val="FFFFFF"/>
                    </a:solidFill>
                  </a:tcPr>
                </a:tc>
                <a:tc>
                  <a:txBody>
                    <a:bodyPr wrap="square"/>
                    <a:lstStyle/>
                    <a:p>
                      <a:r>
                        <a:rPr sz="1300" b="0" i="0">
                          <a:solidFill>
                            <a:srgbClr val="B02A2A"/>
                          </a:solidFill>
                          <a:latin typeface="Consolas"/>
                          <a:ea typeface="Consolas"/>
                          <a:cs typeface="Consolas"/>
                        </a:rPr>
                        <a:t>F5</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Alt+F5</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Chạy · dừng</a:t>
                      </a:r>
                    </a:p>
                  </a:txBody>
                  <a:tcPr marL="73152" marR="73152" marT="36576" marB="36576" anchor="ctr">
                    <a:solidFill>
                      <a:srgbClr val="FFFFFF"/>
                    </a:solidFill>
                  </a:tcPr>
                </a:tc>
              </a:tr>
              <a:tr h="429768">
                <a:tc>
                  <a:txBody>
                    <a:bodyPr wrap="square"/>
                    <a:lstStyle/>
                    <a:p>
                      <a:r>
                        <a:rPr sz="1300" b="0" i="0">
                          <a:solidFill>
                            <a:srgbClr val="B02A2A"/>
                          </a:solidFill>
                          <a:latin typeface="Consolas"/>
                          <a:ea typeface="Consolas"/>
                          <a:cs typeface="Consolas"/>
                        </a:rPr>
                        <a:t>F12</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Ctrl+I</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Xem object · AI viết SQL</a:t>
                      </a:r>
                    </a:p>
                  </a:txBody>
                  <a:tcPr marL="73152" marR="73152" marT="36576" marB="36576" anchor="ctr">
                    <a:solidFill>
                      <a:srgbClr val="F4F7FB"/>
                    </a:solidFill>
                  </a:tcPr>
                </a:tc>
                <a:tc>
                  <a:txBody>
                    <a:bodyPr wrap="square"/>
                    <a:lstStyle/>
                    <a:p>
                      <a:r>
                        <a:rPr sz="1300" b="0" i="0">
                          <a:solidFill>
                            <a:srgbClr val="B02A2A"/>
                          </a:solidFill>
                          <a:latin typeface="Consolas"/>
                          <a:ea typeface="Consolas"/>
                          <a:cs typeface="Consolas"/>
                        </a:rPr>
                        <a:t>Ctrl+E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Kết quả → Excel</a:t>
                      </a:r>
                    </a:p>
                  </a:txBody>
                  <a:tcPr marL="73152" marR="73152" marT="36576" marB="36576" anchor="ctr">
                    <a:solidFill>
                      <a:srgbClr val="F4F7FB"/>
                    </a:solidFill>
                  </a:tcPr>
                </a:tc>
              </a:tr>
              <a:tr h="429768">
                <a:tc>
                  <a:txBody>
                    <a:bodyPr wrap="square"/>
                    <a:lstStyle/>
                    <a:p>
                      <a:r>
                        <a:rPr sz="1300" b="0" i="0">
                          <a:solidFill>
                            <a:srgbClr val="B02A2A"/>
                          </a:solidFill>
                          <a:latin typeface="Consolas"/>
                          <a:ea typeface="Consolas"/>
                          <a:cs typeface="Consolas"/>
                        </a:rPr>
                        <a:t>Ctrl+Shift+T</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C</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L</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Table · Command · Lookup</a:t>
                      </a:r>
                    </a:p>
                  </a:txBody>
                  <a:tcPr marL="73152" marR="73152" marT="36576" marB="36576" anchor="ctr">
                    <a:solidFill>
                      <a:srgbClr val="FFFFFF"/>
                    </a:solidFill>
                  </a:tcPr>
                </a:tc>
                <a:tc>
                  <a:txBody>
                    <a:bodyPr wrap="square"/>
                    <a:lstStyle/>
                    <a:p>
                      <a:r>
                        <a:rPr sz="1300" b="0" i="0">
                          <a:solidFill>
                            <a:srgbClr val="B02A2A"/>
                          </a:solidFill>
                          <a:latin typeface="Consolas"/>
                          <a:ea typeface="Consolas"/>
                          <a:cs typeface="Consolas"/>
                        </a:rPr>
                        <a:t>Ctrl+3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SQL Profiler</a:t>
                      </a:r>
                    </a:p>
                  </a:txBody>
                  <a:tcPr marL="73152" marR="73152" marT="36576" marB="36576" anchor="ctr">
                    <a:solidFill>
                      <a:srgbClr val="FFFFFF"/>
                    </a:solidFill>
                  </a:tcPr>
                </a:tc>
              </a:tr>
              <a:tr h="429768">
                <a:tc>
                  <a:txBody>
                    <a:bodyPr wrap="square"/>
                    <a:lstStyle/>
                    <a:p>
                      <a:r>
                        <a:rPr sz="1300" b="0" i="0">
                          <a:solidFill>
                            <a:srgbClr val="B02A2A"/>
                          </a:solidFill>
                          <a:latin typeface="Consolas"/>
                          <a:ea typeface="Consolas"/>
                          <a:cs typeface="Consolas"/>
                        </a:rPr>
                        <a:t>Ctrl+Shift+W</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F</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WCommand · File Lookup</a:t>
                      </a:r>
                    </a:p>
                  </a:txBody>
                  <a:tcPr marL="73152" marR="73152" marT="36576" marB="36576" anchor="ctr">
                    <a:solidFill>
                      <a:srgbClr val="F4F7FB"/>
                    </a:solidFill>
                  </a:tcPr>
                </a:tc>
                <a:tc>
                  <a:txBody>
                    <a:bodyPr wrap="square"/>
                    <a:lstStyle/>
                    <a:p>
                      <a:r>
                        <a:rPr sz="1300" b="0" i="0">
                          <a:solidFill>
                            <a:srgbClr val="B02A2A"/>
                          </a:solidFill>
                          <a:latin typeface="Consolas"/>
                          <a:ea typeface="Consolas"/>
                          <a:cs typeface="Consolas"/>
                        </a:rPr>
                        <a:t>Ctrl+Alt+U</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Ai đang dùng</a:t>
                      </a:r>
                    </a:p>
                  </a:txBody>
                  <a:tcPr marL="73152" marR="73152" marT="36576" marB="36576" anchor="ctr">
                    <a:solidFill>
                      <a:srgbClr val="F4F7FB"/>
                    </a:solidFill>
                  </a:tcPr>
                </a:tc>
              </a:tr>
              <a:tr h="429768">
                <a:tc>
                  <a:txBody>
                    <a:bodyPr wrap="square"/>
                    <a:lstStyle/>
                    <a:p>
                      <a:r>
                        <a:rPr sz="1300" b="0" i="0">
                          <a:solidFill>
                            <a:srgbClr val="B02A2A"/>
                          </a:solidFill>
                          <a:latin typeface="Consolas"/>
                          <a:ea typeface="Consolas"/>
                          <a:cs typeface="Consolas"/>
                        </a:rPr>
                        <a:t>Ctrl+Shift+4</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G</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Note (New) · Gen Update</a:t>
                      </a:r>
                    </a:p>
                  </a:txBody>
                  <a:tcPr marL="73152" marR="73152" marT="36576" marB="36576" anchor="ctr">
                    <a:solidFill>
                      <a:srgbClr val="FFFFFF"/>
                    </a:solidFill>
                  </a:tcPr>
                </a:tc>
                <a:tc>
                  <a:txBody>
                    <a:bodyPr wrap="square"/>
                    <a:lstStyle/>
                    <a:p>
                      <a:r>
                        <a:rPr sz="1300" b="0" i="0">
                          <a:solidFill>
                            <a:srgbClr val="B02A2A"/>
                          </a:solidFill>
                          <a:latin typeface="Consolas"/>
                          <a:ea typeface="Consolas"/>
                          <a:cs typeface="Consolas"/>
                        </a:rPr>
                        <a:t>Ctrl+Shift+J</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So sánh object</a:t>
                      </a:r>
                    </a:p>
                  </a:txBody>
                  <a:tcPr marL="73152" marR="73152" marT="36576" marB="36576" anchor="ctr">
                    <a:solidFill>
                      <a:srgbClr val="FFFFFF"/>
                    </a:solidFill>
                  </a:tcPr>
                </a:tc>
              </a:tr>
              <a:tr h="429768">
                <a:tc>
                  <a:txBody>
                    <a:bodyPr wrap="square"/>
                    <a:lstStyle/>
                    <a:p>
                      <a:r>
                        <a:rPr sz="1300" b="0" i="0">
                          <a:solidFill>
                            <a:srgbClr val="B02A2A"/>
                          </a:solidFill>
                          <a:latin typeface="Consolas"/>
                          <a:ea typeface="Consolas"/>
                          <a:cs typeface="Consolas"/>
                        </a:rPr>
                        <a:t>Ctrl+Alt+Shift+A</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V</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Add · View Script</a:t>
                      </a:r>
                    </a:p>
                  </a:txBody>
                  <a:tcPr marL="73152" marR="73152" marT="36576" marB="36576" anchor="ctr">
                    <a:solidFill>
                      <a:srgbClr val="F4F7FB"/>
                    </a:solidFill>
                  </a:tcPr>
                </a:tc>
                <a:tc>
                  <a:txBody>
                    <a:bodyPr wrap="square"/>
                    <a:lstStyle/>
                    <a:p>
                      <a:r>
                        <a:rPr sz="1300" b="0" i="0">
                          <a:solidFill>
                            <a:srgbClr val="B02A2A"/>
                          </a:solidFill>
                          <a:latin typeface="Consolas"/>
                          <a:ea typeface="Consolas"/>
                          <a:cs typeface="Consolas"/>
                        </a:rPr>
                        <a:t>Ctrl+Alt+Shift+F</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I</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Luật Fast · AI phân tích</a:t>
                      </a:r>
                    </a:p>
                  </a:txBody>
                  <a:tcPr marL="73152" marR="73152" marT="36576" marB="36576" anchor="ctr">
                    <a:solidFill>
                      <a:srgbClr val="F4F7FB"/>
                    </a:solidFill>
                  </a:tcPr>
                </a:tc>
              </a:tr>
            </a:tbl>
          </a:graphicData>
        </a:graphic>
      </p:graphicFrame>
      <p:sp>
        <p:nvSpPr>
          <p:cNvPr id="8" name="Rounded Rectangle 7"/>
          <p:cNvSpPr/>
          <p:nvPr/>
        </p:nvSpPr>
        <p:spPr>
          <a:xfrm>
            <a:off x="640080" y="5760720"/>
            <a:ext cx="10927080" cy="54864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760720"/>
            <a:ext cx="91440" cy="54864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5815583"/>
            <a:ext cx="10607040" cy="457200"/>
          </a:xfrm>
          <a:prstGeom prst="rect">
            <a:avLst/>
          </a:prstGeom>
          <a:noFill/>
        </p:spPr>
        <p:txBody>
          <a:bodyPr wrap="square" anchor="ctr" lIns="45720" rIns="45720" tIns="27432" bIns="27432">
            <a:spAutoFit/>
          </a:bodyPr>
          <a:lstStyle/>
          <a:p>
            <a:pPr algn="l"/>
            <a:r>
              <a:rPr sz="1400" b="1" i="0">
                <a:solidFill>
                  <a:srgbClr val="2E75B6"/>
                </a:solidFill>
                <a:latin typeface="Segoe UI"/>
                <a:ea typeface="Segoe UI"/>
                <a:cs typeface="Segoe UI"/>
              </a:rPr>
              <a:t>Mẹo:</a:t>
            </a:r>
            <a:r>
              <a:rPr sz="1400" b="0" i="0">
                <a:solidFill>
                  <a:srgbClr val="263238"/>
                </a:solidFill>
                <a:latin typeface="Segoe UI"/>
                <a:ea typeface="Segoe UI"/>
                <a:cs typeface="Segoe UI"/>
              </a:rPr>
              <a:t> </a:t>
            </a:r>
            <a:r>
              <a:rPr sz="1400" b="1" i="0">
                <a:solidFill>
                  <a:srgbClr val="1F4E79"/>
                </a:solidFill>
                <a:latin typeface="Segoe UI"/>
                <a:ea typeface="Segoe UI"/>
                <a:cs typeface="Segoe UI"/>
              </a:rPr>
              <a:t>BcodeViewer</a:t>
            </a:r>
            <a:r>
              <a:rPr sz="1400" b="0" i="0">
                <a:solidFill>
                  <a:srgbClr val="263238"/>
                </a:solidFill>
                <a:latin typeface="Segoe UI"/>
                <a:ea typeface="Segoe UI"/>
                <a:cs typeface="Segoe UI"/>
              </a:rPr>
              <a:t>: </a:t>
            </a:r>
            <a:r>
              <a:rPr sz="1300" b="0" i="0">
                <a:solidFill>
                  <a:srgbClr val="B02A2A"/>
                </a:solidFill>
                <a:latin typeface="Consolas"/>
                <a:ea typeface="Consolas"/>
                <a:cs typeface="Consolas"/>
              </a:rPr>
              <a:t>Ctrl+P</a:t>
            </a:r>
            <a:r>
              <a:rPr sz="1400" b="0" i="0">
                <a:solidFill>
                  <a:srgbClr val="263238"/>
                </a:solidFill>
                <a:latin typeface="Segoe UI"/>
                <a:ea typeface="Segoe UI"/>
                <a:cs typeface="Segoe UI"/>
              </a:rPr>
              <a:t> mở file · </a:t>
            </a:r>
            <a:r>
              <a:rPr sz="1300" b="0" i="0">
                <a:solidFill>
                  <a:srgbClr val="B02A2A"/>
                </a:solidFill>
                <a:latin typeface="Consolas"/>
                <a:ea typeface="Consolas"/>
                <a:cs typeface="Consolas"/>
              </a:rPr>
              <a:t>F12</a:t>
            </a:r>
            <a:r>
              <a:rPr sz="1400" b="0" i="0">
                <a:solidFill>
                  <a:srgbClr val="263238"/>
                </a:solidFill>
                <a:latin typeface="Segoe UI"/>
                <a:ea typeface="Segoe UI"/>
                <a:cs typeface="Segoe UI"/>
              </a:rPr>
              <a:t> entity · </a:t>
            </a:r>
            <a:r>
              <a:rPr sz="1300" b="0" i="0">
                <a:solidFill>
                  <a:srgbClr val="B02A2A"/>
                </a:solidFill>
                <a:latin typeface="Consolas"/>
                <a:ea typeface="Consolas"/>
                <a:cs typeface="Consolas"/>
              </a:rPr>
              <a:t>Ctrl+Shift+M</a:t>
            </a:r>
            <a:r>
              <a:rPr sz="1400" b="0" i="0">
                <a:solidFill>
                  <a:srgbClr val="263238"/>
                </a:solidFill>
                <a:latin typeface="Segoe UI"/>
                <a:ea typeface="Segoe UI"/>
                <a:cs typeface="Segoe UI"/>
              </a:rPr>
              <a:t> Problems · </a:t>
            </a:r>
            <a:r>
              <a:rPr sz="1300" b="0" i="0">
                <a:solidFill>
                  <a:srgbClr val="B02A2A"/>
                </a:solidFill>
                <a:latin typeface="Consolas"/>
                <a:ea typeface="Consolas"/>
                <a:cs typeface="Consolas"/>
              </a:rPr>
              <a:t>Alt+P</a:t>
            </a:r>
            <a:r>
              <a:rPr sz="1400" b="0" i="0">
                <a:solidFill>
                  <a:srgbClr val="263238"/>
                </a:solidFill>
                <a:latin typeface="Segoe UI"/>
                <a:ea typeface="Segoe UI"/>
                <a:cs typeface="Segoe UI"/>
              </a:rPr>
              <a:t> xem Dir · </a:t>
            </a:r>
            <a:r>
              <a:rPr sz="1300" b="0" i="0">
                <a:solidFill>
                  <a:srgbClr val="B02A2A"/>
                </a:solidFill>
                <a:latin typeface="Consolas"/>
                <a:ea typeface="Consolas"/>
                <a:cs typeface="Consolas"/>
              </a:rPr>
              <a:t>Ctrl+Enter</a:t>
            </a:r>
            <a:r>
              <a:rPr sz="1400" b="0" i="0">
                <a:solidFill>
                  <a:srgbClr val="263238"/>
                </a:solidFill>
                <a:latin typeface="Segoe UI"/>
                <a:ea typeface="Segoe UI"/>
                <a:cs typeface="Segoe UI"/>
              </a:rPr>
              <a:t> chạy SQL · </a:t>
            </a:r>
            <a:r>
              <a:rPr sz="1300" b="0" i="0">
                <a:solidFill>
                  <a:srgbClr val="B02A2A"/>
                </a:solidFill>
                <a:latin typeface="Consolas"/>
                <a:ea typeface="Consolas"/>
                <a:cs typeface="Consolas"/>
              </a:rPr>
              <a:t>F5</a:t>
            </a:r>
            <a:r>
              <a:rPr sz="1400" b="0" i="0">
                <a:solidFill>
                  <a:srgbClr val="263238"/>
                </a:solidFill>
                <a:latin typeface="Segoe UI"/>
                <a:ea typeface="Segoe UI"/>
                <a:cs typeface="Segoe UI"/>
              </a:rPr>
              <a:t> chạy menu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Ôn tập toàn khoá</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sp>
        <p:nvSpPr>
          <p:cNvPr id="7" name="Rounded Rectangle 6"/>
          <p:cNvSpPr/>
          <p:nvPr/>
        </p:nvSpPr>
        <p:spPr>
          <a:xfrm>
            <a:off x="640080" y="1645920"/>
            <a:ext cx="3459480" cy="40233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45920"/>
            <a:ext cx="3459480"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74519"/>
            <a:ext cx="3093720" cy="822960"/>
          </a:xfrm>
          <a:prstGeom prst="rect">
            <a:avLst/>
          </a:prstGeom>
          <a:noFill/>
        </p:spPr>
        <p:txBody>
          <a:bodyPr wrap="square" anchor="t" lIns="45720" rIns="45720" tIns="27432" bIns="27432">
            <a:spAutoFit/>
          </a:bodyPr>
          <a:lstStyle/>
          <a:p>
            <a:pPr algn="l"/>
            <a:r>
              <a:rPr sz="2000" b="1" i="0">
                <a:solidFill>
                  <a:srgbClr val="1F4E79"/>
                </a:solidFill>
                <a:latin typeface="Segoe UI"/>
                <a:ea typeface="Segoe UI"/>
                <a:cs typeface="Segoe UI"/>
              </a:rPr>
              <a:t>Cơ bản</a:t>
            </a:r>
          </a:p>
        </p:txBody>
      </p:sp>
      <p:sp>
        <p:nvSpPr>
          <p:cNvPr id="10" name="TextBox 9"/>
          <p:cNvSpPr txBox="1"/>
          <p:nvPr/>
        </p:nvSpPr>
        <p:spPr>
          <a:xfrm>
            <a:off x="777240" y="2606040"/>
            <a:ext cx="3185160" cy="29718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Menu = wcommand → aspx → Grid / Dir / Lookup</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App ↔ Sys, bảng phân kỳ</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Sửa dữ liệu theo </a:t>
            </a:r>
            <a:r>
              <a:rPr sz="1600" b="1" i="0">
                <a:solidFill>
                  <a:srgbClr val="1F4E79"/>
                </a:solidFill>
                <a:latin typeface="Segoe UI"/>
                <a:ea typeface="Segoe UI"/>
                <a:cs typeface="Segoe UI"/>
              </a:rPr>
              <a:t>5 bước</a:t>
            </a:r>
          </a:p>
        </p:txBody>
      </p:sp>
      <p:sp>
        <p:nvSpPr>
          <p:cNvPr id="11" name="Rounded Rectangle 10"/>
          <p:cNvSpPr/>
          <p:nvPr/>
        </p:nvSpPr>
        <p:spPr>
          <a:xfrm>
            <a:off x="4373880" y="1645920"/>
            <a:ext cx="3459480" cy="40233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3880" y="1645920"/>
            <a:ext cx="3459480"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6760" y="1874519"/>
            <a:ext cx="3093720" cy="822960"/>
          </a:xfrm>
          <a:prstGeom prst="rect">
            <a:avLst/>
          </a:prstGeom>
          <a:noFill/>
        </p:spPr>
        <p:txBody>
          <a:bodyPr wrap="square" anchor="t" lIns="45720" rIns="45720" tIns="27432" bIns="27432">
            <a:spAutoFit/>
          </a:bodyPr>
          <a:lstStyle/>
          <a:p>
            <a:pPr algn="l"/>
            <a:r>
              <a:rPr sz="2000" b="1" i="0">
                <a:solidFill>
                  <a:srgbClr val="2E75B6"/>
                </a:solidFill>
                <a:latin typeface="Segoe UI"/>
                <a:ea typeface="Segoe UI"/>
                <a:cs typeface="Segoe UI"/>
              </a:rPr>
              <a:t>Trung cấp</a:t>
            </a:r>
          </a:p>
        </p:txBody>
      </p:sp>
      <p:sp>
        <p:nvSpPr>
          <p:cNvPr id="14" name="TextBox 13"/>
          <p:cNvSpPr txBox="1"/>
          <p:nvPr/>
        </p:nvSpPr>
        <p:spPr>
          <a:xfrm>
            <a:off x="4511040" y="2606040"/>
            <a:ext cx="3185160" cy="29718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File Lookup + BcodeViewer</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Danh mục, AutoComplete, ⚡ Chuẩn Fast</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Báo cáo: Filter → procedure → Grid → Report</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Mẫu in: d1 / d2, </a:t>
            </a:r>
            <a:r>
              <a:rPr sz="1500" b="0" i="0">
                <a:solidFill>
                  <a:srgbClr val="B02A2A"/>
                </a:solidFill>
                <a:latin typeface="Consolas"/>
                <a:ea typeface="Consolas"/>
                <a:cs typeface="Consolas"/>
              </a:rPr>
              <a:t>?biến</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!1.cột</a:t>
            </a:r>
          </a:p>
        </p:txBody>
      </p:sp>
      <p:sp>
        <p:nvSpPr>
          <p:cNvPr id="15" name="Rounded Rectangle 14"/>
          <p:cNvSpPr/>
          <p:nvPr/>
        </p:nvSpPr>
        <p:spPr>
          <a:xfrm>
            <a:off x="8107679" y="1645920"/>
            <a:ext cx="3459480" cy="40233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7679" y="1645920"/>
            <a:ext cx="3459480" cy="1097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874519"/>
            <a:ext cx="3093720" cy="822960"/>
          </a:xfrm>
          <a:prstGeom prst="rect">
            <a:avLst/>
          </a:prstGeom>
          <a:noFill/>
        </p:spPr>
        <p:txBody>
          <a:bodyPr wrap="square" anchor="t" lIns="45720" rIns="45720" tIns="27432" bIns="27432">
            <a:spAutoFit/>
          </a:bodyPr>
          <a:lstStyle/>
          <a:p>
            <a:pPr algn="l"/>
            <a:r>
              <a:rPr sz="2000" b="1" i="0">
                <a:solidFill>
                  <a:srgbClr val="27AE60"/>
                </a:solidFill>
                <a:latin typeface="Segoe UI"/>
                <a:ea typeface="Segoe UI"/>
                <a:cs typeface="Segoe UI"/>
              </a:rPr>
              <a:t>Nâng cao</a:t>
            </a:r>
          </a:p>
        </p:txBody>
      </p:sp>
      <p:sp>
        <p:nvSpPr>
          <p:cNvPr id="18" name="TextBox 17"/>
          <p:cNvSpPr txBox="1"/>
          <p:nvPr/>
        </p:nvSpPr>
        <p:spPr>
          <a:xfrm>
            <a:off x="8244839" y="2606040"/>
            <a:ext cx="3185160" cy="29718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Procedure: ALTER, sao lưu, rollback</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Macro FCode, lỗi NULL / collation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Bắt lỗi theo </a:t>
            </a:r>
            <a:r>
              <a:rPr sz="1600" b="1" i="0">
                <a:solidFill>
                  <a:srgbClr val="1F4E79"/>
                </a:solidFill>
                <a:latin typeface="Segoe UI"/>
                <a:ea typeface="Segoe UI"/>
                <a:cs typeface="Segoe UI"/>
              </a:rPr>
              <a:t>6 bước</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Gói update + checklist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Đóng gói danh mục (buổi 5), báo cáo (buổi 6), mẫu in (buổi 7), procedure (buổi 8) thành các yêu cầu trong Note (New), rồi chạy Generate Update.</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2.</a:t>
            </a:r>
            <a:r>
              <a:rPr sz="2000" b="0" i="0">
                <a:solidFill>
                  <a:srgbClr val="263238"/>
                </a:solidFill>
                <a:latin typeface="Segoe UI"/>
                <a:ea typeface="Segoe UI"/>
                <a:cs typeface="Segoe UI"/>
              </a:rPr>
              <a:t> Triển khai gói lên một bản sao database khác, chạy checklist và thử rollback procedure.</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10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Bài kiểm tra cuối khoá: nhận 1 yêu cầu trọn gói (gồm danh mục, báo cáo và mẫu in), làm và đóng gói trong 1 ngày.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10 · Đóng gói, triển khai và ôn tập</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Gói update gồm những thư mục và file nào?</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Script nào chạy trên database nào?</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Đổi cấu trúc bảng xong mà site vẫn báo lỗi cột thì làm gì?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