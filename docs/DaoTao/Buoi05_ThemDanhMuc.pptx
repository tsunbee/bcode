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5: Thêm danh mục (Trung cấp, 3 giờ).</a:t>
            </a:r>
          </a:p>
          <a:p>
            <a:r>
              <a:t>Chuẩn bị: Dự án thử; key bản quyền Bcode (Tạo nhanh danh mục); API key nếu muốn thử AI.</a:t>
            </a:r>
          </a:p>
          <a:p>
            <a:r>
              <a:t>Nhắc lại bài tập về nhà của buổi trước trước khi vào nội dung mới (5–10 phút).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a:t>
            </a:r>
          </a:p>
          <a:p>
            <a:r>
              <a:t>- Biết bộ file của một danh mục và thuộc tính field chính</a:t>
            </a:r>
          </a:p>
          <a:p>
            <a:r>
              <a:t>- Viết được field tra cứu AutoComplete</a:t>
            </a:r>
          </a:p>
          <a:p>
            <a:r>
              <a:t>- Tạo danh mục bằng Tạo nhanh danh mục (luật Fast / AI phân tích / AI tạo)</a:t>
            </a:r>
          </a:p>
          <a:p>
            <a:r>
              <a:t>- Đọc và xử lý cảnh báo ⚡ Chuẩn Fast</a:t>
            </a:r>
          </a:p>
          <a:p>
            <a:r>
              <a:t>Lịch trình:</a:t>
            </a:r>
          </a:p>
          <a:p>
            <a:r>
              <a:t>1. Bộ file danh mục, tạo bảng, Dir / Grid / Lookup / aspx / menu (50')</a:t>
            </a:r>
          </a:p>
          <a:p>
            <a:r>
              <a:t>2. Quy ước tên, AutoComplete (25')</a:t>
            </a:r>
          </a:p>
          <a:p>
            <a:r>
              <a:t>3. Tạo nhanh danh mục, 3 cách điền tự động, mẫu câu yêu cầu (40')</a:t>
            </a:r>
          </a:p>
          <a:p>
            <a:r>
              <a:t>4. ⚡ Chuẩn Fast, checklist (15')</a:t>
            </a:r>
          </a:p>
          <a:p>
            <a:r>
              <a:t>5. Thực hành (50')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danh mục gồm: bảng SQL (thêm bảng chi tiết nếu có), trang Main\x.aspx, Grid (danh sách), Dir (form thêm sửa), Lookup (tra cứu từ màn khác), Filter ...Import và mẫu Templates\Upload nếu cho import Excel, cuối cùng là menu trong wcommand + command.</a:t>
            </a:r>
          </a:p>
          <a:p>
            <a:r>
              <a:t>Thuộc tính chính của field: isPrimaryKey, allowNulls="false" để bắt buộc nhập, dataFormatString @upperCaseFormat để in hoa, header v/e cho nhãn, external cho field không có trong bảng (ví dụ tên tra cứu), readOnly, hidden, categoryIndex là tab của form.</a:t>
            </a:r>
          </a:p>
          <a:p>
            <a:r>
              <a:t>Commands theo sự kiện: Declare (thông báo lỗi theo ngôn ngữ), Loading/Closing (gắn hàm JS), Inserting (kiểm tra trùng mã, gán datetime0/user_id0), Updating (kiểm tra bản ghi còn tồn tại theo $ma.OldValue), Updated (cập nhật datetime2/user_id2), Deleting (kiểm tra đã phát sinh), Checking (JS phía client).</a:t>
            </a:r>
          </a:p>
          <a:p>
            <a:r>
              <a:t>Mẫu đầy đủ trong Bcode: Templates\fileSource\CreateList.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thật ở Dir\Customer.f — field tài khoản ngầm định của khách hàng.</a:t>
            </a:r>
          </a:p>
          <a:p>
            <a:r>
              <a:t>controller: Lookup dùng để tra (Lookup\Account.xml).</a:t>
            </a:r>
          </a:p>
          <a:p>
            <a:r>
              <a:t>reference: field external trên form nhận tên sau khi chọn mã.</a:t>
            </a:r>
          </a:p>
          <a:p>
            <a:r>
              <a:t>key: điều kiện lọc danh sách gợi ý — chỉ tài khoản chi tiết còn dùng.</a:t>
            </a:r>
          </a:p>
          <a:p>
            <a:r>
              <a:t>check: điều kiện kiểm tra mã nhập tay.</a:t>
            </a:r>
          </a:p>
          <a:p>
            <a:r>
              <a:t>information: khi mở bản ghi, lấy tên theo dạng field$bảng.cột_tên.</a:t>
            </a:r>
          </a:p>
          <a:p>
            <a:r>
              <a:t>%l: Fast thay theo ngôn ngữ đăng nhập.</a:t>
            </a:r>
          </a:p>
          <a:p>
            <a:r>
              <a:t>Quy tắc đặt tên: cột tra cứu dùng đúng tên cột mã của danh mục nguồn (ma_kh, ma_vt, ma_kho, tk...) và cùng kiểu, cùng độ dài.</a:t>
            </a:r>
          </a:p>
          <a:p>
            <a:r>
              <a:t>Ý nghĩa chi tiết của %l và new="Default" mô tả theo cách dùng; khi cần chắc chắn thì đối chiếu một danh mục chuẩn ở dự án.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Menu Tool mở rộng → Tạo nhanh danh mục (cần key bản quyền). Bcode sinh đủ bộ file danh mục từ mẫu CreateList.</a:t>
            </a:r>
          </a:p>
          <a:p>
            <a:r>
              <a:t>Có 3 cách điền tự động từ nội dung yêu cầu, mở từ Note (New) hoặc khung chi tiết của Báo cáo yêu cầu FSG:</a:t>
            </a:r>
          </a:p>
          <a:p>
            <a:r>
              <a:t>1. Theo luật Fast — nhanh, không AI, không cần key.</a:t>
            </a:r>
          </a:p>
          <a:p>
            <a:r>
              <a:t>2. AI phân tích — AI chỉ viết lại yêu cầu theo đúng mẫu câu chuẩn; bạn đọc, sửa, xác nhận (Ctrl+Enter); sau đó luật Fast tạo danh mục. Cách này cân bằng: AI hiểu câu văn, luật đảm bảo kết quả đúng chuẩn.</a:t>
            </a:r>
          </a:p>
          <a:p>
            <a:r>
              <a:t>3. AI tạo danh mục — AI điền thẳng; Bcode chỉ gửi tên bảng / cột / kiểu, không gửi dữ liệu dòng.</a:t>
            </a:r>
          </a:p>
          <a:p>
            <a:r>
              <a:t>Dù cách nào, Bcode không tự ghi file hay chạy SQL: bạn xem lại, Xem XML, Tạo file, rồi Tạo menu.</a:t>
            </a:r>
          </a:p>
          <a:p>
            <a:r>
              <a:t>Gõ tên bảng chưa có (zdm...) là tạo bảng mới — script ở tab Script, Bcode không tự chạy.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mẫu câu luật Fast đọc chuẩn nhất, cũng là mẫu mà AI phân tích viết ra. Mỗi dòng gạch đầu dòng là một cột; [field] hoặc [field kiểu] chốt tên field; cụm "lookup từ danh mục X", "bắt buộc nhập" được hiểu.</a:t>
            </a:r>
          </a:p>
          <a:p>
            <a:r>
              <a:t>Kiểu tự chọn: tiền / số lượng / giá numeric(19,4), năm int, ngày smalldatetime, cột lookup lấy đúng kiểu cột mã nguồn. Tháng / năm luôn tách cột int riêng.</a:t>
            </a:r>
          </a:p>
          <a:p>
            <a:r>
              <a:t>Luật nhớ field bạn đã sửa (tiêu đề → field) và học field từ source dự án (đọc các file Dir của Source Path).</a:t>
            </a:r>
          </a:p>
          <a:p>
            <a:r>
              <a:t>Nút ⚡ Chuẩn Fast ở thanh dưới: soát thiếu cột hệ thống, đặt tên mã / tên, kiểu cột tra cứu, type không khớp kiểu SQL, thiếu tiêu đề Anh, controller trùng, khoá chi tiết. Có mục dễ lỗi thì Tạo file sẽ hỏi lại.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qua checklist trước khi coi danh mục là xong. Mục 1–2 về bảng; 3 về kiểm tra tự động; 4–6 thử trên web; 7 menu và gói.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Học viên làm trên dự án thử, người hướng dẫn đi kiểm từng máy. Ai xong sớm làm luôn bài tập về nhà.</a:t>
            </a:r>
          </a:p>
          <a:p>
            <a:r>
              <a:t>Bài tập về nhà: Nhận 1 yêu cầu “thêm danh mục” thật (đã cũ) từ người hướng dẫn, làm trọn trên dự án thử đến khi qua checklist 5.5.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Hỏi nhanh cả lớp; đáp án:</a:t>
            </a:r>
          </a:p>
          <a:p>
            <a:r>
              <a:t>1. Cùng tên, cùng kiểu và độ dài với dmkh.ma_kh.</a:t>
            </a:r>
          </a:p>
          <a:p>
            <a:r>
              <a:t>2. Lấy tên: field tk ghép bảng dmtk, cột ten_tk theo ngôn ngữ.</a:t>
            </a:r>
          </a:p>
          <a:p>
            <a:r>
              <a:t>3. AI phân tích chỉ viết lại yêu cầu theo mẫu, bạn xác nhận rồi luật Fast tạo; AI tạo danh mục điền thẳng.</a:t>
            </a:r>
          </a:p>
          <a:p>
            <a:r>
              <a:t>4. Không — script ở tab Script, phải tự xem lại rồi chạy.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Rectangle 1"/>
          <p:cNvSpPr/>
          <p:nvPr/>
        </p:nvSpPr>
        <p:spPr>
          <a:xfrm>
            <a:off x="0" y="5394960"/>
            <a:ext cx="12191695" cy="1463040"/>
          </a:xfrm>
          <a:prstGeom prst="rect">
            <a:avLst/>
          </a:prstGeom>
          <a:solidFill>
            <a:srgbClr val="173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331720"/>
            <a:ext cx="1280160"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97280"/>
            <a:ext cx="10058400" cy="548640"/>
          </a:xfrm>
          <a:prstGeom prst="rect">
            <a:avLst/>
          </a:prstGeom>
          <a:noFill/>
        </p:spPr>
        <p:txBody>
          <a:bodyPr wrap="square" anchor="t" lIns="45720" rIns="45720" tIns="27432" bIns="27432">
            <a:spAutoFit/>
          </a:bodyPr>
          <a:lstStyle/>
          <a:p>
            <a:pPr algn="l"/>
            <a:r>
              <a:rPr sz="1800" b="1" i="0">
                <a:solidFill>
                  <a:srgbClr val="F2B705"/>
                </a:solidFill>
                <a:latin typeface="Segoe UI"/>
                <a:ea typeface="Segoe UI"/>
                <a:cs typeface="Segoe UI"/>
              </a:rPr>
              <a:t>BUỔI 5 / 10  ·  TRUNG CẤP</a:t>
            </a:r>
          </a:p>
        </p:txBody>
      </p:sp>
      <p:sp>
        <p:nvSpPr>
          <p:cNvPr id="5" name="TextBox 4"/>
          <p:cNvSpPr txBox="1"/>
          <p:nvPr/>
        </p:nvSpPr>
        <p:spPr>
          <a:xfrm>
            <a:off x="777240" y="1554480"/>
            <a:ext cx="10789920" cy="914400"/>
          </a:xfrm>
          <a:prstGeom prst="rect">
            <a:avLst/>
          </a:prstGeom>
          <a:noFill/>
        </p:spPr>
        <p:txBody>
          <a:bodyPr wrap="square" anchor="t" lIns="45720" rIns="45720" tIns="27432" bIns="27432">
            <a:spAutoFit/>
          </a:bodyPr>
          <a:lstStyle/>
          <a:p>
            <a:pPr algn="l"/>
            <a:r>
              <a:rPr sz="2200" b="0" i="0">
                <a:solidFill>
                  <a:srgbClr val="D6E4F0"/>
                </a:solidFill>
                <a:latin typeface="Segoe UI"/>
                <a:ea typeface="Segoe UI"/>
                <a:cs typeface="Segoe UI"/>
              </a:rPr>
              <a:t>FastBusiness Online &amp; Bcode</a:t>
            </a:r>
          </a:p>
        </p:txBody>
      </p:sp>
      <p:sp>
        <p:nvSpPr>
          <p:cNvPr id="6" name="TextBox 5"/>
          <p:cNvSpPr txBox="1"/>
          <p:nvPr/>
        </p:nvSpPr>
        <p:spPr>
          <a:xfrm>
            <a:off x="777240" y="2606040"/>
            <a:ext cx="10789920" cy="2194560"/>
          </a:xfrm>
          <a:prstGeom prst="rect">
            <a:avLst/>
          </a:prstGeom>
          <a:noFill/>
        </p:spPr>
        <p:txBody>
          <a:bodyPr wrap="square" anchor="t" lIns="45720" rIns="45720" tIns="27432" bIns="27432">
            <a:spAutoFit/>
          </a:bodyPr>
          <a:lstStyle/>
          <a:p>
            <a:pPr algn="l"/>
            <a:r>
              <a:rPr sz="4400" b="1" i="0">
                <a:solidFill>
                  <a:srgbClr val="FFFFFF"/>
                </a:solidFill>
                <a:latin typeface="Segoe UI"/>
                <a:ea typeface="Segoe UI"/>
                <a:cs typeface="Segoe UI"/>
              </a:rPr>
              <a:t>Thêm danh mục</a:t>
            </a:r>
          </a:p>
        </p:txBody>
      </p:sp>
      <p:sp>
        <p:nvSpPr>
          <p:cNvPr id="7" name="TextBox 6"/>
          <p:cNvSpPr txBox="1"/>
          <p:nvPr/>
        </p:nvSpPr>
        <p:spPr>
          <a:xfrm>
            <a:off x="804672" y="5760720"/>
            <a:ext cx="10515600" cy="548640"/>
          </a:xfrm>
          <a:prstGeom prst="rect">
            <a:avLst/>
          </a:prstGeom>
          <a:noFill/>
        </p:spPr>
        <p:txBody>
          <a:bodyPr wrap="square" anchor="t" lIns="45720" rIns="45720" tIns="27432" bIns="27432">
            <a:spAutoFit/>
          </a:bodyPr>
          <a:lstStyle/>
          <a:p>
            <a:pPr algn="l"/>
            <a:r>
              <a:rPr sz="1400" b="0" i="0">
                <a:solidFill>
                  <a:srgbClr val="B8CADB"/>
                </a:solidFill>
                <a:latin typeface="Segoe UI"/>
                <a:ea typeface="Segoe UI"/>
                <a:cs typeface="Segoe UI"/>
              </a:rPr>
              <a:t>Thời lượng 3 giờ · tài liệu chi tiết: DaoTao_Fast_Bcode.docx — Buổi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Mục tiêu và lịch trình</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5 · Thêm danh mục</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2</a:t>
            </a:r>
          </a:p>
        </p:txBody>
      </p:sp>
      <p:sp>
        <p:nvSpPr>
          <p:cNvPr id="7" name="TextBox 6"/>
          <p:cNvSpPr txBox="1"/>
          <p:nvPr/>
        </p:nvSpPr>
        <p:spPr>
          <a:xfrm>
            <a:off x="640080" y="1325880"/>
            <a:ext cx="5120640" cy="411480"/>
          </a:xfrm>
          <a:prstGeom prst="rect">
            <a:avLst/>
          </a:prstGeom>
          <a:noFill/>
        </p:spPr>
        <p:txBody>
          <a:bodyPr wrap="square" anchor="t" lIns="45720" rIns="45720" tIns="27432" bIns="27432">
            <a:spAutoFit/>
          </a:bodyPr>
          <a:lstStyle/>
          <a:p>
            <a:pPr algn="l"/>
            <a:r>
              <a:rPr sz="1800" b="1" i="0">
                <a:solidFill>
                  <a:srgbClr val="1F4E79"/>
                </a:solidFill>
                <a:latin typeface="Segoe UI"/>
                <a:ea typeface="Segoe UI"/>
                <a:cs typeface="Segoe UI"/>
              </a:rPr>
              <a:t>Học xong buổi này, bạn:</a:t>
            </a:r>
          </a:p>
        </p:txBody>
      </p:sp>
      <p:sp>
        <p:nvSpPr>
          <p:cNvPr id="8" name="TextBox 7"/>
          <p:cNvSpPr txBox="1"/>
          <p:nvPr/>
        </p:nvSpPr>
        <p:spPr>
          <a:xfrm>
            <a:off x="640080" y="1783080"/>
            <a:ext cx="5212080" cy="4206240"/>
          </a:xfrm>
          <a:prstGeom prst="rect">
            <a:avLst/>
          </a:prstGeom>
          <a:noFill/>
        </p:spPr>
        <p:txBody>
          <a:bodyPr wrap="square">
            <a:spAutoFit/>
          </a:bodyPr>
          <a:lstStyle/>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Biết bộ file của một danh mục và thuộc tính field chính</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Viết được field tra cứu AutoComplete</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Tạo danh mục bằng Tạo nhanh danh mục (luật Fast / AI phân tích / AI tạo)</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Đọc và xử lý cảnh báo ⚡ Chuẩn Fast</a:t>
            </a:r>
          </a:p>
        </p:txBody>
      </p:sp>
      <p:graphicFrame>
        <p:nvGraphicFramePr>
          <p:cNvPr id="9" name="Table 8"/>
          <p:cNvGraphicFramePr>
            <a:graphicFrameLocks noGrp="1"/>
          </p:cNvGraphicFramePr>
          <p:nvPr/>
        </p:nvGraphicFramePr>
        <p:xfrm>
          <a:off x="6126480" y="1371600"/>
          <a:ext cx="5486400" cy="3017520"/>
        </p:xfrm>
        <a:graphic>
          <a:graphicData uri="http://schemas.openxmlformats.org/drawingml/2006/table">
            <a:tbl>
              <a:tblPr firstRow="1" bandRow="1">
                <a:tableStyleId>{5940675A-B579-460E-94D1-54222C63F5DA}</a:tableStyleId>
              </a:tblPr>
              <a:tblGrid>
                <a:gridCol w="457200"/>
                <a:gridCol w="4023360"/>
                <a:gridCol w="1005840"/>
              </a:tblGrid>
              <a:tr h="502920">
                <a:tc>
                  <a:txBody>
                    <a:bodyPr wrap="square"/>
                    <a:lstStyle/>
                    <a:p>
                      <a:r>
                        <a:rPr sz="1400" b="1" i="0">
                          <a:solidFill>
                            <a:srgbClr val="FFFFFF"/>
                          </a:solidFill>
                          <a:latin typeface="Segoe UI"/>
                          <a:ea typeface="Segoe UI"/>
                          <a:cs typeface="Segoe UI"/>
                        </a:rPr>
                        <a:t/>
                      </a:r>
                    </a:p>
                  </a:txBody>
                  <a:tcPr marL="73152" marR="73152" marT="36576" marB="36576" anchor="ctr">
                    <a:solidFill>
                      <a:srgbClr val="1F4E79"/>
                    </a:solidFill>
                  </a:tcPr>
                </a:tc>
                <a:tc>
                  <a:txBody>
                    <a:bodyPr wrap="square"/>
                    <a:lstStyle/>
                    <a:p>
                      <a:r>
                        <a:rPr sz="1400" b="1" i="0">
                          <a:solidFill>
                            <a:srgbClr val="FFFFFF"/>
                          </a:solidFill>
                          <a:latin typeface="Segoe UI"/>
                          <a:ea typeface="Segoe UI"/>
                          <a:cs typeface="Segoe UI"/>
                        </a:rPr>
                        <a:t>Nội dung</a:t>
                      </a:r>
                    </a:p>
                  </a:txBody>
                  <a:tcPr marL="73152" marR="73152" marT="36576" marB="36576" anchor="ctr">
                    <a:solidFill>
                      <a:srgbClr val="1F4E79"/>
                    </a:solidFill>
                  </a:tcPr>
                </a:tc>
                <a:tc>
                  <a:txBody>
                    <a:bodyPr wrap="square"/>
                    <a:lstStyle/>
                    <a:p>
                      <a:r>
                        <a:rPr sz="1400" b="1" i="0">
                          <a:solidFill>
                            <a:srgbClr val="FFFFFF"/>
                          </a:solidFill>
                          <a:latin typeface="Segoe UI"/>
                          <a:ea typeface="Segoe UI"/>
                          <a:cs typeface="Segoe UI"/>
                        </a:rPr>
                        <a:t>Thời gian</a:t>
                      </a:r>
                    </a:p>
                  </a:txBody>
                  <a:tcPr marL="73152" marR="73152" marT="36576" marB="36576" anchor="ctr">
                    <a:solidFill>
                      <a:srgbClr val="1F4E79"/>
                    </a:solidFill>
                  </a:tcPr>
                </a:tc>
              </a:tr>
              <a:tr h="502920">
                <a:tc>
                  <a:txBody>
                    <a:bodyPr wrap="square"/>
                    <a:lstStyle/>
                    <a:p>
                      <a:r>
                        <a:rPr sz="1400" b="0" i="0">
                          <a:solidFill>
                            <a:srgbClr val="263238"/>
                          </a:solidFill>
                          <a:latin typeface="Segoe UI"/>
                          <a:ea typeface="Segoe UI"/>
                          <a:cs typeface="Segoe UI"/>
                        </a:rPr>
                        <a:t>1</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Bộ file danh mục, tạo bảng, Dir / Grid / Lookup / aspx / menu</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50'</a:t>
                      </a:r>
                    </a:p>
                  </a:txBody>
                  <a:tcPr marL="73152" marR="73152" marT="36576" marB="36576" anchor="ctr">
                    <a:solidFill>
                      <a:srgbClr val="FFFFFF"/>
                    </a:solidFill>
                  </a:tcPr>
                </a:tc>
              </a:tr>
              <a:tr h="502920">
                <a:tc>
                  <a:txBody>
                    <a:bodyPr wrap="square"/>
                    <a:lstStyle/>
                    <a:p>
                      <a:r>
                        <a:rPr sz="1400" b="0" i="0">
                          <a:solidFill>
                            <a:srgbClr val="263238"/>
                          </a:solidFill>
                          <a:latin typeface="Segoe UI"/>
                          <a:ea typeface="Segoe UI"/>
                          <a:cs typeface="Segoe UI"/>
                        </a:rPr>
                        <a:t>2</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Quy ước tên, AutoComplete</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25'</a:t>
                      </a:r>
                    </a:p>
                  </a:txBody>
                  <a:tcPr marL="73152" marR="73152" marT="36576" marB="36576" anchor="ctr">
                    <a:solidFill>
                      <a:srgbClr val="F4F7FB"/>
                    </a:solidFill>
                  </a:tcPr>
                </a:tc>
              </a:tr>
              <a:tr h="502920">
                <a:tc>
                  <a:txBody>
                    <a:bodyPr wrap="square"/>
                    <a:lstStyle/>
                    <a:p>
                      <a:r>
                        <a:rPr sz="1400" b="0" i="0">
                          <a:solidFill>
                            <a:srgbClr val="263238"/>
                          </a:solidFill>
                          <a:latin typeface="Segoe UI"/>
                          <a:ea typeface="Segoe UI"/>
                          <a:cs typeface="Segoe UI"/>
                        </a:rPr>
                        <a:t>3</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Tạo nhanh danh mục, 3 cách điền tự động, mẫu câu yêu cầu</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40'</a:t>
                      </a:r>
                    </a:p>
                  </a:txBody>
                  <a:tcPr marL="73152" marR="73152" marT="36576" marB="36576" anchor="ctr">
                    <a:solidFill>
                      <a:srgbClr val="FFFFFF"/>
                    </a:solidFill>
                  </a:tcPr>
                </a:tc>
              </a:tr>
              <a:tr h="502920">
                <a:tc>
                  <a:txBody>
                    <a:bodyPr wrap="square"/>
                    <a:lstStyle/>
                    <a:p>
                      <a:r>
                        <a:rPr sz="1400" b="0" i="0">
                          <a:solidFill>
                            <a:srgbClr val="263238"/>
                          </a:solidFill>
                          <a:latin typeface="Segoe UI"/>
                          <a:ea typeface="Segoe UI"/>
                          <a:cs typeface="Segoe UI"/>
                        </a:rPr>
                        <a:t>4</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 Chuẩn Fast, checklist</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15'</a:t>
                      </a:r>
                    </a:p>
                  </a:txBody>
                  <a:tcPr marL="73152" marR="73152" marT="36576" marB="36576" anchor="ctr">
                    <a:solidFill>
                      <a:srgbClr val="F4F7FB"/>
                    </a:solidFill>
                  </a:tcPr>
                </a:tc>
              </a:tr>
              <a:tr h="502920">
                <a:tc>
                  <a:txBody>
                    <a:bodyPr wrap="square"/>
                    <a:lstStyle/>
                    <a:p>
                      <a:r>
                        <a:rPr sz="1400" b="0" i="0">
                          <a:solidFill>
                            <a:srgbClr val="263238"/>
                          </a:solidFill>
                          <a:latin typeface="Segoe UI"/>
                          <a:ea typeface="Segoe UI"/>
                          <a:cs typeface="Segoe UI"/>
                        </a:rPr>
                        <a:t>5</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Thực hành</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50'</a:t>
                      </a:r>
                    </a:p>
                  </a:txBody>
                  <a:tcPr marL="73152" marR="73152" marT="36576" marB="36576" anchor="ctr">
                    <a:solidFill>
                      <a:srgbClr val="FFFFFF"/>
                    </a:solidFill>
                  </a:tcPr>
                </a:tc>
              </a:tr>
            </a:tbl>
          </a:graphicData>
        </a:graphic>
      </p:graphicFrame>
      <p:sp>
        <p:nvSpPr>
          <p:cNvPr id="10" name="Rounded Rectangle 9"/>
          <p:cNvSpPr/>
          <p:nvPr/>
        </p:nvSpPr>
        <p:spPr>
          <a:xfrm>
            <a:off x="640080" y="5623560"/>
            <a:ext cx="10927080" cy="640080"/>
          </a:xfrm>
          <a:prstGeom prst="roundRect">
            <a:avLst>
              <a:gd name="adj" fmla="val 8000"/>
            </a:avLst>
          </a:prstGeom>
          <a:solidFill>
            <a:srgbClr val="FFFFFF"/>
          </a:solidFill>
          <a:ln w="15875">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5623560"/>
            <a:ext cx="91440" cy="64008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678424"/>
            <a:ext cx="10607040" cy="548640"/>
          </a:xfrm>
          <a:prstGeom prst="rect">
            <a:avLst/>
          </a:prstGeom>
          <a:noFill/>
        </p:spPr>
        <p:txBody>
          <a:bodyPr wrap="square" anchor="ctr" lIns="45720" rIns="45720" tIns="27432" bIns="27432">
            <a:spAutoFit/>
          </a:bodyPr>
          <a:lstStyle/>
          <a:p>
            <a:pPr algn="l"/>
            <a:r>
              <a:rPr sz="1400" b="1" i="0">
                <a:solidFill>
                  <a:srgbClr val="F2B705"/>
                </a:solidFill>
                <a:latin typeface="Segoe UI"/>
                <a:ea typeface="Segoe UI"/>
                <a:cs typeface="Segoe UI"/>
              </a:rPr>
              <a:t>Lưu ý:</a:t>
            </a:r>
            <a:r>
              <a:rPr sz="1400" b="0" i="0">
                <a:solidFill>
                  <a:srgbClr val="263238"/>
                </a:solidFill>
                <a:latin typeface="Segoe UI"/>
                <a:ea typeface="Segoe UI"/>
                <a:cs typeface="Segoe UI"/>
              </a:rPr>
              <a:t> Chuẩn bị: Dự án thử; key bản quyền Bcode (Tạo nhanh danh mục); API key nếu muốn thử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Bộ file của một danh mục</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5 · Thêm danh mục</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3</a:t>
            </a:r>
          </a:p>
        </p:txBody>
      </p:sp>
      <p:sp>
        <p:nvSpPr>
          <p:cNvPr id="7" name="Rounded Rectangle 6"/>
          <p:cNvSpPr/>
          <p:nvPr/>
        </p:nvSpPr>
        <p:spPr>
          <a:xfrm>
            <a:off x="640080" y="1645920"/>
            <a:ext cx="1577339" cy="1600200"/>
          </a:xfrm>
          <a:prstGeom prst="roundRect">
            <a:avLst>
              <a:gd name="adj" fmla="val 1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1" y="1737360"/>
            <a:ext cx="1431036" cy="720090"/>
          </a:xfrm>
          <a:prstGeom prst="rect">
            <a:avLst/>
          </a:prstGeom>
          <a:noFill/>
        </p:spPr>
        <p:txBody>
          <a:bodyPr wrap="square" anchor="ctr" lIns="45720" rIns="45720" tIns="27432" bIns="27432">
            <a:spAutoFit/>
          </a:bodyPr>
          <a:lstStyle/>
          <a:p>
            <a:pPr algn="ctr"/>
            <a:r>
              <a:rPr sz="1500" b="1" i="0">
                <a:solidFill>
                  <a:srgbClr val="FFFFFF"/>
                </a:solidFill>
                <a:latin typeface="Segoe UI"/>
                <a:ea typeface="Segoe UI"/>
                <a:cs typeface="Segoe UI"/>
              </a:rPr>
              <a:t>Bảng SQL</a:t>
            </a:r>
          </a:p>
        </p:txBody>
      </p:sp>
      <p:sp>
        <p:nvSpPr>
          <p:cNvPr id="9" name="TextBox 8"/>
          <p:cNvSpPr txBox="1"/>
          <p:nvPr/>
        </p:nvSpPr>
        <p:spPr>
          <a:xfrm>
            <a:off x="713231" y="2446020"/>
            <a:ext cx="1431036" cy="768096"/>
          </a:xfrm>
          <a:prstGeom prst="rect">
            <a:avLst/>
          </a:prstGeom>
          <a:noFill/>
        </p:spPr>
        <p:txBody>
          <a:bodyPr wrap="square" anchor="t" lIns="45720" rIns="45720" tIns="27432" bIns="27432">
            <a:spAutoFit/>
          </a:bodyPr>
          <a:lstStyle/>
          <a:p>
            <a:pPr algn="ctr"/>
            <a:r>
              <a:rPr sz="1200" b="0" i="0">
                <a:solidFill>
                  <a:srgbClr val="E3ECF5"/>
                </a:solidFill>
                <a:latin typeface="Segoe UI"/>
                <a:ea typeface="Segoe UI"/>
                <a:cs typeface="Segoe UI"/>
              </a:rPr>
              <a:t>zdmxxx</a:t>
            </a:r>
          </a:p>
          <a:p>
            <a:pPr algn="ctr"/>
            <a:r>
              <a:rPr sz="1200" b="0" i="0">
                <a:solidFill>
                  <a:srgbClr val="E3ECF5"/>
                </a:solidFill>
                <a:latin typeface="Segoe UI"/>
                <a:ea typeface="Segoe UI"/>
                <a:cs typeface="Segoe UI"/>
              </a:rPr>
              <a:t>(+ zdmxxxct)</a:t>
            </a:r>
          </a:p>
        </p:txBody>
      </p:sp>
      <p:sp>
        <p:nvSpPr>
          <p:cNvPr id="10" name="Right Arrow 9"/>
          <p:cNvSpPr/>
          <p:nvPr/>
        </p:nvSpPr>
        <p:spPr>
          <a:xfrm>
            <a:off x="2253996" y="232714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510028" y="1645920"/>
            <a:ext cx="1577339" cy="160020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83180" y="1737360"/>
            <a:ext cx="1431036" cy="720090"/>
          </a:xfrm>
          <a:prstGeom prst="rect">
            <a:avLst/>
          </a:prstGeom>
          <a:noFill/>
        </p:spPr>
        <p:txBody>
          <a:bodyPr wrap="square" anchor="ctr" lIns="45720" rIns="45720" tIns="27432" bIns="27432">
            <a:spAutoFit/>
          </a:bodyPr>
          <a:lstStyle/>
          <a:p>
            <a:pPr algn="ctr"/>
            <a:r>
              <a:rPr sz="1500" b="1" i="0">
                <a:solidFill>
                  <a:srgbClr val="FFFFFF"/>
                </a:solidFill>
                <a:latin typeface="Segoe UI"/>
                <a:ea typeface="Segoe UI"/>
                <a:cs typeface="Segoe UI"/>
              </a:rPr>
              <a:t>Main\x.aspx</a:t>
            </a:r>
          </a:p>
        </p:txBody>
      </p:sp>
      <p:sp>
        <p:nvSpPr>
          <p:cNvPr id="13" name="TextBox 12"/>
          <p:cNvSpPr txBox="1"/>
          <p:nvPr/>
        </p:nvSpPr>
        <p:spPr>
          <a:xfrm>
            <a:off x="2583180" y="2446020"/>
            <a:ext cx="1431036" cy="768096"/>
          </a:xfrm>
          <a:prstGeom prst="rect">
            <a:avLst/>
          </a:prstGeom>
          <a:noFill/>
        </p:spPr>
        <p:txBody>
          <a:bodyPr wrap="square" anchor="t" lIns="45720" rIns="45720" tIns="27432" bIns="27432">
            <a:spAutoFit/>
          </a:bodyPr>
          <a:lstStyle/>
          <a:p>
            <a:pPr algn="ctr"/>
            <a:r>
              <a:rPr sz="1200" b="0" i="0">
                <a:solidFill>
                  <a:srgbClr val="E3ECF5"/>
                </a:solidFill>
                <a:latin typeface="Segoe UI"/>
                <a:ea typeface="Segoe UI"/>
                <a:cs typeface="Segoe UI"/>
              </a:rPr>
              <a:t>Controller=…</a:t>
            </a:r>
          </a:p>
        </p:txBody>
      </p:sp>
      <p:sp>
        <p:nvSpPr>
          <p:cNvPr id="14" name="Right Arrow 13"/>
          <p:cNvSpPr/>
          <p:nvPr/>
        </p:nvSpPr>
        <p:spPr>
          <a:xfrm>
            <a:off x="4123944" y="232714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79976" y="1645920"/>
            <a:ext cx="1577339" cy="1600200"/>
          </a:xfrm>
          <a:prstGeom prst="roundRect">
            <a:avLst>
              <a:gd name="adj" fmla="val 1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53128" y="1737360"/>
            <a:ext cx="1431036" cy="720090"/>
          </a:xfrm>
          <a:prstGeom prst="rect">
            <a:avLst/>
          </a:prstGeom>
          <a:noFill/>
        </p:spPr>
        <p:txBody>
          <a:bodyPr wrap="square" anchor="ctr" lIns="45720" rIns="45720" tIns="27432" bIns="27432">
            <a:spAutoFit/>
          </a:bodyPr>
          <a:lstStyle/>
          <a:p>
            <a:pPr algn="ctr"/>
            <a:r>
              <a:rPr sz="1500" b="1" i="0">
                <a:solidFill>
                  <a:srgbClr val="FFFFFF"/>
                </a:solidFill>
                <a:latin typeface="Segoe UI"/>
                <a:ea typeface="Segoe UI"/>
                <a:cs typeface="Segoe UI"/>
              </a:rPr>
              <a:t>Grid</a:t>
            </a:r>
          </a:p>
        </p:txBody>
      </p:sp>
      <p:sp>
        <p:nvSpPr>
          <p:cNvPr id="17" name="TextBox 16"/>
          <p:cNvSpPr txBox="1"/>
          <p:nvPr/>
        </p:nvSpPr>
        <p:spPr>
          <a:xfrm>
            <a:off x="4453128" y="2446020"/>
            <a:ext cx="1431036" cy="768096"/>
          </a:xfrm>
          <a:prstGeom prst="rect">
            <a:avLst/>
          </a:prstGeom>
          <a:noFill/>
        </p:spPr>
        <p:txBody>
          <a:bodyPr wrap="square" anchor="t" lIns="45720" rIns="45720" tIns="27432" bIns="27432">
            <a:spAutoFit/>
          </a:bodyPr>
          <a:lstStyle/>
          <a:p>
            <a:pPr algn="ctr"/>
            <a:r>
              <a:rPr sz="1200" b="0" i="0">
                <a:solidFill>
                  <a:srgbClr val="E3ECF5"/>
                </a:solidFill>
                <a:latin typeface="Segoe UI"/>
                <a:ea typeface="Segoe UI"/>
                <a:cs typeface="Segoe UI"/>
              </a:rPr>
              <a:t>danh sách</a:t>
            </a:r>
          </a:p>
        </p:txBody>
      </p:sp>
      <p:sp>
        <p:nvSpPr>
          <p:cNvPr id="18" name="Right Arrow 17"/>
          <p:cNvSpPr/>
          <p:nvPr/>
        </p:nvSpPr>
        <p:spPr>
          <a:xfrm>
            <a:off x="5993892" y="232714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49924" y="1645920"/>
            <a:ext cx="1577339" cy="160020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3076" y="1737360"/>
            <a:ext cx="1431036" cy="720090"/>
          </a:xfrm>
          <a:prstGeom prst="rect">
            <a:avLst/>
          </a:prstGeom>
          <a:noFill/>
        </p:spPr>
        <p:txBody>
          <a:bodyPr wrap="square" anchor="ctr" lIns="45720" rIns="45720" tIns="27432" bIns="27432">
            <a:spAutoFit/>
          </a:bodyPr>
          <a:lstStyle/>
          <a:p>
            <a:pPr algn="ctr"/>
            <a:r>
              <a:rPr sz="1500" b="1" i="0">
                <a:solidFill>
                  <a:srgbClr val="FFFFFF"/>
                </a:solidFill>
                <a:latin typeface="Segoe UI"/>
                <a:ea typeface="Segoe UI"/>
                <a:cs typeface="Segoe UI"/>
              </a:rPr>
              <a:t>Dir</a:t>
            </a:r>
          </a:p>
        </p:txBody>
      </p:sp>
      <p:sp>
        <p:nvSpPr>
          <p:cNvPr id="21" name="TextBox 20"/>
          <p:cNvSpPr txBox="1"/>
          <p:nvPr/>
        </p:nvSpPr>
        <p:spPr>
          <a:xfrm>
            <a:off x="6323076" y="2446020"/>
            <a:ext cx="1431036" cy="768096"/>
          </a:xfrm>
          <a:prstGeom prst="rect">
            <a:avLst/>
          </a:prstGeom>
          <a:noFill/>
        </p:spPr>
        <p:txBody>
          <a:bodyPr wrap="square" anchor="t" lIns="45720" rIns="45720" tIns="27432" bIns="27432">
            <a:spAutoFit/>
          </a:bodyPr>
          <a:lstStyle/>
          <a:p>
            <a:pPr algn="ctr"/>
            <a:r>
              <a:rPr sz="1200" b="0" i="0">
                <a:solidFill>
                  <a:srgbClr val="E3ECF5"/>
                </a:solidFill>
                <a:latin typeface="Segoe UI"/>
                <a:ea typeface="Segoe UI"/>
                <a:cs typeface="Segoe UI"/>
              </a:rPr>
              <a:t>form thêm / sửa</a:t>
            </a:r>
          </a:p>
        </p:txBody>
      </p:sp>
      <p:sp>
        <p:nvSpPr>
          <p:cNvPr id="22" name="Right Arrow 21"/>
          <p:cNvSpPr/>
          <p:nvPr/>
        </p:nvSpPr>
        <p:spPr>
          <a:xfrm>
            <a:off x="7863840" y="232714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19871" y="1645920"/>
            <a:ext cx="1577339" cy="1600200"/>
          </a:xfrm>
          <a:prstGeom prst="roundRect">
            <a:avLst>
              <a:gd name="adj" fmla="val 1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93023" y="1737360"/>
            <a:ext cx="1431036" cy="720090"/>
          </a:xfrm>
          <a:prstGeom prst="rect">
            <a:avLst/>
          </a:prstGeom>
          <a:noFill/>
        </p:spPr>
        <p:txBody>
          <a:bodyPr wrap="square" anchor="ctr" lIns="45720" rIns="45720" tIns="27432" bIns="27432">
            <a:spAutoFit/>
          </a:bodyPr>
          <a:lstStyle/>
          <a:p>
            <a:pPr algn="ctr"/>
            <a:r>
              <a:rPr sz="1500" b="1" i="0">
                <a:solidFill>
                  <a:srgbClr val="FFFFFF"/>
                </a:solidFill>
                <a:latin typeface="Segoe UI"/>
                <a:ea typeface="Segoe UI"/>
                <a:cs typeface="Segoe UI"/>
              </a:rPr>
              <a:t>Lookup</a:t>
            </a:r>
          </a:p>
        </p:txBody>
      </p:sp>
      <p:sp>
        <p:nvSpPr>
          <p:cNvPr id="25" name="TextBox 24"/>
          <p:cNvSpPr txBox="1"/>
          <p:nvPr/>
        </p:nvSpPr>
        <p:spPr>
          <a:xfrm>
            <a:off x="8193023" y="2446020"/>
            <a:ext cx="1431036" cy="768096"/>
          </a:xfrm>
          <a:prstGeom prst="rect">
            <a:avLst/>
          </a:prstGeom>
          <a:noFill/>
        </p:spPr>
        <p:txBody>
          <a:bodyPr wrap="square" anchor="t" lIns="45720" rIns="45720" tIns="27432" bIns="27432">
            <a:spAutoFit/>
          </a:bodyPr>
          <a:lstStyle/>
          <a:p>
            <a:pPr algn="ctr"/>
            <a:r>
              <a:rPr sz="1200" b="0" i="0">
                <a:solidFill>
                  <a:srgbClr val="E3ECF5"/>
                </a:solidFill>
                <a:latin typeface="Segoe UI"/>
                <a:ea typeface="Segoe UI"/>
                <a:cs typeface="Segoe UI"/>
              </a:rPr>
              <a:t>tra cứu</a:t>
            </a:r>
          </a:p>
        </p:txBody>
      </p:sp>
      <p:sp>
        <p:nvSpPr>
          <p:cNvPr id="26" name="Right Arrow 25"/>
          <p:cNvSpPr/>
          <p:nvPr/>
        </p:nvSpPr>
        <p:spPr>
          <a:xfrm>
            <a:off x="9733787" y="2327148"/>
            <a:ext cx="219456" cy="237744"/>
          </a:xfrm>
          <a:prstGeom prst="rightArrow">
            <a:avLst/>
          </a:prstGeom>
          <a:solidFill>
            <a:srgbClr val="F2B7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989819" y="1645920"/>
            <a:ext cx="1577339" cy="1600200"/>
          </a:xfrm>
          <a:prstGeom prst="roundRect">
            <a:avLst>
              <a:gd name="adj" fmla="val 10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62972" y="1737360"/>
            <a:ext cx="1431036" cy="720090"/>
          </a:xfrm>
          <a:prstGeom prst="rect">
            <a:avLst/>
          </a:prstGeom>
          <a:noFill/>
        </p:spPr>
        <p:txBody>
          <a:bodyPr wrap="square" anchor="ctr" lIns="45720" rIns="45720" tIns="27432" bIns="27432">
            <a:spAutoFit/>
          </a:bodyPr>
          <a:lstStyle/>
          <a:p>
            <a:pPr algn="ctr"/>
            <a:r>
              <a:rPr sz="1500" b="1" i="0">
                <a:solidFill>
                  <a:srgbClr val="FFFFFF"/>
                </a:solidFill>
                <a:latin typeface="Segoe UI"/>
                <a:ea typeface="Segoe UI"/>
                <a:cs typeface="Segoe UI"/>
              </a:rPr>
              <a:t>Filter …Import</a:t>
            </a:r>
          </a:p>
        </p:txBody>
      </p:sp>
      <p:sp>
        <p:nvSpPr>
          <p:cNvPr id="29" name="TextBox 28"/>
          <p:cNvSpPr txBox="1"/>
          <p:nvPr/>
        </p:nvSpPr>
        <p:spPr>
          <a:xfrm>
            <a:off x="10062972" y="2446020"/>
            <a:ext cx="1431036" cy="768096"/>
          </a:xfrm>
          <a:prstGeom prst="rect">
            <a:avLst/>
          </a:prstGeom>
          <a:noFill/>
        </p:spPr>
        <p:txBody>
          <a:bodyPr wrap="square" anchor="t" lIns="45720" rIns="45720" tIns="27432" bIns="27432">
            <a:spAutoFit/>
          </a:bodyPr>
          <a:lstStyle/>
          <a:p>
            <a:pPr algn="ctr"/>
            <a:r>
              <a:rPr sz="1200" b="0" i="0">
                <a:solidFill>
                  <a:srgbClr val="E3ECF5"/>
                </a:solidFill>
                <a:latin typeface="Segoe UI"/>
                <a:ea typeface="Segoe UI"/>
                <a:cs typeface="Segoe UI"/>
              </a:rPr>
              <a:t>+ Templates\Upload</a:t>
            </a:r>
          </a:p>
        </p:txBody>
      </p:sp>
      <p:graphicFrame>
        <p:nvGraphicFramePr>
          <p:cNvPr id="30" name="Table 29"/>
          <p:cNvGraphicFramePr>
            <a:graphicFrameLocks noGrp="1"/>
          </p:cNvGraphicFramePr>
          <p:nvPr/>
        </p:nvGraphicFramePr>
        <p:xfrm>
          <a:off x="640080" y="3474720"/>
          <a:ext cx="10927080" cy="2560320"/>
        </p:xfrm>
        <a:graphic>
          <a:graphicData uri="http://schemas.openxmlformats.org/drawingml/2006/table">
            <a:tbl>
              <a:tblPr firstRow="1" bandRow="1">
                <a:tableStyleId>{5940675A-B579-460E-94D1-54222C63F5DA}</a:tableStyleId>
              </a:tblPr>
              <a:tblGrid>
                <a:gridCol w="4937760"/>
                <a:gridCol w="5989320"/>
              </a:tblGrid>
              <a:tr h="365760">
                <a:tc>
                  <a:txBody>
                    <a:bodyPr wrap="square"/>
                    <a:lstStyle/>
                    <a:p>
                      <a:r>
                        <a:rPr sz="1400" b="1" i="0">
                          <a:solidFill>
                            <a:srgbClr val="FFFFFF"/>
                          </a:solidFill>
                          <a:latin typeface="Segoe UI"/>
                          <a:ea typeface="Segoe UI"/>
                          <a:cs typeface="Segoe UI"/>
                        </a:rPr>
                        <a:t>Thẻ / thuộc tính</a:t>
                      </a:r>
                    </a:p>
                  </a:txBody>
                  <a:tcPr marL="73152" marR="73152" marT="36576" marB="36576" anchor="ctr">
                    <a:solidFill>
                      <a:srgbClr val="1F4E79"/>
                    </a:solidFill>
                  </a:tcPr>
                </a:tc>
                <a:tc>
                  <a:txBody>
                    <a:bodyPr wrap="square"/>
                    <a:lstStyle/>
                    <a:p>
                      <a:r>
                        <a:rPr sz="1400" b="1" i="0">
                          <a:solidFill>
                            <a:srgbClr val="FFFFFF"/>
                          </a:solidFill>
                          <a:latin typeface="Segoe UI"/>
                          <a:ea typeface="Segoe UI"/>
                          <a:cs typeface="Segoe UI"/>
                        </a:rPr>
                        <a:t>Ý nghĩa</a:t>
                      </a:r>
                    </a:p>
                  </a:txBody>
                  <a:tcPr marL="73152" marR="73152" marT="36576" marB="36576" anchor="ctr">
                    <a:solidFill>
                      <a:srgbClr val="1F4E79"/>
                    </a:solidFill>
                  </a:tcPr>
                </a:tc>
              </a:tr>
              <a:tr h="365760">
                <a:tc>
                  <a:txBody>
                    <a:bodyPr wrap="square"/>
                    <a:lstStyle/>
                    <a:p>
                      <a:r>
                        <a:rPr sz="1300" b="0" i="0">
                          <a:solidFill>
                            <a:srgbClr val="B02A2A"/>
                          </a:solidFill>
                          <a:latin typeface="Consolas"/>
                          <a:ea typeface="Consolas"/>
                          <a:cs typeface="Consolas"/>
                        </a:rPr>
                        <a:t>&lt;dir table code order&gt;</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Bảng, cột khoá, sắp xếp mặc định</a:t>
                      </a:r>
                    </a:p>
                  </a:txBody>
                  <a:tcPr marL="73152" marR="73152" marT="36576" marB="36576" anchor="ctr">
                    <a:solidFill>
                      <a:srgbClr val="FFFFFF"/>
                    </a:solidFill>
                  </a:tcPr>
                </a:tc>
              </a:tr>
              <a:tr h="365760">
                <a:tc>
                  <a:txBody>
                    <a:bodyPr wrap="square"/>
                    <a:lstStyle/>
                    <a:p>
                      <a:r>
                        <a:rPr sz="1300" b="0" i="0">
                          <a:solidFill>
                            <a:srgbClr val="B02A2A"/>
                          </a:solidFill>
                          <a:latin typeface="Consolas"/>
                          <a:ea typeface="Consolas"/>
                          <a:cs typeface="Consolas"/>
                        </a:rPr>
                        <a:t>isPrimaryKey</a:t>
                      </a:r>
                      <a:r>
                        <a:rPr sz="1400" b="0" i="0">
                          <a:solidFill>
                            <a:srgbClr val="263238"/>
                          </a:solidFill>
                          <a:latin typeface="Segoe UI"/>
                          <a:ea typeface="Segoe UI"/>
                          <a:cs typeface="Segoe UI"/>
                        </a:rPr>
                        <a:t> · </a:t>
                      </a:r>
                      <a:r>
                        <a:rPr sz="1300" b="0" i="0">
                          <a:solidFill>
                            <a:srgbClr val="B02A2A"/>
                          </a:solidFill>
                          <a:latin typeface="Consolas"/>
                          <a:ea typeface="Consolas"/>
                          <a:cs typeface="Consolas"/>
                        </a:rPr>
                        <a:t>allowNulls="false"</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Là khoá · bắt buộc nhập</a:t>
                      </a:r>
                    </a:p>
                  </a:txBody>
                  <a:tcPr marL="73152" marR="73152" marT="36576" marB="36576" anchor="ctr">
                    <a:solidFill>
                      <a:srgbClr val="F4F7FB"/>
                    </a:solidFill>
                  </a:tcPr>
                </a:tc>
              </a:tr>
              <a:tr h="365760">
                <a:tc>
                  <a:txBody>
                    <a:bodyPr wrap="square"/>
                    <a:lstStyle/>
                    <a:p>
                      <a:r>
                        <a:rPr sz="1300" b="0" i="0">
                          <a:solidFill>
                            <a:srgbClr val="B02A2A"/>
                          </a:solidFill>
                          <a:latin typeface="Consolas"/>
                          <a:ea typeface="Consolas"/>
                          <a:cs typeface="Consolas"/>
                        </a:rPr>
                        <a:t>dataFormatString="@upperCaseFormat"</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Tự in hoa mã</a:t>
                      </a:r>
                    </a:p>
                  </a:txBody>
                  <a:tcPr marL="73152" marR="73152" marT="36576" marB="36576" anchor="ctr">
                    <a:solidFill>
                      <a:srgbClr val="FFFFFF"/>
                    </a:solidFill>
                  </a:tcPr>
                </a:tc>
              </a:tr>
              <a:tr h="365760">
                <a:tc>
                  <a:txBody>
                    <a:bodyPr wrap="square"/>
                    <a:lstStyle/>
                    <a:p>
                      <a:r>
                        <a:rPr sz="1300" b="0" i="0">
                          <a:solidFill>
                            <a:srgbClr val="B02A2A"/>
                          </a:solidFill>
                          <a:latin typeface="Consolas"/>
                          <a:ea typeface="Consolas"/>
                          <a:cs typeface="Consolas"/>
                        </a:rPr>
                        <a:t>header v / e</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Nhãn tiếng Việt / tiếng Anh</a:t>
                      </a:r>
                    </a:p>
                  </a:txBody>
                  <a:tcPr marL="73152" marR="73152" marT="36576" marB="36576" anchor="ctr">
                    <a:solidFill>
                      <a:srgbClr val="F4F7FB"/>
                    </a:solidFill>
                  </a:tcPr>
                </a:tc>
              </a:tr>
              <a:tr h="365760">
                <a:tc>
                  <a:txBody>
                    <a:bodyPr wrap="square"/>
                    <a:lstStyle/>
                    <a:p>
                      <a:r>
                        <a:rPr sz="1300" b="0" i="0">
                          <a:solidFill>
                            <a:srgbClr val="B02A2A"/>
                          </a:solidFill>
                          <a:latin typeface="Consolas"/>
                          <a:ea typeface="Consolas"/>
                          <a:cs typeface="Consolas"/>
                        </a:rPr>
                        <a:t>external</a:t>
                      </a:r>
                      <a:r>
                        <a:rPr sz="1400" b="0" i="0">
                          <a:solidFill>
                            <a:srgbClr val="263238"/>
                          </a:solidFill>
                          <a:latin typeface="Segoe UI"/>
                          <a:ea typeface="Segoe UI"/>
                          <a:cs typeface="Segoe UI"/>
                        </a:rPr>
                        <a:t> · </a:t>
                      </a:r>
                      <a:r>
                        <a:rPr sz="1300" b="0" i="0">
                          <a:solidFill>
                            <a:srgbClr val="B02A2A"/>
                          </a:solidFill>
                          <a:latin typeface="Consolas"/>
                          <a:ea typeface="Consolas"/>
                          <a:cs typeface="Consolas"/>
                        </a:rPr>
                        <a:t>readOnly</a:t>
                      </a:r>
                      <a:r>
                        <a:rPr sz="1400" b="0" i="0">
                          <a:solidFill>
                            <a:srgbClr val="263238"/>
                          </a:solidFill>
                          <a:latin typeface="Segoe UI"/>
                          <a:ea typeface="Segoe UI"/>
                          <a:cs typeface="Segoe UI"/>
                        </a:rPr>
                        <a:t> · </a:t>
                      </a:r>
                      <a:r>
                        <a:rPr sz="1300" b="0" i="0">
                          <a:solidFill>
                            <a:srgbClr val="B02A2A"/>
                          </a:solidFill>
                          <a:latin typeface="Consolas"/>
                          <a:ea typeface="Consolas"/>
                          <a:cs typeface="Consolas"/>
                        </a:rPr>
                        <a:t>hidden</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Không có trong bảng · chỉ đọc · ẩn</a:t>
                      </a:r>
                    </a:p>
                  </a:txBody>
                  <a:tcPr marL="73152" marR="73152" marT="36576" marB="36576" anchor="ctr">
                    <a:solidFill>
                      <a:srgbClr val="FFFFFF"/>
                    </a:solidFill>
                  </a:tcPr>
                </a:tc>
              </a:tr>
              <a:tr h="365760">
                <a:tc>
                  <a:txBody>
                    <a:bodyPr wrap="square"/>
                    <a:lstStyle/>
                    <a:p>
                      <a:r>
                        <a:rPr sz="1300" b="0" i="0">
                          <a:solidFill>
                            <a:srgbClr val="B02A2A"/>
                          </a:solidFill>
                          <a:latin typeface="Consolas"/>
                          <a:ea typeface="Consolas"/>
                          <a:cs typeface="Consolas"/>
                        </a:rPr>
                        <a:t>&lt;command event="Inserting"&gt;</a:t>
                      </a:r>
                      <a:r>
                        <a:rPr sz="1400" b="0" i="0">
                          <a:solidFill>
                            <a:srgbClr val="263238"/>
                          </a:solidFill>
                          <a:latin typeface="Segoe UI"/>
                          <a:ea typeface="Segoe UI"/>
                          <a:cs typeface="Segoe UI"/>
                        </a:rPr>
                        <a:t>…</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SQL kiểm tra / ghi theo sự kiện</a:t>
                      </a:r>
                    </a:p>
                  </a:txBody>
                  <a:tcPr marL="73152" marR="73152" marT="36576" marB="36576" anchor="ctr">
                    <a:solidFill>
                      <a:srgbClr val="F4F7FB"/>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Field tra cứu — AutoComplete</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5 · Thêm danh mục</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4</a:t>
            </a:r>
          </a:p>
        </p:txBody>
      </p:sp>
      <p:sp>
        <p:nvSpPr>
          <p:cNvPr id="7" name="Rounded Rectangle 6"/>
          <p:cNvSpPr/>
          <p:nvPr/>
        </p:nvSpPr>
        <p:spPr>
          <a:xfrm>
            <a:off x="640080" y="1600200"/>
            <a:ext cx="6949440" cy="4005072"/>
          </a:xfrm>
          <a:prstGeom prst="roundRect">
            <a:avLst>
              <a:gd name="adj" fmla="val 3000"/>
            </a:avLst>
          </a:prstGeom>
          <a:solidFill>
            <a:srgbClr val="1E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673352"/>
            <a:ext cx="6583679" cy="320040"/>
          </a:xfrm>
          <a:prstGeom prst="rect">
            <a:avLst/>
          </a:prstGeom>
          <a:noFill/>
        </p:spPr>
        <p:txBody>
          <a:bodyPr wrap="square" anchor="t" lIns="45720" rIns="45720" tIns="27432" bIns="27432">
            <a:spAutoFit/>
          </a:bodyPr>
          <a:lstStyle/>
          <a:p>
            <a:pPr algn="l"/>
            <a:r>
              <a:rPr sz="1100" b="1" i="0">
                <a:solidFill>
                  <a:srgbClr val="9AA8B8"/>
                </a:solidFill>
                <a:latin typeface="Segoe UI"/>
                <a:ea typeface="Segoe UI"/>
                <a:cs typeface="Segoe UI"/>
              </a:rPr>
              <a:t>Dir\Customer.f (FBO mẫu)</a:t>
            </a:r>
          </a:p>
        </p:txBody>
      </p:sp>
      <p:sp>
        <p:nvSpPr>
          <p:cNvPr id="9" name="TextBox 8"/>
          <p:cNvSpPr txBox="1"/>
          <p:nvPr/>
        </p:nvSpPr>
        <p:spPr>
          <a:xfrm>
            <a:off x="822959" y="1984248"/>
            <a:ext cx="6629400" cy="4187952"/>
          </a:xfrm>
          <a:prstGeom prst="rect">
            <a:avLst/>
          </a:prstGeom>
          <a:noFill/>
        </p:spPr>
        <p:txBody>
          <a:bodyPr wrap="none">
            <a:spAutoFit/>
          </a:bodyPr>
          <a:lstStyle/>
          <a:p>
            <a:pPr>
              <a:lnSpc>
                <a:spcPct val="100000"/>
              </a:lnSpc>
              <a:spcAft>
                <a:spcPts val="0"/>
              </a:spcAft>
            </a:pPr>
            <a:r>
              <a:rPr sz="1800" b="0" i="0">
                <a:solidFill>
                  <a:srgbClr val="E6E6E6"/>
                </a:solidFill>
                <a:latin typeface="Consolas"/>
                <a:ea typeface="Consolas"/>
                <a:cs typeface="Consolas"/>
              </a:rPr>
              <a:t>&lt;field name="tk"&gt;</a:t>
            </a:r>
          </a:p>
          <a:p>
            <a:pPr>
              <a:lnSpc>
                <a:spcPct val="100000"/>
              </a:lnSpc>
              <a:spcAft>
                <a:spcPts val="0"/>
              </a:spcAft>
            </a:pPr>
            <a:r>
              <a:rPr sz="1800" b="0" i="0">
                <a:solidFill>
                  <a:srgbClr val="E6E6E6"/>
                </a:solidFill>
                <a:latin typeface="Consolas"/>
                <a:ea typeface="Consolas"/>
                <a:cs typeface="Consolas"/>
              </a:rPr>
              <a:t>  &lt;header v="Tài khoản ngầm định"</a:t>
            </a:r>
          </a:p>
          <a:p>
            <a:pPr>
              <a:lnSpc>
                <a:spcPct val="100000"/>
              </a:lnSpc>
              <a:spcAft>
                <a:spcPts val="0"/>
              </a:spcAft>
            </a:pPr>
            <a:r>
              <a:rPr sz="1800" b="0" i="0">
                <a:solidFill>
                  <a:srgbClr val="E6E6E6"/>
                </a:solidFill>
                <a:latin typeface="Consolas"/>
                <a:ea typeface="Consolas"/>
                <a:cs typeface="Consolas"/>
              </a:rPr>
              <a:t>          e="Default Account"&gt;&lt;/header&gt;</a:t>
            </a:r>
          </a:p>
          <a:p>
            <a:pPr>
              <a:lnSpc>
                <a:spcPct val="100000"/>
              </a:lnSpc>
              <a:spcAft>
                <a:spcPts val="0"/>
              </a:spcAft>
            </a:pPr>
            <a:r>
              <a:rPr sz="1800" b="0" i="0">
                <a:solidFill>
                  <a:srgbClr val="E6E6E6"/>
                </a:solidFill>
                <a:latin typeface="Consolas"/>
                <a:ea typeface="Consolas"/>
                <a:cs typeface="Consolas"/>
              </a:rPr>
              <a:t>  &lt;items style="AutoComplete"</a:t>
            </a:r>
          </a:p>
          <a:p>
            <a:pPr>
              <a:lnSpc>
                <a:spcPct val="100000"/>
              </a:lnSpc>
              <a:spcAft>
                <a:spcPts val="0"/>
              </a:spcAft>
            </a:pPr>
            <a:r>
              <a:rPr sz="1800" b="0" i="0">
                <a:solidFill>
                  <a:srgbClr val="E6E6E6"/>
                </a:solidFill>
                <a:latin typeface="Consolas"/>
                <a:ea typeface="Consolas"/>
                <a:cs typeface="Consolas"/>
              </a:rPr>
              <a:t>         controller="Account"</a:t>
            </a:r>
          </a:p>
          <a:p>
            <a:pPr>
              <a:lnSpc>
                <a:spcPct val="100000"/>
              </a:lnSpc>
              <a:spcAft>
                <a:spcPts val="0"/>
              </a:spcAft>
            </a:pPr>
            <a:r>
              <a:rPr sz="1800" b="0" i="0">
                <a:solidFill>
                  <a:srgbClr val="E6E6E6"/>
                </a:solidFill>
                <a:latin typeface="Consolas"/>
                <a:ea typeface="Consolas"/>
                <a:cs typeface="Consolas"/>
              </a:rPr>
              <a:t>         reference="ten_tk%l"</a:t>
            </a:r>
          </a:p>
          <a:p>
            <a:pPr>
              <a:lnSpc>
                <a:spcPct val="100000"/>
              </a:lnSpc>
              <a:spcAft>
                <a:spcPts val="0"/>
              </a:spcAft>
            </a:pPr>
            <a:r>
              <a:rPr sz="1800" b="0" i="0">
                <a:solidFill>
                  <a:srgbClr val="E6E6E6"/>
                </a:solidFill>
                <a:latin typeface="Consolas"/>
                <a:ea typeface="Consolas"/>
                <a:cs typeface="Consolas"/>
              </a:rPr>
              <a:t>         key="loai_tk = 1 </a:t>
            </a:r>
            <a:r>
              <a:rPr sz="1800" b="1" i="0">
                <a:solidFill>
                  <a:srgbClr val="6CB6FF"/>
                </a:solidFill>
                <a:latin typeface="Consolas"/>
                <a:ea typeface="Consolas"/>
                <a:cs typeface="Consolas"/>
              </a:rPr>
              <a:t>and</a:t>
            </a:r>
            <a:r>
              <a:rPr sz="1800" b="0" i="0">
                <a:solidFill>
                  <a:srgbClr val="E6E6E6"/>
                </a:solidFill>
                <a:latin typeface="Consolas"/>
                <a:ea typeface="Consolas"/>
                <a:cs typeface="Consolas"/>
              </a:rPr>
              <a:t> status = '1'"</a:t>
            </a:r>
          </a:p>
          <a:p>
            <a:pPr>
              <a:lnSpc>
                <a:spcPct val="100000"/>
              </a:lnSpc>
              <a:spcAft>
                <a:spcPts val="0"/>
              </a:spcAft>
            </a:pPr>
            <a:r>
              <a:rPr sz="1800" b="0" i="0">
                <a:solidFill>
                  <a:srgbClr val="E6E6E6"/>
                </a:solidFill>
                <a:latin typeface="Consolas"/>
                <a:ea typeface="Consolas"/>
                <a:cs typeface="Consolas"/>
              </a:rPr>
              <a:t>         check="loai_tk = 1"</a:t>
            </a:r>
          </a:p>
          <a:p>
            <a:pPr>
              <a:lnSpc>
                <a:spcPct val="100000"/>
              </a:lnSpc>
              <a:spcAft>
                <a:spcPts val="0"/>
              </a:spcAft>
            </a:pPr>
            <a:r>
              <a:rPr sz="1800" b="0" i="0">
                <a:solidFill>
                  <a:srgbClr val="E6E6E6"/>
                </a:solidFill>
                <a:latin typeface="Consolas"/>
                <a:ea typeface="Consolas"/>
                <a:cs typeface="Consolas"/>
              </a:rPr>
              <a:t>         information="tk$dmtk.ten_tk%l"/&gt;</a:t>
            </a:r>
          </a:p>
          <a:p>
            <a:pPr>
              <a:lnSpc>
                <a:spcPct val="100000"/>
              </a:lnSpc>
              <a:spcAft>
                <a:spcPts val="0"/>
              </a:spcAft>
            </a:pPr>
            <a:r>
              <a:rPr sz="1800" b="0" i="0">
                <a:solidFill>
                  <a:srgbClr val="E6E6E6"/>
                </a:solidFill>
                <a:latin typeface="Consolas"/>
                <a:ea typeface="Consolas"/>
                <a:cs typeface="Consolas"/>
              </a:rPr>
              <a:t>&lt;/field&gt;</a:t>
            </a:r>
          </a:p>
          <a:p>
            <a:pPr>
              <a:lnSpc>
                <a:spcPct val="100000"/>
              </a:lnSpc>
              <a:spcAft>
                <a:spcPts val="0"/>
              </a:spcAft>
            </a:pPr>
            <a:r>
              <a:rPr sz="1800" b="0" i="0">
                <a:solidFill>
                  <a:srgbClr val="E6E6E6"/>
                </a:solidFill>
                <a:latin typeface="Consolas"/>
                <a:ea typeface="Consolas"/>
                <a:cs typeface="Consolas"/>
              </a:rPr>
              <a:t>&lt;field name="ten_tk%l" readOnly="true"</a:t>
            </a:r>
          </a:p>
          <a:p>
            <a:pPr>
              <a:lnSpc>
                <a:spcPct val="100000"/>
              </a:lnSpc>
              <a:spcAft>
                <a:spcPts val="0"/>
              </a:spcAft>
            </a:pPr>
            <a:r>
              <a:rPr sz="1800" b="0" i="0">
                <a:solidFill>
                  <a:srgbClr val="E6E6E6"/>
                </a:solidFill>
                <a:latin typeface="Consolas"/>
                <a:ea typeface="Consolas"/>
                <a:cs typeface="Consolas"/>
              </a:rPr>
              <a:t>       external="true" defaultValue="''"&gt;</a:t>
            </a:r>
          </a:p>
        </p:txBody>
      </p:sp>
      <p:sp>
        <p:nvSpPr>
          <p:cNvPr id="10" name="TextBox 9"/>
          <p:cNvSpPr txBox="1"/>
          <p:nvPr/>
        </p:nvSpPr>
        <p:spPr>
          <a:xfrm>
            <a:off x="7863840" y="1600200"/>
            <a:ext cx="3749039" cy="4663440"/>
          </a:xfrm>
          <a:prstGeom prst="rect">
            <a:avLst/>
          </a:prstGeom>
          <a:noFill/>
        </p:spPr>
        <p:txBody>
          <a:bodyPr wrap="square">
            <a:spAutoFit/>
          </a:bodyPr>
          <a:lstStyle/>
          <a:p>
            <a:pPr>
              <a:spcAft>
                <a:spcPts val="1000"/>
              </a:spcAft>
            </a:pPr>
            <a:r>
              <a:rPr sz="1600" b="1" i="0">
                <a:solidFill>
                  <a:srgbClr val="F2B705"/>
                </a:solidFill>
                <a:latin typeface="Segoe UI"/>
                <a:ea typeface="Segoe UI"/>
                <a:cs typeface="Segoe UI"/>
              </a:rPr>
              <a:t>▪  </a:t>
            </a:r>
            <a:r>
              <a:rPr sz="1500" b="0" i="0">
                <a:solidFill>
                  <a:srgbClr val="B02A2A"/>
                </a:solidFill>
                <a:latin typeface="Consolas"/>
                <a:ea typeface="Consolas"/>
                <a:cs typeface="Consolas"/>
              </a:rPr>
              <a:t>controller</a:t>
            </a:r>
            <a:r>
              <a:rPr sz="1600" b="0" i="0">
                <a:solidFill>
                  <a:srgbClr val="263238"/>
                </a:solidFill>
                <a:latin typeface="Segoe UI"/>
                <a:ea typeface="Segoe UI"/>
                <a:cs typeface="Segoe UI"/>
              </a:rPr>
              <a:t> — Lookup dùng để tra</a:t>
            </a:r>
          </a:p>
          <a:p>
            <a:pPr>
              <a:spcAft>
                <a:spcPts val="1000"/>
              </a:spcAft>
            </a:pPr>
            <a:r>
              <a:rPr sz="1600" b="1" i="0">
                <a:solidFill>
                  <a:srgbClr val="F2B705"/>
                </a:solidFill>
                <a:latin typeface="Segoe UI"/>
                <a:ea typeface="Segoe UI"/>
                <a:cs typeface="Segoe UI"/>
              </a:rPr>
              <a:t>▪  </a:t>
            </a:r>
            <a:r>
              <a:rPr sz="1500" b="0" i="0">
                <a:solidFill>
                  <a:srgbClr val="B02A2A"/>
                </a:solidFill>
                <a:latin typeface="Consolas"/>
                <a:ea typeface="Consolas"/>
                <a:cs typeface="Consolas"/>
              </a:rPr>
              <a:t>reference</a:t>
            </a:r>
            <a:r>
              <a:rPr sz="1600" b="0" i="0">
                <a:solidFill>
                  <a:srgbClr val="263238"/>
                </a:solidFill>
                <a:latin typeface="Segoe UI"/>
                <a:ea typeface="Segoe UI"/>
                <a:cs typeface="Segoe UI"/>
              </a:rPr>
              <a:t> — ô nhận tên</a:t>
            </a:r>
          </a:p>
          <a:p>
            <a:pPr>
              <a:spcAft>
                <a:spcPts val="1000"/>
              </a:spcAft>
            </a:pPr>
            <a:r>
              <a:rPr sz="1600" b="1" i="0">
                <a:solidFill>
                  <a:srgbClr val="F2B705"/>
                </a:solidFill>
                <a:latin typeface="Segoe UI"/>
                <a:ea typeface="Segoe UI"/>
                <a:cs typeface="Segoe UI"/>
              </a:rPr>
              <a:t>▪  </a:t>
            </a:r>
            <a:r>
              <a:rPr sz="1500" b="0" i="0">
                <a:solidFill>
                  <a:srgbClr val="B02A2A"/>
                </a:solidFill>
                <a:latin typeface="Consolas"/>
                <a:ea typeface="Consolas"/>
                <a:cs typeface="Consolas"/>
              </a:rPr>
              <a:t>key</a:t>
            </a:r>
            <a:r>
              <a:rPr sz="1600" b="0" i="0">
                <a:solidFill>
                  <a:srgbClr val="263238"/>
                </a:solidFill>
                <a:latin typeface="Segoe UI"/>
                <a:ea typeface="Segoe UI"/>
                <a:cs typeface="Segoe UI"/>
              </a:rPr>
              <a:t> — lọc gợi ý</a:t>
            </a:r>
          </a:p>
          <a:p>
            <a:pPr>
              <a:spcAft>
                <a:spcPts val="1000"/>
              </a:spcAft>
            </a:pPr>
            <a:r>
              <a:rPr sz="1600" b="1" i="0">
                <a:solidFill>
                  <a:srgbClr val="F2B705"/>
                </a:solidFill>
                <a:latin typeface="Segoe UI"/>
                <a:ea typeface="Segoe UI"/>
                <a:cs typeface="Segoe UI"/>
              </a:rPr>
              <a:t>▪  </a:t>
            </a:r>
            <a:r>
              <a:rPr sz="1500" b="0" i="0">
                <a:solidFill>
                  <a:srgbClr val="B02A2A"/>
                </a:solidFill>
                <a:latin typeface="Consolas"/>
                <a:ea typeface="Consolas"/>
                <a:cs typeface="Consolas"/>
              </a:rPr>
              <a:t>check</a:t>
            </a:r>
            <a:r>
              <a:rPr sz="1600" b="0" i="0">
                <a:solidFill>
                  <a:srgbClr val="263238"/>
                </a:solidFill>
                <a:latin typeface="Segoe UI"/>
                <a:ea typeface="Segoe UI"/>
                <a:cs typeface="Segoe UI"/>
              </a:rPr>
              <a:t> — kiểm mã nhập tay</a:t>
            </a:r>
          </a:p>
          <a:p>
            <a:pPr>
              <a:spcAft>
                <a:spcPts val="1000"/>
              </a:spcAft>
            </a:pPr>
            <a:r>
              <a:rPr sz="1600" b="1" i="0">
                <a:solidFill>
                  <a:srgbClr val="F2B705"/>
                </a:solidFill>
                <a:latin typeface="Segoe UI"/>
                <a:ea typeface="Segoe UI"/>
                <a:cs typeface="Segoe UI"/>
              </a:rPr>
              <a:t>▪  </a:t>
            </a:r>
            <a:r>
              <a:rPr sz="1500" b="0" i="0">
                <a:solidFill>
                  <a:srgbClr val="B02A2A"/>
                </a:solidFill>
                <a:latin typeface="Consolas"/>
                <a:ea typeface="Consolas"/>
                <a:cs typeface="Consolas"/>
              </a:rPr>
              <a:t>information</a:t>
            </a:r>
            <a:r>
              <a:rPr sz="1600" b="0" i="0">
                <a:solidFill>
                  <a:srgbClr val="263238"/>
                </a:solidFill>
                <a:latin typeface="Segoe UI"/>
                <a:ea typeface="Segoe UI"/>
                <a:cs typeface="Segoe UI"/>
              </a:rPr>
              <a:t> — </a:t>
            </a:r>
            <a:r>
              <a:rPr sz="1500" b="0" i="0">
                <a:solidFill>
                  <a:srgbClr val="B02A2A"/>
                </a:solidFill>
                <a:latin typeface="Consolas"/>
                <a:ea typeface="Consolas"/>
                <a:cs typeface="Consolas"/>
              </a:rPr>
              <a:t>field$bảng.tên</a:t>
            </a:r>
          </a:p>
          <a:p>
            <a:pPr>
              <a:spcAft>
                <a:spcPts val="1000"/>
              </a:spcAft>
            </a:pPr>
            <a:r>
              <a:rPr sz="1600" b="1" i="0">
                <a:solidFill>
                  <a:srgbClr val="F2B705"/>
                </a:solidFill>
                <a:latin typeface="Segoe UI"/>
                <a:ea typeface="Segoe UI"/>
                <a:cs typeface="Segoe UI"/>
              </a:rPr>
              <a:t>▪  </a:t>
            </a:r>
            <a:r>
              <a:rPr sz="1500" b="0" i="0">
                <a:solidFill>
                  <a:srgbClr val="B02A2A"/>
                </a:solidFill>
                <a:latin typeface="Consolas"/>
                <a:ea typeface="Consolas"/>
                <a:cs typeface="Consolas"/>
              </a:rPr>
              <a:t>%l</a:t>
            </a:r>
            <a:r>
              <a:rPr sz="1600" b="0" i="0">
                <a:solidFill>
                  <a:srgbClr val="263238"/>
                </a:solidFill>
                <a:latin typeface="Segoe UI"/>
                <a:ea typeface="Segoe UI"/>
                <a:cs typeface="Segoe UI"/>
              </a:rPr>
              <a:t> — tên theo ngôn ngữ</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Cột tra cứu </a:t>
            </a:r>
            <a:r>
              <a:rPr sz="1600" b="1" i="0">
                <a:solidFill>
                  <a:srgbClr val="1F4E79"/>
                </a:solidFill>
                <a:latin typeface="Segoe UI"/>
                <a:ea typeface="Segoe UI"/>
                <a:cs typeface="Segoe UI"/>
              </a:rPr>
              <a:t>cùng kiểu</a:t>
            </a:r>
            <a:r>
              <a:rPr sz="1600" b="0" i="0">
                <a:solidFill>
                  <a:srgbClr val="263238"/>
                </a:solidFill>
                <a:latin typeface="Segoe UI"/>
                <a:ea typeface="Segoe UI"/>
                <a:cs typeface="Segoe UI"/>
              </a:rPr>
              <a:t> cột mã nguồn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Tạo nhanh danh mục — 3 cách điền tự động</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5 · Thêm danh mục</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5</a:t>
            </a:r>
          </a:p>
        </p:txBody>
      </p:sp>
      <p:sp>
        <p:nvSpPr>
          <p:cNvPr id="7" name="Rounded Rectangle 6"/>
          <p:cNvSpPr/>
          <p:nvPr/>
        </p:nvSpPr>
        <p:spPr>
          <a:xfrm>
            <a:off x="640080" y="1645920"/>
            <a:ext cx="3459480" cy="3794760"/>
          </a:xfrm>
          <a:prstGeom prst="roundRect">
            <a:avLst>
              <a:gd name="adj" fmla="val 5000"/>
            </a:avLst>
          </a:prstGeom>
          <a:solidFill>
            <a:srgbClr val="FFFFFF"/>
          </a:solidFill>
          <a:ln w="1587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45920"/>
            <a:ext cx="3459480"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874519"/>
            <a:ext cx="3093720" cy="822960"/>
          </a:xfrm>
          <a:prstGeom prst="rect">
            <a:avLst/>
          </a:prstGeom>
          <a:noFill/>
        </p:spPr>
        <p:txBody>
          <a:bodyPr wrap="square" anchor="t" lIns="45720" rIns="45720" tIns="27432" bIns="27432">
            <a:spAutoFit/>
          </a:bodyPr>
          <a:lstStyle/>
          <a:p>
            <a:pPr algn="l"/>
            <a:r>
              <a:rPr sz="2000" b="1" i="0">
                <a:solidFill>
                  <a:srgbClr val="1F4E79"/>
                </a:solidFill>
                <a:latin typeface="Segoe UI"/>
                <a:ea typeface="Segoe UI"/>
                <a:cs typeface="Segoe UI"/>
              </a:rPr>
              <a:t>⚙ Theo luật Fast</a:t>
            </a:r>
          </a:p>
        </p:txBody>
      </p:sp>
      <p:sp>
        <p:nvSpPr>
          <p:cNvPr id="10" name="TextBox 9"/>
          <p:cNvSpPr txBox="1"/>
          <p:nvPr/>
        </p:nvSpPr>
        <p:spPr>
          <a:xfrm>
            <a:off x="777240" y="2606040"/>
            <a:ext cx="3185160" cy="2743200"/>
          </a:xfrm>
          <a:prstGeom prst="rect">
            <a:avLst/>
          </a:prstGeom>
          <a:noFill/>
        </p:spPr>
        <p:txBody>
          <a:bodyPr wrap="square">
            <a:spAutoFit/>
          </a:bodyPr>
          <a:lstStyle/>
          <a:p>
            <a:pPr>
              <a:spcAft>
                <a:spcPts val="1000"/>
              </a:spcAft>
            </a:pPr>
            <a:r>
              <a:rPr sz="1600" b="1" i="0">
                <a:solidFill>
                  <a:srgbClr val="F2B705"/>
                </a:solidFill>
                <a:latin typeface="Segoe UI"/>
                <a:ea typeface="Segoe UI"/>
                <a:cs typeface="Segoe UI"/>
              </a:rPr>
              <a:t>▪  </a:t>
            </a:r>
            <a:r>
              <a:rPr sz="1500" b="0" i="0">
                <a:solidFill>
                  <a:srgbClr val="B02A2A"/>
                </a:solidFill>
                <a:latin typeface="Consolas"/>
                <a:ea typeface="Consolas"/>
                <a:cs typeface="Consolas"/>
              </a:rPr>
              <a:t>Ctrl+Alt+Shift+F</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Đọc yêu cầu theo luật, điền ngay</a:t>
            </a:r>
          </a:p>
          <a:p>
            <a:pPr>
              <a:spcAft>
                <a:spcPts val="1000"/>
              </a:spcAft>
            </a:pPr>
            <a:r>
              <a:rPr sz="1600" b="1" i="0">
                <a:solidFill>
                  <a:srgbClr val="F2B705"/>
                </a:solidFill>
                <a:latin typeface="Segoe UI"/>
                <a:ea typeface="Segoe UI"/>
                <a:cs typeface="Segoe UI"/>
              </a:rPr>
              <a:t>▪  </a:t>
            </a:r>
            <a:r>
              <a:rPr sz="1600" b="1" i="0">
                <a:solidFill>
                  <a:srgbClr val="1F4E79"/>
                </a:solidFill>
                <a:latin typeface="Segoe UI"/>
                <a:ea typeface="Segoe UI"/>
                <a:cs typeface="Segoe UI"/>
              </a:rPr>
              <a:t>Không</a:t>
            </a:r>
            <a:r>
              <a:rPr sz="1600" b="0" i="0">
                <a:solidFill>
                  <a:srgbClr val="263238"/>
                </a:solidFill>
                <a:latin typeface="Segoe UI"/>
                <a:ea typeface="Segoe UI"/>
                <a:cs typeface="Segoe UI"/>
              </a:rPr>
              <a:t> gọi AI, không tốn token</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Không cần API key</a:t>
            </a:r>
          </a:p>
        </p:txBody>
      </p:sp>
      <p:sp>
        <p:nvSpPr>
          <p:cNvPr id="11" name="Rounded Rectangle 10"/>
          <p:cNvSpPr/>
          <p:nvPr/>
        </p:nvSpPr>
        <p:spPr>
          <a:xfrm>
            <a:off x="4373880" y="1645920"/>
            <a:ext cx="3459480" cy="3794760"/>
          </a:xfrm>
          <a:prstGeom prst="roundRect">
            <a:avLst>
              <a:gd name="adj" fmla="val 5000"/>
            </a:avLst>
          </a:prstGeom>
          <a:solidFill>
            <a:srgbClr val="FFFFFF"/>
          </a:solidFill>
          <a:ln w="1587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73880" y="1645920"/>
            <a:ext cx="3459480" cy="109728"/>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6760" y="1874519"/>
            <a:ext cx="3093720" cy="822960"/>
          </a:xfrm>
          <a:prstGeom prst="rect">
            <a:avLst/>
          </a:prstGeom>
          <a:noFill/>
        </p:spPr>
        <p:txBody>
          <a:bodyPr wrap="square" anchor="t" lIns="45720" rIns="45720" tIns="27432" bIns="27432">
            <a:spAutoFit/>
          </a:bodyPr>
          <a:lstStyle/>
          <a:p>
            <a:pPr algn="l"/>
            <a:r>
              <a:rPr sz="2000" b="1" i="0">
                <a:solidFill>
                  <a:srgbClr val="2E75B6"/>
                </a:solidFill>
                <a:latin typeface="Segoe UI"/>
                <a:ea typeface="Segoe UI"/>
                <a:cs typeface="Segoe UI"/>
              </a:rPr>
              <a:t>🔎 AI phân tích</a:t>
            </a:r>
          </a:p>
        </p:txBody>
      </p:sp>
      <p:sp>
        <p:nvSpPr>
          <p:cNvPr id="14" name="TextBox 13"/>
          <p:cNvSpPr txBox="1"/>
          <p:nvPr/>
        </p:nvSpPr>
        <p:spPr>
          <a:xfrm>
            <a:off x="4511040" y="2606040"/>
            <a:ext cx="3185160" cy="2743200"/>
          </a:xfrm>
          <a:prstGeom prst="rect">
            <a:avLst/>
          </a:prstGeom>
          <a:noFill/>
        </p:spPr>
        <p:txBody>
          <a:bodyPr wrap="square">
            <a:spAutoFit/>
          </a:bodyPr>
          <a:lstStyle/>
          <a:p>
            <a:pPr>
              <a:spcAft>
                <a:spcPts val="1000"/>
              </a:spcAft>
            </a:pPr>
            <a:r>
              <a:rPr sz="1600" b="1" i="0">
                <a:solidFill>
                  <a:srgbClr val="F2B705"/>
                </a:solidFill>
                <a:latin typeface="Segoe UI"/>
                <a:ea typeface="Segoe UI"/>
                <a:cs typeface="Segoe UI"/>
              </a:rPr>
              <a:t>▪  </a:t>
            </a:r>
            <a:r>
              <a:rPr sz="1500" b="0" i="0">
                <a:solidFill>
                  <a:srgbClr val="B02A2A"/>
                </a:solidFill>
                <a:latin typeface="Consolas"/>
                <a:ea typeface="Consolas"/>
                <a:cs typeface="Consolas"/>
              </a:rPr>
              <a:t>Ctrl+Alt+Shift+I</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AI </a:t>
            </a:r>
            <a:r>
              <a:rPr sz="1600" b="1" i="0">
                <a:solidFill>
                  <a:srgbClr val="1F4E79"/>
                </a:solidFill>
                <a:latin typeface="Segoe UI"/>
                <a:ea typeface="Segoe UI"/>
                <a:cs typeface="Segoe UI"/>
              </a:rPr>
              <a:t>viết lại</a:t>
            </a:r>
            <a:r>
              <a:rPr sz="1600" b="0" i="0">
                <a:solidFill>
                  <a:srgbClr val="263238"/>
                </a:solidFill>
                <a:latin typeface="Segoe UI"/>
                <a:ea typeface="Segoe UI"/>
                <a:cs typeface="Segoe UI"/>
              </a:rPr>
              <a:t> yêu cầu theo mẫu chuẩn</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Bạn sửa / </a:t>
            </a:r>
            <a:r>
              <a:rPr sz="1600" b="1" i="0">
                <a:solidFill>
                  <a:srgbClr val="1F4E79"/>
                </a:solidFill>
                <a:latin typeface="Segoe UI"/>
                <a:ea typeface="Segoe UI"/>
                <a:cs typeface="Segoe UI"/>
              </a:rPr>
              <a:t>xác nhận</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Luật Fast tạo từ nội dung đó</a:t>
            </a:r>
          </a:p>
        </p:txBody>
      </p:sp>
      <p:sp>
        <p:nvSpPr>
          <p:cNvPr id="15" name="Rounded Rectangle 14"/>
          <p:cNvSpPr/>
          <p:nvPr/>
        </p:nvSpPr>
        <p:spPr>
          <a:xfrm>
            <a:off x="8107679" y="1645920"/>
            <a:ext cx="3459480" cy="3794760"/>
          </a:xfrm>
          <a:prstGeom prst="roundRect">
            <a:avLst>
              <a:gd name="adj" fmla="val 5000"/>
            </a:avLst>
          </a:prstGeom>
          <a:solidFill>
            <a:srgbClr val="FFFFFF"/>
          </a:solidFill>
          <a:ln w="1587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07679" y="1645920"/>
            <a:ext cx="3459480" cy="1097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59" y="1874519"/>
            <a:ext cx="3093720" cy="822960"/>
          </a:xfrm>
          <a:prstGeom prst="rect">
            <a:avLst/>
          </a:prstGeom>
          <a:noFill/>
        </p:spPr>
        <p:txBody>
          <a:bodyPr wrap="square" anchor="t" lIns="45720" rIns="45720" tIns="27432" bIns="27432">
            <a:spAutoFit/>
          </a:bodyPr>
          <a:lstStyle/>
          <a:p>
            <a:pPr algn="l"/>
            <a:r>
              <a:rPr sz="2000" b="1" i="0">
                <a:solidFill>
                  <a:srgbClr val="8E44AD"/>
                </a:solidFill>
                <a:latin typeface="Segoe UI"/>
                <a:ea typeface="Segoe UI"/>
                <a:cs typeface="Segoe UI"/>
              </a:rPr>
              <a:t>🤖 AI tạo danh mục</a:t>
            </a:r>
          </a:p>
        </p:txBody>
      </p:sp>
      <p:sp>
        <p:nvSpPr>
          <p:cNvPr id="18" name="TextBox 17"/>
          <p:cNvSpPr txBox="1"/>
          <p:nvPr/>
        </p:nvSpPr>
        <p:spPr>
          <a:xfrm>
            <a:off x="8244839" y="2606040"/>
            <a:ext cx="3185160" cy="2743200"/>
          </a:xfrm>
          <a:prstGeom prst="rect">
            <a:avLst/>
          </a:prstGeom>
          <a:noFill/>
        </p:spPr>
        <p:txBody>
          <a:bodyPr wrap="square">
            <a:spAutoFit/>
          </a:bodyPr>
          <a:lstStyle/>
          <a:p>
            <a:pPr>
              <a:spcAft>
                <a:spcPts val="1000"/>
              </a:spcAft>
            </a:pPr>
            <a:r>
              <a:rPr sz="1600" b="1" i="0">
                <a:solidFill>
                  <a:srgbClr val="F2B705"/>
                </a:solidFill>
                <a:latin typeface="Segoe UI"/>
                <a:ea typeface="Segoe UI"/>
                <a:cs typeface="Segoe UI"/>
              </a:rPr>
              <a:t>▪  </a:t>
            </a:r>
            <a:r>
              <a:rPr sz="1500" b="0" i="0">
                <a:solidFill>
                  <a:srgbClr val="B02A2A"/>
                </a:solidFill>
                <a:latin typeface="Consolas"/>
                <a:ea typeface="Consolas"/>
                <a:cs typeface="Consolas"/>
              </a:rPr>
              <a:t>Ctrl+Alt+I</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AI đọc yêu cầu + tên bảng / cột App Data</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Điền thẳng, hỏi lại điều chưa rõ</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Cần API key</a:t>
            </a:r>
          </a:p>
        </p:txBody>
      </p:sp>
      <p:sp>
        <p:nvSpPr>
          <p:cNvPr id="19" name="Rounded Rectangle 18"/>
          <p:cNvSpPr/>
          <p:nvPr/>
        </p:nvSpPr>
        <p:spPr>
          <a:xfrm>
            <a:off x="640080" y="5623560"/>
            <a:ext cx="10927080" cy="640080"/>
          </a:xfrm>
          <a:prstGeom prst="roundRect">
            <a:avLst>
              <a:gd name="adj" fmla="val 8000"/>
            </a:avLst>
          </a:prstGeom>
          <a:solidFill>
            <a:srgbClr val="FFFFFF"/>
          </a:solidFill>
          <a:ln w="15875">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5623560"/>
            <a:ext cx="91440" cy="64008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5678424"/>
            <a:ext cx="10607040" cy="548640"/>
          </a:xfrm>
          <a:prstGeom prst="rect">
            <a:avLst/>
          </a:prstGeom>
          <a:noFill/>
        </p:spPr>
        <p:txBody>
          <a:bodyPr wrap="square" anchor="ctr" lIns="45720" rIns="45720" tIns="27432" bIns="27432">
            <a:spAutoFit/>
          </a:bodyPr>
          <a:lstStyle/>
          <a:p>
            <a:pPr algn="l"/>
            <a:r>
              <a:rPr sz="1400" b="1" i="0">
                <a:solidFill>
                  <a:srgbClr val="F2B705"/>
                </a:solidFill>
                <a:latin typeface="Segoe UI"/>
                <a:ea typeface="Segoe UI"/>
                <a:cs typeface="Segoe UI"/>
              </a:rPr>
              <a:t>Lưu ý:</a:t>
            </a:r>
            <a:r>
              <a:rPr sz="1400" b="0" i="0">
                <a:solidFill>
                  <a:srgbClr val="263238"/>
                </a:solidFill>
                <a:latin typeface="Segoe UI"/>
                <a:ea typeface="Segoe UI"/>
                <a:cs typeface="Segoe UI"/>
              </a:rPr>
              <a:t> Bảng mới: tab </a:t>
            </a:r>
            <a:r>
              <a:rPr sz="1400" b="1" i="0">
                <a:solidFill>
                  <a:srgbClr val="1F4E79"/>
                </a:solidFill>
                <a:latin typeface="Segoe UI"/>
                <a:ea typeface="Segoe UI"/>
                <a:cs typeface="Segoe UI"/>
              </a:rPr>
              <a:t>Script</a:t>
            </a:r>
            <a:r>
              <a:rPr sz="1400" b="0" i="0">
                <a:solidFill>
                  <a:srgbClr val="263238"/>
                </a:solidFill>
                <a:latin typeface="Segoe UI"/>
                <a:ea typeface="Segoe UI"/>
                <a:cs typeface="Segoe UI"/>
              </a:rPr>
              <a:t> có </a:t>
            </a:r>
            <a:r>
              <a:rPr sz="1300" b="0" i="0">
                <a:solidFill>
                  <a:srgbClr val="B02A2A"/>
                </a:solidFill>
                <a:latin typeface="Consolas"/>
                <a:ea typeface="Consolas"/>
                <a:cs typeface="Consolas"/>
              </a:rPr>
              <a:t>CREATE TABLE</a:t>
            </a:r>
            <a:r>
              <a:rPr sz="1400" b="0" i="0">
                <a:solidFill>
                  <a:srgbClr val="263238"/>
                </a:solidFill>
                <a:latin typeface="Segoe UI"/>
                <a:ea typeface="Segoe UI"/>
                <a:cs typeface="Segoe UI"/>
              </a:rPr>
              <a:t> — </a:t>
            </a:r>
            <a:r>
              <a:rPr sz="1400" b="1" i="0">
                <a:solidFill>
                  <a:srgbClr val="1F4E79"/>
                </a:solidFill>
                <a:latin typeface="Segoe UI"/>
                <a:ea typeface="Segoe UI"/>
                <a:cs typeface="Segoe UI"/>
              </a:rPr>
              <a:t>Bcode không tự chạy</a:t>
            </a:r>
            <a:r>
              <a:rPr sz="1400" b="0" i="0">
                <a:solidFill>
                  <a:srgbClr val="263238"/>
                </a:solidFill>
                <a:latin typeface="Segoe UI"/>
                <a:ea typeface="Segoe UI"/>
                <a:cs typeface="Segoe UI"/>
              </a:rPr>
              <a:t>, xem lại rồi chạy. Sau đó </a:t>
            </a:r>
            <a:r>
              <a:rPr sz="1400" b="1" i="0">
                <a:solidFill>
                  <a:srgbClr val="1F4E79"/>
                </a:solidFill>
                <a:latin typeface="Segoe UI"/>
                <a:ea typeface="Segoe UI"/>
                <a:cs typeface="Segoe UI"/>
              </a:rPr>
              <a:t>Xem XML → Tạo file → Tạo menu…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Mẫu câu yêu cầu · ⚡ Chuẩn Fast</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5 · Thêm danh mục</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6</a:t>
            </a:r>
          </a:p>
        </p:txBody>
      </p:sp>
      <p:sp>
        <p:nvSpPr>
          <p:cNvPr id="7" name="Rounded Rectangle 6"/>
          <p:cNvSpPr/>
          <p:nvPr/>
        </p:nvSpPr>
        <p:spPr>
          <a:xfrm>
            <a:off x="640080" y="1600200"/>
            <a:ext cx="6949440" cy="3447287"/>
          </a:xfrm>
          <a:prstGeom prst="roundRect">
            <a:avLst>
              <a:gd name="adj" fmla="val 3000"/>
            </a:avLst>
          </a:prstGeom>
          <a:solidFill>
            <a:srgbClr val="1E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673352"/>
            <a:ext cx="6583679" cy="320040"/>
          </a:xfrm>
          <a:prstGeom prst="rect">
            <a:avLst/>
          </a:prstGeom>
          <a:noFill/>
        </p:spPr>
        <p:txBody>
          <a:bodyPr wrap="square" anchor="t" lIns="45720" rIns="45720" tIns="27432" bIns="27432">
            <a:spAutoFit/>
          </a:bodyPr>
          <a:lstStyle/>
          <a:p>
            <a:pPr algn="l"/>
            <a:r>
              <a:rPr sz="1100" b="1" i="0">
                <a:solidFill>
                  <a:srgbClr val="9AA8B8"/>
                </a:solidFill>
                <a:latin typeface="Segoe UI"/>
                <a:ea typeface="Segoe UI"/>
                <a:cs typeface="Segoe UI"/>
              </a:rPr>
              <a:t>Request Content — mẫu luật Fast đọc chuẩn</a:t>
            </a:r>
          </a:p>
        </p:txBody>
      </p:sp>
      <p:sp>
        <p:nvSpPr>
          <p:cNvPr id="9" name="TextBox 8"/>
          <p:cNvSpPr txBox="1"/>
          <p:nvPr/>
        </p:nvSpPr>
        <p:spPr>
          <a:xfrm>
            <a:off x="822959" y="1984248"/>
            <a:ext cx="6629400" cy="4187952"/>
          </a:xfrm>
          <a:prstGeom prst="rect">
            <a:avLst/>
          </a:prstGeom>
          <a:noFill/>
        </p:spPr>
        <p:txBody>
          <a:bodyPr wrap="none">
            <a:spAutoFit/>
          </a:bodyPr>
          <a:lstStyle/>
          <a:p>
            <a:pPr>
              <a:lnSpc>
                <a:spcPct val="100000"/>
              </a:lnSpc>
              <a:spcAft>
                <a:spcPts val="0"/>
              </a:spcAft>
            </a:pPr>
            <a:r>
              <a:rPr sz="1800" b="0" i="0">
                <a:solidFill>
                  <a:srgbClr val="E6E6E6"/>
                </a:solidFill>
                <a:latin typeface="Consolas"/>
                <a:ea typeface="Consolas"/>
                <a:cs typeface="Consolas"/>
              </a:rPr>
              <a:t>Thêm danh mục mapping kho</a:t>
            </a:r>
          </a:p>
          <a:p>
            <a:pPr>
              <a:lnSpc>
                <a:spcPct val="100000"/>
              </a:lnSpc>
              <a:spcAft>
                <a:spcPts val="0"/>
              </a:spcAft>
            </a:pPr>
            <a:r>
              <a:rPr sz="1800" b="0" i="0">
                <a:solidFill>
                  <a:srgbClr val="E6E6E6"/>
                </a:solidFill>
                <a:latin typeface="Consolas"/>
                <a:ea typeface="Consolas"/>
                <a:cs typeface="Consolas"/>
              </a:rPr>
              <a:t>Gồm các trường:</a:t>
            </a:r>
          </a:p>
          <a:p>
            <a:pPr>
              <a:lnSpc>
                <a:spcPct val="100000"/>
              </a:lnSpc>
              <a:spcAft>
                <a:spcPts val="0"/>
              </a:spcAft>
            </a:pPr>
            <a:r>
              <a:rPr sz="1800" b="0" i="0">
                <a:solidFill>
                  <a:srgbClr val="E6E6E6"/>
                </a:solidFill>
                <a:latin typeface="Consolas"/>
                <a:ea typeface="Consolas"/>
                <a:cs typeface="Consolas"/>
              </a:rPr>
              <a:t>- Mã mapping kho: bắt buộc nhập</a:t>
            </a:r>
          </a:p>
          <a:p>
            <a:pPr>
              <a:lnSpc>
                <a:spcPct val="100000"/>
              </a:lnSpc>
              <a:spcAft>
                <a:spcPts val="0"/>
              </a:spcAft>
            </a:pPr>
            <a:r>
              <a:rPr sz="1800" b="0" i="0">
                <a:solidFill>
                  <a:srgbClr val="E6E6E6"/>
                </a:solidFill>
                <a:latin typeface="Consolas"/>
                <a:ea typeface="Consolas"/>
                <a:cs typeface="Consolas"/>
              </a:rPr>
              <a:t>- Tên mapping kho: bắt buộc nhập</a:t>
            </a:r>
          </a:p>
          <a:p>
            <a:pPr>
              <a:lnSpc>
                <a:spcPct val="100000"/>
              </a:lnSpc>
              <a:spcAft>
                <a:spcPts val="0"/>
              </a:spcAft>
            </a:pPr>
            <a:r>
              <a:rPr sz="1800" b="0" i="0">
                <a:solidFill>
                  <a:srgbClr val="E6E6E6"/>
                </a:solidFill>
                <a:latin typeface="Consolas"/>
                <a:ea typeface="Consolas"/>
                <a:cs typeface="Consolas"/>
              </a:rPr>
              <a:t>- Mã kho [ma_kho]: lookup từ danh mục kho,</a:t>
            </a:r>
          </a:p>
          <a:p>
            <a:pPr>
              <a:lnSpc>
                <a:spcPct val="100000"/>
              </a:lnSpc>
              <a:spcAft>
                <a:spcPts val="0"/>
              </a:spcAft>
            </a:pPr>
            <a:r>
              <a:rPr sz="1800" b="0" i="0">
                <a:solidFill>
                  <a:srgbClr val="E6E6E6"/>
                </a:solidFill>
                <a:latin typeface="Consolas"/>
                <a:ea typeface="Consolas"/>
                <a:cs typeface="Consolas"/>
              </a:rPr>
              <a:t>  bắt buộc nhập</a:t>
            </a:r>
          </a:p>
          <a:p>
            <a:pPr>
              <a:lnSpc>
                <a:spcPct val="100000"/>
              </a:lnSpc>
              <a:spcAft>
                <a:spcPts val="0"/>
              </a:spcAft>
            </a:pPr>
            <a:r>
              <a:rPr sz="1800" b="0" i="0">
                <a:solidFill>
                  <a:srgbClr val="E6E6E6"/>
                </a:solidFill>
                <a:latin typeface="Consolas"/>
                <a:ea typeface="Consolas"/>
                <a:cs typeface="Consolas"/>
              </a:rPr>
              <a:t>- Mã lô: lookup từ danh mục lô,</a:t>
            </a:r>
          </a:p>
          <a:p>
            <a:pPr>
              <a:lnSpc>
                <a:spcPct val="100000"/>
              </a:lnSpc>
              <a:spcAft>
                <a:spcPts val="0"/>
              </a:spcAft>
            </a:pPr>
            <a:r>
              <a:rPr sz="1800" b="0" i="0">
                <a:solidFill>
                  <a:srgbClr val="E6E6E6"/>
                </a:solidFill>
                <a:latin typeface="Consolas"/>
                <a:ea typeface="Consolas"/>
                <a:cs typeface="Consolas"/>
              </a:rPr>
              <a:t>  không bắt buộc nhập</a:t>
            </a:r>
          </a:p>
          <a:p>
            <a:pPr>
              <a:lnSpc>
                <a:spcPct val="100000"/>
              </a:lnSpc>
              <a:spcAft>
                <a:spcPts val="0"/>
              </a:spcAft>
            </a:pPr>
            <a:r>
              <a:rPr sz="1800" b="0" i="0">
                <a:solidFill>
                  <a:srgbClr val="E6E6E6"/>
                </a:solidFill>
                <a:latin typeface="Consolas"/>
                <a:ea typeface="Consolas"/>
                <a:cs typeface="Consolas"/>
              </a:rPr>
              <a:t>Chi tiết gồm: Mã vật tư [ma_vt], Số lượng</a:t>
            </a:r>
          </a:p>
          <a:p>
            <a:pPr>
              <a:lnSpc>
                <a:spcPct val="100000"/>
              </a:lnSpc>
              <a:spcAft>
                <a:spcPts val="0"/>
              </a:spcAft>
            </a:pPr>
            <a:r>
              <a:rPr sz="1800" b="0" i="0">
                <a:solidFill>
                  <a:srgbClr val="E6E6E6"/>
                </a:solidFill>
                <a:latin typeface="Consolas"/>
                <a:ea typeface="Consolas"/>
                <a:cs typeface="Consolas"/>
              </a:rPr>
              <a:t>Cho phép import Excel</a:t>
            </a:r>
          </a:p>
        </p:txBody>
      </p:sp>
      <p:sp>
        <p:nvSpPr>
          <p:cNvPr id="10" name="TextBox 9"/>
          <p:cNvSpPr txBox="1"/>
          <p:nvPr/>
        </p:nvSpPr>
        <p:spPr>
          <a:xfrm>
            <a:off x="7863840" y="1600200"/>
            <a:ext cx="3749039" cy="4663440"/>
          </a:xfrm>
          <a:prstGeom prst="rect">
            <a:avLst/>
          </a:prstGeom>
          <a:noFill/>
        </p:spPr>
        <p:txBody>
          <a:bodyPr wrap="square">
            <a:spAutoFit/>
          </a:bodyPr>
          <a:lstStyle/>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Mỗi dòng </a:t>
            </a:r>
            <a:r>
              <a:rPr sz="1400" b="0" i="0">
                <a:solidFill>
                  <a:srgbClr val="B02A2A"/>
                </a:solidFill>
                <a:latin typeface="Consolas"/>
                <a:ea typeface="Consolas"/>
                <a:cs typeface="Consolas"/>
              </a:rPr>
              <a:t>- </a:t>
            </a:r>
            <a:r>
              <a:rPr sz="1500" b="0" i="0">
                <a:solidFill>
                  <a:srgbClr val="263238"/>
                </a:solidFill>
                <a:latin typeface="Segoe UI"/>
                <a:ea typeface="Segoe UI"/>
                <a:cs typeface="Segoe UI"/>
              </a:rPr>
              <a:t> = một cột</a:t>
            </a:r>
          </a:p>
          <a:p>
            <a:pPr>
              <a:spcAft>
                <a:spcPts val="1000"/>
              </a:spcAft>
            </a:pPr>
            <a:r>
              <a:rPr sz="1500" b="1" i="0">
                <a:solidFill>
                  <a:srgbClr val="F2B705"/>
                </a:solidFill>
                <a:latin typeface="Segoe UI"/>
                <a:ea typeface="Segoe UI"/>
                <a:cs typeface="Segoe UI"/>
              </a:rPr>
              <a:t>▪  </a:t>
            </a:r>
            <a:r>
              <a:rPr sz="1400" b="0" i="0">
                <a:solidFill>
                  <a:srgbClr val="B02A2A"/>
                </a:solidFill>
                <a:latin typeface="Consolas"/>
                <a:ea typeface="Consolas"/>
                <a:cs typeface="Consolas"/>
              </a:rPr>
              <a:t>[field]</a:t>
            </a:r>
            <a:r>
              <a:rPr sz="1500" b="0" i="0">
                <a:solidFill>
                  <a:srgbClr val="263238"/>
                </a:solidFill>
                <a:latin typeface="Segoe UI"/>
                <a:ea typeface="Segoe UI"/>
                <a:cs typeface="Segoe UI"/>
              </a:rPr>
              <a:t> chốt tên field</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Tiền / SL → </a:t>
            </a:r>
            <a:r>
              <a:rPr sz="1400" b="0" i="0">
                <a:solidFill>
                  <a:srgbClr val="B02A2A"/>
                </a:solidFill>
                <a:latin typeface="Consolas"/>
                <a:ea typeface="Consolas"/>
                <a:cs typeface="Consolas"/>
              </a:rPr>
              <a:t>numeric(19,4)</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Tháng / năm → cột </a:t>
            </a:r>
            <a:r>
              <a:rPr sz="1500" b="1" i="0">
                <a:solidFill>
                  <a:srgbClr val="1F4E79"/>
                </a:solidFill>
                <a:latin typeface="Segoe UI"/>
                <a:ea typeface="Segoe UI"/>
                <a:cs typeface="Segoe UI"/>
              </a:rPr>
              <a:t>int</a:t>
            </a:r>
            <a:r>
              <a:rPr sz="1500" b="0" i="0">
                <a:solidFill>
                  <a:srgbClr val="263238"/>
                </a:solidFill>
                <a:latin typeface="Segoe UI"/>
                <a:ea typeface="Segoe UI"/>
                <a:cs typeface="Segoe UI"/>
              </a:rPr>
              <a:t> riêng</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Luật </a:t>
            </a:r>
            <a:r>
              <a:rPr sz="1500" b="1" i="0">
                <a:solidFill>
                  <a:srgbClr val="1F4E79"/>
                </a:solidFill>
                <a:latin typeface="Segoe UI"/>
                <a:ea typeface="Segoe UI"/>
                <a:cs typeface="Segoe UI"/>
              </a:rPr>
              <a:t>nhớ</a:t>
            </a:r>
            <a:r>
              <a:rPr sz="1500" b="0" i="0">
                <a:solidFill>
                  <a:srgbClr val="263238"/>
                </a:solidFill>
                <a:latin typeface="Segoe UI"/>
                <a:ea typeface="Segoe UI"/>
                <a:cs typeface="Segoe UI"/>
              </a:rPr>
              <a:t> field bạn sửa</a:t>
            </a:r>
          </a:p>
          <a:p>
            <a:pPr>
              <a:spcAft>
                <a:spcPts val="1000"/>
              </a:spcAft>
            </a:pPr>
            <a:r>
              <a:rPr sz="1500" b="1" i="0">
                <a:solidFill>
                  <a:srgbClr val="F2B705"/>
                </a:solidFill>
                <a:latin typeface="Segoe UI"/>
                <a:ea typeface="Segoe UI"/>
                <a:cs typeface="Segoe UI"/>
              </a:rPr>
              <a:t>▪  </a:t>
            </a:r>
            <a:r>
              <a:rPr sz="1500" b="1" i="0">
                <a:solidFill>
                  <a:srgbClr val="1F4E79"/>
                </a:solidFill>
                <a:latin typeface="Segoe UI"/>
                <a:ea typeface="Segoe UI"/>
                <a:cs typeface="Segoe UI"/>
              </a:rPr>
              <a:t>⚡ Chuẩn Fast</a:t>
            </a:r>
            <a:r>
              <a:rPr sz="1500" b="0" i="0">
                <a:solidFill>
                  <a:srgbClr val="263238"/>
                </a:solidFill>
                <a:latin typeface="Segoe UI"/>
                <a:ea typeface="Segoe UI"/>
                <a:cs typeface="Segoe UI"/>
              </a:rPr>
              <a:t>: thiếu cột hệ thống, sai kiểu lookup, thiếu tiêu đề 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Checklist danh mục mới</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5 · Thêm danh mục</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7</a:t>
            </a:r>
          </a:p>
        </p:txBody>
      </p:sp>
      <p:graphicFrame>
        <p:nvGraphicFramePr>
          <p:cNvPr id="7" name="Table 6"/>
          <p:cNvGraphicFramePr>
            <a:graphicFrameLocks noGrp="1"/>
          </p:cNvGraphicFramePr>
          <p:nvPr/>
        </p:nvGraphicFramePr>
        <p:xfrm>
          <a:off x="640080" y="1600200"/>
          <a:ext cx="10881360" cy="4023360"/>
        </p:xfrm>
        <a:graphic>
          <a:graphicData uri="http://schemas.openxmlformats.org/drawingml/2006/table">
            <a:tbl>
              <a:tblPr firstRow="1" bandRow="1">
                <a:tableStyleId>{5940675A-B579-460E-94D1-54222C63F5DA}</a:tableStyleId>
              </a:tblPr>
              <a:tblGrid>
                <a:gridCol w="640080"/>
                <a:gridCol w="10241280"/>
              </a:tblGrid>
              <a:tr h="502920">
                <a:tc>
                  <a:txBody>
                    <a:bodyPr wrap="square"/>
                    <a:lstStyle/>
                    <a:p>
                      <a:r>
                        <a:rPr sz="1600" b="1" i="0">
                          <a:solidFill>
                            <a:srgbClr val="FFFFFF"/>
                          </a:solidFill>
                          <a:latin typeface="Segoe UI"/>
                          <a:ea typeface="Segoe UI"/>
                          <a:cs typeface="Segoe UI"/>
                        </a:rPr>
                        <a:t>#</a:t>
                      </a:r>
                    </a:p>
                  </a:txBody>
                  <a:tcPr marL="73152" marR="73152" marT="36576" marB="36576" anchor="ctr">
                    <a:solidFill>
                      <a:srgbClr val="1F4E79"/>
                    </a:solidFill>
                  </a:tcPr>
                </a:tc>
                <a:tc>
                  <a:txBody>
                    <a:bodyPr wrap="square"/>
                    <a:lstStyle/>
                    <a:p>
                      <a:r>
                        <a:rPr sz="1600" b="1" i="0">
                          <a:solidFill>
                            <a:srgbClr val="FFFFFF"/>
                          </a:solidFill>
                          <a:latin typeface="Segoe UI"/>
                          <a:ea typeface="Segoe UI"/>
                          <a:cs typeface="Segoe UI"/>
                        </a:rPr>
                        <a:t>Kiểm tra</a:t>
                      </a:r>
                    </a:p>
                  </a:txBody>
                  <a:tcPr marL="73152" marR="73152" marT="36576" marB="36576" anchor="ctr">
                    <a:solidFill>
                      <a:srgbClr val="1F4E79"/>
                    </a:solidFill>
                  </a:tcPr>
                </a:tc>
              </a:tr>
              <a:tr h="502920">
                <a:tc>
                  <a:txBody>
                    <a:bodyPr wrap="square"/>
                    <a:lstStyle/>
                    <a:p>
                      <a:r>
                        <a:rPr sz="1600" b="0" i="0">
                          <a:solidFill>
                            <a:srgbClr val="263238"/>
                          </a:solidFill>
                          <a:latin typeface="Segoe UI"/>
                          <a:ea typeface="Segoe UI"/>
                          <a:cs typeface="Segoe UI"/>
                        </a:rPr>
                        <a:t>1</a:t>
                      </a:r>
                    </a:p>
                  </a:txBody>
                  <a:tcPr marL="73152" marR="73152" marT="36576" marB="36576" anchor="ctr">
                    <a:solidFill>
                      <a:srgbClr val="FFFFFF"/>
                    </a:solidFill>
                  </a:tcPr>
                </a:tc>
                <a:tc>
                  <a:txBody>
                    <a:bodyPr wrap="square"/>
                    <a:lstStyle/>
                    <a:p>
                      <a:r>
                        <a:rPr sz="1600" b="0" i="0">
                          <a:solidFill>
                            <a:srgbClr val="263238"/>
                          </a:solidFill>
                          <a:latin typeface="Segoe UI"/>
                          <a:ea typeface="Segoe UI"/>
                          <a:cs typeface="Segoe UI"/>
                        </a:rPr>
                        <a:t>Bảng đúng kiểu; có khoá chính, </a:t>
                      </a:r>
                      <a:r>
                        <a:rPr sz="1500" b="0" i="0">
                          <a:solidFill>
                            <a:srgbClr val="B02A2A"/>
                          </a:solidFill>
                          <a:latin typeface="Consolas"/>
                          <a:ea typeface="Consolas"/>
                          <a:cs typeface="Consolas"/>
                        </a:rPr>
                        <a:t>status</a:t>
                      </a:r>
                      <a:r>
                        <a:rPr sz="1600" b="0" i="0">
                          <a:solidFill>
                            <a:srgbClr val="263238"/>
                          </a:solidFill>
                          <a:latin typeface="Segoe UI"/>
                          <a:ea typeface="Segoe UI"/>
                          <a:cs typeface="Segoe UI"/>
                        </a:rPr>
                        <a:t>, </a:t>
                      </a:r>
                      <a:r>
                        <a:rPr sz="1500" b="0" i="0">
                          <a:solidFill>
                            <a:srgbClr val="B02A2A"/>
                          </a:solidFill>
                          <a:latin typeface="Consolas"/>
                          <a:ea typeface="Consolas"/>
                          <a:cs typeface="Consolas"/>
                        </a:rPr>
                        <a:t>datetime0/2</a:t>
                      </a:r>
                      <a:r>
                        <a:rPr sz="1600" b="0" i="0">
                          <a:solidFill>
                            <a:srgbClr val="263238"/>
                          </a:solidFill>
                          <a:latin typeface="Segoe UI"/>
                          <a:ea typeface="Segoe UI"/>
                          <a:cs typeface="Segoe UI"/>
                        </a:rPr>
                        <a:t>, </a:t>
                      </a:r>
                      <a:r>
                        <a:rPr sz="1500" b="0" i="0">
                          <a:solidFill>
                            <a:srgbClr val="B02A2A"/>
                          </a:solidFill>
                          <a:latin typeface="Consolas"/>
                          <a:ea typeface="Consolas"/>
                          <a:cs typeface="Consolas"/>
                        </a:rPr>
                        <a:t>user_id0/2</a:t>
                      </a:r>
                    </a:p>
                  </a:txBody>
                  <a:tcPr marL="73152" marR="73152" marT="36576" marB="36576" anchor="ctr">
                    <a:solidFill>
                      <a:srgbClr val="FFFFFF"/>
                    </a:solidFill>
                  </a:tcPr>
                </a:tc>
              </a:tr>
              <a:tr h="502920">
                <a:tc>
                  <a:txBody>
                    <a:bodyPr wrap="square"/>
                    <a:lstStyle/>
                    <a:p>
                      <a:r>
                        <a:rPr sz="1600" b="0" i="0">
                          <a:solidFill>
                            <a:srgbClr val="263238"/>
                          </a:solidFill>
                          <a:latin typeface="Segoe UI"/>
                          <a:ea typeface="Segoe UI"/>
                          <a:cs typeface="Segoe UI"/>
                        </a:rPr>
                        <a:t>2</a:t>
                      </a:r>
                    </a:p>
                  </a:txBody>
                  <a:tcPr marL="73152" marR="73152" marT="36576" marB="36576" anchor="ctr">
                    <a:solidFill>
                      <a:srgbClr val="F4F7FB"/>
                    </a:solidFill>
                  </a:tcPr>
                </a:tc>
                <a:tc>
                  <a:txBody>
                    <a:bodyPr wrap="square"/>
                    <a:lstStyle/>
                    <a:p>
                      <a:r>
                        <a:rPr sz="1600" b="0" i="0">
                          <a:solidFill>
                            <a:srgbClr val="263238"/>
                          </a:solidFill>
                          <a:latin typeface="Segoe UI"/>
                          <a:ea typeface="Segoe UI"/>
                          <a:cs typeface="Segoe UI"/>
                        </a:rPr>
                        <a:t>Cột tra cứu cùng kiểu / độ dài cột mã nguồn</a:t>
                      </a:r>
                    </a:p>
                  </a:txBody>
                  <a:tcPr marL="73152" marR="73152" marT="36576" marB="36576" anchor="ctr">
                    <a:solidFill>
                      <a:srgbClr val="F4F7FB"/>
                    </a:solidFill>
                  </a:tcPr>
                </a:tc>
              </a:tr>
              <a:tr h="502920">
                <a:tc>
                  <a:txBody>
                    <a:bodyPr wrap="square"/>
                    <a:lstStyle/>
                    <a:p>
                      <a:r>
                        <a:rPr sz="1600" b="0" i="0">
                          <a:solidFill>
                            <a:srgbClr val="263238"/>
                          </a:solidFill>
                          <a:latin typeface="Segoe UI"/>
                          <a:ea typeface="Segoe UI"/>
                          <a:cs typeface="Segoe UI"/>
                        </a:rPr>
                        <a:t>3</a:t>
                      </a:r>
                    </a:p>
                  </a:txBody>
                  <a:tcPr marL="73152" marR="73152" marT="36576" marB="36576" anchor="ctr">
                    <a:solidFill>
                      <a:srgbClr val="FFFFFF"/>
                    </a:solidFill>
                  </a:tcPr>
                </a:tc>
                <a:tc>
                  <a:txBody>
                    <a:bodyPr wrap="square"/>
                    <a:lstStyle/>
                    <a:p>
                      <a:r>
                        <a:rPr sz="1600" b="1" i="0">
                          <a:solidFill>
                            <a:srgbClr val="1F4E79"/>
                          </a:solidFill>
                          <a:latin typeface="Segoe UI"/>
                          <a:ea typeface="Segoe UI"/>
                          <a:cs typeface="Segoe UI"/>
                        </a:rPr>
                        <a:t>⚡ Chuẩn Fast</a:t>
                      </a:r>
                      <a:r>
                        <a:rPr sz="1600" b="0" i="0">
                          <a:solidFill>
                            <a:srgbClr val="263238"/>
                          </a:solidFill>
                          <a:latin typeface="Segoe UI"/>
                          <a:ea typeface="Segoe UI"/>
                          <a:cs typeface="Segoe UI"/>
                        </a:rPr>
                        <a:t> không còn mục dễ lỗi; </a:t>
                      </a:r>
                      <a:r>
                        <a:rPr sz="1600" b="1" i="0">
                          <a:solidFill>
                            <a:srgbClr val="1F4E79"/>
                          </a:solidFill>
                          <a:latin typeface="Segoe UI"/>
                          <a:ea typeface="Segoe UI"/>
                          <a:cs typeface="Segoe UI"/>
                        </a:rPr>
                        <a:t>Problems</a:t>
                      </a:r>
                      <a:r>
                        <a:rPr sz="1600" b="0" i="0">
                          <a:solidFill>
                            <a:srgbClr val="263238"/>
                          </a:solidFill>
                          <a:latin typeface="Segoe UI"/>
                          <a:ea typeface="Segoe UI"/>
                          <a:cs typeface="Segoe UI"/>
                        </a:rPr>
                        <a:t> của Viewer sạch</a:t>
                      </a:r>
                    </a:p>
                  </a:txBody>
                  <a:tcPr marL="73152" marR="73152" marT="36576" marB="36576" anchor="ctr">
                    <a:solidFill>
                      <a:srgbClr val="FFFFFF"/>
                    </a:solidFill>
                  </a:tcPr>
                </a:tc>
              </a:tr>
              <a:tr h="502920">
                <a:tc>
                  <a:txBody>
                    <a:bodyPr wrap="square"/>
                    <a:lstStyle/>
                    <a:p>
                      <a:r>
                        <a:rPr sz="1600" b="0" i="0">
                          <a:solidFill>
                            <a:srgbClr val="263238"/>
                          </a:solidFill>
                          <a:latin typeface="Segoe UI"/>
                          <a:ea typeface="Segoe UI"/>
                          <a:cs typeface="Segoe UI"/>
                        </a:rPr>
                        <a:t>4</a:t>
                      </a:r>
                    </a:p>
                  </a:txBody>
                  <a:tcPr marL="73152" marR="73152" marT="36576" marB="36576" anchor="ctr">
                    <a:solidFill>
                      <a:srgbClr val="F4F7FB"/>
                    </a:solidFill>
                  </a:tcPr>
                </a:tc>
                <a:tc>
                  <a:txBody>
                    <a:bodyPr wrap="square"/>
                    <a:lstStyle/>
                    <a:p>
                      <a:r>
                        <a:rPr sz="1600" b="0" i="0">
                          <a:solidFill>
                            <a:srgbClr val="263238"/>
                          </a:solidFill>
                          <a:latin typeface="Segoe UI"/>
                          <a:ea typeface="Segoe UI"/>
                          <a:cs typeface="Segoe UI"/>
                        </a:rPr>
                        <a:t>Thêm / sửa / xoá / tìm / tra cứu chạy được; mã trùng bị chặn</a:t>
                      </a:r>
                    </a:p>
                  </a:txBody>
                  <a:tcPr marL="73152" marR="73152" marT="36576" marB="36576" anchor="ctr">
                    <a:solidFill>
                      <a:srgbClr val="F4F7FB"/>
                    </a:solidFill>
                  </a:tcPr>
                </a:tc>
              </a:tr>
              <a:tr h="502920">
                <a:tc>
                  <a:txBody>
                    <a:bodyPr wrap="square"/>
                    <a:lstStyle/>
                    <a:p>
                      <a:r>
                        <a:rPr sz="1600" b="0" i="0">
                          <a:solidFill>
                            <a:srgbClr val="263238"/>
                          </a:solidFill>
                          <a:latin typeface="Segoe UI"/>
                          <a:ea typeface="Segoe UI"/>
                          <a:cs typeface="Segoe UI"/>
                        </a:rPr>
                        <a:t>5</a:t>
                      </a:r>
                    </a:p>
                  </a:txBody>
                  <a:tcPr marL="73152" marR="73152" marT="36576" marB="36576" anchor="ctr">
                    <a:solidFill>
                      <a:srgbClr val="FFFFFF"/>
                    </a:solidFill>
                  </a:tcPr>
                </a:tc>
                <a:tc>
                  <a:txBody>
                    <a:bodyPr wrap="square"/>
                    <a:lstStyle/>
                    <a:p>
                      <a:r>
                        <a:rPr sz="1600" b="0" i="0">
                          <a:solidFill>
                            <a:srgbClr val="263238"/>
                          </a:solidFill>
                          <a:latin typeface="Segoe UI"/>
                          <a:ea typeface="Segoe UI"/>
                          <a:cs typeface="Segoe UI"/>
                        </a:rPr>
                        <a:t>Tiêu đề tiếng Anh đủ (đăng nhập tiếng Anh xem thử)</a:t>
                      </a:r>
                    </a:p>
                  </a:txBody>
                  <a:tcPr marL="73152" marR="73152" marT="36576" marB="36576" anchor="ctr">
                    <a:solidFill>
                      <a:srgbClr val="FFFFFF"/>
                    </a:solidFill>
                  </a:tcPr>
                </a:tc>
              </a:tr>
              <a:tr h="502920">
                <a:tc>
                  <a:txBody>
                    <a:bodyPr wrap="square"/>
                    <a:lstStyle/>
                    <a:p>
                      <a:r>
                        <a:rPr sz="1600" b="0" i="0">
                          <a:solidFill>
                            <a:srgbClr val="263238"/>
                          </a:solidFill>
                          <a:latin typeface="Segoe UI"/>
                          <a:ea typeface="Segoe UI"/>
                          <a:cs typeface="Segoe UI"/>
                        </a:rPr>
                        <a:t>6</a:t>
                      </a:r>
                    </a:p>
                  </a:txBody>
                  <a:tcPr marL="73152" marR="73152" marT="36576" marB="36576" anchor="ctr">
                    <a:solidFill>
                      <a:srgbClr val="F4F7FB"/>
                    </a:solidFill>
                  </a:tcPr>
                </a:tc>
                <a:tc>
                  <a:txBody>
                    <a:bodyPr wrap="square"/>
                    <a:lstStyle/>
                    <a:p>
                      <a:r>
                        <a:rPr sz="1600" b="0" i="0">
                          <a:solidFill>
                            <a:srgbClr val="263238"/>
                          </a:solidFill>
                          <a:latin typeface="Segoe UI"/>
                          <a:ea typeface="Segoe UI"/>
                          <a:cs typeface="Segoe UI"/>
                        </a:rPr>
                        <a:t>Import Excel (nếu có): tải mẫu, nhập thử, nhập lỗi có báo</a:t>
                      </a:r>
                    </a:p>
                  </a:txBody>
                  <a:tcPr marL="73152" marR="73152" marT="36576" marB="36576" anchor="ctr">
                    <a:solidFill>
                      <a:srgbClr val="F4F7FB"/>
                    </a:solidFill>
                  </a:tcPr>
                </a:tc>
              </a:tr>
              <a:tr h="502920">
                <a:tc>
                  <a:txBody>
                    <a:bodyPr wrap="square"/>
                    <a:lstStyle/>
                    <a:p>
                      <a:r>
                        <a:rPr sz="1600" b="0" i="0">
                          <a:solidFill>
                            <a:srgbClr val="263238"/>
                          </a:solidFill>
                          <a:latin typeface="Segoe UI"/>
                          <a:ea typeface="Segoe UI"/>
                          <a:cs typeface="Segoe UI"/>
                        </a:rPr>
                        <a:t>7</a:t>
                      </a:r>
                    </a:p>
                  </a:txBody>
                  <a:tcPr marL="73152" marR="73152" marT="36576" marB="36576" anchor="ctr">
                    <a:solidFill>
                      <a:srgbClr val="FFFFFF"/>
                    </a:solidFill>
                  </a:tcPr>
                </a:tc>
                <a:tc>
                  <a:txBody>
                    <a:bodyPr wrap="square"/>
                    <a:lstStyle/>
                    <a:p>
                      <a:r>
                        <a:rPr sz="1600" b="0" i="0">
                          <a:solidFill>
                            <a:srgbClr val="263238"/>
                          </a:solidFill>
                          <a:latin typeface="Segoe UI"/>
                          <a:ea typeface="Segoe UI"/>
                          <a:cs typeface="Segoe UI"/>
                        </a:rPr>
                        <a:t>Menu + phân quyền; script menu đã vào gói</a:t>
                      </a:r>
                    </a:p>
                  </a:txBody>
                  <a:tcPr marL="73152" marR="73152" marT="36576" marB="36576"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Thực hành tại lớp</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5 · Thêm danh mục</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8</a:t>
            </a:r>
          </a:p>
        </p:txBody>
      </p:sp>
      <p:sp>
        <p:nvSpPr>
          <p:cNvPr id="7" name="TextBox 6"/>
          <p:cNvSpPr txBox="1"/>
          <p:nvPr/>
        </p:nvSpPr>
        <p:spPr>
          <a:xfrm>
            <a:off x="640080" y="1371600"/>
            <a:ext cx="10881360" cy="3108960"/>
          </a:xfrm>
          <a:prstGeom prst="rect">
            <a:avLst/>
          </a:prstGeom>
          <a:noFill/>
        </p:spPr>
        <p:txBody>
          <a:bodyPr wrap="square">
            <a:spAutoFit/>
          </a:bodyPr>
          <a:lstStyle/>
          <a:p>
            <a:pPr>
              <a:spcAft>
                <a:spcPts val="1000"/>
              </a:spcAft>
            </a:pPr>
            <a:r>
              <a:rPr sz="2000" b="1" i="0">
                <a:solidFill>
                  <a:srgbClr val="F2B705"/>
                </a:solidFill>
                <a:latin typeface="Segoe UI"/>
                <a:ea typeface="Segoe UI"/>
                <a:cs typeface="Segoe UI"/>
              </a:rPr>
              <a:t>▪  </a:t>
            </a:r>
            <a:r>
              <a:rPr sz="2000" b="1" i="0">
                <a:solidFill>
                  <a:srgbClr val="1F4E79"/>
                </a:solidFill>
                <a:latin typeface="Segoe UI"/>
                <a:ea typeface="Segoe UI"/>
                <a:cs typeface="Segoe UI"/>
              </a:rPr>
              <a:t>1.</a:t>
            </a:r>
            <a:r>
              <a:rPr sz="2000" b="0" i="0">
                <a:solidFill>
                  <a:srgbClr val="263238"/>
                </a:solidFill>
                <a:latin typeface="Segoe UI"/>
                <a:ea typeface="Segoe UI"/>
                <a:cs typeface="Segoe UI"/>
              </a:rPr>
              <a:t> Tạo danh mục </a:t>
            </a:r>
            <a:r>
              <a:rPr sz="1900" b="0" i="0">
                <a:solidFill>
                  <a:srgbClr val="B02A2A"/>
                </a:solidFill>
                <a:latin typeface="Consolas"/>
                <a:ea typeface="Consolas"/>
                <a:cs typeface="Consolas"/>
              </a:rPr>
              <a:t>zdmhtbh</a:t>
            </a:r>
            <a:r>
              <a:rPr sz="2000" b="0" i="0">
                <a:solidFill>
                  <a:srgbClr val="263238"/>
                </a:solidFill>
                <a:latin typeface="Segoe UI"/>
                <a:ea typeface="Segoe UI"/>
                <a:cs typeface="Segoe UI"/>
              </a:rPr>
              <a:t> bằng tay theo mục 5.2.</a:t>
            </a:r>
          </a:p>
          <a:p>
            <a:pPr>
              <a:spcAft>
                <a:spcPts val="1000"/>
              </a:spcAft>
            </a:pPr>
            <a:r>
              <a:rPr sz="2000" b="1" i="0">
                <a:solidFill>
                  <a:srgbClr val="F2B705"/>
                </a:solidFill>
                <a:latin typeface="Segoe UI"/>
                <a:ea typeface="Segoe UI"/>
                <a:cs typeface="Segoe UI"/>
              </a:rPr>
              <a:t>▪  </a:t>
            </a:r>
            <a:r>
              <a:rPr sz="2000" b="1" i="0">
                <a:solidFill>
                  <a:srgbClr val="1F4E79"/>
                </a:solidFill>
                <a:latin typeface="Segoe UI"/>
                <a:ea typeface="Segoe UI"/>
                <a:cs typeface="Segoe UI"/>
              </a:rPr>
              <a:t>2.</a:t>
            </a:r>
            <a:r>
              <a:rPr sz="2000" b="0" i="0">
                <a:solidFill>
                  <a:srgbClr val="263238"/>
                </a:solidFill>
                <a:latin typeface="Segoe UI"/>
                <a:ea typeface="Segoe UI"/>
                <a:cs typeface="Segoe UI"/>
              </a:rPr>
              <a:t> Tạo lại bằng Tạo nhanh danh mục từ nội dung yêu cầu viết theo mẫu; so sánh file.</a:t>
            </a:r>
          </a:p>
          <a:p>
            <a:pPr>
              <a:spcAft>
                <a:spcPts val="1000"/>
              </a:spcAft>
            </a:pPr>
            <a:r>
              <a:rPr sz="2000" b="1" i="0">
                <a:solidFill>
                  <a:srgbClr val="F2B705"/>
                </a:solidFill>
                <a:latin typeface="Segoe UI"/>
                <a:ea typeface="Segoe UI"/>
                <a:cs typeface="Segoe UI"/>
              </a:rPr>
              <a:t>▪  </a:t>
            </a:r>
            <a:r>
              <a:rPr sz="2000" b="1" i="0">
                <a:solidFill>
                  <a:srgbClr val="1F4E79"/>
                </a:solidFill>
                <a:latin typeface="Segoe UI"/>
                <a:ea typeface="Segoe UI"/>
                <a:cs typeface="Segoe UI"/>
              </a:rPr>
              <a:t>3.</a:t>
            </a:r>
            <a:r>
              <a:rPr sz="2000" b="0" i="0">
                <a:solidFill>
                  <a:srgbClr val="263238"/>
                </a:solidFill>
                <a:latin typeface="Segoe UI"/>
                <a:ea typeface="Segoe UI"/>
                <a:cs typeface="Segoe UI"/>
              </a:rPr>
              <a:t> Tạo menu, phân quyền, thử thêm / sửa / xoá / tra cứu trên web.</a:t>
            </a:r>
          </a:p>
        </p:txBody>
      </p:sp>
      <p:sp>
        <p:nvSpPr>
          <p:cNvPr id="8" name="Rounded Rectangle 7"/>
          <p:cNvSpPr/>
          <p:nvPr/>
        </p:nvSpPr>
        <p:spPr>
          <a:xfrm>
            <a:off x="640080" y="4434840"/>
            <a:ext cx="10927080" cy="685800"/>
          </a:xfrm>
          <a:prstGeom prst="roundRect">
            <a:avLst>
              <a:gd name="adj" fmla="val 8000"/>
            </a:avLst>
          </a:prstGeom>
          <a:solidFill>
            <a:srgbClr val="FFFFFF"/>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4434840"/>
            <a:ext cx="91440" cy="6858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4489703"/>
            <a:ext cx="10607040" cy="594360"/>
          </a:xfrm>
          <a:prstGeom prst="rect">
            <a:avLst/>
          </a:prstGeom>
          <a:noFill/>
        </p:spPr>
        <p:txBody>
          <a:bodyPr wrap="square" anchor="ctr" lIns="45720" rIns="45720" tIns="27432" bIns="27432">
            <a:spAutoFit/>
          </a:bodyPr>
          <a:lstStyle/>
          <a:p>
            <a:pPr algn="l"/>
            <a:r>
              <a:rPr sz="1500" b="1" i="0">
                <a:solidFill>
                  <a:srgbClr val="2E75B6"/>
                </a:solidFill>
                <a:latin typeface="Segoe UI"/>
                <a:ea typeface="Segoe UI"/>
                <a:cs typeface="Segoe UI"/>
              </a:rPr>
              <a:t>Mẹo:</a:t>
            </a:r>
            <a:r>
              <a:rPr sz="1500" b="0" i="0">
                <a:solidFill>
                  <a:srgbClr val="263238"/>
                </a:solidFill>
                <a:latin typeface="Segoe UI"/>
                <a:ea typeface="Segoe UI"/>
                <a:cs typeface="Segoe UI"/>
              </a:rPr>
              <a:t> </a:t>
            </a:r>
            <a:r>
              <a:rPr sz="1500" b="1" i="0">
                <a:solidFill>
                  <a:srgbClr val="1F4E79"/>
                </a:solidFill>
                <a:latin typeface="Segoe UI"/>
                <a:ea typeface="Segoe UI"/>
                <a:cs typeface="Segoe UI"/>
              </a:rPr>
              <a:t>Trên database:</a:t>
            </a:r>
            <a:r>
              <a:rPr sz="1500" b="0" i="0">
                <a:solidFill>
                  <a:srgbClr val="263238"/>
                </a:solidFill>
                <a:latin typeface="Segoe UI"/>
                <a:ea typeface="Segoe UI"/>
                <a:cs typeface="Segoe UI"/>
              </a:rPr>
              <a:t> Sổ bài tập thực hành — Buổi 5 (FBOSP2422_App / _Sys, chạy </a:t>
            </a:r>
            <a:r>
              <a:rPr sz="1400" b="0" i="0">
                <a:solidFill>
                  <a:srgbClr val="B02A2A"/>
                </a:solidFill>
                <a:latin typeface="Consolas"/>
                <a:ea typeface="Consolas"/>
                <a:cs typeface="Consolas"/>
              </a:rPr>
              <a:t>00_TaoDuLieuMau.sql</a:t>
            </a:r>
            <a:r>
              <a:rPr sz="1500" b="0" i="0">
                <a:solidFill>
                  <a:srgbClr val="263238"/>
                </a:solidFill>
                <a:latin typeface="Segoe UI"/>
                <a:ea typeface="Segoe UI"/>
                <a:cs typeface="Segoe UI"/>
              </a:rPr>
              <a:t> trước).</a:t>
            </a:r>
          </a:p>
        </p:txBody>
      </p:sp>
      <p:sp>
        <p:nvSpPr>
          <p:cNvPr id="11" name="Rounded Rectangle 10"/>
          <p:cNvSpPr/>
          <p:nvPr/>
        </p:nvSpPr>
        <p:spPr>
          <a:xfrm>
            <a:off x="640080" y="5257800"/>
            <a:ext cx="10927080" cy="914400"/>
          </a:xfrm>
          <a:prstGeom prst="roundRect">
            <a:avLst>
              <a:gd name="adj" fmla="val 8000"/>
            </a:avLst>
          </a:prstGeom>
          <a:solidFill>
            <a:srgbClr val="FFFFFF"/>
          </a:solidFill>
          <a:ln w="15875">
            <a:solidFill>
              <a:srgbClr val="27A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5257800"/>
            <a:ext cx="91440" cy="91440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5312664"/>
            <a:ext cx="10607040" cy="822960"/>
          </a:xfrm>
          <a:prstGeom prst="rect">
            <a:avLst/>
          </a:prstGeom>
          <a:noFill/>
        </p:spPr>
        <p:txBody>
          <a:bodyPr wrap="square" anchor="ctr" lIns="45720" rIns="45720" tIns="27432" bIns="27432">
            <a:spAutoFit/>
          </a:bodyPr>
          <a:lstStyle/>
          <a:p>
            <a:pPr algn="l"/>
            <a:r>
              <a:rPr sz="1600" b="1" i="0">
                <a:solidFill>
                  <a:srgbClr val="27AE60"/>
                </a:solidFill>
                <a:latin typeface="Segoe UI"/>
                <a:ea typeface="Segoe UI"/>
                <a:cs typeface="Segoe UI"/>
              </a:rPr>
              <a:t>Bài tập:</a:t>
            </a:r>
            <a:r>
              <a:rPr sz="1600" b="0" i="0">
                <a:solidFill>
                  <a:srgbClr val="263238"/>
                </a:solidFill>
                <a:latin typeface="Segoe UI"/>
                <a:ea typeface="Segoe UI"/>
                <a:cs typeface="Segoe UI"/>
              </a:rPr>
              <a:t> </a:t>
            </a:r>
            <a:r>
              <a:rPr sz="1600" b="1" i="0">
                <a:solidFill>
                  <a:srgbClr val="1F4E79"/>
                </a:solidFill>
                <a:latin typeface="Segoe UI"/>
                <a:ea typeface="Segoe UI"/>
                <a:cs typeface="Segoe UI"/>
              </a:rPr>
              <a:t>Về nhà:</a:t>
            </a:r>
            <a:r>
              <a:rPr sz="1600" b="0" i="0">
                <a:solidFill>
                  <a:srgbClr val="263238"/>
                </a:solidFill>
                <a:latin typeface="Segoe UI"/>
                <a:ea typeface="Segoe UI"/>
                <a:cs typeface="Segoe UI"/>
              </a:rPr>
              <a:t> Nhận 1 yêu cầu “thêm danh mục” thật (đã cũ) từ người hướng dẫn, làm trọn trên dự án thử đến khi qua checklist 5.5.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Tự kiểm tra</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5 · Thêm danh mục</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9</a:t>
            </a:r>
          </a:p>
        </p:txBody>
      </p:sp>
      <p:sp>
        <p:nvSpPr>
          <p:cNvPr id="7" name="TextBox 6"/>
          <p:cNvSpPr txBox="1"/>
          <p:nvPr/>
        </p:nvSpPr>
        <p:spPr>
          <a:xfrm>
            <a:off x="640080" y="1371600"/>
            <a:ext cx="10881360" cy="4754880"/>
          </a:xfrm>
          <a:prstGeom prst="rect">
            <a:avLst/>
          </a:prstGeom>
          <a:noFill/>
        </p:spPr>
        <p:txBody>
          <a:bodyPr wrap="square">
            <a:spAutoFit/>
          </a:bodyPr>
          <a:lstStyle/>
          <a:p>
            <a:pPr>
              <a:spcAft>
                <a:spcPts val="1000"/>
              </a:spcAft>
            </a:pPr>
            <a:r>
              <a:rPr sz="2100" b="1" i="0">
                <a:solidFill>
                  <a:srgbClr val="F2B705"/>
                </a:solidFill>
                <a:latin typeface="Segoe UI"/>
                <a:ea typeface="Segoe UI"/>
                <a:cs typeface="Segoe UI"/>
              </a:rPr>
              <a:t>▪  </a:t>
            </a:r>
            <a:r>
              <a:rPr sz="2100" b="1" i="0">
                <a:solidFill>
                  <a:srgbClr val="1F4E79"/>
                </a:solidFill>
                <a:latin typeface="Segoe UI"/>
                <a:ea typeface="Segoe UI"/>
                <a:cs typeface="Segoe UI"/>
              </a:rPr>
              <a:t>1.</a:t>
            </a:r>
            <a:r>
              <a:rPr sz="2100" b="0" i="0">
                <a:solidFill>
                  <a:srgbClr val="263238"/>
                </a:solidFill>
                <a:latin typeface="Segoe UI"/>
                <a:ea typeface="Segoe UI"/>
                <a:cs typeface="Segoe UI"/>
              </a:rPr>
              <a:t> Cột tra cứu </a:t>
            </a:r>
            <a:r>
              <a:rPr sz="2000" b="0" i="0">
                <a:solidFill>
                  <a:srgbClr val="B02A2A"/>
                </a:solidFill>
                <a:latin typeface="Consolas"/>
                <a:ea typeface="Consolas"/>
                <a:cs typeface="Consolas"/>
              </a:rPr>
              <a:t>ma_kh</a:t>
            </a:r>
            <a:r>
              <a:rPr sz="2100" b="0" i="0">
                <a:solidFill>
                  <a:srgbClr val="263238"/>
                </a:solidFill>
                <a:latin typeface="Segoe UI"/>
                <a:ea typeface="Segoe UI"/>
                <a:cs typeface="Segoe UI"/>
              </a:rPr>
              <a:t> trong bảng mới phải thế nào?</a:t>
            </a:r>
          </a:p>
          <a:p>
            <a:pPr>
              <a:spcAft>
                <a:spcPts val="1000"/>
              </a:spcAft>
            </a:pPr>
            <a:r>
              <a:rPr sz="2100" b="1" i="0">
                <a:solidFill>
                  <a:srgbClr val="F2B705"/>
                </a:solidFill>
                <a:latin typeface="Segoe UI"/>
                <a:ea typeface="Segoe UI"/>
                <a:cs typeface="Segoe UI"/>
              </a:rPr>
              <a:t>▪  </a:t>
            </a:r>
            <a:r>
              <a:rPr sz="2100" b="1" i="0">
                <a:solidFill>
                  <a:srgbClr val="1F4E79"/>
                </a:solidFill>
                <a:latin typeface="Segoe UI"/>
                <a:ea typeface="Segoe UI"/>
                <a:cs typeface="Segoe UI"/>
              </a:rPr>
              <a:t>2.</a:t>
            </a:r>
            <a:r>
              <a:rPr sz="2100" b="0" i="0">
                <a:solidFill>
                  <a:srgbClr val="263238"/>
                </a:solidFill>
                <a:latin typeface="Segoe UI"/>
                <a:ea typeface="Segoe UI"/>
                <a:cs typeface="Segoe UI"/>
              </a:rPr>
              <a:t> </a:t>
            </a:r>
            <a:r>
              <a:rPr sz="2000" b="0" i="0">
                <a:solidFill>
                  <a:srgbClr val="B02A2A"/>
                </a:solidFill>
                <a:latin typeface="Consolas"/>
                <a:ea typeface="Consolas"/>
                <a:cs typeface="Consolas"/>
              </a:rPr>
              <a:t>information="tk$dmtk.ten_tk%l"</a:t>
            </a:r>
            <a:r>
              <a:rPr sz="2100" b="0" i="0">
                <a:solidFill>
                  <a:srgbClr val="263238"/>
                </a:solidFill>
                <a:latin typeface="Segoe UI"/>
                <a:ea typeface="Segoe UI"/>
                <a:cs typeface="Segoe UI"/>
              </a:rPr>
              <a:t> nghĩa là gì?</a:t>
            </a:r>
          </a:p>
          <a:p>
            <a:pPr>
              <a:spcAft>
                <a:spcPts val="1000"/>
              </a:spcAft>
            </a:pPr>
            <a:r>
              <a:rPr sz="2100" b="1" i="0">
                <a:solidFill>
                  <a:srgbClr val="F2B705"/>
                </a:solidFill>
                <a:latin typeface="Segoe UI"/>
                <a:ea typeface="Segoe UI"/>
                <a:cs typeface="Segoe UI"/>
              </a:rPr>
              <a:t>▪  </a:t>
            </a:r>
            <a:r>
              <a:rPr sz="2100" b="1" i="0">
                <a:solidFill>
                  <a:srgbClr val="1F4E79"/>
                </a:solidFill>
                <a:latin typeface="Segoe UI"/>
                <a:ea typeface="Segoe UI"/>
                <a:cs typeface="Segoe UI"/>
              </a:rPr>
              <a:t>3.</a:t>
            </a:r>
            <a:r>
              <a:rPr sz="2100" b="0" i="0">
                <a:solidFill>
                  <a:srgbClr val="263238"/>
                </a:solidFill>
                <a:latin typeface="Segoe UI"/>
                <a:ea typeface="Segoe UI"/>
                <a:cs typeface="Segoe UI"/>
              </a:rPr>
              <a:t> 🔎 AI phân tích khác 🤖 AI tạo danh mục ở đâu?</a:t>
            </a:r>
          </a:p>
          <a:p>
            <a:pPr>
              <a:spcAft>
                <a:spcPts val="1000"/>
              </a:spcAft>
            </a:pPr>
            <a:r>
              <a:rPr sz="2100" b="1" i="0">
                <a:solidFill>
                  <a:srgbClr val="F2B705"/>
                </a:solidFill>
                <a:latin typeface="Segoe UI"/>
                <a:ea typeface="Segoe UI"/>
                <a:cs typeface="Segoe UI"/>
              </a:rPr>
              <a:t>▪  </a:t>
            </a:r>
            <a:r>
              <a:rPr sz="2100" b="1" i="0">
                <a:solidFill>
                  <a:srgbClr val="1F4E79"/>
                </a:solidFill>
                <a:latin typeface="Segoe UI"/>
                <a:ea typeface="Segoe UI"/>
                <a:cs typeface="Segoe UI"/>
              </a:rPr>
              <a:t>4.</a:t>
            </a:r>
            <a:r>
              <a:rPr sz="2100" b="0" i="0">
                <a:solidFill>
                  <a:srgbClr val="263238"/>
                </a:solidFill>
                <a:latin typeface="Segoe UI"/>
                <a:ea typeface="Segoe UI"/>
                <a:cs typeface="Segoe UI"/>
              </a:rPr>
              <a:t> Bcode có tự chạy script tạo bảng không?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