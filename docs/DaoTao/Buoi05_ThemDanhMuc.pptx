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5: Thêm danh mục (Trung cấp, 3 giờ).</a:t>
            </a:r>
          </a:p>
          <a:p>
            <a:r>
              <a:t>Chuẩn bị: Dự án thử; key bản quyền Bcode (Tạo nhanh danh mục); API key nếu muốn thử AI.</a:t>
            </a:r>
          </a:p>
          <a:p>
            <a:r>
              <a:t>Nhắc lại bài tập về nhà của buổi trước trước khi vào nội dung mới (5–10 phút).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a:t>
            </a:r>
          </a:p>
          <a:p>
            <a:r>
              <a:t>- Biết bộ file của một danh mục và các thuộc tính chính của field</a:t>
            </a:r>
          </a:p>
          <a:p>
            <a:r>
              <a:t>- Viết được field tra cứu AutoComplete</a:t>
            </a:r>
          </a:p>
          <a:p>
            <a:r>
              <a:t>- Tạo danh mục bằng Tạo nhanh danh mục (luật Fast / AI phân tích / AI tạo)</a:t>
            </a:r>
          </a:p>
          <a:p>
            <a:r>
              <a:t>- Đọc và xử lý cảnh báo ⚡ Chuẩn Fast</a:t>
            </a:r>
          </a:p>
          <a:p>
            <a:r>
              <a:t>Lịch trình:</a:t>
            </a:r>
          </a:p>
          <a:p>
            <a:r>
              <a:t>1. Bộ file danh mục, tạo bảng, Dir / Grid / Lookup / aspx / menu (50')</a:t>
            </a:r>
          </a:p>
          <a:p>
            <a:r>
              <a:t>2. Quy ước tên, AutoComplete (25')</a:t>
            </a:r>
          </a:p>
          <a:p>
            <a:r>
              <a:t>3. Tạo nhanh danh mục, 3 cách điền tự động, mẫu câu yêu cầu (40')</a:t>
            </a:r>
          </a:p>
          <a:p>
            <a:r>
              <a:t>4. ⚡ Chuẩn Fast, checklist (15')</a:t>
            </a:r>
          </a:p>
          <a:p>
            <a:r>
              <a:t>5. Thực hành (50')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danh mục gồm: bảng SQL (thêm bảng chi tiết nếu có), trang Main\x.aspx, Grid (lưới danh sách), Dir (form thêm / sửa), Lookup (tra cứu mã từ màn hình khác), Filter ...Import và mẫu Templates\Upload nếu cho phép import Excel, cuối cùng là menu trong hai bảng wcommand và command.</a:t>
            </a:r>
          </a:p>
          <a:p>
            <a:r>
              <a:t>Thuộc tính chính của field: isPrimaryKey là khoá; allowNulls="false" để bắt buộc nhập; dataFormatString="@upperCaseFormat" để tự viết hoa; header v/e cho nhãn tiếng Việt / tiếng Anh; external cho field không có trong bảng (ví dụ ô hiện tên tra cứu); readOnly là chỉ đọc; hidden là ẩn; categoryIndex là tab của form chứa field.</a:t>
            </a:r>
          </a:p>
          <a:p>
            <a:r>
              <a:t>Các command theo sự kiện: Declare (khai thông báo lỗi theo ngôn ngữ), Loading / Closing (gắn hàm JavaScript), Inserting (kiểm tra trùng mã, gán datetime0 / user_id0), Updating (kiểm tra bản ghi còn tồn tại theo $ma.OldValue), Updated (cập nhật datetime2 / user_id2), Deleting (kiểm tra mã đã phát sinh dữ liệu chưa), Checking (JavaScript kiểm tra phía trình duyệt).</a:t>
            </a:r>
          </a:p>
          <a:p>
            <a:r>
              <a:t>Mẫu đầy đủ có trong Bcode: Templates\fileSource\CreateList.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thật lấy từ Dir\Customer.f — field tài khoản ngầm định của khách hàng.</a:t>
            </a:r>
          </a:p>
          <a:p>
            <a:r>
              <a:t>controller: tên Lookup dùng để tra cứu (ở đây là Lookup\Account.xml).</a:t>
            </a:r>
          </a:p>
          <a:p>
            <a:r>
              <a:t>reference: field external trên form, nhận tên tài khoản sau khi người dùng chọn mã.</a:t>
            </a:r>
          </a:p>
          <a:p>
            <a:r>
              <a:t>key: điều kiện lọc danh sách gợi ý — ở đây chỉ lấy tài khoản chi tiết còn dùng.</a:t>
            </a:r>
          </a:p>
          <a:p>
            <a:r>
              <a:t>check: điều kiện kiểm tra khi người dùng gõ mã bằng tay.</a:t>
            </a:r>
          </a:p>
          <a:p>
            <a:r>
              <a:t>information: khi mở một bản ghi có sẵn, Fast lấy tên theo dạng field$bảng.cột_tên.</a:t>
            </a:r>
          </a:p>
          <a:p>
            <a:r>
              <a:t>%l: Fast thay theo ngôn ngữ đăng nhập, để lấy tên đúng ngôn ngữ người dùng đang dùng.</a:t>
            </a:r>
          </a:p>
          <a:p>
            <a:r>
              <a:t>Quy tắc đặt tên: cột tra cứu dùng đúng tên cột mã của danh mục nguồn (ma_kh, ma_vt, ma_kho, tk...) và cùng kiểu, cùng độ dài với cột đó.</a:t>
            </a:r>
          </a:p>
          <a:p>
            <a:r>
              <a:t>Ý nghĩa chi tiết của %l và new="Default" ở đây được mô tả theo cách dùng quan sát được; khi cần chắc chắn thì đối chiếu với một danh mục chuẩn ở dự án.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từ menu Tool mở rộng → Tạo nhanh danh mục (cần key bản quyền). Bcode sinh đủ bộ file của danh mục dựa trên mẫu CreateList.</a:t>
            </a:r>
          </a:p>
          <a:p>
            <a:r>
              <a:t>Có 3 cách điền tự động từ nội dung yêu cầu; mở từ Note (New) hoặc từ khung chi tiết của Báo cáo yêu cầu FSG:</a:t>
            </a:r>
          </a:p>
          <a:p>
            <a:r>
              <a:t>1. Theo luật Fast — nhanh, không dùng AI, không cần API key.</a:t>
            </a:r>
          </a:p>
          <a:p>
            <a:r>
              <a:t>2. AI phân tích — AI chỉ viết lại yêu cầu theo đúng mẫu câu chuẩn; bạn đọc, sửa, rồi xác nhận (Ctrl+Enter); sau đó luật Fast tạo danh mục từ nội dung đã xác nhận. Cách này cân bằng: AI giúp hiểu câu văn tự do, còn luật bảo đảm kết quả đúng chuẩn.</a:t>
            </a:r>
          </a:p>
          <a:p>
            <a:r>
              <a:t>3. AI tạo danh mục — AI điền thẳng vào form; Bcode chỉ gửi cho AI tên bảng, tên cột, kiểu cột, không gửi dữ liệu các dòng.</a:t>
            </a:r>
          </a:p>
          <a:p>
            <a:r>
              <a:t>Dù dùng cách nào, Bcode cũng không tự ghi file hay tự chạy SQL: bạn xem lại, bấm Xem XML, Tạo file, rồi Tạo menu.</a:t>
            </a:r>
          </a:p>
          <a:p>
            <a:r>
              <a:t>Nếu gõ tên một bảng chưa có (zdm...) thì Bcode hiểu là tạo bảng mới — script tạo bảng nằm ở tab Script, Bcode không tự chạy script này.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mẫu câu mà luật Fast đọc chính xác nhất, cũng chính là dạng mà chế độ AI phân tích viết ra. Mỗi dòng gạch đầu dòng là một cột; [field] hoặc [field kiểu] dùng để chốt tên field (và kiểu); các cụm như "lookup từ danh mục X", "bắt buộc nhập" đều được luật hiểu.</a:t>
            </a:r>
          </a:p>
          <a:p>
            <a:r>
              <a:t>Kiểu cột được tự chọn: tiền, số lượng, giá là numeric(19,4); năm là int; ngày là smalldatetime; cột lookup lấy đúng kiểu của cột mã nguồn. Tháng và năm luôn được tách thành cột int riêng.</a:t>
            </a:r>
          </a:p>
          <a:p>
            <a:r>
              <a:t>Luật nhớ những field bạn đã sửa (tiêu đề nào ứng với field nào) và học tên field từ source của dự án (đọc các file Dir trong Source Path).</a:t>
            </a:r>
          </a:p>
          <a:p>
            <a:r>
              <a:t>Nút ⚡ Chuẩn Fast ở thanh dưới cùng kiểm tra: thiếu cột hệ thống, cách đặt tên cột mã / cột tên, kiểu cột tra cứu, type của field không khớp kiểu SQL, thiếu tiêu đề tiếng Anh, trùng tên controller, khoá của bảng chi tiết. Nếu còn mục dễ gây lỗi thì khi bấm Tạo file Bcode sẽ hỏi lại.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Đọc qua checklist này trước khi coi một danh mục là xong. Mục 1 và 2 kiểm tra bảng; mục 3 là kiểm tra tự động bằng công cụ (⚡ Chuẩn Fast và bảng Problems của BcodeViewer); mục 4 đến 6 là thử trực tiếp trên web; mục 7 là menu, phân quyền và gói update.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Học viên làm trên dự án thử, người hướng dẫn đi kiểm từng máy. Ai xong sớm làm luôn bài tập về nhà.</a:t>
            </a:r>
          </a:p>
          <a:p>
            <a:r>
              <a:t>Bài tập về nhà: Nhận 1 yêu cầu “thêm danh mục” thật (đã cũ) từ người hướng dẫn, làm trọn trên dự án thử cho đến khi đạt hết checklist ở mục 5.5.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Hỏi nhanh cả lớp; đáp án:</a:t>
            </a:r>
          </a:p>
          <a:p>
            <a:r>
              <a:t>1. Cùng tên, cùng kiểu và cùng độ dài với dmkh.ma_kh.</a:t>
            </a:r>
          </a:p>
          <a:p>
            <a:r>
              <a:t>2. Hiện tên: field tk ghép với bảng dmtk, lấy cột ten_tk theo ngôn ngữ đang dùng.</a:t>
            </a:r>
          </a:p>
          <a:p>
            <a:r>
              <a:t>3. AI phân tích chỉ viết lại yêu cầu theo mẫu, bạn xác nhận rồi luật Fast mới tạo; AI tạo danh mục thì tự điền luôn.</a:t>
            </a:r>
          </a:p>
          <a:p>
            <a:r>
              <a:t>4. Không. Script nằm ở tab Script; bạn phải tự xem lại rồi chạy.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E79"/>
        </a:solidFill>
        <a:effectLst/>
      </p:bgPr>
    </p:bg>
    <p:spTree>
      <p:nvGrpSpPr>
        <p:cNvPr id="1" name=""/>
        <p:cNvGrpSpPr/>
        <p:nvPr/>
      </p:nvGrpSpPr>
      <p:grpSpPr/>
      <p:sp>
        <p:nvSpPr>
          <p:cNvPr id="2" name="Rectangle 1"/>
          <p:cNvSpPr/>
          <p:nvPr/>
        </p:nvSpPr>
        <p:spPr>
          <a:xfrm>
            <a:off x="0" y="5394960"/>
            <a:ext cx="12191695" cy="1463040"/>
          </a:xfrm>
          <a:prstGeom prst="rect">
            <a:avLst/>
          </a:prstGeom>
          <a:solidFill>
            <a:srgbClr val="173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31720"/>
            <a:ext cx="1280160"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097280"/>
            <a:ext cx="10058400" cy="548640"/>
          </a:xfrm>
          <a:prstGeom prst="rect">
            <a:avLst/>
          </a:prstGeom>
          <a:noFill/>
        </p:spPr>
        <p:txBody>
          <a:bodyPr wrap="square" anchor="t" lIns="45720" rIns="45720" tIns="27432" bIns="27432">
            <a:spAutoFit/>
          </a:bodyPr>
          <a:lstStyle/>
          <a:p>
            <a:pPr algn="l"/>
            <a:r>
              <a:rPr sz="1800" b="1" i="0">
                <a:solidFill>
                  <a:srgbClr val="F2B705"/>
                </a:solidFill>
                <a:latin typeface="Segoe UI"/>
                <a:ea typeface="Segoe UI"/>
                <a:cs typeface="Segoe UI"/>
              </a:rPr>
              <a:t>BUỔI 5 / 10  ·  TRUNG CẤP</a:t>
            </a:r>
          </a:p>
        </p:txBody>
      </p:sp>
      <p:sp>
        <p:nvSpPr>
          <p:cNvPr id="5" name="TextBox 4"/>
          <p:cNvSpPr txBox="1"/>
          <p:nvPr/>
        </p:nvSpPr>
        <p:spPr>
          <a:xfrm>
            <a:off x="777240" y="1554480"/>
            <a:ext cx="10789920" cy="914400"/>
          </a:xfrm>
          <a:prstGeom prst="rect">
            <a:avLst/>
          </a:prstGeom>
          <a:noFill/>
        </p:spPr>
        <p:txBody>
          <a:bodyPr wrap="square" anchor="t" lIns="45720" rIns="45720" tIns="27432" bIns="27432">
            <a:spAutoFit/>
          </a:bodyPr>
          <a:lstStyle/>
          <a:p>
            <a:pPr algn="l"/>
            <a:r>
              <a:rPr sz="2200" b="0" i="0">
                <a:solidFill>
                  <a:srgbClr val="D6E4F0"/>
                </a:solidFill>
                <a:latin typeface="Segoe UI"/>
                <a:ea typeface="Segoe UI"/>
                <a:cs typeface="Segoe UI"/>
              </a:rPr>
              <a:t>FastBusiness Online &amp; Bcode</a:t>
            </a:r>
          </a:p>
        </p:txBody>
      </p:sp>
      <p:sp>
        <p:nvSpPr>
          <p:cNvPr id="6" name="TextBox 5"/>
          <p:cNvSpPr txBox="1"/>
          <p:nvPr/>
        </p:nvSpPr>
        <p:spPr>
          <a:xfrm>
            <a:off x="777240" y="2606040"/>
            <a:ext cx="10789920" cy="2194560"/>
          </a:xfrm>
          <a:prstGeom prst="rect">
            <a:avLst/>
          </a:prstGeom>
          <a:noFill/>
        </p:spPr>
        <p:txBody>
          <a:bodyPr wrap="square" anchor="t" lIns="45720" rIns="45720" tIns="27432" bIns="27432">
            <a:spAutoFit/>
          </a:bodyPr>
          <a:lstStyle/>
          <a:p>
            <a:pPr algn="l"/>
            <a:r>
              <a:rPr sz="4400" b="1" i="0">
                <a:solidFill>
                  <a:srgbClr val="FFFFFF"/>
                </a:solidFill>
                <a:latin typeface="Segoe UI"/>
                <a:ea typeface="Segoe UI"/>
                <a:cs typeface="Segoe UI"/>
              </a:rPr>
              <a:t>Thêm danh mục</a:t>
            </a:r>
          </a:p>
        </p:txBody>
      </p:sp>
      <p:sp>
        <p:nvSpPr>
          <p:cNvPr id="7" name="TextBox 6"/>
          <p:cNvSpPr txBox="1"/>
          <p:nvPr/>
        </p:nvSpPr>
        <p:spPr>
          <a:xfrm>
            <a:off x="804672" y="5760720"/>
            <a:ext cx="10515600" cy="548640"/>
          </a:xfrm>
          <a:prstGeom prst="rect">
            <a:avLst/>
          </a:prstGeom>
          <a:noFill/>
        </p:spPr>
        <p:txBody>
          <a:bodyPr wrap="square" anchor="t" lIns="45720" rIns="45720" tIns="27432" bIns="27432">
            <a:spAutoFit/>
          </a:bodyPr>
          <a:lstStyle/>
          <a:p>
            <a:pPr algn="l"/>
            <a:r>
              <a:rPr sz="1400" b="0" i="0">
                <a:solidFill>
                  <a:srgbClr val="B8CADB"/>
                </a:solidFill>
                <a:latin typeface="Segoe UI"/>
                <a:ea typeface="Segoe UI"/>
                <a:cs typeface="Segoe UI"/>
              </a:rPr>
              <a:t>Thời lượng 3 giờ · tài liệu chi tiết: DaoTao_Fast_Bcode.docx — Buổi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Mục tiêu và lịch trình</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5 · Thêm danh mục</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2</a:t>
            </a:r>
          </a:p>
        </p:txBody>
      </p:sp>
      <p:sp>
        <p:nvSpPr>
          <p:cNvPr id="7" name="TextBox 6"/>
          <p:cNvSpPr txBox="1"/>
          <p:nvPr/>
        </p:nvSpPr>
        <p:spPr>
          <a:xfrm>
            <a:off x="640080" y="1325880"/>
            <a:ext cx="5120640" cy="411480"/>
          </a:xfrm>
          <a:prstGeom prst="rect">
            <a:avLst/>
          </a:prstGeom>
          <a:noFill/>
        </p:spPr>
        <p:txBody>
          <a:bodyPr wrap="square" anchor="t" lIns="45720" rIns="45720" tIns="27432" bIns="27432">
            <a:spAutoFit/>
          </a:bodyPr>
          <a:lstStyle/>
          <a:p>
            <a:pPr algn="l"/>
            <a:r>
              <a:rPr sz="1800" b="1" i="0">
                <a:solidFill>
                  <a:srgbClr val="1F4E79"/>
                </a:solidFill>
                <a:latin typeface="Segoe UI"/>
                <a:ea typeface="Segoe UI"/>
                <a:cs typeface="Segoe UI"/>
              </a:rPr>
              <a:t>Học xong buổi này, bạn:</a:t>
            </a:r>
          </a:p>
        </p:txBody>
      </p:sp>
      <p:sp>
        <p:nvSpPr>
          <p:cNvPr id="8" name="TextBox 7"/>
          <p:cNvSpPr txBox="1"/>
          <p:nvPr/>
        </p:nvSpPr>
        <p:spPr>
          <a:xfrm>
            <a:off x="640080" y="1783080"/>
            <a:ext cx="5212080" cy="420624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Biết bộ file của một danh mục và các thuộc tính chính của field</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Viết được field tra cứu AutoComplete</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Tạo danh mục bằng Tạo nhanh danh mục (luật Fast / AI phân tích / AI tạo)</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Đọc và xử lý cảnh báo ⚡ Chuẩn Fast</a:t>
            </a:r>
          </a:p>
        </p:txBody>
      </p:sp>
      <p:graphicFrame>
        <p:nvGraphicFramePr>
          <p:cNvPr id="9" name="Table 8"/>
          <p:cNvGraphicFramePr>
            <a:graphicFrameLocks noGrp="1"/>
          </p:cNvGraphicFramePr>
          <p:nvPr/>
        </p:nvGraphicFramePr>
        <p:xfrm>
          <a:off x="6126480" y="1371600"/>
          <a:ext cx="5486400" cy="3017520"/>
        </p:xfrm>
        <a:graphic>
          <a:graphicData uri="http://schemas.openxmlformats.org/drawingml/2006/table">
            <a:tbl>
              <a:tblPr firstRow="1" bandRow="1">
                <a:tableStyleId>{5940675A-B579-460E-94D1-54222C63F5DA}</a:tableStyleId>
              </a:tblPr>
              <a:tblGrid>
                <a:gridCol w="457200"/>
                <a:gridCol w="4023360"/>
                <a:gridCol w="1005840"/>
              </a:tblGrid>
              <a:tr h="502920">
                <a:tc>
                  <a:txBody>
                    <a:bodyPr wrap="square"/>
                    <a:lstStyle/>
                    <a:p>
                      <a:r>
                        <a:rPr sz="1400" b="1" i="0">
                          <a:solidFill>
                            <a:srgbClr val="FFFFFF"/>
                          </a:solidFill>
                          <a:latin typeface="Segoe UI"/>
                          <a:ea typeface="Segoe UI"/>
                          <a:cs typeface="Segoe UI"/>
                        </a:rPr>
                        <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Nội dung</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Thời gian</a:t>
                      </a:r>
                    </a:p>
                  </a:txBody>
                  <a:tcPr marL="73152" marR="73152" marT="36576" marB="36576" anchor="ctr">
                    <a:solidFill>
                      <a:srgbClr val="1F4E79"/>
                    </a:solidFill>
                  </a:tcPr>
                </a:tc>
              </a:tr>
              <a:tr h="502920">
                <a:tc>
                  <a:txBody>
                    <a:bodyPr wrap="square"/>
                    <a:lstStyle/>
                    <a:p>
                      <a:r>
                        <a:rPr sz="1400" b="0" i="0">
                          <a:solidFill>
                            <a:srgbClr val="263238"/>
                          </a:solidFill>
                          <a:latin typeface="Segoe UI"/>
                          <a:ea typeface="Segoe UI"/>
                          <a:cs typeface="Segoe UI"/>
                        </a:rPr>
                        <a:t>1</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Bộ file danh mục, tạo bảng, Dir / Grid / Lookup / aspx / menu</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50'</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2</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Quy ước tên, AutoComplete</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25'</a:t>
                      </a:r>
                    </a:p>
                  </a:txBody>
                  <a:tcPr marL="73152" marR="73152" marT="36576" marB="36576" anchor="ctr">
                    <a:solidFill>
                      <a:srgbClr val="F4F7FB"/>
                    </a:solidFill>
                  </a:tcPr>
                </a:tc>
              </a:tr>
              <a:tr h="502920">
                <a:tc>
                  <a:txBody>
                    <a:bodyPr wrap="square"/>
                    <a:lstStyle/>
                    <a:p>
                      <a:r>
                        <a:rPr sz="1400" b="0" i="0">
                          <a:solidFill>
                            <a:srgbClr val="263238"/>
                          </a:solidFill>
                          <a:latin typeface="Segoe UI"/>
                          <a:ea typeface="Segoe UI"/>
                          <a:cs typeface="Segoe UI"/>
                        </a:rPr>
                        <a:t>3</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Tạo nhanh danh mục, 3 cách điền tự động, mẫu câu yêu cầu</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40'</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4</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 Chuẩn Fast, checklist</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15'</a:t>
                      </a:r>
                    </a:p>
                  </a:txBody>
                  <a:tcPr marL="73152" marR="73152" marT="36576" marB="36576" anchor="ctr">
                    <a:solidFill>
                      <a:srgbClr val="F4F7FB"/>
                    </a:solidFill>
                  </a:tcPr>
                </a:tc>
              </a:tr>
              <a:tr h="502920">
                <a:tc>
                  <a:txBody>
                    <a:bodyPr wrap="square"/>
                    <a:lstStyle/>
                    <a:p>
                      <a:r>
                        <a:rPr sz="1400" b="0" i="0">
                          <a:solidFill>
                            <a:srgbClr val="263238"/>
                          </a:solidFill>
                          <a:latin typeface="Segoe UI"/>
                          <a:ea typeface="Segoe UI"/>
                          <a:cs typeface="Segoe UI"/>
                        </a:rPr>
                        <a:t>5</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Thực hành</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50'</a:t>
                      </a:r>
                    </a:p>
                  </a:txBody>
                  <a:tcPr marL="73152" marR="73152" marT="36576" marB="36576" anchor="ctr">
                    <a:solidFill>
                      <a:srgbClr val="FFFFFF"/>
                    </a:solidFill>
                  </a:tcPr>
                </a:tc>
              </a:tr>
            </a:tbl>
          </a:graphicData>
        </a:graphic>
      </p:graphicFrame>
      <p:sp>
        <p:nvSpPr>
          <p:cNvPr id="10" name="Rounded Rectangle 9"/>
          <p:cNvSpPr/>
          <p:nvPr/>
        </p:nvSpPr>
        <p:spPr>
          <a:xfrm>
            <a:off x="640080" y="5623560"/>
            <a:ext cx="10927080" cy="640080"/>
          </a:xfrm>
          <a:prstGeom prst="roundRect">
            <a:avLst>
              <a:gd name="adj" fmla="val 8000"/>
            </a:avLst>
          </a:prstGeom>
          <a:solidFill>
            <a:srgbClr val="FFFFFF"/>
          </a:solidFill>
          <a:ln w="15875">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5623560"/>
            <a:ext cx="91440" cy="64008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678424"/>
            <a:ext cx="10607040" cy="548640"/>
          </a:xfrm>
          <a:prstGeom prst="rect">
            <a:avLst/>
          </a:prstGeom>
          <a:noFill/>
        </p:spPr>
        <p:txBody>
          <a:bodyPr wrap="square" anchor="ctr" lIns="45720" rIns="45720" tIns="27432" bIns="27432">
            <a:spAutoFit/>
          </a:bodyPr>
          <a:lstStyle/>
          <a:p>
            <a:pPr algn="l"/>
            <a:r>
              <a:rPr sz="1400" b="1" i="0">
                <a:solidFill>
                  <a:srgbClr val="F2B705"/>
                </a:solidFill>
                <a:latin typeface="Segoe UI"/>
                <a:ea typeface="Segoe UI"/>
                <a:cs typeface="Segoe UI"/>
              </a:rPr>
              <a:t>Lưu ý:</a:t>
            </a:r>
            <a:r>
              <a:rPr sz="1400" b="0" i="0">
                <a:solidFill>
                  <a:srgbClr val="263238"/>
                </a:solidFill>
                <a:latin typeface="Segoe UI"/>
                <a:ea typeface="Segoe UI"/>
                <a:cs typeface="Segoe UI"/>
              </a:rPr>
              <a:t> Chuẩn bị: Dự án thử; key bản quyền Bcode (Tạo nhanh danh mục); API key nếu muốn thử AI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Bộ file của một danh mục</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5 · Thêm danh mục</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3</a:t>
            </a:r>
          </a:p>
        </p:txBody>
      </p:sp>
      <p:sp>
        <p:nvSpPr>
          <p:cNvPr id="7" name="Rounded Rectangle 6"/>
          <p:cNvSpPr/>
          <p:nvPr/>
        </p:nvSpPr>
        <p:spPr>
          <a:xfrm>
            <a:off x="640080" y="1645920"/>
            <a:ext cx="1577339" cy="160020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1" y="1737360"/>
            <a:ext cx="1431036" cy="720090"/>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Bảng SQL</a:t>
            </a:r>
          </a:p>
        </p:txBody>
      </p:sp>
      <p:sp>
        <p:nvSpPr>
          <p:cNvPr id="9" name="TextBox 8"/>
          <p:cNvSpPr txBox="1"/>
          <p:nvPr/>
        </p:nvSpPr>
        <p:spPr>
          <a:xfrm>
            <a:off x="713231" y="2446020"/>
            <a:ext cx="1431036" cy="768096"/>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zdmxxx</a:t>
            </a:r>
          </a:p>
          <a:p>
            <a:pPr algn="ctr"/>
            <a:r>
              <a:rPr sz="1200" b="0" i="0">
                <a:solidFill>
                  <a:srgbClr val="E3ECF5"/>
                </a:solidFill>
                <a:latin typeface="Segoe UI"/>
                <a:ea typeface="Segoe UI"/>
                <a:cs typeface="Segoe UI"/>
              </a:rPr>
              <a:t>(+ zdmxxxct)</a:t>
            </a:r>
          </a:p>
        </p:txBody>
      </p:sp>
      <p:sp>
        <p:nvSpPr>
          <p:cNvPr id="10" name="Right Arrow 9"/>
          <p:cNvSpPr/>
          <p:nvPr/>
        </p:nvSpPr>
        <p:spPr>
          <a:xfrm>
            <a:off x="2253996" y="232714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510028" y="1645920"/>
            <a:ext cx="1577339" cy="160020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83180" y="1737360"/>
            <a:ext cx="1431036" cy="720090"/>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Main\x.aspx</a:t>
            </a:r>
          </a:p>
        </p:txBody>
      </p:sp>
      <p:sp>
        <p:nvSpPr>
          <p:cNvPr id="13" name="TextBox 12"/>
          <p:cNvSpPr txBox="1"/>
          <p:nvPr/>
        </p:nvSpPr>
        <p:spPr>
          <a:xfrm>
            <a:off x="2583180" y="2446020"/>
            <a:ext cx="1431036" cy="768096"/>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Controller=…</a:t>
            </a:r>
          </a:p>
        </p:txBody>
      </p:sp>
      <p:sp>
        <p:nvSpPr>
          <p:cNvPr id="14" name="Right Arrow 13"/>
          <p:cNvSpPr/>
          <p:nvPr/>
        </p:nvSpPr>
        <p:spPr>
          <a:xfrm>
            <a:off x="4123944" y="232714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79976" y="1645920"/>
            <a:ext cx="1577339" cy="160020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3128" y="1737360"/>
            <a:ext cx="1431036" cy="720090"/>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Grid</a:t>
            </a:r>
          </a:p>
        </p:txBody>
      </p:sp>
      <p:sp>
        <p:nvSpPr>
          <p:cNvPr id="17" name="TextBox 16"/>
          <p:cNvSpPr txBox="1"/>
          <p:nvPr/>
        </p:nvSpPr>
        <p:spPr>
          <a:xfrm>
            <a:off x="4453128" y="2446020"/>
            <a:ext cx="1431036" cy="768096"/>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lưới danh sách</a:t>
            </a:r>
          </a:p>
        </p:txBody>
      </p:sp>
      <p:sp>
        <p:nvSpPr>
          <p:cNvPr id="18" name="Right Arrow 17"/>
          <p:cNvSpPr/>
          <p:nvPr/>
        </p:nvSpPr>
        <p:spPr>
          <a:xfrm>
            <a:off x="5993892" y="232714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9924" y="1645920"/>
            <a:ext cx="1577339" cy="160020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23076" y="1737360"/>
            <a:ext cx="1431036" cy="720090"/>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Dir</a:t>
            </a:r>
          </a:p>
        </p:txBody>
      </p:sp>
      <p:sp>
        <p:nvSpPr>
          <p:cNvPr id="21" name="TextBox 20"/>
          <p:cNvSpPr txBox="1"/>
          <p:nvPr/>
        </p:nvSpPr>
        <p:spPr>
          <a:xfrm>
            <a:off x="6323076" y="2446020"/>
            <a:ext cx="1431036" cy="768096"/>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form thêm / sửa</a:t>
            </a:r>
          </a:p>
        </p:txBody>
      </p:sp>
      <p:sp>
        <p:nvSpPr>
          <p:cNvPr id="22" name="Right Arrow 21"/>
          <p:cNvSpPr/>
          <p:nvPr/>
        </p:nvSpPr>
        <p:spPr>
          <a:xfrm>
            <a:off x="7863840" y="232714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119871" y="1645920"/>
            <a:ext cx="1577339" cy="160020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93023" y="1737360"/>
            <a:ext cx="1431036" cy="720090"/>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Lookup</a:t>
            </a:r>
          </a:p>
        </p:txBody>
      </p:sp>
      <p:sp>
        <p:nvSpPr>
          <p:cNvPr id="25" name="TextBox 24"/>
          <p:cNvSpPr txBox="1"/>
          <p:nvPr/>
        </p:nvSpPr>
        <p:spPr>
          <a:xfrm>
            <a:off x="8193023" y="2446020"/>
            <a:ext cx="1431036" cy="768096"/>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tra cứu mã</a:t>
            </a:r>
          </a:p>
        </p:txBody>
      </p:sp>
      <p:sp>
        <p:nvSpPr>
          <p:cNvPr id="26" name="Right Arrow 25"/>
          <p:cNvSpPr/>
          <p:nvPr/>
        </p:nvSpPr>
        <p:spPr>
          <a:xfrm>
            <a:off x="9733787" y="232714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989819" y="1645920"/>
            <a:ext cx="1577339" cy="160020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62972" y="1737360"/>
            <a:ext cx="1431036" cy="720090"/>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Filter …Import</a:t>
            </a:r>
          </a:p>
        </p:txBody>
      </p:sp>
      <p:sp>
        <p:nvSpPr>
          <p:cNvPr id="29" name="TextBox 28"/>
          <p:cNvSpPr txBox="1"/>
          <p:nvPr/>
        </p:nvSpPr>
        <p:spPr>
          <a:xfrm>
            <a:off x="10062972" y="2446020"/>
            <a:ext cx="1431036" cy="768096"/>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 Templates\Upload</a:t>
            </a:r>
          </a:p>
        </p:txBody>
      </p:sp>
      <p:graphicFrame>
        <p:nvGraphicFramePr>
          <p:cNvPr id="30" name="Table 29"/>
          <p:cNvGraphicFramePr>
            <a:graphicFrameLocks noGrp="1"/>
          </p:cNvGraphicFramePr>
          <p:nvPr/>
        </p:nvGraphicFramePr>
        <p:xfrm>
          <a:off x="640080" y="3474720"/>
          <a:ext cx="10927080" cy="2560320"/>
        </p:xfrm>
        <a:graphic>
          <a:graphicData uri="http://schemas.openxmlformats.org/drawingml/2006/table">
            <a:tbl>
              <a:tblPr firstRow="1" bandRow="1">
                <a:tableStyleId>{5940675A-B579-460E-94D1-54222C63F5DA}</a:tableStyleId>
              </a:tblPr>
              <a:tblGrid>
                <a:gridCol w="4937760"/>
                <a:gridCol w="5989320"/>
              </a:tblGrid>
              <a:tr h="365760">
                <a:tc>
                  <a:txBody>
                    <a:bodyPr wrap="square"/>
                    <a:lstStyle/>
                    <a:p>
                      <a:r>
                        <a:rPr sz="1400" b="1" i="0">
                          <a:solidFill>
                            <a:srgbClr val="FFFFFF"/>
                          </a:solidFill>
                          <a:latin typeface="Segoe UI"/>
                          <a:ea typeface="Segoe UI"/>
                          <a:cs typeface="Segoe UI"/>
                        </a:rPr>
                        <a:t>Thẻ / thuộc tính</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Ý nghĩa</a:t>
                      </a:r>
                    </a:p>
                  </a:txBody>
                  <a:tcPr marL="73152" marR="73152" marT="36576" marB="36576" anchor="ctr">
                    <a:solidFill>
                      <a:srgbClr val="1F4E79"/>
                    </a:solidFill>
                  </a:tcPr>
                </a:tc>
              </a:tr>
              <a:tr h="365760">
                <a:tc>
                  <a:txBody>
                    <a:bodyPr wrap="square"/>
                    <a:lstStyle/>
                    <a:p>
                      <a:r>
                        <a:rPr sz="1300" b="0" i="0">
                          <a:solidFill>
                            <a:srgbClr val="B02A2A"/>
                          </a:solidFill>
                          <a:latin typeface="Consolas"/>
                          <a:ea typeface="Consolas"/>
                          <a:cs typeface="Consolas"/>
                        </a:rPr>
                        <a:t>&lt;dir table code order&gt;</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Bảng, cột khoá, thứ tự sắp xếp mặc định</a:t>
                      </a:r>
                    </a:p>
                  </a:txBody>
                  <a:tcPr marL="73152" marR="73152" marT="36576" marB="36576" anchor="ctr">
                    <a:solidFill>
                      <a:srgbClr val="FFFFFF"/>
                    </a:solidFill>
                  </a:tcPr>
                </a:tc>
              </a:tr>
              <a:tr h="365760">
                <a:tc>
                  <a:txBody>
                    <a:bodyPr wrap="square"/>
                    <a:lstStyle/>
                    <a:p>
                      <a:r>
                        <a:rPr sz="1300" b="0" i="0">
                          <a:solidFill>
                            <a:srgbClr val="B02A2A"/>
                          </a:solidFill>
                          <a:latin typeface="Consolas"/>
                          <a:ea typeface="Consolas"/>
                          <a:cs typeface="Consolas"/>
                        </a:rPr>
                        <a:t>isPrimaryKey</a:t>
                      </a:r>
                      <a:r>
                        <a:rPr sz="1400" b="0" i="0">
                          <a:solidFill>
                            <a:srgbClr val="263238"/>
                          </a:solidFill>
                          <a:latin typeface="Segoe UI"/>
                          <a:ea typeface="Segoe UI"/>
                          <a:cs typeface="Segoe UI"/>
                        </a:rPr>
                        <a:t> · </a:t>
                      </a:r>
                      <a:r>
                        <a:rPr sz="1300" b="0" i="0">
                          <a:solidFill>
                            <a:srgbClr val="B02A2A"/>
                          </a:solidFill>
                          <a:latin typeface="Consolas"/>
                          <a:ea typeface="Consolas"/>
                          <a:cs typeface="Consolas"/>
                        </a:rPr>
                        <a:t>allowNulls="false"</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Là khoá chính · bắt buộc nhập</a:t>
                      </a:r>
                    </a:p>
                  </a:txBody>
                  <a:tcPr marL="73152" marR="73152" marT="36576" marB="36576" anchor="ctr">
                    <a:solidFill>
                      <a:srgbClr val="F4F7FB"/>
                    </a:solidFill>
                  </a:tcPr>
                </a:tc>
              </a:tr>
              <a:tr h="365760">
                <a:tc>
                  <a:txBody>
                    <a:bodyPr wrap="square"/>
                    <a:lstStyle/>
                    <a:p>
                      <a:r>
                        <a:rPr sz="1300" b="0" i="0">
                          <a:solidFill>
                            <a:srgbClr val="B02A2A"/>
                          </a:solidFill>
                          <a:latin typeface="Consolas"/>
                          <a:ea typeface="Consolas"/>
                          <a:cs typeface="Consolas"/>
                        </a:rPr>
                        <a:t>dataFormatString="@upperCaseFormat"</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Tự viết hoa mã</a:t>
                      </a:r>
                    </a:p>
                  </a:txBody>
                  <a:tcPr marL="73152" marR="73152" marT="36576" marB="36576" anchor="ctr">
                    <a:solidFill>
                      <a:srgbClr val="FFFFFF"/>
                    </a:solidFill>
                  </a:tcPr>
                </a:tc>
              </a:tr>
              <a:tr h="365760">
                <a:tc>
                  <a:txBody>
                    <a:bodyPr wrap="square"/>
                    <a:lstStyle/>
                    <a:p>
                      <a:r>
                        <a:rPr sz="1300" b="0" i="0">
                          <a:solidFill>
                            <a:srgbClr val="B02A2A"/>
                          </a:solidFill>
                          <a:latin typeface="Consolas"/>
                          <a:ea typeface="Consolas"/>
                          <a:cs typeface="Consolas"/>
                        </a:rPr>
                        <a:t>header v / e</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Nhãn tiếng Việt / tiếng Anh</a:t>
                      </a:r>
                    </a:p>
                  </a:txBody>
                  <a:tcPr marL="73152" marR="73152" marT="36576" marB="36576" anchor="ctr">
                    <a:solidFill>
                      <a:srgbClr val="F4F7FB"/>
                    </a:solidFill>
                  </a:tcPr>
                </a:tc>
              </a:tr>
              <a:tr h="365760">
                <a:tc>
                  <a:txBody>
                    <a:bodyPr wrap="square"/>
                    <a:lstStyle/>
                    <a:p>
                      <a:r>
                        <a:rPr sz="1300" b="0" i="0">
                          <a:solidFill>
                            <a:srgbClr val="B02A2A"/>
                          </a:solidFill>
                          <a:latin typeface="Consolas"/>
                          <a:ea typeface="Consolas"/>
                          <a:cs typeface="Consolas"/>
                        </a:rPr>
                        <a:t>external</a:t>
                      </a:r>
                      <a:r>
                        <a:rPr sz="1400" b="0" i="0">
                          <a:solidFill>
                            <a:srgbClr val="263238"/>
                          </a:solidFill>
                          <a:latin typeface="Segoe UI"/>
                          <a:ea typeface="Segoe UI"/>
                          <a:cs typeface="Segoe UI"/>
                        </a:rPr>
                        <a:t> · </a:t>
                      </a:r>
                      <a:r>
                        <a:rPr sz="1300" b="0" i="0">
                          <a:solidFill>
                            <a:srgbClr val="B02A2A"/>
                          </a:solidFill>
                          <a:latin typeface="Consolas"/>
                          <a:ea typeface="Consolas"/>
                          <a:cs typeface="Consolas"/>
                        </a:rPr>
                        <a:t>readOnly</a:t>
                      </a:r>
                      <a:r>
                        <a:rPr sz="1400" b="0" i="0">
                          <a:solidFill>
                            <a:srgbClr val="263238"/>
                          </a:solidFill>
                          <a:latin typeface="Segoe UI"/>
                          <a:ea typeface="Segoe UI"/>
                          <a:cs typeface="Segoe UI"/>
                        </a:rPr>
                        <a:t> · </a:t>
                      </a:r>
                      <a:r>
                        <a:rPr sz="1300" b="0" i="0">
                          <a:solidFill>
                            <a:srgbClr val="B02A2A"/>
                          </a:solidFill>
                          <a:latin typeface="Consolas"/>
                          <a:ea typeface="Consolas"/>
                          <a:cs typeface="Consolas"/>
                        </a:rPr>
                        <a:t>hidden</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Không có trong bảng · chỉ đọc · ẩn</a:t>
                      </a:r>
                    </a:p>
                  </a:txBody>
                  <a:tcPr marL="73152" marR="73152" marT="36576" marB="36576" anchor="ctr">
                    <a:solidFill>
                      <a:srgbClr val="FFFFFF"/>
                    </a:solidFill>
                  </a:tcPr>
                </a:tc>
              </a:tr>
              <a:tr h="365760">
                <a:tc>
                  <a:txBody>
                    <a:bodyPr wrap="square"/>
                    <a:lstStyle/>
                    <a:p>
                      <a:r>
                        <a:rPr sz="1300" b="0" i="0">
                          <a:solidFill>
                            <a:srgbClr val="B02A2A"/>
                          </a:solidFill>
                          <a:latin typeface="Consolas"/>
                          <a:ea typeface="Consolas"/>
                          <a:cs typeface="Consolas"/>
                        </a:rPr>
                        <a:t>&lt;command event="Inserting"&gt;</a:t>
                      </a:r>
                      <a:r>
                        <a:rPr sz="1400" b="0" i="0">
                          <a:solidFill>
                            <a:srgbClr val="263238"/>
                          </a:solidFill>
                          <a:latin typeface="Segoe UI"/>
                          <a:ea typeface="Segoe UI"/>
                          <a:cs typeface="Segoe UI"/>
                        </a:rPr>
                        <a:t>…</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SQL kiểm tra / ghi dữ liệu theo sự kiện</a:t>
                      </a:r>
                    </a:p>
                  </a:txBody>
                  <a:tcPr marL="73152" marR="73152" marT="36576" marB="36576" anchor="ctr">
                    <a:solidFill>
                      <a:srgbClr val="F4F7FB"/>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Field tra cứu — AutoComplete</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5 · Thêm danh mục</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4</a:t>
            </a:r>
          </a:p>
        </p:txBody>
      </p:sp>
      <p:sp>
        <p:nvSpPr>
          <p:cNvPr id="7" name="Rounded Rectangle 6"/>
          <p:cNvSpPr/>
          <p:nvPr/>
        </p:nvSpPr>
        <p:spPr>
          <a:xfrm>
            <a:off x="640080" y="1600200"/>
            <a:ext cx="6949440" cy="4005072"/>
          </a:xfrm>
          <a:prstGeom prst="roundRect">
            <a:avLst>
              <a:gd name="adj" fmla="val 3000"/>
            </a:avLst>
          </a:prstGeom>
          <a:solidFill>
            <a:srgbClr val="1E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673352"/>
            <a:ext cx="6583679" cy="320040"/>
          </a:xfrm>
          <a:prstGeom prst="rect">
            <a:avLst/>
          </a:prstGeom>
          <a:noFill/>
        </p:spPr>
        <p:txBody>
          <a:bodyPr wrap="square" anchor="t" lIns="45720" rIns="45720" tIns="27432" bIns="27432">
            <a:spAutoFit/>
          </a:bodyPr>
          <a:lstStyle/>
          <a:p>
            <a:pPr algn="l"/>
            <a:r>
              <a:rPr sz="1100" b="1" i="0">
                <a:solidFill>
                  <a:srgbClr val="9AA8B8"/>
                </a:solidFill>
                <a:latin typeface="Segoe UI"/>
                <a:ea typeface="Segoe UI"/>
                <a:cs typeface="Segoe UI"/>
              </a:rPr>
              <a:t>Dir\Customer.f (FBO mẫu)</a:t>
            </a:r>
          </a:p>
        </p:txBody>
      </p:sp>
      <p:sp>
        <p:nvSpPr>
          <p:cNvPr id="9" name="TextBox 8"/>
          <p:cNvSpPr txBox="1"/>
          <p:nvPr/>
        </p:nvSpPr>
        <p:spPr>
          <a:xfrm>
            <a:off x="822959" y="1984248"/>
            <a:ext cx="6629400" cy="4187952"/>
          </a:xfrm>
          <a:prstGeom prst="rect">
            <a:avLst/>
          </a:prstGeom>
          <a:noFill/>
        </p:spPr>
        <p:txBody>
          <a:bodyPr wrap="none">
            <a:spAutoFit/>
          </a:bodyPr>
          <a:lstStyle/>
          <a:p>
            <a:pPr>
              <a:lnSpc>
                <a:spcPct val="100000"/>
              </a:lnSpc>
              <a:spcAft>
                <a:spcPts val="0"/>
              </a:spcAft>
            </a:pPr>
            <a:r>
              <a:rPr sz="1800" b="0" i="0">
                <a:solidFill>
                  <a:srgbClr val="E6E6E6"/>
                </a:solidFill>
                <a:latin typeface="Consolas"/>
                <a:ea typeface="Consolas"/>
                <a:cs typeface="Consolas"/>
              </a:rPr>
              <a:t>&lt;field name="tk"&gt;</a:t>
            </a:r>
          </a:p>
          <a:p>
            <a:pPr>
              <a:lnSpc>
                <a:spcPct val="100000"/>
              </a:lnSpc>
              <a:spcAft>
                <a:spcPts val="0"/>
              </a:spcAft>
            </a:pPr>
            <a:r>
              <a:rPr sz="1800" b="0" i="0">
                <a:solidFill>
                  <a:srgbClr val="E6E6E6"/>
                </a:solidFill>
                <a:latin typeface="Consolas"/>
                <a:ea typeface="Consolas"/>
                <a:cs typeface="Consolas"/>
              </a:rPr>
              <a:t>  &lt;header v="Tài khoản ngầm định"</a:t>
            </a:r>
          </a:p>
          <a:p>
            <a:pPr>
              <a:lnSpc>
                <a:spcPct val="100000"/>
              </a:lnSpc>
              <a:spcAft>
                <a:spcPts val="0"/>
              </a:spcAft>
            </a:pPr>
            <a:r>
              <a:rPr sz="1800" b="0" i="0">
                <a:solidFill>
                  <a:srgbClr val="E6E6E6"/>
                </a:solidFill>
                <a:latin typeface="Consolas"/>
                <a:ea typeface="Consolas"/>
                <a:cs typeface="Consolas"/>
              </a:rPr>
              <a:t>          e="Default Account"&gt;&lt;/header&gt;</a:t>
            </a:r>
          </a:p>
          <a:p>
            <a:pPr>
              <a:lnSpc>
                <a:spcPct val="100000"/>
              </a:lnSpc>
              <a:spcAft>
                <a:spcPts val="0"/>
              </a:spcAft>
            </a:pPr>
            <a:r>
              <a:rPr sz="1800" b="0" i="0">
                <a:solidFill>
                  <a:srgbClr val="E6E6E6"/>
                </a:solidFill>
                <a:latin typeface="Consolas"/>
                <a:ea typeface="Consolas"/>
                <a:cs typeface="Consolas"/>
              </a:rPr>
              <a:t>  &lt;items style="AutoComplete"</a:t>
            </a:r>
          </a:p>
          <a:p>
            <a:pPr>
              <a:lnSpc>
                <a:spcPct val="100000"/>
              </a:lnSpc>
              <a:spcAft>
                <a:spcPts val="0"/>
              </a:spcAft>
            </a:pPr>
            <a:r>
              <a:rPr sz="1800" b="0" i="0">
                <a:solidFill>
                  <a:srgbClr val="E6E6E6"/>
                </a:solidFill>
                <a:latin typeface="Consolas"/>
                <a:ea typeface="Consolas"/>
                <a:cs typeface="Consolas"/>
              </a:rPr>
              <a:t>         controller="Account"</a:t>
            </a:r>
          </a:p>
          <a:p>
            <a:pPr>
              <a:lnSpc>
                <a:spcPct val="100000"/>
              </a:lnSpc>
              <a:spcAft>
                <a:spcPts val="0"/>
              </a:spcAft>
            </a:pPr>
            <a:r>
              <a:rPr sz="1800" b="0" i="0">
                <a:solidFill>
                  <a:srgbClr val="E6E6E6"/>
                </a:solidFill>
                <a:latin typeface="Consolas"/>
                <a:ea typeface="Consolas"/>
                <a:cs typeface="Consolas"/>
              </a:rPr>
              <a:t>         reference="ten_tk%l"</a:t>
            </a:r>
          </a:p>
          <a:p>
            <a:pPr>
              <a:lnSpc>
                <a:spcPct val="100000"/>
              </a:lnSpc>
              <a:spcAft>
                <a:spcPts val="0"/>
              </a:spcAft>
            </a:pPr>
            <a:r>
              <a:rPr sz="1800" b="0" i="0">
                <a:solidFill>
                  <a:srgbClr val="E6E6E6"/>
                </a:solidFill>
                <a:latin typeface="Consolas"/>
                <a:ea typeface="Consolas"/>
                <a:cs typeface="Consolas"/>
              </a:rPr>
              <a:t>         key="loai_tk = 1 </a:t>
            </a:r>
            <a:r>
              <a:rPr sz="1800" b="1" i="0">
                <a:solidFill>
                  <a:srgbClr val="6CB6FF"/>
                </a:solidFill>
                <a:latin typeface="Consolas"/>
                <a:ea typeface="Consolas"/>
                <a:cs typeface="Consolas"/>
              </a:rPr>
              <a:t>and</a:t>
            </a:r>
            <a:r>
              <a:rPr sz="1800" b="0" i="0">
                <a:solidFill>
                  <a:srgbClr val="E6E6E6"/>
                </a:solidFill>
                <a:latin typeface="Consolas"/>
                <a:ea typeface="Consolas"/>
                <a:cs typeface="Consolas"/>
              </a:rPr>
              <a:t> status = '1'"</a:t>
            </a:r>
          </a:p>
          <a:p>
            <a:pPr>
              <a:lnSpc>
                <a:spcPct val="100000"/>
              </a:lnSpc>
              <a:spcAft>
                <a:spcPts val="0"/>
              </a:spcAft>
            </a:pPr>
            <a:r>
              <a:rPr sz="1800" b="0" i="0">
                <a:solidFill>
                  <a:srgbClr val="E6E6E6"/>
                </a:solidFill>
                <a:latin typeface="Consolas"/>
                <a:ea typeface="Consolas"/>
                <a:cs typeface="Consolas"/>
              </a:rPr>
              <a:t>         check="loai_tk = 1"</a:t>
            </a:r>
          </a:p>
          <a:p>
            <a:pPr>
              <a:lnSpc>
                <a:spcPct val="100000"/>
              </a:lnSpc>
              <a:spcAft>
                <a:spcPts val="0"/>
              </a:spcAft>
            </a:pPr>
            <a:r>
              <a:rPr sz="1800" b="0" i="0">
                <a:solidFill>
                  <a:srgbClr val="E6E6E6"/>
                </a:solidFill>
                <a:latin typeface="Consolas"/>
                <a:ea typeface="Consolas"/>
                <a:cs typeface="Consolas"/>
              </a:rPr>
              <a:t>         information="tk$dmtk.ten_tk%l"/&gt;</a:t>
            </a:r>
          </a:p>
          <a:p>
            <a:pPr>
              <a:lnSpc>
                <a:spcPct val="100000"/>
              </a:lnSpc>
              <a:spcAft>
                <a:spcPts val="0"/>
              </a:spcAft>
            </a:pPr>
            <a:r>
              <a:rPr sz="1800" b="0" i="0">
                <a:solidFill>
                  <a:srgbClr val="E6E6E6"/>
                </a:solidFill>
                <a:latin typeface="Consolas"/>
                <a:ea typeface="Consolas"/>
                <a:cs typeface="Consolas"/>
              </a:rPr>
              <a:t>&lt;/field&gt;</a:t>
            </a:r>
          </a:p>
          <a:p>
            <a:pPr>
              <a:lnSpc>
                <a:spcPct val="100000"/>
              </a:lnSpc>
              <a:spcAft>
                <a:spcPts val="0"/>
              </a:spcAft>
            </a:pPr>
            <a:r>
              <a:rPr sz="1800" b="0" i="0">
                <a:solidFill>
                  <a:srgbClr val="E6E6E6"/>
                </a:solidFill>
                <a:latin typeface="Consolas"/>
                <a:ea typeface="Consolas"/>
                <a:cs typeface="Consolas"/>
              </a:rPr>
              <a:t>&lt;field name="ten_tk%l" readOnly="true"</a:t>
            </a:r>
          </a:p>
          <a:p>
            <a:pPr>
              <a:lnSpc>
                <a:spcPct val="100000"/>
              </a:lnSpc>
              <a:spcAft>
                <a:spcPts val="0"/>
              </a:spcAft>
            </a:pPr>
            <a:r>
              <a:rPr sz="1800" b="0" i="0">
                <a:solidFill>
                  <a:srgbClr val="E6E6E6"/>
                </a:solidFill>
                <a:latin typeface="Consolas"/>
                <a:ea typeface="Consolas"/>
                <a:cs typeface="Consolas"/>
              </a:rPr>
              <a:t>       external="true" defaultValue="''"&gt;</a:t>
            </a:r>
          </a:p>
        </p:txBody>
      </p:sp>
      <p:sp>
        <p:nvSpPr>
          <p:cNvPr id="10" name="TextBox 9"/>
          <p:cNvSpPr txBox="1"/>
          <p:nvPr/>
        </p:nvSpPr>
        <p:spPr>
          <a:xfrm>
            <a:off x="7863840" y="1600200"/>
            <a:ext cx="3749039" cy="466344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controller</a:t>
            </a:r>
            <a:r>
              <a:rPr sz="1600" b="0" i="0">
                <a:solidFill>
                  <a:srgbClr val="263238"/>
                </a:solidFill>
                <a:latin typeface="Segoe UI"/>
                <a:ea typeface="Segoe UI"/>
                <a:cs typeface="Segoe UI"/>
              </a:rPr>
              <a:t> — Lookup dùng để tra</a:t>
            </a:r>
          </a:p>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reference</a:t>
            </a:r>
            <a:r>
              <a:rPr sz="1600" b="0" i="0">
                <a:solidFill>
                  <a:srgbClr val="263238"/>
                </a:solidFill>
                <a:latin typeface="Segoe UI"/>
                <a:ea typeface="Segoe UI"/>
                <a:cs typeface="Segoe UI"/>
              </a:rPr>
              <a:t> — ô nhận tên</a:t>
            </a:r>
          </a:p>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key</a:t>
            </a:r>
            <a:r>
              <a:rPr sz="1600" b="0" i="0">
                <a:solidFill>
                  <a:srgbClr val="263238"/>
                </a:solidFill>
                <a:latin typeface="Segoe UI"/>
                <a:ea typeface="Segoe UI"/>
                <a:cs typeface="Segoe UI"/>
              </a:rPr>
              <a:t> — lọc danh sách gợi ý</a:t>
            </a:r>
          </a:p>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check</a:t>
            </a:r>
            <a:r>
              <a:rPr sz="1600" b="0" i="0">
                <a:solidFill>
                  <a:srgbClr val="263238"/>
                </a:solidFill>
                <a:latin typeface="Segoe UI"/>
                <a:ea typeface="Segoe UI"/>
                <a:cs typeface="Segoe UI"/>
              </a:rPr>
              <a:t> — kiểm tra mã gõ tay</a:t>
            </a:r>
          </a:p>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information</a:t>
            </a:r>
            <a:r>
              <a:rPr sz="1600" b="0" i="0">
                <a:solidFill>
                  <a:srgbClr val="263238"/>
                </a:solidFill>
                <a:latin typeface="Segoe UI"/>
                <a:ea typeface="Segoe UI"/>
                <a:cs typeface="Segoe UI"/>
              </a:rPr>
              <a:t> — </a:t>
            </a:r>
            <a:r>
              <a:rPr sz="1500" b="0" i="0">
                <a:solidFill>
                  <a:srgbClr val="B02A2A"/>
                </a:solidFill>
                <a:latin typeface="Consolas"/>
                <a:ea typeface="Consolas"/>
                <a:cs typeface="Consolas"/>
              </a:rPr>
              <a:t>field$bảng.tên</a:t>
            </a:r>
          </a:p>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%l</a:t>
            </a:r>
            <a:r>
              <a:rPr sz="1600" b="0" i="0">
                <a:solidFill>
                  <a:srgbClr val="263238"/>
                </a:solidFill>
                <a:latin typeface="Segoe UI"/>
                <a:ea typeface="Segoe UI"/>
                <a:cs typeface="Segoe UI"/>
              </a:rPr>
              <a:t> — tên theo ngôn ngữ</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Cột tra cứu </a:t>
            </a:r>
            <a:r>
              <a:rPr sz="1600" b="1" i="0">
                <a:solidFill>
                  <a:srgbClr val="1F4E79"/>
                </a:solidFill>
                <a:latin typeface="Segoe UI"/>
                <a:ea typeface="Segoe UI"/>
                <a:cs typeface="Segoe UI"/>
              </a:rPr>
              <a:t>cùng kiểu</a:t>
            </a:r>
            <a:r>
              <a:rPr sz="1600" b="0" i="0">
                <a:solidFill>
                  <a:srgbClr val="263238"/>
                </a:solidFill>
                <a:latin typeface="Segoe UI"/>
                <a:ea typeface="Segoe UI"/>
                <a:cs typeface="Segoe UI"/>
              </a:rPr>
              <a:t> với cột mã nguồn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Tạo nhanh danh mục — 3 cách điền tự động</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5 · Thêm danh mục</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5</a:t>
            </a:r>
          </a:p>
        </p:txBody>
      </p:sp>
      <p:sp>
        <p:nvSpPr>
          <p:cNvPr id="7" name="Rounded Rectangle 6"/>
          <p:cNvSpPr/>
          <p:nvPr/>
        </p:nvSpPr>
        <p:spPr>
          <a:xfrm>
            <a:off x="640080" y="1645920"/>
            <a:ext cx="3459480" cy="37947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45920"/>
            <a:ext cx="3459480"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1874519"/>
            <a:ext cx="3093720" cy="822960"/>
          </a:xfrm>
          <a:prstGeom prst="rect">
            <a:avLst/>
          </a:prstGeom>
          <a:noFill/>
        </p:spPr>
        <p:txBody>
          <a:bodyPr wrap="square" anchor="t" lIns="45720" rIns="45720" tIns="27432" bIns="27432">
            <a:spAutoFit/>
          </a:bodyPr>
          <a:lstStyle/>
          <a:p>
            <a:pPr algn="l"/>
            <a:r>
              <a:rPr sz="2000" b="1" i="0">
                <a:solidFill>
                  <a:srgbClr val="1F4E79"/>
                </a:solidFill>
                <a:latin typeface="Segoe UI"/>
                <a:ea typeface="Segoe UI"/>
                <a:cs typeface="Segoe UI"/>
              </a:rPr>
              <a:t>⚙ Theo luật Fast</a:t>
            </a:r>
          </a:p>
        </p:txBody>
      </p:sp>
      <p:sp>
        <p:nvSpPr>
          <p:cNvPr id="10" name="TextBox 9"/>
          <p:cNvSpPr txBox="1"/>
          <p:nvPr/>
        </p:nvSpPr>
        <p:spPr>
          <a:xfrm>
            <a:off x="777240" y="2606040"/>
            <a:ext cx="3185160" cy="27432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Ctrl+Alt+Shift+F</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Đọc yêu cầu theo luật, điền ngay</a:t>
            </a:r>
          </a:p>
          <a:p>
            <a:pPr>
              <a:spcAft>
                <a:spcPts val="1000"/>
              </a:spcAft>
            </a:pPr>
            <a:r>
              <a:rPr sz="1600" b="1" i="0">
                <a:solidFill>
                  <a:srgbClr val="F2B705"/>
                </a:solidFill>
                <a:latin typeface="Segoe UI"/>
                <a:ea typeface="Segoe UI"/>
                <a:cs typeface="Segoe UI"/>
              </a:rPr>
              <a:t>▪  </a:t>
            </a:r>
            <a:r>
              <a:rPr sz="1600" b="1" i="0">
                <a:solidFill>
                  <a:srgbClr val="1F4E79"/>
                </a:solidFill>
                <a:latin typeface="Segoe UI"/>
                <a:ea typeface="Segoe UI"/>
                <a:cs typeface="Segoe UI"/>
              </a:rPr>
              <a:t>Không</a:t>
            </a:r>
            <a:r>
              <a:rPr sz="1600" b="0" i="0">
                <a:solidFill>
                  <a:srgbClr val="263238"/>
                </a:solidFill>
                <a:latin typeface="Segoe UI"/>
                <a:ea typeface="Segoe UI"/>
                <a:cs typeface="Segoe UI"/>
              </a:rPr>
              <a:t> gọi AI, không tốn token</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Không cần API key</a:t>
            </a:r>
          </a:p>
        </p:txBody>
      </p:sp>
      <p:sp>
        <p:nvSpPr>
          <p:cNvPr id="11" name="Rounded Rectangle 10"/>
          <p:cNvSpPr/>
          <p:nvPr/>
        </p:nvSpPr>
        <p:spPr>
          <a:xfrm>
            <a:off x="4373880" y="1645920"/>
            <a:ext cx="3459480" cy="37947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3880" y="1645920"/>
            <a:ext cx="3459480" cy="1097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6760" y="1874519"/>
            <a:ext cx="3093720" cy="822960"/>
          </a:xfrm>
          <a:prstGeom prst="rect">
            <a:avLst/>
          </a:prstGeom>
          <a:noFill/>
        </p:spPr>
        <p:txBody>
          <a:bodyPr wrap="square" anchor="t" lIns="45720" rIns="45720" tIns="27432" bIns="27432">
            <a:spAutoFit/>
          </a:bodyPr>
          <a:lstStyle/>
          <a:p>
            <a:pPr algn="l"/>
            <a:r>
              <a:rPr sz="2000" b="1" i="0">
                <a:solidFill>
                  <a:srgbClr val="2E75B6"/>
                </a:solidFill>
                <a:latin typeface="Segoe UI"/>
                <a:ea typeface="Segoe UI"/>
                <a:cs typeface="Segoe UI"/>
              </a:rPr>
              <a:t>🔎 AI phân tích</a:t>
            </a:r>
          </a:p>
        </p:txBody>
      </p:sp>
      <p:sp>
        <p:nvSpPr>
          <p:cNvPr id="14" name="TextBox 13"/>
          <p:cNvSpPr txBox="1"/>
          <p:nvPr/>
        </p:nvSpPr>
        <p:spPr>
          <a:xfrm>
            <a:off x="4511040" y="2606040"/>
            <a:ext cx="3185160" cy="27432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Ctrl+Alt+Shift+I</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AI </a:t>
            </a:r>
            <a:r>
              <a:rPr sz="1600" b="1" i="0">
                <a:solidFill>
                  <a:srgbClr val="1F4E79"/>
                </a:solidFill>
                <a:latin typeface="Segoe UI"/>
                <a:ea typeface="Segoe UI"/>
                <a:cs typeface="Segoe UI"/>
              </a:rPr>
              <a:t>viết lại</a:t>
            </a:r>
            <a:r>
              <a:rPr sz="1600" b="0" i="0">
                <a:solidFill>
                  <a:srgbClr val="263238"/>
                </a:solidFill>
                <a:latin typeface="Segoe UI"/>
                <a:ea typeface="Segoe UI"/>
                <a:cs typeface="Segoe UI"/>
              </a:rPr>
              <a:t> yêu cầu theo mẫu câu chuẩn</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Bạn sửa rồi </a:t>
            </a:r>
            <a:r>
              <a:rPr sz="1600" b="1" i="0">
                <a:solidFill>
                  <a:srgbClr val="1F4E79"/>
                </a:solidFill>
                <a:latin typeface="Segoe UI"/>
                <a:ea typeface="Segoe UI"/>
                <a:cs typeface="Segoe UI"/>
              </a:rPr>
              <a:t>xác nhận</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Luật Fast tạo danh mục từ đó</a:t>
            </a:r>
          </a:p>
        </p:txBody>
      </p:sp>
      <p:sp>
        <p:nvSpPr>
          <p:cNvPr id="15" name="Rounded Rectangle 14"/>
          <p:cNvSpPr/>
          <p:nvPr/>
        </p:nvSpPr>
        <p:spPr>
          <a:xfrm>
            <a:off x="8107679" y="1645920"/>
            <a:ext cx="3459480" cy="37947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07679" y="1645920"/>
            <a:ext cx="3459480" cy="1097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874519"/>
            <a:ext cx="3093720" cy="822960"/>
          </a:xfrm>
          <a:prstGeom prst="rect">
            <a:avLst/>
          </a:prstGeom>
          <a:noFill/>
        </p:spPr>
        <p:txBody>
          <a:bodyPr wrap="square" anchor="t" lIns="45720" rIns="45720" tIns="27432" bIns="27432">
            <a:spAutoFit/>
          </a:bodyPr>
          <a:lstStyle/>
          <a:p>
            <a:pPr algn="l"/>
            <a:r>
              <a:rPr sz="2000" b="1" i="0">
                <a:solidFill>
                  <a:srgbClr val="8E44AD"/>
                </a:solidFill>
                <a:latin typeface="Segoe UI"/>
                <a:ea typeface="Segoe UI"/>
                <a:cs typeface="Segoe UI"/>
              </a:rPr>
              <a:t>🤖 AI tạo danh mục</a:t>
            </a:r>
          </a:p>
        </p:txBody>
      </p:sp>
      <p:sp>
        <p:nvSpPr>
          <p:cNvPr id="18" name="TextBox 17"/>
          <p:cNvSpPr txBox="1"/>
          <p:nvPr/>
        </p:nvSpPr>
        <p:spPr>
          <a:xfrm>
            <a:off x="8244839" y="2606040"/>
            <a:ext cx="3185160" cy="27432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Ctrl+Alt+I</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AI đọc yêu cầu + tên bảng, cột App Data</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Điền thẳng, hỏi lại chỗ chưa rõ</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Cần API key</a:t>
            </a:r>
          </a:p>
        </p:txBody>
      </p:sp>
      <p:sp>
        <p:nvSpPr>
          <p:cNvPr id="19" name="Rounded Rectangle 18"/>
          <p:cNvSpPr/>
          <p:nvPr/>
        </p:nvSpPr>
        <p:spPr>
          <a:xfrm>
            <a:off x="640080" y="5623560"/>
            <a:ext cx="10927080" cy="640080"/>
          </a:xfrm>
          <a:prstGeom prst="roundRect">
            <a:avLst>
              <a:gd name="adj" fmla="val 8000"/>
            </a:avLst>
          </a:prstGeom>
          <a:solidFill>
            <a:srgbClr val="FFFFFF"/>
          </a:solidFill>
          <a:ln w="15875">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623560"/>
            <a:ext cx="91440" cy="64008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5678424"/>
            <a:ext cx="10607040" cy="548640"/>
          </a:xfrm>
          <a:prstGeom prst="rect">
            <a:avLst/>
          </a:prstGeom>
          <a:noFill/>
        </p:spPr>
        <p:txBody>
          <a:bodyPr wrap="square" anchor="ctr" lIns="45720" rIns="45720" tIns="27432" bIns="27432">
            <a:spAutoFit/>
          </a:bodyPr>
          <a:lstStyle/>
          <a:p>
            <a:pPr algn="l"/>
            <a:r>
              <a:rPr sz="1400" b="1" i="0">
                <a:solidFill>
                  <a:srgbClr val="F2B705"/>
                </a:solidFill>
                <a:latin typeface="Segoe UI"/>
                <a:ea typeface="Segoe UI"/>
                <a:cs typeface="Segoe UI"/>
              </a:rPr>
              <a:t>Lưu ý:</a:t>
            </a:r>
            <a:r>
              <a:rPr sz="1400" b="0" i="0">
                <a:solidFill>
                  <a:srgbClr val="263238"/>
                </a:solidFill>
                <a:latin typeface="Segoe UI"/>
                <a:ea typeface="Segoe UI"/>
                <a:cs typeface="Segoe UI"/>
              </a:rPr>
              <a:t> Bảng mới: tab </a:t>
            </a:r>
            <a:r>
              <a:rPr sz="1400" b="1" i="0">
                <a:solidFill>
                  <a:srgbClr val="1F4E79"/>
                </a:solidFill>
                <a:latin typeface="Segoe UI"/>
                <a:ea typeface="Segoe UI"/>
                <a:cs typeface="Segoe UI"/>
              </a:rPr>
              <a:t>Script</a:t>
            </a:r>
            <a:r>
              <a:rPr sz="1400" b="0" i="0">
                <a:solidFill>
                  <a:srgbClr val="263238"/>
                </a:solidFill>
                <a:latin typeface="Segoe UI"/>
                <a:ea typeface="Segoe UI"/>
                <a:cs typeface="Segoe UI"/>
              </a:rPr>
              <a:t> có sẵn </a:t>
            </a:r>
            <a:r>
              <a:rPr sz="1300" b="0" i="0">
                <a:solidFill>
                  <a:srgbClr val="B02A2A"/>
                </a:solidFill>
                <a:latin typeface="Consolas"/>
                <a:ea typeface="Consolas"/>
                <a:cs typeface="Consolas"/>
              </a:rPr>
              <a:t>CREATE TABLE</a:t>
            </a:r>
            <a:r>
              <a:rPr sz="1400" b="0" i="0">
                <a:solidFill>
                  <a:srgbClr val="263238"/>
                </a:solidFill>
                <a:latin typeface="Segoe UI"/>
                <a:ea typeface="Segoe UI"/>
                <a:cs typeface="Segoe UI"/>
              </a:rPr>
              <a:t> — </a:t>
            </a:r>
            <a:r>
              <a:rPr sz="1400" b="1" i="0">
                <a:solidFill>
                  <a:srgbClr val="1F4E79"/>
                </a:solidFill>
                <a:latin typeface="Segoe UI"/>
                <a:ea typeface="Segoe UI"/>
                <a:cs typeface="Segoe UI"/>
              </a:rPr>
              <a:t>Bcode không tự chạy</a:t>
            </a:r>
            <a:r>
              <a:rPr sz="1400" b="0" i="0">
                <a:solidFill>
                  <a:srgbClr val="263238"/>
                </a:solidFill>
                <a:latin typeface="Segoe UI"/>
                <a:ea typeface="Segoe UI"/>
                <a:cs typeface="Segoe UI"/>
              </a:rPr>
              <a:t>, bạn xem lại rồi chạy. Sau đó </a:t>
            </a:r>
            <a:r>
              <a:rPr sz="1400" b="1" i="0">
                <a:solidFill>
                  <a:srgbClr val="1F4E79"/>
                </a:solidFill>
                <a:latin typeface="Segoe UI"/>
                <a:ea typeface="Segoe UI"/>
                <a:cs typeface="Segoe UI"/>
              </a:rPr>
              <a:t>Xem XML → Tạo file → Tạo menu…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Mẫu câu yêu cầu · ⚡ Chuẩn Fast</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5 · Thêm danh mục</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6</a:t>
            </a:r>
          </a:p>
        </p:txBody>
      </p:sp>
      <p:sp>
        <p:nvSpPr>
          <p:cNvPr id="7" name="Rounded Rectangle 6"/>
          <p:cNvSpPr/>
          <p:nvPr/>
        </p:nvSpPr>
        <p:spPr>
          <a:xfrm>
            <a:off x="640080" y="1600200"/>
            <a:ext cx="6949440" cy="3447287"/>
          </a:xfrm>
          <a:prstGeom prst="roundRect">
            <a:avLst>
              <a:gd name="adj" fmla="val 3000"/>
            </a:avLst>
          </a:prstGeom>
          <a:solidFill>
            <a:srgbClr val="1E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673352"/>
            <a:ext cx="6583679" cy="320040"/>
          </a:xfrm>
          <a:prstGeom prst="rect">
            <a:avLst/>
          </a:prstGeom>
          <a:noFill/>
        </p:spPr>
        <p:txBody>
          <a:bodyPr wrap="square" anchor="t" lIns="45720" rIns="45720" tIns="27432" bIns="27432">
            <a:spAutoFit/>
          </a:bodyPr>
          <a:lstStyle/>
          <a:p>
            <a:pPr algn="l"/>
            <a:r>
              <a:rPr sz="1100" b="1" i="0">
                <a:solidFill>
                  <a:srgbClr val="9AA8B8"/>
                </a:solidFill>
                <a:latin typeface="Segoe UI"/>
                <a:ea typeface="Segoe UI"/>
                <a:cs typeface="Segoe UI"/>
              </a:rPr>
              <a:t>Request Content — mẫu luật Fast đọc chuẩn</a:t>
            </a:r>
          </a:p>
        </p:txBody>
      </p:sp>
      <p:sp>
        <p:nvSpPr>
          <p:cNvPr id="9" name="TextBox 8"/>
          <p:cNvSpPr txBox="1"/>
          <p:nvPr/>
        </p:nvSpPr>
        <p:spPr>
          <a:xfrm>
            <a:off x="822959" y="1984248"/>
            <a:ext cx="6629400" cy="4187952"/>
          </a:xfrm>
          <a:prstGeom prst="rect">
            <a:avLst/>
          </a:prstGeom>
          <a:noFill/>
        </p:spPr>
        <p:txBody>
          <a:bodyPr wrap="none">
            <a:spAutoFit/>
          </a:bodyPr>
          <a:lstStyle/>
          <a:p>
            <a:pPr>
              <a:lnSpc>
                <a:spcPct val="100000"/>
              </a:lnSpc>
              <a:spcAft>
                <a:spcPts val="0"/>
              </a:spcAft>
            </a:pPr>
            <a:r>
              <a:rPr sz="1800" b="0" i="0">
                <a:solidFill>
                  <a:srgbClr val="E6E6E6"/>
                </a:solidFill>
                <a:latin typeface="Consolas"/>
                <a:ea typeface="Consolas"/>
                <a:cs typeface="Consolas"/>
              </a:rPr>
              <a:t>Thêm danh mục mapping kho</a:t>
            </a:r>
          </a:p>
          <a:p>
            <a:pPr>
              <a:lnSpc>
                <a:spcPct val="100000"/>
              </a:lnSpc>
              <a:spcAft>
                <a:spcPts val="0"/>
              </a:spcAft>
            </a:pPr>
            <a:r>
              <a:rPr sz="1800" b="0" i="0">
                <a:solidFill>
                  <a:srgbClr val="E6E6E6"/>
                </a:solidFill>
                <a:latin typeface="Consolas"/>
                <a:ea typeface="Consolas"/>
                <a:cs typeface="Consolas"/>
              </a:rPr>
              <a:t>Gồm các trường:</a:t>
            </a:r>
          </a:p>
          <a:p>
            <a:pPr>
              <a:lnSpc>
                <a:spcPct val="100000"/>
              </a:lnSpc>
              <a:spcAft>
                <a:spcPts val="0"/>
              </a:spcAft>
            </a:pPr>
            <a:r>
              <a:rPr sz="1800" b="0" i="0">
                <a:solidFill>
                  <a:srgbClr val="E6E6E6"/>
                </a:solidFill>
                <a:latin typeface="Consolas"/>
                <a:ea typeface="Consolas"/>
                <a:cs typeface="Consolas"/>
              </a:rPr>
              <a:t>- Mã mapping kho: bắt buộc nhập</a:t>
            </a:r>
          </a:p>
          <a:p>
            <a:pPr>
              <a:lnSpc>
                <a:spcPct val="100000"/>
              </a:lnSpc>
              <a:spcAft>
                <a:spcPts val="0"/>
              </a:spcAft>
            </a:pPr>
            <a:r>
              <a:rPr sz="1800" b="0" i="0">
                <a:solidFill>
                  <a:srgbClr val="E6E6E6"/>
                </a:solidFill>
                <a:latin typeface="Consolas"/>
                <a:ea typeface="Consolas"/>
                <a:cs typeface="Consolas"/>
              </a:rPr>
              <a:t>- Tên mapping kho: bắt buộc nhập</a:t>
            </a:r>
          </a:p>
          <a:p>
            <a:pPr>
              <a:lnSpc>
                <a:spcPct val="100000"/>
              </a:lnSpc>
              <a:spcAft>
                <a:spcPts val="0"/>
              </a:spcAft>
            </a:pPr>
            <a:r>
              <a:rPr sz="1800" b="0" i="0">
                <a:solidFill>
                  <a:srgbClr val="E6E6E6"/>
                </a:solidFill>
                <a:latin typeface="Consolas"/>
                <a:ea typeface="Consolas"/>
                <a:cs typeface="Consolas"/>
              </a:rPr>
              <a:t>- Mã kho [ma_kho]: lookup từ danh mục kho,</a:t>
            </a:r>
          </a:p>
          <a:p>
            <a:pPr>
              <a:lnSpc>
                <a:spcPct val="100000"/>
              </a:lnSpc>
              <a:spcAft>
                <a:spcPts val="0"/>
              </a:spcAft>
            </a:pPr>
            <a:r>
              <a:rPr sz="1800" b="0" i="0">
                <a:solidFill>
                  <a:srgbClr val="E6E6E6"/>
                </a:solidFill>
                <a:latin typeface="Consolas"/>
                <a:ea typeface="Consolas"/>
                <a:cs typeface="Consolas"/>
              </a:rPr>
              <a:t>  bắt buộc nhập</a:t>
            </a:r>
          </a:p>
          <a:p>
            <a:pPr>
              <a:lnSpc>
                <a:spcPct val="100000"/>
              </a:lnSpc>
              <a:spcAft>
                <a:spcPts val="0"/>
              </a:spcAft>
            </a:pPr>
            <a:r>
              <a:rPr sz="1800" b="0" i="0">
                <a:solidFill>
                  <a:srgbClr val="E6E6E6"/>
                </a:solidFill>
                <a:latin typeface="Consolas"/>
                <a:ea typeface="Consolas"/>
                <a:cs typeface="Consolas"/>
              </a:rPr>
              <a:t>- Mã lô: lookup từ danh mục lô,</a:t>
            </a:r>
          </a:p>
          <a:p>
            <a:pPr>
              <a:lnSpc>
                <a:spcPct val="100000"/>
              </a:lnSpc>
              <a:spcAft>
                <a:spcPts val="0"/>
              </a:spcAft>
            </a:pPr>
            <a:r>
              <a:rPr sz="1800" b="0" i="0">
                <a:solidFill>
                  <a:srgbClr val="E6E6E6"/>
                </a:solidFill>
                <a:latin typeface="Consolas"/>
                <a:ea typeface="Consolas"/>
                <a:cs typeface="Consolas"/>
              </a:rPr>
              <a:t>  không bắt buộc nhập</a:t>
            </a:r>
          </a:p>
          <a:p>
            <a:pPr>
              <a:lnSpc>
                <a:spcPct val="100000"/>
              </a:lnSpc>
              <a:spcAft>
                <a:spcPts val="0"/>
              </a:spcAft>
            </a:pPr>
            <a:r>
              <a:rPr sz="1800" b="0" i="0">
                <a:solidFill>
                  <a:srgbClr val="E6E6E6"/>
                </a:solidFill>
                <a:latin typeface="Consolas"/>
                <a:ea typeface="Consolas"/>
                <a:cs typeface="Consolas"/>
              </a:rPr>
              <a:t>Chi tiết gồm: Mã vật tư [ma_vt], Số lượng</a:t>
            </a:r>
          </a:p>
          <a:p>
            <a:pPr>
              <a:lnSpc>
                <a:spcPct val="100000"/>
              </a:lnSpc>
              <a:spcAft>
                <a:spcPts val="0"/>
              </a:spcAft>
            </a:pPr>
            <a:r>
              <a:rPr sz="1800" b="0" i="0">
                <a:solidFill>
                  <a:srgbClr val="E6E6E6"/>
                </a:solidFill>
                <a:latin typeface="Consolas"/>
                <a:ea typeface="Consolas"/>
                <a:cs typeface="Consolas"/>
              </a:rPr>
              <a:t>Cho phép import Excel</a:t>
            </a:r>
          </a:p>
        </p:txBody>
      </p:sp>
      <p:sp>
        <p:nvSpPr>
          <p:cNvPr id="10" name="TextBox 9"/>
          <p:cNvSpPr txBox="1"/>
          <p:nvPr/>
        </p:nvSpPr>
        <p:spPr>
          <a:xfrm>
            <a:off x="7863840" y="1600200"/>
            <a:ext cx="3749039" cy="466344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Mỗi dòng </a:t>
            </a:r>
            <a:r>
              <a:rPr sz="1400" b="0" i="0">
                <a:solidFill>
                  <a:srgbClr val="B02A2A"/>
                </a:solidFill>
                <a:latin typeface="Consolas"/>
                <a:ea typeface="Consolas"/>
                <a:cs typeface="Consolas"/>
              </a:rPr>
              <a:t>- </a:t>
            </a:r>
            <a:r>
              <a:rPr sz="1500" b="0" i="0">
                <a:solidFill>
                  <a:srgbClr val="263238"/>
                </a:solidFill>
                <a:latin typeface="Segoe UI"/>
                <a:ea typeface="Segoe UI"/>
                <a:cs typeface="Segoe UI"/>
              </a:rPr>
              <a:t> là một cột</a:t>
            </a:r>
          </a:p>
          <a:p>
            <a:pPr>
              <a:spcAft>
                <a:spcPts val="1000"/>
              </a:spcAft>
            </a:pPr>
            <a:r>
              <a:rPr sz="1500" b="1" i="0">
                <a:solidFill>
                  <a:srgbClr val="F2B705"/>
                </a:solidFill>
                <a:latin typeface="Segoe UI"/>
                <a:ea typeface="Segoe UI"/>
                <a:cs typeface="Segoe UI"/>
              </a:rPr>
              <a:t>▪  </a:t>
            </a:r>
            <a:r>
              <a:rPr sz="1400" b="0" i="0">
                <a:solidFill>
                  <a:srgbClr val="B02A2A"/>
                </a:solidFill>
                <a:latin typeface="Consolas"/>
                <a:ea typeface="Consolas"/>
                <a:cs typeface="Consolas"/>
              </a:rPr>
              <a:t>[field]</a:t>
            </a:r>
            <a:r>
              <a:rPr sz="1500" b="0" i="0">
                <a:solidFill>
                  <a:srgbClr val="263238"/>
                </a:solidFill>
                <a:latin typeface="Segoe UI"/>
                <a:ea typeface="Segoe UI"/>
                <a:cs typeface="Segoe UI"/>
              </a:rPr>
              <a:t> chốt tên field</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Tiền, số lượng → </a:t>
            </a:r>
            <a:r>
              <a:rPr sz="1400" b="0" i="0">
                <a:solidFill>
                  <a:srgbClr val="B02A2A"/>
                </a:solidFill>
                <a:latin typeface="Consolas"/>
                <a:ea typeface="Consolas"/>
                <a:cs typeface="Consolas"/>
              </a:rPr>
              <a:t>numeric(19,4)</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Tháng / năm → cột </a:t>
            </a:r>
            <a:r>
              <a:rPr sz="1500" b="1" i="0">
                <a:solidFill>
                  <a:srgbClr val="1F4E79"/>
                </a:solidFill>
                <a:latin typeface="Segoe UI"/>
                <a:ea typeface="Segoe UI"/>
                <a:cs typeface="Segoe UI"/>
              </a:rPr>
              <a:t>int</a:t>
            </a:r>
            <a:r>
              <a:rPr sz="1500" b="0" i="0">
                <a:solidFill>
                  <a:srgbClr val="263238"/>
                </a:solidFill>
                <a:latin typeface="Segoe UI"/>
                <a:ea typeface="Segoe UI"/>
                <a:cs typeface="Segoe UI"/>
              </a:rPr>
              <a:t> riêng</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Luật </a:t>
            </a:r>
            <a:r>
              <a:rPr sz="1500" b="1" i="0">
                <a:solidFill>
                  <a:srgbClr val="1F4E79"/>
                </a:solidFill>
                <a:latin typeface="Segoe UI"/>
                <a:ea typeface="Segoe UI"/>
                <a:cs typeface="Segoe UI"/>
              </a:rPr>
              <a:t>nhớ</a:t>
            </a:r>
            <a:r>
              <a:rPr sz="1500" b="0" i="0">
                <a:solidFill>
                  <a:srgbClr val="263238"/>
                </a:solidFill>
                <a:latin typeface="Segoe UI"/>
                <a:ea typeface="Segoe UI"/>
                <a:cs typeface="Segoe UI"/>
              </a:rPr>
              <a:t> field bạn đã sửa</a:t>
            </a:r>
          </a:p>
          <a:p>
            <a:pPr>
              <a:spcAft>
                <a:spcPts val="1000"/>
              </a:spcAft>
            </a:pPr>
            <a:r>
              <a:rPr sz="1500" b="1" i="0">
                <a:solidFill>
                  <a:srgbClr val="F2B705"/>
                </a:solidFill>
                <a:latin typeface="Segoe UI"/>
                <a:ea typeface="Segoe UI"/>
                <a:cs typeface="Segoe UI"/>
              </a:rPr>
              <a:t>▪  </a:t>
            </a:r>
            <a:r>
              <a:rPr sz="1500" b="1" i="0">
                <a:solidFill>
                  <a:srgbClr val="1F4E79"/>
                </a:solidFill>
                <a:latin typeface="Segoe UI"/>
                <a:ea typeface="Segoe UI"/>
                <a:cs typeface="Segoe UI"/>
              </a:rPr>
              <a:t>⚡ Chuẩn Fast</a:t>
            </a:r>
            <a:r>
              <a:rPr sz="1500" b="0" i="0">
                <a:solidFill>
                  <a:srgbClr val="263238"/>
                </a:solidFill>
                <a:latin typeface="Segoe UI"/>
                <a:ea typeface="Segoe UI"/>
                <a:cs typeface="Segoe UI"/>
              </a:rPr>
              <a:t>: thiếu cột hệ thống, sai kiểu lookup, thiếu tiêu đề tiếng Anh…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Checklist danh mục mới</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5 · Thêm danh mục</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7</a:t>
            </a:r>
          </a:p>
        </p:txBody>
      </p:sp>
      <p:graphicFrame>
        <p:nvGraphicFramePr>
          <p:cNvPr id="7" name="Table 6"/>
          <p:cNvGraphicFramePr>
            <a:graphicFrameLocks noGrp="1"/>
          </p:cNvGraphicFramePr>
          <p:nvPr/>
        </p:nvGraphicFramePr>
        <p:xfrm>
          <a:off x="640080" y="1600200"/>
          <a:ext cx="10881360" cy="4023360"/>
        </p:xfrm>
        <a:graphic>
          <a:graphicData uri="http://schemas.openxmlformats.org/drawingml/2006/table">
            <a:tbl>
              <a:tblPr firstRow="1" bandRow="1">
                <a:tableStyleId>{5940675A-B579-460E-94D1-54222C63F5DA}</a:tableStyleId>
              </a:tblPr>
              <a:tblGrid>
                <a:gridCol w="640080"/>
                <a:gridCol w="10241280"/>
              </a:tblGrid>
              <a:tr h="502920">
                <a:tc>
                  <a:txBody>
                    <a:bodyPr wrap="square"/>
                    <a:lstStyle/>
                    <a:p>
                      <a:r>
                        <a:rPr sz="1600" b="1" i="0">
                          <a:solidFill>
                            <a:srgbClr val="FFFFFF"/>
                          </a:solidFill>
                          <a:latin typeface="Segoe UI"/>
                          <a:ea typeface="Segoe UI"/>
                          <a:cs typeface="Segoe UI"/>
                        </a:rPr>
                        <a:t>#</a:t>
                      </a:r>
                    </a:p>
                  </a:txBody>
                  <a:tcPr marL="73152" marR="73152" marT="36576" marB="36576" anchor="ctr">
                    <a:solidFill>
                      <a:srgbClr val="1F4E79"/>
                    </a:solidFill>
                  </a:tcPr>
                </a:tc>
                <a:tc>
                  <a:txBody>
                    <a:bodyPr wrap="square"/>
                    <a:lstStyle/>
                    <a:p>
                      <a:r>
                        <a:rPr sz="1600" b="1" i="0">
                          <a:solidFill>
                            <a:srgbClr val="FFFFFF"/>
                          </a:solidFill>
                          <a:latin typeface="Segoe UI"/>
                          <a:ea typeface="Segoe UI"/>
                          <a:cs typeface="Segoe UI"/>
                        </a:rPr>
                        <a:t>Kiểm tra</a:t>
                      </a:r>
                    </a:p>
                  </a:txBody>
                  <a:tcPr marL="73152" marR="73152" marT="36576" marB="36576" anchor="ctr">
                    <a:solidFill>
                      <a:srgbClr val="1F4E79"/>
                    </a:solidFill>
                  </a:tcPr>
                </a:tc>
              </a:tr>
              <a:tr h="502920">
                <a:tc>
                  <a:txBody>
                    <a:bodyPr wrap="square"/>
                    <a:lstStyle/>
                    <a:p>
                      <a:r>
                        <a:rPr sz="1600" b="0" i="0">
                          <a:solidFill>
                            <a:srgbClr val="263238"/>
                          </a:solidFill>
                          <a:latin typeface="Segoe UI"/>
                          <a:ea typeface="Segoe UI"/>
                          <a:cs typeface="Segoe UI"/>
                        </a:rPr>
                        <a:t>1</a:t>
                      </a:r>
                    </a:p>
                  </a:txBody>
                  <a:tcPr marL="73152" marR="73152" marT="36576" marB="36576" anchor="ctr">
                    <a:solidFill>
                      <a:srgbClr val="FFFFFF"/>
                    </a:solidFill>
                  </a:tcPr>
                </a:tc>
                <a:tc>
                  <a:txBody>
                    <a:bodyPr wrap="square"/>
                    <a:lstStyle/>
                    <a:p>
                      <a:r>
                        <a:rPr sz="1600" b="0" i="0">
                          <a:solidFill>
                            <a:srgbClr val="263238"/>
                          </a:solidFill>
                          <a:latin typeface="Segoe UI"/>
                          <a:ea typeface="Segoe UI"/>
                          <a:cs typeface="Segoe UI"/>
                        </a:rPr>
                        <a:t>Bảng đúng kiểu cột; có khoá chính, </a:t>
                      </a:r>
                      <a:r>
                        <a:rPr sz="1500" b="0" i="0">
                          <a:solidFill>
                            <a:srgbClr val="B02A2A"/>
                          </a:solidFill>
                          <a:latin typeface="Consolas"/>
                          <a:ea typeface="Consolas"/>
                          <a:cs typeface="Consolas"/>
                        </a:rPr>
                        <a:t>status</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datetime0/2</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user_id0/2</a:t>
                      </a:r>
                    </a:p>
                  </a:txBody>
                  <a:tcPr marL="73152" marR="73152" marT="36576" marB="36576" anchor="ctr">
                    <a:solidFill>
                      <a:srgbClr val="FFFFFF"/>
                    </a:solidFill>
                  </a:tcPr>
                </a:tc>
              </a:tr>
              <a:tr h="502920">
                <a:tc>
                  <a:txBody>
                    <a:bodyPr wrap="square"/>
                    <a:lstStyle/>
                    <a:p>
                      <a:r>
                        <a:rPr sz="1600" b="0" i="0">
                          <a:solidFill>
                            <a:srgbClr val="263238"/>
                          </a:solidFill>
                          <a:latin typeface="Segoe UI"/>
                          <a:ea typeface="Segoe UI"/>
                          <a:cs typeface="Segoe UI"/>
                        </a:rPr>
                        <a:t>2</a:t>
                      </a:r>
                    </a:p>
                  </a:txBody>
                  <a:tcPr marL="73152" marR="73152" marT="36576" marB="36576" anchor="ctr">
                    <a:solidFill>
                      <a:srgbClr val="F4F7FB"/>
                    </a:solidFill>
                  </a:tcPr>
                </a:tc>
                <a:tc>
                  <a:txBody>
                    <a:bodyPr wrap="square"/>
                    <a:lstStyle/>
                    <a:p>
                      <a:r>
                        <a:rPr sz="1600" b="0" i="0">
                          <a:solidFill>
                            <a:srgbClr val="263238"/>
                          </a:solidFill>
                          <a:latin typeface="Segoe UI"/>
                          <a:ea typeface="Segoe UI"/>
                          <a:cs typeface="Segoe UI"/>
                        </a:rPr>
                        <a:t>Cột tra cứu cùng kiểu và cùng độ dài với cột mã nguồn</a:t>
                      </a:r>
                    </a:p>
                  </a:txBody>
                  <a:tcPr marL="73152" marR="73152" marT="36576" marB="36576" anchor="ctr">
                    <a:solidFill>
                      <a:srgbClr val="F4F7FB"/>
                    </a:solidFill>
                  </a:tcPr>
                </a:tc>
              </a:tr>
              <a:tr h="502920">
                <a:tc>
                  <a:txBody>
                    <a:bodyPr wrap="square"/>
                    <a:lstStyle/>
                    <a:p>
                      <a:r>
                        <a:rPr sz="1600" b="0" i="0">
                          <a:solidFill>
                            <a:srgbClr val="263238"/>
                          </a:solidFill>
                          <a:latin typeface="Segoe UI"/>
                          <a:ea typeface="Segoe UI"/>
                          <a:cs typeface="Segoe UI"/>
                        </a:rPr>
                        <a:t>3</a:t>
                      </a:r>
                    </a:p>
                  </a:txBody>
                  <a:tcPr marL="73152" marR="73152" marT="36576" marB="36576" anchor="ctr">
                    <a:solidFill>
                      <a:srgbClr val="FFFFFF"/>
                    </a:solidFill>
                  </a:tcPr>
                </a:tc>
                <a:tc>
                  <a:txBody>
                    <a:bodyPr wrap="square"/>
                    <a:lstStyle/>
                    <a:p>
                      <a:r>
                        <a:rPr sz="1600" b="1" i="0">
                          <a:solidFill>
                            <a:srgbClr val="1F4E79"/>
                          </a:solidFill>
                          <a:latin typeface="Segoe UI"/>
                          <a:ea typeface="Segoe UI"/>
                          <a:cs typeface="Segoe UI"/>
                        </a:rPr>
                        <a:t>⚡ Chuẩn Fast</a:t>
                      </a:r>
                      <a:r>
                        <a:rPr sz="1600" b="0" i="0">
                          <a:solidFill>
                            <a:srgbClr val="263238"/>
                          </a:solidFill>
                          <a:latin typeface="Segoe UI"/>
                          <a:ea typeface="Segoe UI"/>
                          <a:cs typeface="Segoe UI"/>
                        </a:rPr>
                        <a:t> không còn mục dễ lỗi; bảng </a:t>
                      </a:r>
                      <a:r>
                        <a:rPr sz="1600" b="1" i="0">
                          <a:solidFill>
                            <a:srgbClr val="1F4E79"/>
                          </a:solidFill>
                          <a:latin typeface="Segoe UI"/>
                          <a:ea typeface="Segoe UI"/>
                          <a:cs typeface="Segoe UI"/>
                        </a:rPr>
                        <a:t>Problems</a:t>
                      </a:r>
                      <a:r>
                        <a:rPr sz="1600" b="0" i="0">
                          <a:solidFill>
                            <a:srgbClr val="263238"/>
                          </a:solidFill>
                          <a:latin typeface="Segoe UI"/>
                          <a:ea typeface="Segoe UI"/>
                          <a:cs typeface="Segoe UI"/>
                        </a:rPr>
                        <a:t> của Viewer sạch lỗi</a:t>
                      </a:r>
                    </a:p>
                  </a:txBody>
                  <a:tcPr marL="73152" marR="73152" marT="36576" marB="36576" anchor="ctr">
                    <a:solidFill>
                      <a:srgbClr val="FFFFFF"/>
                    </a:solidFill>
                  </a:tcPr>
                </a:tc>
              </a:tr>
              <a:tr h="502920">
                <a:tc>
                  <a:txBody>
                    <a:bodyPr wrap="square"/>
                    <a:lstStyle/>
                    <a:p>
                      <a:r>
                        <a:rPr sz="1600" b="0" i="0">
                          <a:solidFill>
                            <a:srgbClr val="263238"/>
                          </a:solidFill>
                          <a:latin typeface="Segoe UI"/>
                          <a:ea typeface="Segoe UI"/>
                          <a:cs typeface="Segoe UI"/>
                        </a:rPr>
                        <a:t>4</a:t>
                      </a:r>
                    </a:p>
                  </a:txBody>
                  <a:tcPr marL="73152" marR="73152" marT="36576" marB="36576" anchor="ctr">
                    <a:solidFill>
                      <a:srgbClr val="F4F7FB"/>
                    </a:solidFill>
                  </a:tcPr>
                </a:tc>
                <a:tc>
                  <a:txBody>
                    <a:bodyPr wrap="square"/>
                    <a:lstStyle/>
                    <a:p>
                      <a:r>
                        <a:rPr sz="1600" b="0" i="0">
                          <a:solidFill>
                            <a:srgbClr val="263238"/>
                          </a:solidFill>
                          <a:latin typeface="Segoe UI"/>
                          <a:ea typeface="Segoe UI"/>
                          <a:cs typeface="Segoe UI"/>
                        </a:rPr>
                        <a:t>Thêm / sửa / xoá / tìm / tra cứu đều chạy được; nhập mã trùng bị chặn</a:t>
                      </a:r>
                    </a:p>
                  </a:txBody>
                  <a:tcPr marL="73152" marR="73152" marT="36576" marB="36576" anchor="ctr">
                    <a:solidFill>
                      <a:srgbClr val="F4F7FB"/>
                    </a:solidFill>
                  </a:tcPr>
                </a:tc>
              </a:tr>
              <a:tr h="502920">
                <a:tc>
                  <a:txBody>
                    <a:bodyPr wrap="square"/>
                    <a:lstStyle/>
                    <a:p>
                      <a:r>
                        <a:rPr sz="1600" b="0" i="0">
                          <a:solidFill>
                            <a:srgbClr val="263238"/>
                          </a:solidFill>
                          <a:latin typeface="Segoe UI"/>
                          <a:ea typeface="Segoe UI"/>
                          <a:cs typeface="Segoe UI"/>
                        </a:rPr>
                        <a:t>5</a:t>
                      </a:r>
                    </a:p>
                  </a:txBody>
                  <a:tcPr marL="73152" marR="73152" marT="36576" marB="36576" anchor="ctr">
                    <a:solidFill>
                      <a:srgbClr val="FFFFFF"/>
                    </a:solidFill>
                  </a:tcPr>
                </a:tc>
                <a:tc>
                  <a:txBody>
                    <a:bodyPr wrap="square"/>
                    <a:lstStyle/>
                    <a:p>
                      <a:r>
                        <a:rPr sz="1600" b="0" i="0">
                          <a:solidFill>
                            <a:srgbClr val="263238"/>
                          </a:solidFill>
                          <a:latin typeface="Segoe UI"/>
                          <a:ea typeface="Segoe UI"/>
                          <a:cs typeface="Segoe UI"/>
                        </a:rPr>
                        <a:t>Đủ tiêu đề tiếng Anh (đăng nhập bằng tiếng Anh để xem thử)</a:t>
                      </a:r>
                    </a:p>
                  </a:txBody>
                  <a:tcPr marL="73152" marR="73152" marT="36576" marB="36576" anchor="ctr">
                    <a:solidFill>
                      <a:srgbClr val="FFFFFF"/>
                    </a:solidFill>
                  </a:tcPr>
                </a:tc>
              </a:tr>
              <a:tr h="502920">
                <a:tc>
                  <a:txBody>
                    <a:bodyPr wrap="square"/>
                    <a:lstStyle/>
                    <a:p>
                      <a:r>
                        <a:rPr sz="1600" b="0" i="0">
                          <a:solidFill>
                            <a:srgbClr val="263238"/>
                          </a:solidFill>
                          <a:latin typeface="Segoe UI"/>
                          <a:ea typeface="Segoe UI"/>
                          <a:cs typeface="Segoe UI"/>
                        </a:rPr>
                        <a:t>6</a:t>
                      </a:r>
                    </a:p>
                  </a:txBody>
                  <a:tcPr marL="73152" marR="73152" marT="36576" marB="36576" anchor="ctr">
                    <a:solidFill>
                      <a:srgbClr val="F4F7FB"/>
                    </a:solidFill>
                  </a:tcPr>
                </a:tc>
                <a:tc>
                  <a:txBody>
                    <a:bodyPr wrap="square"/>
                    <a:lstStyle/>
                    <a:p>
                      <a:r>
                        <a:rPr sz="1600" b="0" i="0">
                          <a:solidFill>
                            <a:srgbClr val="263238"/>
                          </a:solidFill>
                          <a:latin typeface="Segoe UI"/>
                          <a:ea typeface="Segoe UI"/>
                          <a:cs typeface="Segoe UI"/>
                        </a:rPr>
                        <a:t>Import Excel (nếu có): tải mẫu, nhập thử, nhập sai thì có báo lỗi</a:t>
                      </a:r>
                    </a:p>
                  </a:txBody>
                  <a:tcPr marL="73152" marR="73152" marT="36576" marB="36576" anchor="ctr">
                    <a:solidFill>
                      <a:srgbClr val="F4F7FB"/>
                    </a:solidFill>
                  </a:tcPr>
                </a:tc>
              </a:tr>
              <a:tr h="502920">
                <a:tc>
                  <a:txBody>
                    <a:bodyPr wrap="square"/>
                    <a:lstStyle/>
                    <a:p>
                      <a:r>
                        <a:rPr sz="1600" b="0" i="0">
                          <a:solidFill>
                            <a:srgbClr val="263238"/>
                          </a:solidFill>
                          <a:latin typeface="Segoe UI"/>
                          <a:ea typeface="Segoe UI"/>
                          <a:cs typeface="Segoe UI"/>
                        </a:rPr>
                        <a:t>7</a:t>
                      </a:r>
                    </a:p>
                  </a:txBody>
                  <a:tcPr marL="73152" marR="73152" marT="36576" marB="36576" anchor="ctr">
                    <a:solidFill>
                      <a:srgbClr val="FFFFFF"/>
                    </a:solidFill>
                  </a:tcPr>
                </a:tc>
                <a:tc>
                  <a:txBody>
                    <a:bodyPr wrap="square"/>
                    <a:lstStyle/>
                    <a:p>
                      <a:r>
                        <a:rPr sz="1600" b="0" i="0">
                          <a:solidFill>
                            <a:srgbClr val="263238"/>
                          </a:solidFill>
                          <a:latin typeface="Segoe UI"/>
                          <a:ea typeface="Segoe UI"/>
                          <a:cs typeface="Segoe UI"/>
                        </a:rPr>
                        <a:t>Có menu và phân quyền; script menu đã đưa vào gói update</a:t>
                      </a:r>
                    </a:p>
                  </a:txBody>
                  <a:tcPr marL="73152" marR="73152" marT="36576" marB="36576"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Thực hành tại lớp</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5 · Thêm danh mục</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8</a:t>
            </a:r>
          </a:p>
        </p:txBody>
      </p:sp>
      <p:sp>
        <p:nvSpPr>
          <p:cNvPr id="7" name="TextBox 6"/>
          <p:cNvSpPr txBox="1"/>
          <p:nvPr/>
        </p:nvSpPr>
        <p:spPr>
          <a:xfrm>
            <a:off x="640080" y="1371600"/>
            <a:ext cx="10881360" cy="3108960"/>
          </a:xfrm>
          <a:prstGeom prst="rect">
            <a:avLst/>
          </a:prstGeom>
          <a:noFill/>
        </p:spPr>
        <p:txBody>
          <a:bodyPr wrap="square">
            <a:spAutoFit/>
          </a:bodyPr>
          <a:lstStyle/>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1.</a:t>
            </a:r>
            <a:r>
              <a:rPr sz="2000" b="0" i="0">
                <a:solidFill>
                  <a:srgbClr val="263238"/>
                </a:solidFill>
                <a:latin typeface="Segoe UI"/>
                <a:ea typeface="Segoe UI"/>
                <a:cs typeface="Segoe UI"/>
              </a:rPr>
              <a:t> Tạo danh mục </a:t>
            </a:r>
            <a:r>
              <a:rPr sz="1900" b="0" i="0">
                <a:solidFill>
                  <a:srgbClr val="B02A2A"/>
                </a:solidFill>
                <a:latin typeface="Consolas"/>
                <a:ea typeface="Consolas"/>
                <a:cs typeface="Consolas"/>
              </a:rPr>
              <a:t>zdmhtbh</a:t>
            </a:r>
            <a:r>
              <a:rPr sz="2000" b="0" i="0">
                <a:solidFill>
                  <a:srgbClr val="263238"/>
                </a:solidFill>
                <a:latin typeface="Segoe UI"/>
                <a:ea typeface="Segoe UI"/>
                <a:cs typeface="Segoe UI"/>
              </a:rPr>
              <a:t> bằng tay theo mục 5.2.</a:t>
            </a:r>
          </a:p>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2.</a:t>
            </a:r>
            <a:r>
              <a:rPr sz="2000" b="0" i="0">
                <a:solidFill>
                  <a:srgbClr val="263238"/>
                </a:solidFill>
                <a:latin typeface="Segoe UI"/>
                <a:ea typeface="Segoe UI"/>
                <a:cs typeface="Segoe UI"/>
              </a:rPr>
              <a:t> Tạo lại danh mục đó bằng Tạo nhanh danh mục, từ nội dung yêu cầu viết theo mẫu; so sánh các file sinh ra với bản làm tay.</a:t>
            </a:r>
          </a:p>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3.</a:t>
            </a:r>
            <a:r>
              <a:rPr sz="2000" b="0" i="0">
                <a:solidFill>
                  <a:srgbClr val="263238"/>
                </a:solidFill>
                <a:latin typeface="Segoe UI"/>
                <a:ea typeface="Segoe UI"/>
                <a:cs typeface="Segoe UI"/>
              </a:rPr>
              <a:t> Tạo menu, phân quyền, rồi thử thêm / sửa / xoá / tra cứu trên web.</a:t>
            </a:r>
          </a:p>
        </p:txBody>
      </p:sp>
      <p:sp>
        <p:nvSpPr>
          <p:cNvPr id="8" name="Rounded Rectangle 7"/>
          <p:cNvSpPr/>
          <p:nvPr/>
        </p:nvSpPr>
        <p:spPr>
          <a:xfrm>
            <a:off x="640080" y="4434840"/>
            <a:ext cx="10927080" cy="685800"/>
          </a:xfrm>
          <a:prstGeom prst="roundRect">
            <a:avLst>
              <a:gd name="adj" fmla="val 8000"/>
            </a:avLst>
          </a:prstGeom>
          <a:solidFill>
            <a:srgbClr val="FFFFFF"/>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434840"/>
            <a:ext cx="91440" cy="68580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489703"/>
            <a:ext cx="10607040" cy="594360"/>
          </a:xfrm>
          <a:prstGeom prst="rect">
            <a:avLst/>
          </a:prstGeom>
          <a:noFill/>
        </p:spPr>
        <p:txBody>
          <a:bodyPr wrap="square" anchor="ctr" lIns="45720" rIns="45720" tIns="27432" bIns="27432">
            <a:spAutoFit/>
          </a:bodyPr>
          <a:lstStyle/>
          <a:p>
            <a:pPr algn="l"/>
            <a:r>
              <a:rPr sz="1500" b="1" i="0">
                <a:solidFill>
                  <a:srgbClr val="2E75B6"/>
                </a:solidFill>
                <a:latin typeface="Segoe UI"/>
                <a:ea typeface="Segoe UI"/>
                <a:cs typeface="Segoe UI"/>
              </a:rPr>
              <a:t>Mẹo:</a:t>
            </a:r>
            <a:r>
              <a:rPr sz="1500" b="0" i="0">
                <a:solidFill>
                  <a:srgbClr val="263238"/>
                </a:solidFill>
                <a:latin typeface="Segoe UI"/>
                <a:ea typeface="Segoe UI"/>
                <a:cs typeface="Segoe UI"/>
              </a:rPr>
              <a:t> </a:t>
            </a:r>
            <a:r>
              <a:rPr sz="1500" b="1" i="0">
                <a:solidFill>
                  <a:srgbClr val="1F4E79"/>
                </a:solidFill>
                <a:latin typeface="Segoe UI"/>
                <a:ea typeface="Segoe UI"/>
                <a:cs typeface="Segoe UI"/>
              </a:rPr>
              <a:t>Trên database:</a:t>
            </a:r>
            <a:r>
              <a:rPr sz="1500" b="0" i="0">
                <a:solidFill>
                  <a:srgbClr val="263238"/>
                </a:solidFill>
                <a:latin typeface="Segoe UI"/>
                <a:ea typeface="Segoe UI"/>
                <a:cs typeface="Segoe UI"/>
              </a:rPr>
              <a:t> Sổ bài tập thực hành — Buổi 5 (FBOSP2422_App / _Sys, chạy </a:t>
            </a:r>
            <a:r>
              <a:rPr sz="1400" b="0" i="0">
                <a:solidFill>
                  <a:srgbClr val="B02A2A"/>
                </a:solidFill>
                <a:latin typeface="Consolas"/>
                <a:ea typeface="Consolas"/>
                <a:cs typeface="Consolas"/>
              </a:rPr>
              <a:t>00_TaoDuLieuMau.sql</a:t>
            </a:r>
            <a:r>
              <a:rPr sz="1500" b="0" i="0">
                <a:solidFill>
                  <a:srgbClr val="263238"/>
                </a:solidFill>
                <a:latin typeface="Segoe UI"/>
                <a:ea typeface="Segoe UI"/>
                <a:cs typeface="Segoe UI"/>
              </a:rPr>
              <a:t> trước).</a:t>
            </a:r>
          </a:p>
        </p:txBody>
      </p:sp>
      <p:sp>
        <p:nvSpPr>
          <p:cNvPr id="11" name="Rounded Rectangle 10"/>
          <p:cNvSpPr/>
          <p:nvPr/>
        </p:nvSpPr>
        <p:spPr>
          <a:xfrm>
            <a:off x="640080" y="5257800"/>
            <a:ext cx="10927080" cy="914400"/>
          </a:xfrm>
          <a:prstGeom prst="roundRect">
            <a:avLst>
              <a:gd name="adj" fmla="val 8000"/>
            </a:avLst>
          </a:prstGeom>
          <a:solidFill>
            <a:srgbClr val="FFFFFF"/>
          </a:solidFill>
          <a:ln w="15875">
            <a:solidFill>
              <a:srgbClr val="27AE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5257800"/>
            <a:ext cx="91440" cy="91440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5312664"/>
            <a:ext cx="10607040" cy="822960"/>
          </a:xfrm>
          <a:prstGeom prst="rect">
            <a:avLst/>
          </a:prstGeom>
          <a:noFill/>
        </p:spPr>
        <p:txBody>
          <a:bodyPr wrap="square" anchor="ctr" lIns="45720" rIns="45720" tIns="27432" bIns="27432">
            <a:spAutoFit/>
          </a:bodyPr>
          <a:lstStyle/>
          <a:p>
            <a:pPr algn="l"/>
            <a:r>
              <a:rPr sz="1600" b="1" i="0">
                <a:solidFill>
                  <a:srgbClr val="27AE60"/>
                </a:solidFill>
                <a:latin typeface="Segoe UI"/>
                <a:ea typeface="Segoe UI"/>
                <a:cs typeface="Segoe UI"/>
              </a:rPr>
              <a:t>Bài tập:</a:t>
            </a:r>
            <a:r>
              <a:rPr sz="1600" b="0" i="0">
                <a:solidFill>
                  <a:srgbClr val="263238"/>
                </a:solidFill>
                <a:latin typeface="Segoe UI"/>
                <a:ea typeface="Segoe UI"/>
                <a:cs typeface="Segoe UI"/>
              </a:rPr>
              <a:t> </a:t>
            </a:r>
            <a:r>
              <a:rPr sz="1600" b="1" i="0">
                <a:solidFill>
                  <a:srgbClr val="1F4E79"/>
                </a:solidFill>
                <a:latin typeface="Segoe UI"/>
                <a:ea typeface="Segoe UI"/>
                <a:cs typeface="Segoe UI"/>
              </a:rPr>
              <a:t>Về nhà:</a:t>
            </a:r>
            <a:r>
              <a:rPr sz="1600" b="0" i="0">
                <a:solidFill>
                  <a:srgbClr val="263238"/>
                </a:solidFill>
                <a:latin typeface="Segoe UI"/>
                <a:ea typeface="Segoe UI"/>
                <a:cs typeface="Segoe UI"/>
              </a:rPr>
              <a:t> Nhận 1 yêu cầu “thêm danh mục” thật (đã cũ) từ người hướng dẫn, làm trọn trên dự án thử cho đến khi đạt hết checklist ở mục 5.5.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Tự kiểm tra</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5 · Thêm danh mục</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9</a:t>
            </a:r>
          </a:p>
        </p:txBody>
      </p:sp>
      <p:sp>
        <p:nvSpPr>
          <p:cNvPr id="7" name="TextBox 6"/>
          <p:cNvSpPr txBox="1"/>
          <p:nvPr/>
        </p:nvSpPr>
        <p:spPr>
          <a:xfrm>
            <a:off x="640080" y="1371600"/>
            <a:ext cx="10881360" cy="4754880"/>
          </a:xfrm>
          <a:prstGeom prst="rect">
            <a:avLst/>
          </a:prstGeom>
          <a:noFill/>
        </p:spPr>
        <p:txBody>
          <a:bodyPr wrap="square">
            <a:spAutoFit/>
          </a:bodyPr>
          <a:lstStyle/>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1.</a:t>
            </a:r>
            <a:r>
              <a:rPr sz="2100" b="0" i="0">
                <a:solidFill>
                  <a:srgbClr val="263238"/>
                </a:solidFill>
                <a:latin typeface="Segoe UI"/>
                <a:ea typeface="Segoe UI"/>
                <a:cs typeface="Segoe UI"/>
              </a:rPr>
              <a:t> Cột tra cứu </a:t>
            </a:r>
            <a:r>
              <a:rPr sz="2000" b="0" i="0">
                <a:solidFill>
                  <a:srgbClr val="B02A2A"/>
                </a:solidFill>
                <a:latin typeface="Consolas"/>
                <a:ea typeface="Consolas"/>
                <a:cs typeface="Consolas"/>
              </a:rPr>
              <a:t>ma_kh</a:t>
            </a:r>
            <a:r>
              <a:rPr sz="2100" b="0" i="0">
                <a:solidFill>
                  <a:srgbClr val="263238"/>
                </a:solidFill>
                <a:latin typeface="Segoe UI"/>
                <a:ea typeface="Segoe UI"/>
                <a:cs typeface="Segoe UI"/>
              </a:rPr>
              <a:t> trong bảng mới phải thế nào?</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2.</a:t>
            </a:r>
            <a:r>
              <a:rPr sz="2100" b="0" i="0">
                <a:solidFill>
                  <a:srgbClr val="263238"/>
                </a:solidFill>
                <a:latin typeface="Segoe UI"/>
                <a:ea typeface="Segoe UI"/>
                <a:cs typeface="Segoe UI"/>
              </a:rPr>
              <a:t> </a:t>
            </a:r>
            <a:r>
              <a:rPr sz="2000" b="0" i="0">
                <a:solidFill>
                  <a:srgbClr val="B02A2A"/>
                </a:solidFill>
                <a:latin typeface="Consolas"/>
                <a:ea typeface="Consolas"/>
                <a:cs typeface="Consolas"/>
              </a:rPr>
              <a:t>information="tk$dmtk.ten_tk%l"</a:t>
            </a:r>
            <a:r>
              <a:rPr sz="2100" b="0" i="0">
                <a:solidFill>
                  <a:srgbClr val="263238"/>
                </a:solidFill>
                <a:latin typeface="Segoe UI"/>
                <a:ea typeface="Segoe UI"/>
                <a:cs typeface="Segoe UI"/>
              </a:rPr>
              <a:t> nghĩa là gì?</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3.</a:t>
            </a:r>
            <a:r>
              <a:rPr sz="2100" b="0" i="0">
                <a:solidFill>
                  <a:srgbClr val="263238"/>
                </a:solidFill>
                <a:latin typeface="Segoe UI"/>
                <a:ea typeface="Segoe UI"/>
                <a:cs typeface="Segoe UI"/>
              </a:rPr>
              <a:t> 🔎 AI phân tích khác 🤖 AI tạo danh mục ở đâu?</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4.</a:t>
            </a:r>
            <a:r>
              <a:rPr sz="2100" b="0" i="0">
                <a:solidFill>
                  <a:srgbClr val="263238"/>
                </a:solidFill>
                <a:latin typeface="Segoe UI"/>
                <a:ea typeface="Segoe UI"/>
                <a:cs typeface="Segoe UI"/>
              </a:rPr>
              <a:t> Bcode có tự chạy script tạo bảng không?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