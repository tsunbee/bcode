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6: Thêm báo cáo (Trung cấp, 3 giờ).</a:t>
            </a:r>
          </a:p>
          <a:p>
            <a:r>
              <a:t>Chuẩn bị: Dự án thử có chứng từ nhập / xuất; key bản quyền (Tạo báo cáo).</a:t>
            </a:r>
          </a:p>
          <a:p>
            <a:r>
              <a:t>Nhắc lại bài tập về nhà của buổi trước trước khi vào nội dung mới (5–10 phút).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tiêu:</a:t>
            </a:r>
          </a:p>
          <a:p>
            <a:r>
              <a:t>- Biết bộ file báo cáo: Main, Filter, Grid, Report, procedure, mẫu</a:t>
            </a:r>
          </a:p>
          <a:p>
            <a:r>
              <a:t>- Viết procedure báo cáo theo khung Fast (GetUnitFilter, @Key, Partition$Execute)</a:t>
            </a:r>
          </a:p>
          <a:p>
            <a:r>
              <a:t>- Dùng Tạo báo cáo / Create RPT &amp; XML để sinh màn hình</a:t>
            </a:r>
          </a:p>
          <a:p>
            <a:r>
              <a:t>- Tìm procedure của một báo cáo có sẵn bằng Profiler</a:t>
            </a:r>
          </a:p>
          <a:p>
            <a:r>
              <a:t>Lịch trình:</a:t>
            </a:r>
          </a:p>
          <a:p>
            <a:r>
              <a:t>1. Bộ file báo cáo, Filter Processing (30')</a:t>
            </a:r>
          </a:p>
          <a:p>
            <a:r>
              <a:t>2. Procedure báo cáo theo khung Fast (50')</a:t>
            </a:r>
          </a:p>
          <a:p>
            <a:r>
              <a:t>3. Mẫu Excel báo cáo, công cụ Bcode (30')</a:t>
            </a:r>
          </a:p>
          <a:p>
            <a:r>
              <a:t>4. SQL Profiler (20')</a:t>
            </a:r>
          </a:p>
          <a:p>
            <a:r>
              <a:t>5. Thực hành (50')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Một báo cáo gồm: trang Main có FilterMode="true"; Filter là form điều kiện, command Processing gọi procedure; procedure rs_... ở App Data trả bảng kết quả; Grid khai các cột kết quả với độ rộng, định dạng, aggregate="Sum" để cộng tổng; Report khai danh sách mẫu in / xuất.</a:t>
            </a:r>
          </a:p>
          <a:p>
            <a:r>
              <a:t>Trong Report, reportFile trỏ tới Templates\Rpt (Crystal Report), templateFile trỏ tới Templates\Excel (Excel) — không ghi đuôi file. Ví dụ thật ở Report\APTran.xml: APTran_01 là file .rpt, APTran là file .xlsx; có thêm bản BI (song ngữ), FC (ngoại tệ), _a.</a:t>
            </a:r>
          </a:p>
          <a:p>
            <a:r>
              <a:t>Trong command Processing, macro @@language, @@userID, @@admin được Fast thay giá trị trước khi chạy.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Khung procedure báo cáo của Fast khá cố định. Bcode có sẵn khung: gõ rsrepq trong SQL Query.</a:t>
            </a:r>
          </a:p>
          <a:p>
            <a:r>
              <a:t>GetUnitFilter dựng điều kiện lọc đơn vị theo quyền user.</a:t>
            </a:r>
          </a:p>
          <a:p>
            <a:r>
              <a:t>SELECT TOP 0 ... INTO #report tạo bảng tạm đúng kiểu cột.</a:t>
            </a:r>
          </a:p>
          <a:p>
            <a:r>
              <a:t>@Key là chuỗi điều kiện; GetCheckKey kiểm tra / chuẩn hoá chuỗi trước khi chạy.</a:t>
            </a:r>
          </a:p>
          <a:p>
            <a:r>
              <a:t>Partition$Execute chạy câu @q trên mọi bảng kỳ trong khoảng ngày: %Partition được thay bằng đuôi kỳ, %[ ... ]% được chèn điều kiện.</a:t>
            </a:r>
          </a:p>
          <a:p>
            <a:r>
              <a:t>sysorder / sysprint / systotal là cột hệ thống của lưới báo cáo (5 = chi tiết, 1 = tổng...).</a:t>
            </a:r>
          </a:p>
          <a:p>
            <a:r>
              <a:t>Khi ghép chuỗi giá trị người dùng nhập, luôn REPLACE dấu nháy đơn để tránh lỗi và SQL injection.</a:t>
            </a:r>
          </a:p>
          <a:p>
            <a:r>
              <a:t>Ý nghĩa tham số suy từ khung mẫu — trước khi dùng hàm FastBusiness$ mới, F12 để xem code. Ví dụ đầy đủ trong tài liệu Word, mục 6.2.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công cụ báo cáo, đều cần key bản quyền (trừ Write Schema).</a:t>
            </a:r>
          </a:p>
          <a:p>
            <a:r>
              <a:t>Tạo báo cáo: từ procedure có sẵn — gõ tên, Nạp, Chạy store, chỉnh cột, rồi Lưu vào source (Bcode sinh Main / Filter / Grid / Report + mẫu Excel, có diff và sao lưu) và tạo Menu. Hoặc thiết kế từ bảng kiểu kéo thả.</a:t>
            </a:r>
          </a:p>
          <a:p>
            <a:r>
              <a:t>Create RPT &amp; XML: trình 3 bước, dán SQL Statement (lấy từ Profiler của báo cáo) và Grid Controller, chọn field, thiết kế Excel hoặc Pivot Excel, Create.</a:t>
            </a:r>
          </a:p>
          <a:p>
            <a:r>
              <a:t>Write Schema: khi sửa procedure báo cáo làm đổi cột, chạy procedure rồi Write Schema để ghi lại .xsd và cập nhật bảng trong file .rpt; cần Crystal Reports runtime 13 64-bit.</a:t>
            </a:r>
          </a:p>
          <a:p>
            <a:r>
              <a:t>Mẫu Excel nằm ở App_Data\Controllers\Templates\Excel.</a:t>
            </a:r>
          </a:p>
          <a:p>
            <a:r>
              <a:t>Quy trình thêm báo cáo: viết &amp; thử procedure → Tạo báo cáo → lưu vào source + menu → thử trên web → đưa vào Note (New).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 trình thêm báo cáo: viết và chạy thử procedure trên SQL Query với tham số mẫu (ngày đầu / cuối kỳ, đơn vị); mở Tạo báo cáo → Từ procedure có sẵn → Chạy store → chỉnh cột (tiêu đề v/e, độ rộng, định dạng, cộng tổng); Lưu vào source (Bcode sinh Main / Filter / Grid / Report + mẫu Excel, có diff và sao lưu); tạo Menu; chạy trên web và đóng gói vào Note (New).</a:t>
            </a:r>
          </a:p>
          <a:p>
            <a:r>
              <a:t>Tìm procedure của báo cáo chuẩn: Ctrl+3 SQL Profiler, lọc theo user, bấm Nhận trên web, copy câu exec.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Học viên làm trên dự án thử, người hướng dẫn đi kiểm từng máy. Ai xong sớm làm luôn bài tập về nhà.</a:t>
            </a:r>
          </a:p>
          <a:p>
            <a:r>
              <a:t>Bài tập về nhà: Thêm cột “tên vật tư (tiếng Anh)” và điều kiện lọc theo kho vào báo cáo vừa làm.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nhanh cả lớp; đáp án:</a:t>
            </a:r>
          </a:p>
          <a:p>
            <a:r>
              <a:t>1. FilterMode="true".</a:t>
            </a:r>
          </a:p>
          <a:p>
            <a:r>
              <a:t>2. Chỗ Partition$Execute thay đuôi bảng kỳ và chèn điều kiện cho từng kỳ.</a:t>
            </a:r>
          </a:p>
          <a:p>
            <a:r>
              <a:t>3. App_Data\Controllers\Templates\Excel, Report gọi bằng templateFile.</a:t>
            </a:r>
          </a:p>
          <a:p>
            <a:r>
              <a:t>4. Tránh lỗi cú pháp và SQL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BUỔI 6 / 10  ·  TRUNG CẤP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6E4F0"/>
                </a:solidFill>
                <a:latin typeface="Segoe UI"/>
                <a:ea typeface="Segoe UI"/>
                <a:cs typeface="Segoe UI"/>
              </a:rPr>
              <a:t>FastBusiness Online &amp;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Thêm báo cáo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60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B8CADB"/>
                </a:solidFill>
                <a:latin typeface="Segoe UI"/>
                <a:ea typeface="Segoe UI"/>
                <a:cs typeface="Segoe UI"/>
              </a:rPr>
              <a:t>Thời lượng 3 giờ · tài liệu chi tiết: DaoTao_Fast_Bcode.docx — Buổi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Mục tiêu và lịch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6 · Thêm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Học xong buổi này, bạn: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Biết bộ file báo cáo: Main, Filter, Grid, Report, procedure, mẫu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Viết procedure báo cáo theo khung Fast (GetUnitFilter, @Key, Partition$Execute)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Dùng Tạo báo cáo / Create RPT &amp; XML để sinh màn hình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Tìm procedure của một báo cáo có sẵn bằng Profiler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371600"/>
          <a:ext cx="54864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402336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Bộ file báo cáo, Filter Processing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Procedure báo cáo theo khung Fast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Mẫu Excel báo cáo, công cụ Bcode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SQL Profiler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Thực hành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2356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91440" cy="6400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67842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Chuẩn bị: Dự án thử có chứng từ nhập / xuất; key bản quyền (Tạo báo cáo)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Bộ file của một báo cáo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6 · Thêm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577339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737360"/>
            <a:ext cx="1431036" cy="72009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Main\x.aspx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446020"/>
            <a:ext cx="1431036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FilterMode="true"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53996" y="232714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0028" y="1645920"/>
            <a:ext cx="1577339" cy="16002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3180" y="1737360"/>
            <a:ext cx="1431036" cy="72009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3180" y="2446020"/>
            <a:ext cx="1431036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form điều kiện</a:t>
            </a:r>
          </a:p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command Processing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23944" y="232714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9976" y="1645920"/>
            <a:ext cx="1577339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737360"/>
            <a:ext cx="1431036" cy="72009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Procedure rs_…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46020"/>
            <a:ext cx="1431036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App Data</a:t>
            </a:r>
          </a:p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trả bảng kết quả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3892" y="232714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9924" y="1645920"/>
            <a:ext cx="1577339" cy="16002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3076" y="1737360"/>
            <a:ext cx="1431036" cy="72009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6" y="2446020"/>
            <a:ext cx="1431036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cột kết quả</a:t>
            </a:r>
          </a:p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aggregate="Sum"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3840" y="232714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9871" y="1645920"/>
            <a:ext cx="1577339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3" y="1737360"/>
            <a:ext cx="1431036" cy="72009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2446020"/>
            <a:ext cx="1431036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mẫu in / xuất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33787" y="232714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89819" y="1645920"/>
            <a:ext cx="1577339" cy="16002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62972" y="1737360"/>
            <a:ext cx="1431036" cy="72009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2972" y="2446020"/>
            <a:ext cx="1431036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Excel\*.xlsx</a:t>
            </a:r>
          </a:p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Rpt\*.rpt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520440"/>
            <a:ext cx="10927080" cy="1828800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3593592"/>
            <a:ext cx="1056131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8B8"/>
                </a:solidFill>
                <a:latin typeface="Segoe UI"/>
                <a:ea typeface="Segoe UI"/>
                <a:cs typeface="Segoe UI"/>
              </a:rPr>
              <a:t>Report\APTran.xml (FBO mẫu) · Filter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3904488"/>
            <a:ext cx="10607040" cy="1353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&lt;form id="010" reportFile="APTran_01" templateFile="" commandArgument="Pdf"&gt;        </a:t>
            </a:r>
            <a:r>
              <a:rPr sz="12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&lt;!-- Templates\Rpt\APTran_01.rpt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&lt;form id="110" reportFile="" templateFile="APTran" commandArgument="Excel"&gt;       </a:t>
            </a:r>
            <a:r>
              <a:rPr sz="12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&lt;!-- Templates\Excel\APTran.xlsx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&lt;command event="Processing"&gt;     </a:t>
            </a:r>
            <a:r>
              <a:rPr sz="12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&lt;!-- Filter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sz="12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rs_BangKeNhapTheoVatTu @DateFrom, @DateTo, @Item, @Unit, @@language, @@userID, @@admin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3212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532120"/>
            <a:ext cx="91440" cy="6858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586983"/>
            <a:ext cx="106070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Segoe UI"/>
                <a:ea typeface="Segoe UI"/>
                <a:cs typeface="Segoe UI"/>
              </a:rPr>
              <a:t>Cần kiểm tra ở dự án: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Ý nghĩa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của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&lt;form&gt;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languageType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… lấy theo mẫu có sẵn — </a:t>
            </a:r>
            <a:r>
              <a:rPr sz="14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chép báo cáo cùng loại rồi sửa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an toàn hơn viết mới.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Procedure báo cáo theo khung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6 · Thêm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7406640" cy="4226560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09928"/>
            <a:ext cx="7086600" cy="4462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@UnitKey = dbo.FastBusiness$Function$System$GetUnitFilter(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        'a.ma_dvcs', @Unit, @UserID, @Admin)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TOP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0 5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sysorder, 1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sysprint, 1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systotal,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b.ma_vt, b.so_luong, b.tien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#report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m74$000000 a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d74$000000 b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@Key = 'a.status = ''1'''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@UnitKey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@Key = @Key + '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' + @UnitKey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@Key = dbo.FastBusiness$Function$System$GetCheckKey(@Key)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@q = '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#report ...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m74$%Partition a'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+ ' ...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%[' + @Key + ']% group by b.ma_vt'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FastBusiness$Partition$Execute @q,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 'a.ngay_ct',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@DateFrom, @DateTo, @UserID, @Admin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#report </a:t>
            </a:r>
            <a:r>
              <a:rPr sz="155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ORDER BY</a:t>
            </a:r>
            <a:r>
              <a:rPr sz="15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sysorder, ma_vt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600200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Gõ </a:t>
            </a:r>
            <a:r>
              <a:rPr sz="1400" b="1" i="0">
                <a:solidFill>
                  <a:srgbClr val="1F4E79"/>
                </a:solidFill>
                <a:latin typeface="Consolas"/>
                <a:ea typeface="Consolas"/>
                <a:cs typeface="Consolas"/>
              </a:rPr>
              <a:t>rsrepq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chèn khung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GetUnitFilter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— lọc đơn vị theo quyền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TOP 0 … INTO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— bảng tạm đúng kiểu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@Key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+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GetCheckKey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Partition$Execute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— chạy mọi kỳ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sysorder / sysprint / systotal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Công cụ báo cáo trong Bcode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6 · Thêm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5948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4594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Tạo báo cáo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185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Tool mở rộng →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Tạo báo cáo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① Từ procedure có sẵn: Nạp → Chạy store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→ File &amp; lưu →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Menu…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/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Lưu vào source…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② Thiết kế từ bảng (kéo thả)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880" y="1645920"/>
            <a:ext cx="345948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1645920"/>
            <a:ext cx="3459480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Create RPT &amp; 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606040"/>
            <a:ext cx="3185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Dán SQL Statement + Grid Controller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Chọn field → thiết kế Excel / Pivot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Create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→ Đưa vào source (có diff)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Excel → FRX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chuyển mẫu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679" y="1645920"/>
            <a:ext cx="345948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79" y="1645920"/>
            <a:ext cx="3459480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59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Write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39" y="2606040"/>
            <a:ext cx="3185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Sau khi đổi cột procedure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Ghi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.xsd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(bảng d1…dN)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Cập nhật bảng trong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.rpt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Bản cũ lưu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.rpt.bak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2356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623560"/>
            <a:ext cx="91440" cy="6400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67842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Mẫu Excel: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App_Data\Controllers\Templates\Excel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· Report gọi bằng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templateFile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(không ghi đuôi).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Quy trình thêm một báo cáo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6 · Thêm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1. Procedure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viết + chạy thử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với tham số mẫu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7985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4017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7169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2. Tạo báo cáo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7169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Từ procedure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có sẵn → chỉnh cột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1923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7955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1107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3. Lưu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1107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Main / Filter / Grid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Report + Excel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5860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71892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5044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4. Menu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5044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Menu… trong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Tạo báo cáo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59798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15830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8982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5. Thử &amp; gói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982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web: lọc, Excel, in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→ Note (New)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Báo cáo chuẩn gọi procedure nào? </a:t>
            </a:r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SQL Profiler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7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Ctrl+3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) → bấm Nhận trên web → </a:t>
            </a:r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📋 Copy SQL Command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Đổi cột procedure mà báo cáo có mẫu </a:t>
            </a:r>
            <a:r>
              <a:rPr sz="17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.rpt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→ </a:t>
            </a:r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Write Schema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(buổi 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Thực hành tại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6 · Thêm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Tạo procedure </a:t>
            </a:r>
            <a:r>
              <a:rPr sz="19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rs_BangKeNhapTheoVatTu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chạy thử với 1 tháng.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Dùng Tạo báo cáo sinh màn hình + menu, chạy trên web, xuất Excel.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Bật Profiler, chạy một báo cáo chuẩn, copy câu </a:t>
            </a:r>
            <a:r>
              <a:rPr sz="19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sang SQL Query.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9144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489703"/>
            <a:ext cx="106070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Mẹo: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Trên database: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Sổ bài tập thực hành — Buổi 6 (FBOSP2422_App / _Sys, chạy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00_TaoDuLieuMau.sql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trước).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5780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312664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Bài tập: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Về nhà: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Thêm cột “tên vật tư (tiếng Anh)” và điều kiện lọc theo kho vào báo cáo vừa làm.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Tự kiểm 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6 · Thêm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Trang báo cáo khác trang danh mục ở thuộc tính nào?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%Partition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và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%[ … ]%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trong câu @q là gì?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Mẫu Excel của báo cáo nằm ở đâu?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4.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Vì sao REPLACE dấu nháy khi ghép @Key?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