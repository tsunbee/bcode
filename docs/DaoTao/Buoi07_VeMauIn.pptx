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7: Vẽ mẫu in (Trung cấp, 3 giờ).</a:t>
            </a:r>
          </a:p>
          <a:p>
            <a:r>
              <a:t>Chuẩn bị: Crystal Reports designer (nếu vẽ .rpt), Excel; dự án thử có phiếu nhập / hoá đơn; key bản quyền (Excel → FRX).</a:t>
            </a:r>
          </a:p>
          <a:p>
            <a:r>
              <a:t>Nhắc lại bài tập về nhà của buổi trước trước khi vào nội dung mới (5–10 phút).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a:t>
            </a:r>
          </a:p>
          <a:p>
            <a:r>
              <a:t>- Hiểu Report xml: query sinh ra bảng d1 / d2, form, nhãn h_…</a:t>
            </a:r>
          </a:p>
          <a:p>
            <a:r>
              <a:t>- Sửa và vẽ mẫu Crystal .rpt, cập nhật cột bằng Write Schema</a:t>
            </a:r>
          </a:p>
          <a:p>
            <a:r>
              <a:t>- Sửa và vẽ mẫu Excel với cú pháp ?biến, !1.cột, !2.cột, #biểu thức</a:t>
            </a:r>
          </a:p>
          <a:p>
            <a:r>
              <a:t>- Chuyển mẫu sang FastReport bằng Excel → FRX</a:t>
            </a:r>
          </a:p>
          <a:p>
            <a:r>
              <a:t>Lịch trình:</a:t>
            </a:r>
          </a:p>
          <a:p>
            <a:r>
              <a:t>1. Ba loại mẫu in, quy ước tên (15')</a:t>
            </a:r>
          </a:p>
          <a:p>
            <a:r>
              <a:t>2. Report xml: query, form, nhãn (40')</a:t>
            </a:r>
          </a:p>
          <a:p>
            <a:r>
              <a:t>3. Mẫu Crystal .rpt và Write Schema (40')</a:t>
            </a:r>
          </a:p>
          <a:p>
            <a:r>
              <a:t>4. Mẫu Excel (40')</a:t>
            </a:r>
          </a:p>
          <a:p>
            <a:r>
              <a:t>5. FastReport .frx, Excel → FRX (20')</a:t>
            </a:r>
          </a:p>
          <a:p>
            <a:r>
              <a:t>6. Thực hành (25')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in quyết định phiếu hoặc báo cáo trông như thế nào khi người dùng bấm In hoặc Xuất Excel. Dữ liệu do file Report\&lt;Controller&gt;.xml lấy ra; mẫu in chỉ đặt dữ liệu đó vào đúng chỗ.</a:t>
            </a:r>
          </a:p>
          <a:p>
            <a:r>
              <a:t>Có ba loại: Crystal Report (file .rpt kèm .xsd, nằm trong Templates\Rpt, xuất ra PDF) — phần lớn mẫu có sẵn thuộc loại này; Excel (file .xlsx trong Templates\Excel) — dùng khi khách muốn sửa tiếp trên file; FastReport (.frx) — hướng mới của công ty để thay .rpt, Bcode có công cụ chuyển Excel → FRX.</a:t>
            </a:r>
          </a:p>
          <a:p>
            <a:r>
              <a:t>Quy ước đặt tên: _01, _02 khi có nhiều mẫu; BI là bản song ngữ; FC là bản ngoại tệ; _a là bản phụ.</a:t>
            </a:r>
          </a:p>
          <a:p>
            <a:r>
              <a:t>Bản FBO mẫu trên máy (bản cũ) chưa có thư mục Templates\Frx — dự án dùng .frx hay .rpt thì cần kiểm tra theo phiên bản của dự án.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File Lookup, chọn menu chứng từ, vào thư mục Report, ví dụ file IRTran.xml.</a:t>
            </a:r>
          </a:p>
          <a:p>
            <a:r>
              <a:t>Phần query: mỗi câu SELECT trả về một bảng; theo thứ tự, các bảng này thành d1, d2... trong mẫu in. d1 thường là đầu phiếu, chỉ 1 dòng (có số tiền bằng chữ, lấy qua ReadCurrency); d2 là phần chi tiết (thường gọi procedure rs_Print...).</a:t>
            </a:r>
          </a:p>
          <a:p>
            <a:r>
              <a:t>@stt_rec là khoá của chứng từ đang in; @@form là id của mẫu người dùng đã chọn — dùng để rẽ nhánh xử lý (ví dụ mẫu song ngữ). Query cũng có thể đổi sang file mẫu khác bằng câu select '...' as reportFile.</a:t>
            </a:r>
          </a:p>
          <a:p>
            <a:r>
              <a:t>Mỗi thẻ &lt;form&gt; là một dòng trong danh sách mẫu hiện ra khi bấm In: reportFile dùng cho .rpt, templateFile dùng cho .xlsx, commandArgument là Pdf hoặc Excel.</a:t>
            </a:r>
          </a:p>
          <a:p>
            <a:r>
              <a:t>&lt;field name="h_..."&gt; khai báo nhãn song ngữ; mẫu in gọi nhãn bằng tên h_...</a:t>
            </a:r>
          </a:p>
          <a:p>
            <a:r>
              <a:t>Muốn xem dữ liệu thật: trong BcodeViewer bấm Ctrl+Enter trên query (Viewer gộp entity và hỏi giá trị @stt_rec), hoặc bật Profiler rồi bấm In trên web.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sửa hoặc vẽ mới một mẫu .rpt:</a:t>
            </a:r>
          </a:p>
          <a:p>
            <a:r>
              <a:t>1. Chạy query in (hoặc procedure in) trên SQL Query với một stt_rec thật → nhóm Script → Write Schema → lưu file .xsd vào Templates\Rpt; file xsd chứa các bảng d1, d2 theo đúng thứ tự kết quả.</a:t>
            </a:r>
          </a:p>
          <a:p>
            <a:r>
              <a:t>2. Bcode hỏi có cập nhật bảng trong file .rpt không → chọn file → xem cột Khác biệt cột: dòng chữ đỏ là cột mà report đang dùng nhưng sẽ bị mất → bấm Cập nhật (bản cũ được lưu thành .rpt.bak). Bước này tương đương Set Datasource Location + Verify Database trong Crystal.</a:t>
            </a:r>
          </a:p>
          <a:p>
            <a:r>
              <a:t>3. Mở file .rpt bằng Crystal designer: kéo field của d1 vào phần đầu / cuối phiếu, field của d2 vào vùng Details.</a:t>
            </a:r>
          </a:p>
          <a:p>
            <a:r>
              <a:t>4. Nhãn dùng các biến h_...; tham số chuẩn gồm {?isFC}, {?roundAmount}, {?roundQuantity}.</a:t>
            </a:r>
          </a:p>
          <a:p>
            <a:r>
              <a:t>5. Bật Can Grow cho ô có nội dung dài, chỉnh khổ giấy và lề; bảng pivot thì dùng Cross-Tab.</a:t>
            </a:r>
          </a:p>
          <a:p>
            <a:r>
              <a:t>6. In thử trên web: thử cả 2 ngôn ngữ và chứng từ có nhiều dòng.</a:t>
            </a:r>
          </a:p>
          <a:p>
            <a:r>
              <a:t>Cảnh báo: Crystal âm thầm xoá các ô đang dùng cột bị mất. Máy cần cài Crystal runtime 13 64-bit; bản designer nên cùng đời với runtime (file lưu bằng bản mới mà mở bằng bản cũ có thể bị treo).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Excel là một file .xlsx bình thường; ô nào cần dữ liệu thì gõ mã đặc biệt vào ô đó (ví dụ lấy từ mẫu thật APTran.xlsx):</a:t>
            </a:r>
          </a:p>
          <a:p>
            <a:r>
              <a:t>?ten: biến — gồm các nhãn h_ khai trong Report xml, title, Entity_Line1..4 (thông tin đơn vị), chức danh và tên người ký, reportDate.</a:t>
            </a:r>
          </a:p>
          <a:p>
            <a:r>
              <a:t>!1.cot: cột của bảng 1 (đầu phiếu); !2.cot: cột của bảng 2 (chi tiết).</a:t>
            </a:r>
          </a:p>
          <a:p>
            <a:r>
              <a:t>#...: ghép nhiều phần thành một ô bằng dấu +; phần rỗng giữa hai dấu + là một dấu cách.</a:t>
            </a:r>
          </a:p>
          <a:p>
            <a:r>
              <a:t>%c %l %r viết ở cuối: cờ định dạng — %c là số tiền, %l là căn trái, %r là căn phải.</a:t>
            </a:r>
          </a:p>
          <a:p>
            <a:r>
              <a:t>!1.x#điều kiện: chỉ hiện khi thoả điều kiện (ví dụ sysorder&gt;1); {b:điều kiện}: in đậm khi thoả điều kiện.</a:t>
            </a:r>
          </a:p>
          <a:p>
            <a:r>
              <a:t>Ô công thức Excel (=...) không tham chiếu được dữ liệu — tổng cộng phải lấy từ query.</a:t>
            </a:r>
          </a:p>
          <a:p>
            <a:r>
              <a:t>Ô không gắn trường thì cột đó không hiện ra, dù procedure đã tính.</a:t>
            </a:r>
          </a:p>
          <a:p>
            <a:r>
              <a:t>Quy trình: chép một mẫu gần giống, đặt tên file theo templateFile, sửa nhưng giữ đúng các mã, nhãn mới thì thêm &lt;field name="h_..."&gt; vào Report xml, chỉnh Page Setup (khổ giấy, lề, fit width, lặp dòng tiêu đề), khai báo &lt;form templateFile commandArgument="Excel"&gt;, in thử với chứng từ nhiều dòng và với tiếng Anh.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.frx dùng cùng nguồn dữ liệu d1, d2 như file xsd; nhãn và biến khai thành Parameter; ô dữ liệu viết dạng [d1.ong_ba], [title]; vùng chi tiết là một DataBand gắn với DataSource d2.</a:t>
            </a:r>
          </a:p>
          <a:p>
            <a:r>
              <a:t>Công cụ trong Bcode: tab Excel → FRX — mở file Excel mẫu in, Bcode dựng ra file .frx, bạn kéo thả để chỉnh bố cục, xem trước dạng PDF, rồi lưu vào thư mục .frx (mặc định thường là Templates\Frx). Hoặc chuột phải file .xlsx / .rpt trong File Lookup → Chuyển sang .frx. Bcode có kèm bộ 28 mẫu .frx chuẩn; mẫu chuẩn nào trùng tên sẽ được tự dùng làm khuôn.</a:t>
            </a:r>
          </a:p>
          <a:p>
            <a:r>
              <a:t>Quy ước: XmlDataConnection không có chuỗi kết nối, cột số dùng kiểu System.Decimal, PrintIfDatasourceEmpty đặt False, tag số lẻ là $isFC$roundAmount$roundFCAmount$. Bảng pivot chuyển thành AdvMatrixObject.</a:t>
            </a:r>
          </a:p>
          <a:p>
            <a:r>
              <a:t>Các phần không tự chuyển được: VLOOKUP, WhilePrintingRecords, Previous / Next, select case — phải khai báo tay. Công cụ cần key bản quyền; luôn xem trước PDF và in thử.</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các lỗi thực tế khi vẽ hoặc chuyển mẫu in. Hai lỗi gặp nhiều nhất: sửa query mà quên cập nhật file .rpt (Crystal âm thầm xoá các ô dùng cột bị mất), và thêm cột trong procedure nhưng ô trên mẫu chưa gắn trường nên cột không hiện.</a:t>
            </a:r>
          </a:p>
          <a:p>
            <a:r>
              <a:t>Dòng "Pivot: tên cột lệch với số": phần tiêu đề cột sắp xếp theo tên còn phần dữ liệu sắp theo mã, nên tên cột không khớp với số bên dưới — phải sắp cả hai theo cùng một khoá.</a:t>
            </a:r>
          </a:p>
          <a:p>
            <a:r>
              <a:t>Khi đã sửa mà vẫn thấy lỗi cũ: kiểm tra lại có đúng file, đúng bản đang chạy hay không trước khi sửa tiếp.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Học viên làm trên dự án thử, người hướng dẫn đi kiểm từng máy. Ai xong sớm làm luôn bài tập về nhà.</a:t>
            </a:r>
          </a:p>
          <a:p>
            <a:r>
              <a:t>Bài tập về nhà: Khách muốn thêm “Ghi chú” và “Mã lô” lên phiếu nhập kho: sửa query in, cập nhật mẫu (.rpt hoặc Excel), in thử nhiều dòng.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nhanh cả lớp; đáp án:</a:t>
            </a:r>
          </a:p>
          <a:p>
            <a:r>
              <a:t>1. Phần &lt;query&gt; của Report\&lt;Controller&gt;.xml; mỗi SELECT là một bảng d1, d2…</a:t>
            </a:r>
          </a:p>
          <a:p>
            <a:r>
              <a:t>2. Cột tien của bảng kết quả 2 (chi tiết).</a:t>
            </a:r>
          </a:p>
          <a:p>
            <a:r>
              <a:t>3. Chạy Write Schema rồi cập nhật bảng trong .rpt (bản cũ được lưu thành .rpt.bak).</a:t>
            </a:r>
          </a:p>
          <a:p>
            <a:r>
              <a:t>4. &lt;field name="h_…" type="String"&gt;&lt;header v e/&gt; trong Report xml.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Rectangle 1"/>
          <p:cNvSpPr/>
          <p:nvPr/>
        </p:nvSpPr>
        <p:spPr>
          <a:xfrm>
            <a:off x="0" y="5394960"/>
            <a:ext cx="12191695" cy="1463040"/>
          </a:xfrm>
          <a:prstGeom prst="rect">
            <a:avLst/>
          </a:prstGeom>
          <a:solidFill>
            <a:srgbClr val="173D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280160"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097280"/>
            <a:ext cx="10058400" cy="548640"/>
          </a:xfrm>
          <a:prstGeom prst="rect">
            <a:avLst/>
          </a:prstGeom>
          <a:noFill/>
        </p:spPr>
        <p:txBody>
          <a:bodyPr wrap="square" anchor="t" lIns="45720" rIns="45720" tIns="27432" bIns="27432">
            <a:spAutoFit/>
          </a:bodyPr>
          <a:lstStyle/>
          <a:p>
            <a:pPr algn="l"/>
            <a:r>
              <a:rPr sz="1800" b="1" i="0">
                <a:solidFill>
                  <a:srgbClr val="F2B705"/>
                </a:solidFill>
                <a:latin typeface="Segoe UI"/>
                <a:ea typeface="Segoe UI"/>
                <a:cs typeface="Segoe UI"/>
              </a:rPr>
              <a:t>BUỔI 7 / 10  ·  TRUNG CẤP</a:t>
            </a:r>
          </a:p>
        </p:txBody>
      </p:sp>
      <p:sp>
        <p:nvSpPr>
          <p:cNvPr id="5" name="TextBox 4"/>
          <p:cNvSpPr txBox="1"/>
          <p:nvPr/>
        </p:nvSpPr>
        <p:spPr>
          <a:xfrm>
            <a:off x="777240" y="1554480"/>
            <a:ext cx="10789920" cy="914400"/>
          </a:xfrm>
          <a:prstGeom prst="rect">
            <a:avLst/>
          </a:prstGeom>
          <a:noFill/>
        </p:spPr>
        <p:txBody>
          <a:bodyPr wrap="square" anchor="t" lIns="45720" rIns="45720" tIns="27432" bIns="27432">
            <a:spAutoFit/>
          </a:bodyPr>
          <a:lstStyle/>
          <a:p>
            <a:pPr algn="l"/>
            <a:r>
              <a:rPr sz="2200" b="0" i="0">
                <a:solidFill>
                  <a:srgbClr val="D6E4F0"/>
                </a:solidFill>
                <a:latin typeface="Segoe UI"/>
                <a:ea typeface="Segoe UI"/>
                <a:cs typeface="Segoe UI"/>
              </a:rPr>
              <a:t>FastBusiness Online &amp; Bcode</a:t>
            </a:r>
          </a:p>
        </p:txBody>
      </p:sp>
      <p:sp>
        <p:nvSpPr>
          <p:cNvPr id="6" name="TextBox 5"/>
          <p:cNvSpPr txBox="1"/>
          <p:nvPr/>
        </p:nvSpPr>
        <p:spPr>
          <a:xfrm>
            <a:off x="777240" y="2606040"/>
            <a:ext cx="10789920" cy="2194560"/>
          </a:xfrm>
          <a:prstGeom prst="rect">
            <a:avLst/>
          </a:prstGeom>
          <a:noFill/>
        </p:spPr>
        <p:txBody>
          <a:bodyPr wrap="square" anchor="t" lIns="45720" rIns="45720" tIns="27432" bIns="27432">
            <a:spAutoFit/>
          </a:bodyPr>
          <a:lstStyle/>
          <a:p>
            <a:pPr algn="l"/>
            <a:r>
              <a:rPr sz="4400" b="1" i="0">
                <a:solidFill>
                  <a:srgbClr val="FFFFFF"/>
                </a:solidFill>
                <a:latin typeface="Segoe UI"/>
                <a:ea typeface="Segoe UI"/>
                <a:cs typeface="Segoe UI"/>
              </a:rPr>
              <a:t>Vẽ mẫu in</a:t>
            </a:r>
          </a:p>
        </p:txBody>
      </p:sp>
      <p:sp>
        <p:nvSpPr>
          <p:cNvPr id="7" name="TextBox 6"/>
          <p:cNvSpPr txBox="1"/>
          <p:nvPr/>
        </p:nvSpPr>
        <p:spPr>
          <a:xfrm>
            <a:off x="804672" y="5760720"/>
            <a:ext cx="10515600" cy="548640"/>
          </a:xfrm>
          <a:prstGeom prst="rect">
            <a:avLst/>
          </a:prstGeom>
          <a:noFill/>
        </p:spPr>
        <p:txBody>
          <a:bodyPr wrap="square" anchor="t" lIns="45720" rIns="45720" tIns="27432" bIns="27432">
            <a:spAutoFit/>
          </a:bodyPr>
          <a:lstStyle/>
          <a:p>
            <a:pPr algn="l"/>
            <a:r>
              <a:rPr sz="1400" b="0" i="0">
                <a:solidFill>
                  <a:srgbClr val="B8CADB"/>
                </a:solidFill>
                <a:latin typeface="Segoe UI"/>
                <a:ea typeface="Segoe UI"/>
                <a:cs typeface="Segoe UI"/>
              </a:rPr>
              <a:t>Thời lượng 3 giờ · tài liệu chi tiết: DaoTao_Fast_Bcode.docx — Buổi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Mục tiêu và lịch trình</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2</a:t>
            </a:r>
          </a:p>
        </p:txBody>
      </p:sp>
      <p:sp>
        <p:nvSpPr>
          <p:cNvPr id="7" name="TextBox 6"/>
          <p:cNvSpPr txBox="1"/>
          <p:nvPr/>
        </p:nvSpPr>
        <p:spPr>
          <a:xfrm>
            <a:off x="640080" y="1325880"/>
            <a:ext cx="5120640" cy="411480"/>
          </a:xfrm>
          <a:prstGeom prst="rect">
            <a:avLst/>
          </a:prstGeom>
          <a:noFill/>
        </p:spPr>
        <p:txBody>
          <a:bodyPr wrap="square" anchor="t" lIns="45720" rIns="45720" tIns="27432" bIns="27432">
            <a:spAutoFit/>
          </a:bodyPr>
          <a:lstStyle/>
          <a:p>
            <a:pPr algn="l"/>
            <a:r>
              <a:rPr sz="1800" b="1" i="0">
                <a:solidFill>
                  <a:srgbClr val="1F4E79"/>
                </a:solidFill>
                <a:latin typeface="Segoe UI"/>
                <a:ea typeface="Segoe UI"/>
                <a:cs typeface="Segoe UI"/>
              </a:rPr>
              <a:t>Học xong buổi này, bạn:</a:t>
            </a:r>
          </a:p>
        </p:txBody>
      </p:sp>
      <p:sp>
        <p:nvSpPr>
          <p:cNvPr id="8" name="TextBox 7"/>
          <p:cNvSpPr txBox="1"/>
          <p:nvPr/>
        </p:nvSpPr>
        <p:spPr>
          <a:xfrm>
            <a:off x="640080" y="1783080"/>
            <a:ext cx="5212080" cy="4206240"/>
          </a:xfrm>
          <a:prstGeom prst="rect">
            <a:avLst/>
          </a:prstGeom>
          <a:noFill/>
        </p:spPr>
        <p:txBody>
          <a:bodyPr wrap="square">
            <a:spAutoFit/>
          </a:bodyPr>
          <a:lstStyle/>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Hiểu Report xml: query sinh ra bảng d1 / d2, form, nhãn h_…</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Sửa và vẽ mẫu Crystal .rpt, cập nhật cột bằng Write Schema</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Sửa và vẽ mẫu Excel với cú pháp ?biến, !1.cột, !2.cột, #biểu thức</a:t>
            </a:r>
          </a:p>
          <a:p>
            <a:pPr>
              <a:spcAft>
                <a:spcPts val="1000"/>
              </a:spcAft>
            </a:pPr>
            <a:r>
              <a:rPr sz="1700" b="1" i="0">
                <a:solidFill>
                  <a:srgbClr val="F2B705"/>
                </a:solidFill>
                <a:latin typeface="Segoe UI"/>
                <a:ea typeface="Segoe UI"/>
                <a:cs typeface="Segoe UI"/>
              </a:rPr>
              <a:t>▪  </a:t>
            </a:r>
            <a:r>
              <a:rPr sz="1700" b="0" i="0">
                <a:solidFill>
                  <a:srgbClr val="263238"/>
                </a:solidFill>
                <a:latin typeface="Segoe UI"/>
                <a:ea typeface="Segoe UI"/>
                <a:cs typeface="Segoe UI"/>
              </a:rPr>
              <a:t>Chuyển mẫu sang FastReport bằng Excel → FRX</a:t>
            </a:r>
          </a:p>
        </p:txBody>
      </p:sp>
      <p:graphicFrame>
        <p:nvGraphicFramePr>
          <p:cNvPr id="9" name="Table 8"/>
          <p:cNvGraphicFramePr>
            <a:graphicFrameLocks noGrp="1"/>
          </p:cNvGraphicFramePr>
          <p:nvPr/>
        </p:nvGraphicFramePr>
        <p:xfrm>
          <a:off x="6126480" y="1371600"/>
          <a:ext cx="5486400" cy="3520440"/>
        </p:xfrm>
        <a:graphic>
          <a:graphicData uri="http://schemas.openxmlformats.org/drawingml/2006/table">
            <a:tbl>
              <a:tblPr firstRow="1" bandRow="1">
                <a:tableStyleId>{5940675A-B579-460E-94D1-54222C63F5DA}</a:tableStyleId>
              </a:tblPr>
              <a:tblGrid>
                <a:gridCol w="457200"/>
                <a:gridCol w="4023360"/>
                <a:gridCol w="1005840"/>
              </a:tblGrid>
              <a:tr h="502920">
                <a:tc>
                  <a:txBody>
                    <a:bodyPr wrap="square"/>
                    <a:lstStyle/>
                    <a:p>
                      <a:r>
                        <a:rPr sz="1400" b="1" i="0">
                          <a:solidFill>
                            <a:srgbClr val="FFFFFF"/>
                          </a:solidFill>
                          <a:latin typeface="Segoe UI"/>
                          <a:ea typeface="Segoe UI"/>
                          <a:cs typeface="Segoe UI"/>
                        </a:rPr>
                        <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Nội dung</a:t>
                      </a:r>
                    </a:p>
                  </a:txBody>
                  <a:tcPr marL="73152" marR="73152" marT="36576" marB="36576" anchor="ctr">
                    <a:solidFill>
                      <a:srgbClr val="1F4E79"/>
                    </a:solidFill>
                  </a:tcPr>
                </a:tc>
                <a:tc>
                  <a:txBody>
                    <a:bodyPr wrap="square"/>
                    <a:lstStyle/>
                    <a:p>
                      <a:r>
                        <a:rPr sz="1400" b="1" i="0">
                          <a:solidFill>
                            <a:srgbClr val="FFFFFF"/>
                          </a:solidFill>
                          <a:latin typeface="Segoe UI"/>
                          <a:ea typeface="Segoe UI"/>
                          <a:cs typeface="Segoe UI"/>
                        </a:rPr>
                        <a:t>Thời gian</a:t>
                      </a:r>
                    </a:p>
                  </a:txBody>
                  <a:tcPr marL="73152" marR="73152" marT="36576" marB="36576" anchor="ctr">
                    <a:solidFill>
                      <a:srgbClr val="1F4E79"/>
                    </a:solidFill>
                  </a:tcPr>
                </a:tc>
              </a:tr>
              <a:tr h="502920">
                <a:tc>
                  <a:txBody>
                    <a:bodyPr wrap="square"/>
                    <a:lstStyle/>
                    <a:p>
                      <a:r>
                        <a:rPr sz="1400" b="0" i="0">
                          <a:solidFill>
                            <a:srgbClr val="263238"/>
                          </a:solidFill>
                          <a:latin typeface="Segoe UI"/>
                          <a:ea typeface="Segoe UI"/>
                          <a:cs typeface="Segoe UI"/>
                        </a:rPr>
                        <a:t>1</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Ba loại mẫu in, quy ước tên</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15'</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2</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Report xml: query, form, nhãn</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40'</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3</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Mẫu Crystal .rpt và Write Schema</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40'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4</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Mẫu Excel</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40'</a:t>
                      </a:r>
                    </a:p>
                  </a:txBody>
                  <a:tcPr marL="73152" marR="73152" marT="36576" marB="36576" anchor="ctr">
                    <a:solidFill>
                      <a:srgbClr val="F4F7FB"/>
                    </a:solidFill>
                  </a:tcPr>
                </a:tc>
              </a:tr>
              <a:tr h="502920">
                <a:tc>
                  <a:txBody>
                    <a:bodyPr wrap="square"/>
                    <a:lstStyle/>
                    <a:p>
                      <a:r>
                        <a:rPr sz="1400" b="0" i="0">
                          <a:solidFill>
                            <a:srgbClr val="263238"/>
                          </a:solidFill>
                          <a:latin typeface="Segoe UI"/>
                          <a:ea typeface="Segoe UI"/>
                          <a:cs typeface="Segoe UI"/>
                        </a:rPr>
                        <a:t>5</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FastReport .frx, Excel → FRX</a:t>
                      </a:r>
                    </a:p>
                  </a:txBody>
                  <a:tcPr marL="73152" marR="73152" marT="36576" marB="36576" anchor="ctr">
                    <a:solidFill>
                      <a:srgbClr val="FFFFFF"/>
                    </a:solidFill>
                  </a:tcPr>
                </a:tc>
                <a:tc>
                  <a:txBody>
                    <a:bodyPr wrap="square"/>
                    <a:lstStyle/>
                    <a:p>
                      <a:r>
                        <a:rPr sz="1400" b="0" i="0">
                          <a:solidFill>
                            <a:srgbClr val="263238"/>
                          </a:solidFill>
                          <a:latin typeface="Segoe UI"/>
                          <a:ea typeface="Segoe UI"/>
                          <a:cs typeface="Segoe UI"/>
                        </a:rPr>
                        <a:t>20'</a:t>
                      </a:r>
                    </a:p>
                  </a:txBody>
                  <a:tcPr marL="73152" marR="73152" marT="36576" marB="36576" anchor="ctr">
                    <a:solidFill>
                      <a:srgbClr val="FFFFFF"/>
                    </a:solidFill>
                  </a:tcPr>
                </a:tc>
              </a:tr>
              <a:tr h="502920">
                <a:tc>
                  <a:txBody>
                    <a:bodyPr wrap="square"/>
                    <a:lstStyle/>
                    <a:p>
                      <a:r>
                        <a:rPr sz="1400" b="0" i="0">
                          <a:solidFill>
                            <a:srgbClr val="263238"/>
                          </a:solidFill>
                          <a:latin typeface="Segoe UI"/>
                          <a:ea typeface="Segoe UI"/>
                          <a:cs typeface="Segoe UI"/>
                        </a:rPr>
                        <a:t>6</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Thực hành</a:t>
                      </a:r>
                    </a:p>
                  </a:txBody>
                  <a:tcPr marL="73152" marR="73152" marT="36576" marB="36576" anchor="ctr">
                    <a:solidFill>
                      <a:srgbClr val="F4F7FB"/>
                    </a:solidFill>
                  </a:tcPr>
                </a:tc>
                <a:tc>
                  <a:txBody>
                    <a:bodyPr wrap="square"/>
                    <a:lstStyle/>
                    <a:p>
                      <a:r>
                        <a:rPr sz="1400" b="0" i="0">
                          <a:solidFill>
                            <a:srgbClr val="263238"/>
                          </a:solidFill>
                          <a:latin typeface="Segoe UI"/>
                          <a:ea typeface="Segoe UI"/>
                          <a:cs typeface="Segoe UI"/>
                        </a:rPr>
                        <a:t>25'</a:t>
                      </a:r>
                    </a:p>
                  </a:txBody>
                  <a:tcPr marL="73152" marR="73152" marT="36576" marB="36576" anchor="ctr">
                    <a:solidFill>
                      <a:srgbClr val="F4F7FB"/>
                    </a:solidFill>
                  </a:tcPr>
                </a:tc>
              </a:tr>
            </a:tbl>
          </a:graphicData>
        </a:graphic>
      </p:graphicFrame>
      <p:sp>
        <p:nvSpPr>
          <p:cNvPr id="10" name="Rounded Rectangle 9"/>
          <p:cNvSpPr/>
          <p:nvPr/>
        </p:nvSpPr>
        <p:spPr>
          <a:xfrm>
            <a:off x="640080" y="5623560"/>
            <a:ext cx="10927080" cy="64008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623560"/>
            <a:ext cx="91440" cy="6400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5678424"/>
            <a:ext cx="10607040" cy="54864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Chuẩn bị: Crystal Reports designer (nếu vẽ .rpt), Excel; dự án thử có phiếu nhập / hoá đơn; key bản quyền (Excel → FRX)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Ba loại mẫu in</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3</a:t>
            </a:r>
          </a:p>
        </p:txBody>
      </p:sp>
      <p:graphicFrame>
        <p:nvGraphicFramePr>
          <p:cNvPr id="7" name="Table 6"/>
          <p:cNvGraphicFramePr>
            <a:graphicFrameLocks noGrp="1"/>
          </p:cNvGraphicFramePr>
          <p:nvPr/>
        </p:nvGraphicFramePr>
        <p:xfrm>
          <a:off x="640080" y="1600200"/>
          <a:ext cx="10881360" cy="2377440"/>
        </p:xfrm>
        <a:graphic>
          <a:graphicData uri="http://schemas.openxmlformats.org/drawingml/2006/table">
            <a:tbl>
              <a:tblPr firstRow="1" bandRow="1">
                <a:tableStyleId>{5940675A-B579-460E-94D1-54222C63F5DA}</a:tableStyleId>
              </a:tblPr>
              <a:tblGrid>
                <a:gridCol w="2377440"/>
                <a:gridCol w="4206240"/>
                <a:gridCol w="4297680"/>
              </a:tblGrid>
              <a:tr h="594360">
                <a:tc>
                  <a:txBody>
                    <a:bodyPr wrap="square"/>
                    <a:lstStyle/>
                    <a:p>
                      <a:r>
                        <a:rPr sz="1500" b="1" i="0">
                          <a:solidFill>
                            <a:srgbClr val="FFFFFF"/>
                          </a:solidFill>
                          <a:latin typeface="Segoe UI"/>
                          <a:ea typeface="Segoe UI"/>
                          <a:cs typeface="Segoe UI"/>
                        </a:rPr>
                        <a:t>Loại</a:t>
                      </a:r>
                    </a:p>
                  </a:txBody>
                  <a:tcPr marL="73152" marR="73152" marT="36576" marB="36576" anchor="ctr">
                    <a:solidFill>
                      <a:srgbClr val="1F4E79"/>
                    </a:solidFill>
                  </a:tcPr>
                </a:tc>
                <a:tc>
                  <a:txBody>
                    <a:bodyPr wrap="square"/>
                    <a:lstStyle/>
                    <a:p>
                      <a:r>
                        <a:rPr sz="1500" b="1" i="0">
                          <a:solidFill>
                            <a:srgbClr val="FFFFFF"/>
                          </a:solidFill>
                          <a:latin typeface="Segoe UI"/>
                          <a:ea typeface="Segoe UI"/>
                          <a:cs typeface="Segoe UI"/>
                        </a:rPr>
                        <a:t>File · thư mục</a:t>
                      </a:r>
                    </a:p>
                  </a:txBody>
                  <a:tcPr marL="73152" marR="73152" marT="36576" marB="36576" anchor="ctr">
                    <a:solidFill>
                      <a:srgbClr val="1F4E79"/>
                    </a:solidFill>
                  </a:tcPr>
                </a:tc>
                <a:tc>
                  <a:txBody>
                    <a:bodyPr wrap="square"/>
                    <a:lstStyle/>
                    <a:p>
                      <a:r>
                        <a:rPr sz="1500" b="1" i="0">
                          <a:solidFill>
                            <a:srgbClr val="FFFFFF"/>
                          </a:solidFill>
                          <a:latin typeface="Segoe UI"/>
                          <a:ea typeface="Segoe UI"/>
                          <a:cs typeface="Segoe UI"/>
                        </a:rPr>
                        <a:t>Report xml gọi bằng</a:t>
                      </a:r>
                    </a:p>
                  </a:txBody>
                  <a:tcPr marL="73152" marR="73152" marT="36576" marB="36576" anchor="ctr">
                    <a:solidFill>
                      <a:srgbClr val="1F4E79"/>
                    </a:solidFill>
                  </a:tcPr>
                </a:tc>
              </a:tr>
              <a:tr h="594360">
                <a:tc>
                  <a:txBody>
                    <a:bodyPr wrap="square"/>
                    <a:lstStyle/>
                    <a:p>
                      <a:r>
                        <a:rPr sz="1500" b="0" i="0">
                          <a:solidFill>
                            <a:srgbClr val="263238"/>
                          </a:solidFill>
                          <a:latin typeface="Segoe UI"/>
                          <a:ea typeface="Segoe UI"/>
                          <a:cs typeface="Segoe UI"/>
                        </a:rPr>
                        <a:t>Crystal Report</a:t>
                      </a:r>
                    </a:p>
                  </a:txBody>
                  <a:tcPr marL="73152" marR="73152" marT="36576" marB="36576" anchor="ctr">
                    <a:solidFill>
                      <a:srgbClr val="FFFFFF"/>
                    </a:solidFill>
                  </a:tcPr>
                </a:tc>
                <a:tc>
                  <a:txBody>
                    <a:bodyPr wrap="square"/>
                    <a:lstStyle/>
                    <a:p>
                      <a:r>
                        <a:rPr sz="1400" b="0" i="0">
                          <a:solidFill>
                            <a:srgbClr val="B02A2A"/>
                          </a:solidFill>
                          <a:latin typeface="Consolas"/>
                          <a:ea typeface="Consolas"/>
                          <a:cs typeface="Consolas"/>
                        </a:rPr>
                        <a:t>.rpt</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.xsd</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Templates\Rpt</a:t>
                      </a:r>
                    </a:p>
                  </a:txBody>
                  <a:tcPr marL="73152" marR="73152" marT="36576" marB="36576" anchor="ctr">
                    <a:solidFill>
                      <a:srgbClr val="FFFFFF"/>
                    </a:solidFill>
                  </a:tcPr>
                </a:tc>
                <a:tc>
                  <a:txBody>
                    <a:bodyPr wrap="square"/>
                    <a:lstStyle/>
                    <a:p>
                      <a:r>
                        <a:rPr sz="1400" b="0" i="0">
                          <a:solidFill>
                            <a:srgbClr val="B02A2A"/>
                          </a:solidFill>
                          <a:latin typeface="Consolas"/>
                          <a:ea typeface="Consolas"/>
                          <a:cs typeface="Consolas"/>
                        </a:rPr>
                        <a:t>reportFile="IRTran_01"</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commandArgument="Pdf"</a:t>
                      </a:r>
                    </a:p>
                  </a:txBody>
                  <a:tcPr marL="73152" marR="73152" marT="36576" marB="36576" anchor="ctr">
                    <a:solidFill>
                      <a:srgbClr val="FFFFFF"/>
                    </a:solidFill>
                  </a:tcPr>
                </a:tc>
              </a:tr>
              <a:tr h="594360">
                <a:tc>
                  <a:txBody>
                    <a:bodyPr wrap="square"/>
                    <a:lstStyle/>
                    <a:p>
                      <a:r>
                        <a:rPr sz="1500" b="0" i="0">
                          <a:solidFill>
                            <a:srgbClr val="263238"/>
                          </a:solidFill>
                          <a:latin typeface="Segoe UI"/>
                          <a:ea typeface="Segoe UI"/>
                          <a:cs typeface="Segoe UI"/>
                        </a:rPr>
                        <a:t>Excel</a:t>
                      </a:r>
                    </a:p>
                  </a:txBody>
                  <a:tcPr marL="73152" marR="73152" marT="36576" marB="36576" anchor="ctr">
                    <a:solidFill>
                      <a:srgbClr val="F4F7FB"/>
                    </a:solidFill>
                  </a:tcPr>
                </a:tc>
                <a:tc>
                  <a:txBody>
                    <a:bodyPr wrap="square"/>
                    <a:lstStyle/>
                    <a:p>
                      <a:r>
                        <a:rPr sz="1400" b="0" i="0">
                          <a:solidFill>
                            <a:srgbClr val="B02A2A"/>
                          </a:solidFill>
                          <a:latin typeface="Consolas"/>
                          <a:ea typeface="Consolas"/>
                          <a:cs typeface="Consolas"/>
                        </a:rPr>
                        <a:t>.xlsx</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Templates\Excel</a:t>
                      </a:r>
                    </a:p>
                  </a:txBody>
                  <a:tcPr marL="73152" marR="73152" marT="36576" marB="36576" anchor="ctr">
                    <a:solidFill>
                      <a:srgbClr val="F4F7FB"/>
                    </a:solidFill>
                  </a:tcPr>
                </a:tc>
                <a:tc>
                  <a:txBody>
                    <a:bodyPr wrap="square"/>
                    <a:lstStyle/>
                    <a:p>
                      <a:r>
                        <a:rPr sz="1400" b="0" i="0">
                          <a:solidFill>
                            <a:srgbClr val="B02A2A"/>
                          </a:solidFill>
                          <a:latin typeface="Consolas"/>
                          <a:ea typeface="Consolas"/>
                          <a:cs typeface="Consolas"/>
                        </a:rPr>
                        <a:t>templateFile="APTran"</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commandArgument="Excel"</a:t>
                      </a:r>
                    </a:p>
                  </a:txBody>
                  <a:tcPr marL="73152" marR="73152" marT="36576" marB="36576" anchor="ctr">
                    <a:solidFill>
                      <a:srgbClr val="F4F7FB"/>
                    </a:solidFill>
                  </a:tcPr>
                </a:tc>
              </a:tr>
              <a:tr h="594360">
                <a:tc>
                  <a:txBody>
                    <a:bodyPr wrap="square"/>
                    <a:lstStyle/>
                    <a:p>
                      <a:r>
                        <a:rPr sz="1500" b="0" i="0">
                          <a:solidFill>
                            <a:srgbClr val="263238"/>
                          </a:solidFill>
                          <a:latin typeface="Segoe UI"/>
                          <a:ea typeface="Segoe UI"/>
                          <a:cs typeface="Segoe UI"/>
                        </a:rPr>
                        <a:t>FastReport</a:t>
                      </a:r>
                    </a:p>
                  </a:txBody>
                  <a:tcPr marL="73152" marR="73152" marT="36576" marB="36576" anchor="ctr">
                    <a:solidFill>
                      <a:srgbClr val="FFFFFF"/>
                    </a:solidFill>
                  </a:tcPr>
                </a:tc>
                <a:tc>
                  <a:txBody>
                    <a:bodyPr wrap="square"/>
                    <a:lstStyle/>
                    <a:p>
                      <a:r>
                        <a:rPr sz="1400" b="0" i="0">
                          <a:solidFill>
                            <a:srgbClr val="B02A2A"/>
                          </a:solidFill>
                          <a:latin typeface="Consolas"/>
                          <a:ea typeface="Consolas"/>
                          <a:cs typeface="Consolas"/>
                        </a:rPr>
                        <a:t>.frx</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Templates\Frx</a:t>
                      </a:r>
                      <a:r>
                        <a:rPr sz="1500" b="0" i="0">
                          <a:solidFill>
                            <a:srgbClr val="263238"/>
                          </a:solidFill>
                          <a:latin typeface="Segoe UI"/>
                          <a:ea typeface="Segoe UI"/>
                          <a:cs typeface="Segoe UI"/>
                        </a:rPr>
                        <a:t> (bản mới)</a:t>
                      </a:r>
                    </a:p>
                  </a:txBody>
                  <a:tcPr marL="73152" marR="73152" marT="36576" marB="36576" anchor="ctr">
                    <a:solidFill>
                      <a:srgbClr val="FFFFFF"/>
                    </a:solidFill>
                  </a:tcPr>
                </a:tc>
                <a:tc>
                  <a:txBody>
                    <a:bodyPr wrap="square"/>
                    <a:lstStyle/>
                    <a:p>
                      <a:r>
                        <a:rPr sz="1500" b="0" i="0">
                          <a:solidFill>
                            <a:srgbClr val="263238"/>
                          </a:solidFill>
                          <a:latin typeface="Segoe UI"/>
                          <a:ea typeface="Segoe UI"/>
                          <a:cs typeface="Segoe UI"/>
                        </a:rPr>
                        <a:t>cùng tên mẫu </a:t>
                      </a:r>
                      <a:r>
                        <a:rPr sz="1400" b="0" i="0">
                          <a:solidFill>
                            <a:srgbClr val="B02A2A"/>
                          </a:solidFill>
                          <a:latin typeface="Consolas"/>
                          <a:ea typeface="Consolas"/>
                          <a:cs typeface="Consolas"/>
                        </a:rPr>
                        <a:t>.rpt</a:t>
                      </a:r>
                      <a:r>
                        <a:rPr sz="1500" b="0" i="0">
                          <a:solidFill>
                            <a:srgbClr val="263238"/>
                          </a:solidFill>
                          <a:latin typeface="Segoe UI"/>
                          <a:ea typeface="Segoe UI"/>
                          <a:cs typeface="Segoe UI"/>
                        </a:rPr>
                        <a:t> (ví dụ </a:t>
                      </a:r>
                      <a:r>
                        <a:rPr sz="1400" b="0" i="0">
                          <a:solidFill>
                            <a:srgbClr val="B02A2A"/>
                          </a:solidFill>
                          <a:latin typeface="Consolas"/>
                          <a:ea typeface="Consolas"/>
                          <a:cs typeface="Consolas"/>
                        </a:rPr>
                        <a:t>ISTran_01.frx</a:t>
                      </a:r>
                      <a:r>
                        <a:rPr sz="1500" b="0" i="0">
                          <a:solidFill>
                            <a:srgbClr val="263238"/>
                          </a:solidFill>
                          <a:latin typeface="Segoe UI"/>
                          <a:ea typeface="Segoe UI"/>
                          <a:cs typeface="Segoe UI"/>
                        </a:rPr>
                        <a:t>)</a:t>
                      </a:r>
                    </a:p>
                  </a:txBody>
                  <a:tcPr marL="73152" marR="73152" marT="36576" marB="36576" anchor="ctr">
                    <a:solidFill>
                      <a:srgbClr val="FFFFFF"/>
                    </a:solidFill>
                  </a:tcPr>
                </a:tc>
              </a:tr>
            </a:tbl>
          </a:graphicData>
        </a:graphic>
      </p:graphicFrame>
      <p:sp>
        <p:nvSpPr>
          <p:cNvPr id="8" name="Rounded Rectangle 7"/>
          <p:cNvSpPr/>
          <p:nvPr/>
        </p:nvSpPr>
        <p:spPr>
          <a:xfrm>
            <a:off x="640080" y="4206240"/>
            <a:ext cx="10927080" cy="731520"/>
          </a:xfrm>
          <a:prstGeom prst="roundRect">
            <a:avLst>
              <a:gd name="adj" fmla="val 8000"/>
            </a:avLst>
          </a:prstGeom>
          <a:solidFill>
            <a:srgbClr val="FFFFFF"/>
          </a:solidFill>
          <a:ln w="15875">
            <a:solidFill>
              <a:srgbClr val="8E4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206240"/>
            <a:ext cx="91440" cy="731520"/>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261103"/>
            <a:ext cx="10607040" cy="640080"/>
          </a:xfrm>
          <a:prstGeom prst="rect">
            <a:avLst/>
          </a:prstGeom>
          <a:noFill/>
        </p:spPr>
        <p:txBody>
          <a:bodyPr wrap="square" anchor="ctr" lIns="45720" rIns="45720" tIns="27432" bIns="27432">
            <a:spAutoFit/>
          </a:bodyPr>
          <a:lstStyle/>
          <a:p>
            <a:pPr algn="l"/>
            <a:r>
              <a:rPr sz="1500" b="1" i="0">
                <a:solidFill>
                  <a:srgbClr val="8E44AD"/>
                </a:solidFill>
                <a:latin typeface="Segoe UI"/>
                <a:ea typeface="Segoe UI"/>
                <a:cs typeface="Segoe UI"/>
              </a:rPr>
              <a:t>Cần kiểm tra ở dự án:</a:t>
            </a:r>
            <a:r>
              <a:rPr sz="1500" b="0" i="0">
                <a:solidFill>
                  <a:srgbClr val="263238"/>
                </a:solidFill>
                <a:latin typeface="Segoe UI"/>
                <a:ea typeface="Segoe UI"/>
                <a:cs typeface="Segoe UI"/>
              </a:rPr>
              <a:t> Quy ước tên: </a:t>
            </a:r>
            <a:r>
              <a:rPr sz="1400" b="0" i="0">
                <a:solidFill>
                  <a:srgbClr val="B02A2A"/>
                </a:solidFill>
                <a:latin typeface="Consolas"/>
                <a:ea typeface="Consolas"/>
                <a:cs typeface="Consolas"/>
              </a:rPr>
              <a:t>_01</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_02</a:t>
            </a:r>
            <a:r>
              <a:rPr sz="1500" b="0" i="0">
                <a:solidFill>
                  <a:srgbClr val="263238"/>
                </a:solidFill>
                <a:latin typeface="Segoe UI"/>
                <a:ea typeface="Segoe UI"/>
                <a:cs typeface="Segoe UI"/>
              </a:rPr>
              <a:t> nhiều mẫu · </a:t>
            </a:r>
            <a:r>
              <a:rPr sz="1400" b="0" i="0">
                <a:solidFill>
                  <a:srgbClr val="B02A2A"/>
                </a:solidFill>
                <a:latin typeface="Consolas"/>
                <a:ea typeface="Consolas"/>
                <a:cs typeface="Consolas"/>
              </a:rPr>
              <a:t>BI</a:t>
            </a:r>
            <a:r>
              <a:rPr sz="1500" b="0" i="0">
                <a:solidFill>
                  <a:srgbClr val="263238"/>
                </a:solidFill>
                <a:latin typeface="Segoe UI"/>
                <a:ea typeface="Segoe UI"/>
                <a:cs typeface="Segoe UI"/>
              </a:rPr>
              <a:t> song ngữ · </a:t>
            </a:r>
            <a:r>
              <a:rPr sz="1400" b="0" i="0">
                <a:solidFill>
                  <a:srgbClr val="B02A2A"/>
                </a:solidFill>
                <a:latin typeface="Consolas"/>
                <a:ea typeface="Consolas"/>
                <a:cs typeface="Consolas"/>
              </a:rPr>
              <a:t>FC</a:t>
            </a:r>
            <a:r>
              <a:rPr sz="1500" b="0" i="0">
                <a:solidFill>
                  <a:srgbClr val="263238"/>
                </a:solidFill>
                <a:latin typeface="Segoe UI"/>
                <a:ea typeface="Segoe UI"/>
                <a:cs typeface="Segoe UI"/>
              </a:rPr>
              <a:t> ngoại tệ · </a:t>
            </a:r>
            <a:r>
              <a:rPr sz="1400" b="0" i="0">
                <a:solidFill>
                  <a:srgbClr val="B02A2A"/>
                </a:solidFill>
                <a:latin typeface="Consolas"/>
                <a:ea typeface="Consolas"/>
                <a:cs typeface="Consolas"/>
              </a:rPr>
              <a:t>_a</a:t>
            </a:r>
            <a:r>
              <a:rPr sz="1500" b="0" i="0">
                <a:solidFill>
                  <a:srgbClr val="263238"/>
                </a:solidFill>
                <a:latin typeface="Segoe UI"/>
                <a:ea typeface="Segoe UI"/>
                <a:cs typeface="Segoe UI"/>
              </a:rPr>
              <a:t> bản phụ. Dự án dùng </a:t>
            </a:r>
            <a:r>
              <a:rPr sz="1400" b="0" i="0">
                <a:solidFill>
                  <a:srgbClr val="B02A2A"/>
                </a:solidFill>
                <a:latin typeface="Consolas"/>
                <a:ea typeface="Consolas"/>
                <a:cs typeface="Consolas"/>
              </a:rPr>
              <a:t>.frx</a:t>
            </a:r>
            <a:r>
              <a:rPr sz="1500" b="0" i="0">
                <a:solidFill>
                  <a:srgbClr val="263238"/>
                </a:solidFill>
                <a:latin typeface="Segoe UI"/>
                <a:ea typeface="Segoe UI"/>
                <a:cs typeface="Segoe UI"/>
              </a:rPr>
              <a:t> hay </a:t>
            </a:r>
            <a:r>
              <a:rPr sz="1400" b="0" i="0">
                <a:solidFill>
                  <a:srgbClr val="B02A2A"/>
                </a:solidFill>
                <a:latin typeface="Consolas"/>
                <a:ea typeface="Consolas"/>
                <a:cs typeface="Consolas"/>
              </a:rPr>
              <a:t>.rpt</a:t>
            </a:r>
            <a:r>
              <a:rPr sz="1500" b="0" i="0">
                <a:solidFill>
                  <a:srgbClr val="263238"/>
                </a:solidFill>
                <a:latin typeface="Segoe UI"/>
                <a:ea typeface="Segoe UI"/>
                <a:cs typeface="Segoe UI"/>
              </a:rPr>
              <a:t> — kiểm tra theo phiên bản.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Report xml: query → d1, d2 · form · nhãn</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4</a:t>
            </a:r>
          </a:p>
        </p:txBody>
      </p:sp>
      <p:sp>
        <p:nvSpPr>
          <p:cNvPr id="7" name="Rounded Rectangle 6"/>
          <p:cNvSpPr/>
          <p:nvPr/>
        </p:nvSpPr>
        <p:spPr>
          <a:xfrm>
            <a:off x="640080" y="1600200"/>
            <a:ext cx="7223760" cy="3803650"/>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73352"/>
            <a:ext cx="6858000" cy="320040"/>
          </a:xfrm>
          <a:prstGeom prst="rect">
            <a:avLst/>
          </a:prstGeom>
          <a:noFill/>
        </p:spPr>
        <p:txBody>
          <a:bodyPr wrap="square" anchor="t" lIns="45720" rIns="45720" tIns="27432" bIns="27432">
            <a:spAutoFit/>
          </a:bodyPr>
          <a:lstStyle/>
          <a:p>
            <a:pPr algn="l"/>
            <a:r>
              <a:rPr sz="1100" b="1" i="0">
                <a:solidFill>
                  <a:srgbClr val="9AA8B8"/>
                </a:solidFill>
                <a:latin typeface="Segoe UI"/>
                <a:ea typeface="Segoe UI"/>
                <a:cs typeface="Segoe UI"/>
              </a:rPr>
              <a:t>Report\IRTran.xml (FBO mẫu, rút gọn)</a:t>
            </a:r>
          </a:p>
        </p:txBody>
      </p:sp>
      <p:sp>
        <p:nvSpPr>
          <p:cNvPr id="9" name="TextBox 8"/>
          <p:cNvSpPr txBox="1"/>
          <p:nvPr/>
        </p:nvSpPr>
        <p:spPr>
          <a:xfrm>
            <a:off x="822959" y="1984248"/>
            <a:ext cx="6903720" cy="4187952"/>
          </a:xfrm>
          <a:prstGeom prst="rect">
            <a:avLst/>
          </a:prstGeom>
          <a:noFill/>
        </p:spPr>
        <p:txBody>
          <a:bodyPr wrap="none">
            <a:spAutoFit/>
          </a:bodyPr>
          <a:lstStyle/>
          <a:p>
            <a:pPr>
              <a:lnSpc>
                <a:spcPct val="100000"/>
              </a:lnSpc>
              <a:spcAft>
                <a:spcPts val="0"/>
              </a:spcAft>
            </a:pPr>
            <a:r>
              <a:rPr sz="1450" b="0" i="1">
                <a:solidFill>
                  <a:srgbClr val="7FB06A"/>
                </a:solidFill>
                <a:latin typeface="Consolas"/>
                <a:ea typeface="Consolas"/>
                <a:cs typeface="Consolas"/>
              </a:rPr>
              <a:t>-- &lt;query&gt;: mỗi SELECT là một bảng</a:t>
            </a:r>
          </a:p>
          <a:p>
            <a:pPr>
              <a:lnSpc>
                <a:spcPct val="100000"/>
              </a:lnSpc>
              <a:spcAft>
                <a:spcPts val="0"/>
              </a:spcAft>
            </a:pPr>
            <a:r>
              <a:rPr sz="1450" b="1" i="0">
                <a:solidFill>
                  <a:srgbClr val="6CB6FF"/>
                </a:solidFill>
                <a:latin typeface="Consolas"/>
                <a:ea typeface="Consolas"/>
                <a:cs typeface="Consolas"/>
              </a:rPr>
              <a:t>select</a:t>
            </a:r>
            <a:r>
              <a:rPr sz="1450" b="0" i="0">
                <a:solidFill>
                  <a:srgbClr val="E6E6E6"/>
                </a:solidFill>
                <a:latin typeface="Consolas"/>
                <a:ea typeface="Consolas"/>
                <a:cs typeface="Consolas"/>
              </a:rPr>
              <a:t> a.so_ct, a.t_tien, ... t_tien_in_word     </a:t>
            </a:r>
            <a:r>
              <a:rPr sz="1450" b="0" i="1">
                <a:solidFill>
                  <a:srgbClr val="7FB06A"/>
                </a:solidFill>
                <a:latin typeface="Consolas"/>
                <a:ea typeface="Consolas"/>
                <a:cs typeface="Consolas"/>
              </a:rPr>
              <a:t>-- d1 đầu phiếu</a:t>
            </a:r>
          </a:p>
          <a:p>
            <a:pPr>
              <a:lnSpc>
                <a:spcPct val="100000"/>
              </a:lnSpc>
              <a:spcAft>
                <a:spcPts val="0"/>
              </a:spcAft>
            </a:pPr>
            <a:r>
              <a:rPr sz="1450" b="0" i="0">
                <a:solidFill>
                  <a:srgbClr val="E6E6E6"/>
                </a:solidFill>
                <a:latin typeface="Consolas"/>
                <a:ea typeface="Consolas"/>
                <a:cs typeface="Consolas"/>
              </a:rPr>
              <a:t>  </a:t>
            </a:r>
            <a:r>
              <a:rPr sz="1450" b="1" i="0">
                <a:solidFill>
                  <a:srgbClr val="6CB6FF"/>
                </a:solidFill>
                <a:latin typeface="Consolas"/>
                <a:ea typeface="Consolas"/>
                <a:cs typeface="Consolas"/>
              </a:rPr>
              <a:t>from</a:t>
            </a:r>
            <a:r>
              <a:rPr sz="1450" b="0" i="0">
                <a:solidFill>
                  <a:srgbClr val="E6E6E6"/>
                </a:solidFill>
                <a:latin typeface="Consolas"/>
                <a:ea typeface="Consolas"/>
                <a:cs typeface="Consolas"/>
              </a:rPr>
              <a:t> @@prime$partition$current a</a:t>
            </a:r>
          </a:p>
          <a:p>
            <a:pPr>
              <a:lnSpc>
                <a:spcPct val="100000"/>
              </a:lnSpc>
              <a:spcAft>
                <a:spcPts val="0"/>
              </a:spcAft>
            </a:pPr>
            <a:r>
              <a:rPr sz="1450" b="0" i="0">
                <a:solidFill>
                  <a:srgbClr val="E6E6E6"/>
                </a:solidFill>
                <a:latin typeface="Consolas"/>
                <a:ea typeface="Consolas"/>
                <a:cs typeface="Consolas"/>
              </a:rPr>
              <a:t> </a:t>
            </a:r>
            <a:r>
              <a:rPr sz="1450" b="1" i="0">
                <a:solidFill>
                  <a:srgbClr val="6CB6FF"/>
                </a:solidFill>
                <a:latin typeface="Consolas"/>
                <a:ea typeface="Consolas"/>
                <a:cs typeface="Consolas"/>
              </a:rPr>
              <a:t>where</a:t>
            </a:r>
            <a:r>
              <a:rPr sz="1450" b="0" i="0">
                <a:solidFill>
                  <a:srgbClr val="E6E6E6"/>
                </a:solidFill>
                <a:latin typeface="Consolas"/>
                <a:ea typeface="Consolas"/>
                <a:cs typeface="Consolas"/>
              </a:rPr>
              <a:t> a.stt_rec = @stt_rec</a:t>
            </a:r>
          </a:p>
          <a:p>
            <a:pPr>
              <a:lnSpc>
                <a:spcPct val="100000"/>
              </a:lnSpc>
              <a:spcAft>
                <a:spcPts val="0"/>
              </a:spcAft>
            </a:pPr>
            <a:r>
              <a:rPr sz="1450" b="1" i="0">
                <a:solidFill>
                  <a:srgbClr val="6CB6FF"/>
                </a:solidFill>
                <a:latin typeface="Consolas"/>
                <a:ea typeface="Consolas"/>
                <a:cs typeface="Consolas"/>
              </a:rPr>
              <a:t>exec</a:t>
            </a:r>
            <a:r>
              <a:rPr sz="1450" b="0" i="0">
                <a:solidFill>
                  <a:srgbClr val="E6E6E6"/>
                </a:solidFill>
                <a:latin typeface="Consolas"/>
                <a:ea typeface="Consolas"/>
                <a:cs typeface="Consolas"/>
              </a:rPr>
              <a:t> rs_PrintIRTran @@language, @key, ...       </a:t>
            </a:r>
            <a:r>
              <a:rPr sz="1450" b="0" i="1">
                <a:solidFill>
                  <a:srgbClr val="7FB06A"/>
                </a:solidFill>
                <a:latin typeface="Consolas"/>
                <a:ea typeface="Consolas"/>
                <a:cs typeface="Consolas"/>
              </a:rPr>
              <a:t>-- d2 chi tiết</a:t>
            </a:r>
          </a:p>
          <a:p>
            <a:pPr>
              <a:lnSpc>
                <a:spcPct val="100000"/>
              </a:lnSpc>
              <a:spcAft>
                <a:spcPts val="0"/>
              </a:spcAft>
            </a:pPr>
            <a:r>
              <a:rPr sz="1450" b="0" i="0">
                <a:solidFill>
                  <a:srgbClr val="E6E6E6"/>
                </a:solidFill>
                <a:latin typeface="Consolas"/>
                <a:ea typeface="Consolas"/>
                <a:cs typeface="Consolas"/>
              </a:rPr>
              <a:t> </a:t>
            </a:r>
          </a:p>
          <a:p>
            <a:pPr>
              <a:lnSpc>
                <a:spcPct val="100000"/>
              </a:lnSpc>
              <a:spcAft>
                <a:spcPts val="0"/>
              </a:spcAft>
            </a:pPr>
            <a:r>
              <a:rPr sz="1450" b="1" i="0">
                <a:solidFill>
                  <a:srgbClr val="6CB6FF"/>
                </a:solidFill>
                <a:latin typeface="Consolas"/>
                <a:ea typeface="Consolas"/>
                <a:cs typeface="Consolas"/>
              </a:rPr>
              <a:t>if</a:t>
            </a:r>
            <a:r>
              <a:rPr sz="1450" b="0" i="0">
                <a:solidFill>
                  <a:srgbClr val="E6E6E6"/>
                </a:solidFill>
                <a:latin typeface="Consolas"/>
                <a:ea typeface="Consolas"/>
                <a:cs typeface="Consolas"/>
              </a:rPr>
              <a:t> @@form in ('020', '022') ...                  </a:t>
            </a:r>
            <a:r>
              <a:rPr sz="1450" b="0" i="1">
                <a:solidFill>
                  <a:srgbClr val="7FB06A"/>
                </a:solidFill>
                <a:latin typeface="Consolas"/>
                <a:ea typeface="Consolas"/>
                <a:cs typeface="Consolas"/>
              </a:rPr>
              <a:t>-- rẽ theo mẫu</a:t>
            </a:r>
          </a:p>
          <a:p>
            <a:pPr>
              <a:lnSpc>
                <a:spcPct val="100000"/>
              </a:lnSpc>
              <a:spcAft>
                <a:spcPts val="0"/>
              </a:spcAft>
            </a:pPr>
            <a:r>
              <a:rPr sz="1450" b="1" i="0">
                <a:solidFill>
                  <a:srgbClr val="6CB6FF"/>
                </a:solidFill>
                <a:latin typeface="Consolas"/>
                <a:ea typeface="Consolas"/>
                <a:cs typeface="Consolas"/>
              </a:rPr>
              <a:t>select</a:t>
            </a:r>
            <a:r>
              <a:rPr sz="1450" b="0" i="0">
                <a:solidFill>
                  <a:srgbClr val="E6E6E6"/>
                </a:solidFill>
                <a:latin typeface="Consolas"/>
                <a:ea typeface="Consolas"/>
                <a:cs typeface="Consolas"/>
              </a:rPr>
              <a:t> 'rptPrintIRTran_01_A5' as reportFile      </a:t>
            </a:r>
            <a:r>
              <a:rPr sz="1450" b="0" i="1">
                <a:solidFill>
                  <a:srgbClr val="7FB06A"/>
                </a:solidFill>
                <a:latin typeface="Consolas"/>
                <a:ea typeface="Consolas"/>
                <a:cs typeface="Consolas"/>
              </a:rPr>
              <a:t>-- đổi file mẫu</a:t>
            </a:r>
          </a:p>
          <a:p>
            <a:pPr>
              <a:lnSpc>
                <a:spcPct val="100000"/>
              </a:lnSpc>
              <a:spcAft>
                <a:spcPts val="0"/>
              </a:spcAft>
            </a:pPr>
            <a:r>
              <a:rPr sz="1450" b="0" i="0">
                <a:solidFill>
                  <a:srgbClr val="E6E6E6"/>
                </a:solidFill>
                <a:latin typeface="Consolas"/>
                <a:ea typeface="Consolas"/>
                <a:cs typeface="Consolas"/>
              </a:rPr>
              <a:t> </a:t>
            </a:r>
          </a:p>
          <a:p>
            <a:pPr>
              <a:lnSpc>
                <a:spcPct val="100000"/>
              </a:lnSpc>
              <a:spcAft>
                <a:spcPts val="0"/>
              </a:spcAft>
            </a:pPr>
            <a:r>
              <a:rPr sz="1450" b="0" i="0">
                <a:solidFill>
                  <a:srgbClr val="E6E6E6"/>
                </a:solidFill>
                <a:latin typeface="Consolas"/>
                <a:ea typeface="Consolas"/>
                <a:cs typeface="Consolas"/>
              </a:rPr>
              <a:t>&lt;form id="010" reportFile="IRTran_01" templateFile=""</a:t>
            </a:r>
          </a:p>
          <a:p>
            <a:pPr>
              <a:lnSpc>
                <a:spcPct val="100000"/>
              </a:lnSpc>
              <a:spcAft>
                <a:spcPts val="0"/>
              </a:spcAft>
            </a:pPr>
            <a:r>
              <a:rPr sz="1450" b="0" i="0">
                <a:solidFill>
                  <a:srgbClr val="E6E6E6"/>
                </a:solidFill>
                <a:latin typeface="Consolas"/>
                <a:ea typeface="Consolas"/>
                <a:cs typeface="Consolas"/>
              </a:rPr>
              <a:t>      commandArgument="Pdf"&gt;</a:t>
            </a:r>
          </a:p>
          <a:p>
            <a:pPr>
              <a:lnSpc>
                <a:spcPct val="100000"/>
              </a:lnSpc>
              <a:spcAft>
                <a:spcPts val="0"/>
              </a:spcAft>
            </a:pPr>
            <a:r>
              <a:rPr sz="1450" b="0" i="0">
                <a:solidFill>
                  <a:srgbClr val="E6E6E6"/>
                </a:solidFill>
                <a:latin typeface="Consolas"/>
                <a:ea typeface="Consolas"/>
                <a:cs typeface="Consolas"/>
              </a:rPr>
              <a:t>&lt;form id="020" reportFile="IRTran_01BI" languageType="0" ...&gt;</a:t>
            </a:r>
          </a:p>
          <a:p>
            <a:pPr>
              <a:lnSpc>
                <a:spcPct val="100000"/>
              </a:lnSpc>
              <a:spcAft>
                <a:spcPts val="0"/>
              </a:spcAft>
            </a:pPr>
            <a:r>
              <a:rPr sz="1450" b="0" i="0">
                <a:solidFill>
                  <a:srgbClr val="E6E6E6"/>
                </a:solidFill>
                <a:latin typeface="Consolas"/>
                <a:ea typeface="Consolas"/>
                <a:cs typeface="Consolas"/>
              </a:rPr>
              <a:t>&lt;field name="h_so_phieu" type="String"&gt;</a:t>
            </a:r>
          </a:p>
          <a:p>
            <a:pPr>
              <a:lnSpc>
                <a:spcPct val="100000"/>
              </a:lnSpc>
              <a:spcAft>
                <a:spcPts val="0"/>
              </a:spcAft>
            </a:pPr>
            <a:r>
              <a:rPr sz="1450" b="0" i="0">
                <a:solidFill>
                  <a:srgbClr val="E6E6E6"/>
                </a:solidFill>
                <a:latin typeface="Consolas"/>
                <a:ea typeface="Consolas"/>
                <a:cs typeface="Consolas"/>
              </a:rPr>
              <a:t>  &lt;header v="Số phiếu:" e="Voucher No.:"/&gt;</a:t>
            </a:r>
          </a:p>
        </p:txBody>
      </p:sp>
      <p:sp>
        <p:nvSpPr>
          <p:cNvPr id="10" name="TextBox 9"/>
          <p:cNvSpPr txBox="1"/>
          <p:nvPr/>
        </p:nvSpPr>
        <p:spPr>
          <a:xfrm>
            <a:off x="8092440" y="1600200"/>
            <a:ext cx="3566160" cy="4663440"/>
          </a:xfrm>
          <a:prstGeom prst="rect">
            <a:avLst/>
          </a:prstGeom>
          <a:noFill/>
        </p:spPr>
        <p:txBody>
          <a:bodyPr wrap="square">
            <a:spAutoFit/>
          </a:bodyPr>
          <a:lstStyle/>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Mỗi SELECT là 1 bảng </a:t>
            </a:r>
            <a:r>
              <a:rPr sz="1600" b="1" i="0">
                <a:solidFill>
                  <a:srgbClr val="1F4E79"/>
                </a:solidFill>
                <a:latin typeface="Segoe UI"/>
                <a:ea typeface="Segoe UI"/>
                <a:cs typeface="Segoe UI"/>
              </a:rPr>
              <a:t>d1, d2…</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@@form</a:t>
            </a:r>
            <a:r>
              <a:rPr sz="1600" b="0" i="0">
                <a:solidFill>
                  <a:srgbClr val="263238"/>
                </a:solidFill>
                <a:latin typeface="Segoe UI"/>
                <a:ea typeface="Segoe UI"/>
                <a:cs typeface="Segoe UI"/>
              </a:rPr>
              <a:t> = id mẫu đang chọn</a:t>
            </a:r>
          </a:p>
          <a:p>
            <a:pPr>
              <a:spcAft>
                <a:spcPts val="1000"/>
              </a:spcAft>
            </a:pPr>
            <a:r>
              <a:rPr sz="1600" b="1" i="0">
                <a:solidFill>
                  <a:srgbClr val="F2B705"/>
                </a:solidFill>
                <a:latin typeface="Segoe UI"/>
                <a:ea typeface="Segoe UI"/>
                <a:cs typeface="Segoe UI"/>
              </a:rPr>
              <a:t>▪  </a:t>
            </a:r>
            <a:r>
              <a:rPr sz="1500" b="0" i="0">
                <a:solidFill>
                  <a:srgbClr val="B02A2A"/>
                </a:solidFill>
                <a:latin typeface="Consolas"/>
                <a:ea typeface="Consolas"/>
                <a:cs typeface="Consolas"/>
              </a:rPr>
              <a:t>reportFile</a:t>
            </a:r>
            <a:r>
              <a:rPr sz="1600" b="0" i="0">
                <a:solidFill>
                  <a:srgbClr val="263238"/>
                </a:solidFill>
                <a:latin typeface="Segoe UI"/>
                <a:ea typeface="Segoe UI"/>
                <a:cs typeface="Segoe UI"/>
              </a:rPr>
              <a:t> → .rpt · </a:t>
            </a:r>
            <a:r>
              <a:rPr sz="1500" b="0" i="0">
                <a:solidFill>
                  <a:srgbClr val="B02A2A"/>
                </a:solidFill>
                <a:latin typeface="Consolas"/>
                <a:ea typeface="Consolas"/>
                <a:cs typeface="Consolas"/>
              </a:rPr>
              <a:t>templateFile</a:t>
            </a:r>
            <a:r>
              <a:rPr sz="1600" b="0" i="0">
                <a:solidFill>
                  <a:srgbClr val="263238"/>
                </a:solidFill>
                <a:latin typeface="Segoe UI"/>
                <a:ea typeface="Segoe UI"/>
                <a:cs typeface="Segoe UI"/>
              </a:rPr>
              <a:t> → .xlsx</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Nhãn song ngữ khai bằng </a:t>
            </a:r>
            <a:r>
              <a:rPr sz="1500" b="0" i="0">
                <a:solidFill>
                  <a:srgbClr val="B02A2A"/>
                </a:solidFill>
                <a:latin typeface="Consolas"/>
                <a:ea typeface="Consolas"/>
                <a:cs typeface="Consolas"/>
              </a:rPr>
              <a:t>h_…</a:t>
            </a:r>
          </a:p>
          <a:p>
            <a:pPr>
              <a:spcAft>
                <a:spcPts val="1000"/>
              </a:spcAft>
            </a:pPr>
            <a:r>
              <a:rPr sz="1600" b="1" i="0">
                <a:solidFill>
                  <a:srgbClr val="F2B705"/>
                </a:solidFill>
                <a:latin typeface="Segoe UI"/>
                <a:ea typeface="Segoe UI"/>
                <a:cs typeface="Segoe UI"/>
              </a:rPr>
              <a:t>▪  </a:t>
            </a:r>
            <a:r>
              <a:rPr sz="1600" b="0" i="0">
                <a:solidFill>
                  <a:srgbClr val="263238"/>
                </a:solidFill>
                <a:latin typeface="Segoe UI"/>
                <a:ea typeface="Segoe UI"/>
                <a:cs typeface="Segoe UI"/>
              </a:rPr>
              <a:t>Xem dữ liệu: Viewer </a:t>
            </a:r>
            <a:r>
              <a:rPr sz="1600" b="1" i="0">
                <a:solidFill>
                  <a:srgbClr val="1F4E79"/>
                </a:solidFill>
                <a:latin typeface="Segoe UI"/>
                <a:ea typeface="Segoe UI"/>
                <a:cs typeface="Segoe UI"/>
              </a:rPr>
              <a:t>Ctrl+Enter</a:t>
            </a:r>
            <a:r>
              <a:rPr sz="1600" b="0" i="0">
                <a:solidFill>
                  <a:srgbClr val="263238"/>
                </a:solidFill>
                <a:latin typeface="Segoe UI"/>
                <a:ea typeface="Segoe UI"/>
                <a:cs typeface="Segoe UI"/>
              </a:rPr>
              <a:t> / Profiler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Mẫu Crystal .rpt + Write Schema</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5</a:t>
            </a:r>
          </a:p>
        </p:txBody>
      </p:sp>
      <p:pic>
        <p:nvPicPr>
          <p:cNvPr id="7" name="Picture 6" descr="bcode-write-schema-rpt.png"/>
          <p:cNvPicPr>
            <a:picLocks noChangeAspect="1"/>
          </p:cNvPicPr>
          <p:nvPr/>
        </p:nvPicPr>
        <p:blipFill>
          <a:blip r:embed="rId2"/>
          <a:stretch>
            <a:fillRect/>
          </a:stretch>
        </p:blipFill>
        <p:spPr>
          <a:xfrm>
            <a:off x="744996" y="1325880"/>
            <a:ext cx="7196807" cy="4937759"/>
          </a:xfrm>
          <a:prstGeom prst="rect">
            <a:avLst/>
          </a:prstGeom>
          <a:ln w="12700">
            <a:solidFill>
              <a:srgbClr val="C8D1DC"/>
            </a:solidFill>
          </a:ln>
        </p:spPr>
      </p:pic>
      <p:sp>
        <p:nvSpPr>
          <p:cNvPr id="8" name="TextBox 7"/>
          <p:cNvSpPr txBox="1"/>
          <p:nvPr/>
        </p:nvSpPr>
        <p:spPr>
          <a:xfrm>
            <a:off x="8366760" y="1325880"/>
            <a:ext cx="3383280" cy="475488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Chạy query in → </a:t>
            </a:r>
            <a:r>
              <a:rPr sz="1500" b="1" i="0">
                <a:solidFill>
                  <a:srgbClr val="1F4E79"/>
                </a:solidFill>
                <a:latin typeface="Segoe UI"/>
                <a:ea typeface="Segoe UI"/>
                <a:cs typeface="Segoe UI"/>
              </a:rPr>
              <a:t>Write Schema</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.xsd</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Cập nhật bảng trong </a:t>
            </a:r>
            <a:r>
              <a:rPr sz="1400" b="0" i="0">
                <a:solidFill>
                  <a:srgbClr val="B02A2A"/>
                </a:solidFill>
                <a:latin typeface="Consolas"/>
                <a:ea typeface="Consolas"/>
                <a:cs typeface="Consolas"/>
              </a:rPr>
              <a:t>.rpt</a:t>
            </a:r>
            <a:r>
              <a:rPr sz="1500" b="0" i="0">
                <a:solidFill>
                  <a:srgbClr val="263238"/>
                </a:solidFill>
                <a:latin typeface="Segoe UI"/>
                <a:ea typeface="Segoe UI"/>
                <a:cs typeface="Segoe UI"/>
              </a:rPr>
              <a:t> (bản cũ </a:t>
            </a:r>
            <a:r>
              <a:rPr sz="1400" b="0" i="0">
                <a:solidFill>
                  <a:srgbClr val="B02A2A"/>
                </a:solidFill>
                <a:latin typeface="Consolas"/>
                <a:ea typeface="Consolas"/>
                <a:cs typeface="Consolas"/>
              </a:rPr>
              <a:t>.rpt.bak</a:t>
            </a:r>
            <a:r>
              <a:rPr sz="1500" b="0" i="0">
                <a:solidFill>
                  <a:srgbClr val="263238"/>
                </a:solidFill>
                <a:latin typeface="Segoe UI"/>
                <a:ea typeface="Segoe UI"/>
                <a:cs typeface="Segoe UI"/>
              </a:rPr>
              <a:t>)</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Chữ </a:t>
            </a:r>
            <a:r>
              <a:rPr sz="1500" b="1" i="0">
                <a:solidFill>
                  <a:srgbClr val="1F4E79"/>
                </a:solidFill>
                <a:latin typeface="Segoe UI"/>
                <a:ea typeface="Segoe UI"/>
                <a:cs typeface="Segoe UI"/>
              </a:rPr>
              <a:t>đỏ</a:t>
            </a:r>
            <a:r>
              <a:rPr sz="1500" b="0" i="0">
                <a:solidFill>
                  <a:srgbClr val="263238"/>
                </a:solidFill>
                <a:latin typeface="Segoe UI"/>
                <a:ea typeface="Segoe UI"/>
                <a:cs typeface="Segoe UI"/>
              </a:rPr>
              <a:t> = cột đang dùng sẽ mất</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Designer: d1 đầu phiếu · d2 vào </a:t>
            </a:r>
            <a:r>
              <a:rPr sz="1500" b="1" i="0">
                <a:solidFill>
                  <a:srgbClr val="1F4E79"/>
                </a:solidFill>
                <a:latin typeface="Segoe UI"/>
                <a:ea typeface="Segoe UI"/>
                <a:cs typeface="Segoe UI"/>
              </a:rPr>
              <a:t>Details</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Tham số </a:t>
            </a:r>
            <a:r>
              <a:rPr sz="1400" b="0" i="0">
                <a:solidFill>
                  <a:srgbClr val="B02A2A"/>
                </a:solidFill>
                <a:latin typeface="Consolas"/>
                <a:ea typeface="Consolas"/>
                <a:cs typeface="Consolas"/>
              </a:rPr>
              <a:t>{?isFC}</a:t>
            </a:r>
            <a:r>
              <a:rPr sz="1500" b="0" i="0">
                <a:solidFill>
                  <a:srgbClr val="263238"/>
                </a:solidFill>
                <a:latin typeface="Segoe UI"/>
                <a:ea typeface="Segoe UI"/>
                <a:cs typeface="Segoe UI"/>
              </a:rPr>
              <a:t> </a:t>
            </a:r>
            <a:r>
              <a:rPr sz="1400" b="0" i="0">
                <a:solidFill>
                  <a:srgbClr val="B02A2A"/>
                </a:solidFill>
                <a:latin typeface="Consolas"/>
                <a:ea typeface="Consolas"/>
                <a:cs typeface="Consolas"/>
              </a:rPr>
              <a:t>{?roundAmount}</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Can Grow · Cross-Tab cho pivot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Mẫu Excel: ?biến · !1.cột · !2.cột</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6</a:t>
            </a:r>
          </a:p>
        </p:txBody>
      </p:sp>
      <p:sp>
        <p:nvSpPr>
          <p:cNvPr id="7" name="Rounded Rectangle 6"/>
          <p:cNvSpPr/>
          <p:nvPr/>
        </p:nvSpPr>
        <p:spPr>
          <a:xfrm>
            <a:off x="640080" y="1600200"/>
            <a:ext cx="6766560" cy="2455671"/>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73352"/>
            <a:ext cx="6400800" cy="320040"/>
          </a:xfrm>
          <a:prstGeom prst="rect">
            <a:avLst/>
          </a:prstGeom>
          <a:noFill/>
        </p:spPr>
        <p:txBody>
          <a:bodyPr wrap="square" anchor="t" lIns="45720" rIns="45720" tIns="27432" bIns="27432">
            <a:spAutoFit/>
          </a:bodyPr>
          <a:lstStyle/>
          <a:p>
            <a:pPr algn="l"/>
            <a:r>
              <a:rPr sz="1100" b="1" i="0">
                <a:solidFill>
                  <a:srgbClr val="9AA8B8"/>
                </a:solidFill>
                <a:latin typeface="Segoe UI"/>
                <a:ea typeface="Segoe UI"/>
                <a:cs typeface="Segoe UI"/>
              </a:rPr>
              <a:t>Bố cục ô (APTran.xlsx, minh hoạ)</a:t>
            </a:r>
          </a:p>
        </p:txBody>
      </p:sp>
      <p:sp>
        <p:nvSpPr>
          <p:cNvPr id="9" name="TextBox 8"/>
          <p:cNvSpPr txBox="1"/>
          <p:nvPr/>
        </p:nvSpPr>
        <p:spPr>
          <a:xfrm>
            <a:off x="822959" y="1984248"/>
            <a:ext cx="6446520" cy="3182112"/>
          </a:xfrm>
          <a:prstGeom prst="rect">
            <a:avLst/>
          </a:prstGeom>
          <a:noFill/>
        </p:spPr>
        <p:txBody>
          <a:bodyPr wrap="none">
            <a:spAutoFit/>
          </a:bodyPr>
          <a:lstStyle/>
          <a:p>
            <a:pPr>
              <a:lnSpc>
                <a:spcPct val="100000"/>
              </a:lnSpc>
              <a:spcAft>
                <a:spcPts val="0"/>
              </a:spcAft>
            </a:pPr>
            <a:r>
              <a:rPr sz="1450" b="0" i="0">
                <a:solidFill>
                  <a:srgbClr val="E6E6E6"/>
                </a:solidFill>
                <a:latin typeface="Consolas"/>
                <a:ea typeface="Consolas"/>
                <a:cs typeface="Consolas"/>
              </a:rPr>
              <a:t>#?day + !1.ngay + ?month + !1.thang + ?year + !1.nam</a:t>
            </a:r>
          </a:p>
          <a:p>
            <a:pPr>
              <a:lnSpc>
                <a:spcPct val="100000"/>
              </a:lnSpc>
              <a:spcAft>
                <a:spcPts val="0"/>
              </a:spcAft>
            </a:pPr>
            <a:r>
              <a:rPr sz="1450" b="0" i="0">
                <a:solidFill>
                  <a:srgbClr val="E6E6E6"/>
                </a:solidFill>
                <a:latin typeface="Consolas"/>
                <a:ea typeface="Consolas"/>
                <a:cs typeface="Consolas"/>
              </a:rPr>
              <a:t>?h_so_phieu          !1.so_ct</a:t>
            </a:r>
          </a:p>
          <a:p>
            <a:pPr>
              <a:lnSpc>
                <a:spcPct val="100000"/>
              </a:lnSpc>
              <a:spcAft>
                <a:spcPts val="0"/>
              </a:spcAft>
            </a:pPr>
            <a:r>
              <a:rPr sz="1450" b="0" i="0">
                <a:solidFill>
                  <a:srgbClr val="E6E6E6"/>
                </a:solidFill>
                <a:latin typeface="Consolas"/>
                <a:ea typeface="Consolas"/>
                <a:cs typeface="Consolas"/>
              </a:rPr>
              <a:t>?h_dien_giai         ?h_tk          ?h_tien</a:t>
            </a:r>
          </a:p>
          <a:p>
            <a:pPr>
              <a:lnSpc>
                <a:spcPct val="100000"/>
              </a:lnSpc>
              <a:spcAft>
                <a:spcPts val="0"/>
              </a:spcAft>
            </a:pPr>
            <a:r>
              <a:rPr sz="1450" b="0" i="0">
                <a:solidFill>
                  <a:srgbClr val="E6E6E6"/>
                </a:solidFill>
                <a:latin typeface="Consolas"/>
                <a:ea typeface="Consolas"/>
                <a:cs typeface="Consolas"/>
              </a:rPr>
              <a:t>!2.dien_giai         !2.tk_vt       !2.tien%c</a:t>
            </a:r>
          </a:p>
          <a:p>
            <a:pPr>
              <a:lnSpc>
                <a:spcPct val="100000"/>
              </a:lnSpc>
              <a:spcAft>
                <a:spcPts val="0"/>
              </a:spcAft>
            </a:pPr>
            <a:r>
              <a:rPr sz="1450" b="0" i="0">
                <a:solidFill>
                  <a:srgbClr val="E6E6E6"/>
                </a:solidFill>
                <a:latin typeface="Consolas"/>
                <a:ea typeface="Consolas"/>
                <a:cs typeface="Consolas"/>
              </a:rPr>
              <a:t>?h_t_tien                                   !1.t_tien%c</a:t>
            </a:r>
          </a:p>
          <a:p>
            <a:pPr>
              <a:lnSpc>
                <a:spcPct val="100000"/>
              </a:lnSpc>
              <a:spcAft>
                <a:spcPts val="0"/>
              </a:spcAft>
            </a:pPr>
            <a:r>
              <a:rPr sz="1450" b="0" i="0">
                <a:solidFill>
                  <a:srgbClr val="E6E6E6"/>
                </a:solidFill>
                <a:latin typeface="Consolas"/>
                <a:ea typeface="Consolas"/>
                <a:cs typeface="Consolas"/>
              </a:rPr>
              <a:t>!1.t_tt_in_word</a:t>
            </a:r>
          </a:p>
          <a:p>
            <a:pPr>
              <a:lnSpc>
                <a:spcPct val="100000"/>
              </a:lnSpc>
              <a:spcAft>
                <a:spcPts val="0"/>
              </a:spcAft>
            </a:pPr>
            <a:r>
              <a:rPr sz="1450" b="0" i="0">
                <a:solidFill>
                  <a:srgbClr val="E6E6E6"/>
                </a:solidFill>
                <a:latin typeface="Consolas"/>
                <a:ea typeface="Consolas"/>
                <a:cs typeface="Consolas"/>
              </a:rPr>
              <a:t>?director            ?chiefAccountant       ?preparedBy</a:t>
            </a:r>
          </a:p>
          <a:p>
            <a:pPr>
              <a:lnSpc>
                <a:spcPct val="100000"/>
              </a:lnSpc>
              <a:spcAft>
                <a:spcPts val="0"/>
              </a:spcAft>
            </a:pPr>
            <a:r>
              <a:rPr sz="1450" b="0" i="0">
                <a:solidFill>
                  <a:srgbClr val="E6E6E6"/>
                </a:solidFill>
                <a:latin typeface="Consolas"/>
                <a:ea typeface="Consolas"/>
                <a:cs typeface="Consolas"/>
              </a:rPr>
              <a:t>?directorName        ?chiefAccountantName   ?preparedByName</a:t>
            </a:r>
          </a:p>
        </p:txBody>
      </p:sp>
      <p:sp>
        <p:nvSpPr>
          <p:cNvPr id="10" name="TextBox 9"/>
          <p:cNvSpPr txBox="1"/>
          <p:nvPr/>
        </p:nvSpPr>
        <p:spPr>
          <a:xfrm>
            <a:off x="7635240" y="1600200"/>
            <a:ext cx="4023360" cy="466344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?ten</a:t>
            </a:r>
            <a:r>
              <a:rPr sz="1500" b="0" i="0">
                <a:solidFill>
                  <a:srgbClr val="263238"/>
                </a:solidFill>
                <a:latin typeface="Segoe UI"/>
                <a:ea typeface="Segoe UI"/>
                <a:cs typeface="Segoe UI"/>
              </a:rPr>
              <a:t> nhãn / biến</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!1.cot</a:t>
            </a:r>
            <a:r>
              <a:rPr sz="1500" b="0" i="0">
                <a:solidFill>
                  <a:srgbClr val="263238"/>
                </a:solidFill>
                <a:latin typeface="Segoe UI"/>
                <a:ea typeface="Segoe UI"/>
                <a:cs typeface="Segoe UI"/>
              </a:rPr>
              <a:t> cột d1 · </a:t>
            </a:r>
            <a:r>
              <a:rPr sz="1400" b="0" i="0">
                <a:solidFill>
                  <a:srgbClr val="B02A2A"/>
                </a:solidFill>
                <a:latin typeface="Consolas"/>
                <a:ea typeface="Consolas"/>
                <a:cs typeface="Consolas"/>
              </a:rPr>
              <a:t>!2.cot</a:t>
            </a:r>
            <a:r>
              <a:rPr sz="1500" b="0" i="0">
                <a:solidFill>
                  <a:srgbClr val="263238"/>
                </a:solidFill>
                <a:latin typeface="Segoe UI"/>
                <a:ea typeface="Segoe UI"/>
                <a:cs typeface="Segoe UI"/>
              </a:rPr>
              <a:t> cột d2</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#a + b</a:t>
            </a:r>
            <a:r>
              <a:rPr sz="1500" b="0" i="0">
                <a:solidFill>
                  <a:srgbClr val="263238"/>
                </a:solidFill>
                <a:latin typeface="Segoe UI"/>
                <a:ea typeface="Segoe UI"/>
                <a:cs typeface="Segoe UI"/>
              </a:rPr>
              <a:t> ghép nhiều phần vào ô</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%c</a:t>
            </a:r>
            <a:r>
              <a:rPr sz="1500" b="0" i="0">
                <a:solidFill>
                  <a:srgbClr val="263238"/>
                </a:solidFill>
                <a:latin typeface="Segoe UI"/>
                <a:ea typeface="Segoe UI"/>
                <a:cs typeface="Segoe UI"/>
              </a:rPr>
              <a:t> tiền · </a:t>
            </a:r>
            <a:r>
              <a:rPr sz="1400" b="0" i="0">
                <a:solidFill>
                  <a:srgbClr val="B02A2A"/>
                </a:solidFill>
                <a:latin typeface="Consolas"/>
                <a:ea typeface="Consolas"/>
                <a:cs typeface="Consolas"/>
              </a:rPr>
              <a:t>%l</a:t>
            </a:r>
            <a:r>
              <a:rPr sz="1500" b="0" i="0">
                <a:solidFill>
                  <a:srgbClr val="263238"/>
                </a:solidFill>
                <a:latin typeface="Segoe UI"/>
                <a:ea typeface="Segoe UI"/>
                <a:cs typeface="Segoe UI"/>
              </a:rPr>
              <a:t> căn trái · </a:t>
            </a:r>
            <a:r>
              <a:rPr sz="1400" b="0" i="0">
                <a:solidFill>
                  <a:srgbClr val="B02A2A"/>
                </a:solidFill>
                <a:latin typeface="Consolas"/>
                <a:ea typeface="Consolas"/>
                <a:cs typeface="Consolas"/>
              </a:rPr>
              <a:t>%r</a:t>
            </a:r>
            <a:r>
              <a:rPr sz="1500" b="0" i="0">
                <a:solidFill>
                  <a:srgbClr val="263238"/>
                </a:solidFill>
                <a:latin typeface="Segoe UI"/>
                <a:ea typeface="Segoe UI"/>
                <a:cs typeface="Segoe UI"/>
              </a:rPr>
              <a:t> căn phải</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#sysorder&gt;1</a:t>
            </a:r>
            <a:r>
              <a:rPr sz="1500" b="0" i="0">
                <a:solidFill>
                  <a:srgbClr val="263238"/>
                </a:solidFill>
                <a:latin typeface="Segoe UI"/>
                <a:ea typeface="Segoe UI"/>
                <a:cs typeface="Segoe UI"/>
              </a:rPr>
              <a:t> hiện theo điều kiện</a:t>
            </a:r>
          </a:p>
          <a:p>
            <a:pPr>
              <a:spcAft>
                <a:spcPts val="1000"/>
              </a:spcAft>
            </a:pPr>
            <a:r>
              <a:rPr sz="1500" b="1" i="0">
                <a:solidFill>
                  <a:srgbClr val="F2B705"/>
                </a:solidFill>
                <a:latin typeface="Segoe UI"/>
                <a:ea typeface="Segoe UI"/>
                <a:cs typeface="Segoe UI"/>
              </a:rPr>
              <a:t>▪  </a:t>
            </a:r>
            <a:r>
              <a:rPr sz="1400" b="0" i="0">
                <a:solidFill>
                  <a:srgbClr val="B02A2A"/>
                </a:solidFill>
                <a:latin typeface="Consolas"/>
                <a:ea typeface="Consolas"/>
                <a:cs typeface="Consolas"/>
              </a:rPr>
              <a:t>{b:…}</a:t>
            </a:r>
            <a:r>
              <a:rPr sz="1500" b="0" i="0">
                <a:solidFill>
                  <a:srgbClr val="263238"/>
                </a:solidFill>
                <a:latin typeface="Segoe UI"/>
                <a:ea typeface="Segoe UI"/>
                <a:cs typeface="Segoe UI"/>
              </a:rPr>
              <a:t> in đậm theo điều kiện</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Ô công thức </a:t>
            </a:r>
            <a:r>
              <a:rPr sz="1400" b="0" i="0">
                <a:solidFill>
                  <a:srgbClr val="B02A2A"/>
                </a:solidFill>
                <a:latin typeface="Consolas"/>
                <a:ea typeface="Consolas"/>
                <a:cs typeface="Consolas"/>
              </a:rPr>
              <a:t>=</a:t>
            </a:r>
            <a:r>
              <a:rPr sz="1500" b="0" i="0">
                <a:solidFill>
                  <a:srgbClr val="263238"/>
                </a:solidFill>
                <a:latin typeface="Segoe UI"/>
                <a:ea typeface="Segoe UI"/>
                <a:cs typeface="Segoe UI"/>
              </a:rPr>
              <a:t> </a:t>
            </a:r>
            <a:r>
              <a:rPr sz="1500" b="1" i="0">
                <a:solidFill>
                  <a:srgbClr val="1F4E79"/>
                </a:solidFill>
                <a:latin typeface="Segoe UI"/>
                <a:ea typeface="Segoe UI"/>
                <a:cs typeface="Segoe UI"/>
              </a:rPr>
              <a:t>không</a:t>
            </a:r>
            <a:r>
              <a:rPr sz="1500" b="0" i="0">
                <a:solidFill>
                  <a:srgbClr val="263238"/>
                </a:solidFill>
                <a:latin typeface="Segoe UI"/>
                <a:ea typeface="Segoe UI"/>
                <a:cs typeface="Segoe UI"/>
              </a:rPr>
              <a:t> dùng được</a:t>
            </a:r>
          </a:p>
        </p:txBody>
      </p:sp>
      <p:sp>
        <p:nvSpPr>
          <p:cNvPr id="11" name="Rounded Rectangle 10"/>
          <p:cNvSpPr/>
          <p:nvPr/>
        </p:nvSpPr>
        <p:spPr>
          <a:xfrm>
            <a:off x="640080" y="5486400"/>
            <a:ext cx="6766560" cy="73152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486400"/>
            <a:ext cx="91440" cy="73152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541264"/>
            <a:ext cx="6446520" cy="640080"/>
          </a:xfrm>
          <a:prstGeom prst="rect">
            <a:avLst/>
          </a:prstGeom>
          <a:noFill/>
        </p:spPr>
        <p:txBody>
          <a:bodyPr wrap="square" anchor="ctr" lIns="45720" rIns="45720" tIns="27432" bIns="27432">
            <a:spAutoFit/>
          </a:bodyPr>
          <a:lstStyle/>
          <a:p>
            <a:pPr algn="l"/>
            <a:r>
              <a:rPr sz="1500" b="1" i="0">
                <a:solidFill>
                  <a:srgbClr val="F2B705"/>
                </a:solidFill>
                <a:latin typeface="Segoe UI"/>
                <a:ea typeface="Segoe UI"/>
                <a:cs typeface="Segoe UI"/>
              </a:rPr>
              <a:t>Lưu ý:</a:t>
            </a:r>
            <a:r>
              <a:rPr sz="1500" b="0" i="0">
                <a:solidFill>
                  <a:srgbClr val="263238"/>
                </a:solidFill>
                <a:latin typeface="Segoe UI"/>
                <a:ea typeface="Segoe UI"/>
                <a:cs typeface="Segoe UI"/>
              </a:rPr>
              <a:t> Ô </a:t>
            </a:r>
            <a:r>
              <a:rPr sz="1500" b="1" i="0">
                <a:solidFill>
                  <a:srgbClr val="1F4E79"/>
                </a:solidFill>
                <a:latin typeface="Segoe UI"/>
                <a:ea typeface="Segoe UI"/>
                <a:cs typeface="Segoe UI"/>
              </a:rPr>
              <a:t>không gắn trường</a:t>
            </a:r>
            <a:r>
              <a:rPr sz="1500" b="0" i="0">
                <a:solidFill>
                  <a:srgbClr val="263238"/>
                </a:solidFill>
                <a:latin typeface="Segoe UI"/>
                <a:ea typeface="Segoe UI"/>
                <a:cs typeface="Segoe UI"/>
              </a:rPr>
              <a:t> thì cột không hiện, dù procedure đã tính.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FastReport .frx · Excel → FRX</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7</a:t>
            </a:r>
          </a:p>
        </p:txBody>
      </p:sp>
      <p:sp>
        <p:nvSpPr>
          <p:cNvPr id="7" name="Rounded Rectangle 6"/>
          <p:cNvSpPr/>
          <p:nvPr/>
        </p:nvSpPr>
        <p:spPr>
          <a:xfrm>
            <a:off x="640080" y="1600200"/>
            <a:ext cx="6949440" cy="2904997"/>
          </a:xfrm>
          <a:prstGeom prst="roundRect">
            <a:avLst>
              <a:gd name="adj" fmla="val 3000"/>
            </a:avLst>
          </a:prstGeom>
          <a:solidFill>
            <a:srgbClr val="1E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73352"/>
            <a:ext cx="6583679" cy="320040"/>
          </a:xfrm>
          <a:prstGeom prst="rect">
            <a:avLst/>
          </a:prstGeom>
          <a:noFill/>
        </p:spPr>
        <p:txBody>
          <a:bodyPr wrap="square" anchor="t" lIns="45720" rIns="45720" tIns="27432" bIns="27432">
            <a:spAutoFit/>
          </a:bodyPr>
          <a:lstStyle/>
          <a:p>
            <a:pPr algn="l"/>
            <a:r>
              <a:rPr sz="1100" b="1" i="0">
                <a:solidFill>
                  <a:srgbClr val="9AA8B8"/>
                </a:solidFill>
                <a:latin typeface="Segoe UI"/>
                <a:ea typeface="Segoe UI"/>
                <a:cs typeface="Segoe UI"/>
              </a:rPr>
              <a:t>ISTran_01.frx (mẫu chuẩn kèm Bcode, rút gọn)</a:t>
            </a:r>
          </a:p>
        </p:txBody>
      </p:sp>
      <p:sp>
        <p:nvSpPr>
          <p:cNvPr id="9" name="TextBox 8"/>
          <p:cNvSpPr txBox="1"/>
          <p:nvPr/>
        </p:nvSpPr>
        <p:spPr>
          <a:xfrm>
            <a:off x="822959" y="1984248"/>
            <a:ext cx="6629400" cy="3456432"/>
          </a:xfrm>
          <a:prstGeom prst="rect">
            <a:avLst/>
          </a:prstGeom>
          <a:noFill/>
        </p:spPr>
        <p:txBody>
          <a:bodyPr wrap="none">
            <a:spAutoFit/>
          </a:bodyPr>
          <a:lstStyle/>
          <a:p>
            <a:pPr>
              <a:lnSpc>
                <a:spcPct val="100000"/>
              </a:lnSpc>
              <a:spcAft>
                <a:spcPts val="0"/>
              </a:spcAft>
            </a:pPr>
            <a:r>
              <a:rPr sz="1450" b="0" i="0">
                <a:solidFill>
                  <a:srgbClr val="E6E6E6"/>
                </a:solidFill>
                <a:latin typeface="Consolas"/>
                <a:ea typeface="Consolas"/>
                <a:cs typeface="Consolas"/>
              </a:rPr>
              <a:t>&lt;TableDataSource Name="d1" TableName="d1"&gt;</a:t>
            </a:r>
          </a:p>
          <a:p>
            <a:pPr>
              <a:lnSpc>
                <a:spcPct val="100000"/>
              </a:lnSpc>
              <a:spcAft>
                <a:spcPts val="0"/>
              </a:spcAft>
            </a:pPr>
            <a:r>
              <a:rPr sz="1450" b="0" i="0">
                <a:solidFill>
                  <a:srgbClr val="E6E6E6"/>
                </a:solidFill>
                <a:latin typeface="Consolas"/>
                <a:ea typeface="Consolas"/>
                <a:cs typeface="Consolas"/>
              </a:rPr>
              <a:t>  &lt;Column Name="ong_ba" DataType="System.String"/&gt; ...</a:t>
            </a:r>
          </a:p>
          <a:p>
            <a:pPr>
              <a:lnSpc>
                <a:spcPct val="100000"/>
              </a:lnSpc>
              <a:spcAft>
                <a:spcPts val="0"/>
              </a:spcAft>
            </a:pPr>
            <a:r>
              <a:rPr sz="1450" b="0" i="0">
                <a:solidFill>
                  <a:srgbClr val="E6E6E6"/>
                </a:solidFill>
                <a:latin typeface="Consolas"/>
                <a:ea typeface="Consolas"/>
                <a:cs typeface="Consolas"/>
              </a:rPr>
              <a:t>&lt;TableDataSource Name="d2" TableName="d2"&gt; ...</a:t>
            </a:r>
          </a:p>
          <a:p>
            <a:pPr>
              <a:lnSpc>
                <a:spcPct val="100000"/>
              </a:lnSpc>
              <a:spcAft>
                <a:spcPts val="0"/>
              </a:spcAft>
            </a:pPr>
            <a:r>
              <a:rPr sz="1450" b="0" i="0">
                <a:solidFill>
                  <a:srgbClr val="E6E6E6"/>
                </a:solidFill>
                <a:latin typeface="Consolas"/>
                <a:ea typeface="Consolas"/>
                <a:cs typeface="Consolas"/>
              </a:rPr>
              <a:t>&lt;Parameter Name="title"/&gt; &lt;Parameter Name="h_so_ct"/&gt;</a:t>
            </a:r>
          </a:p>
          <a:p>
            <a:pPr>
              <a:lnSpc>
                <a:spcPct val="100000"/>
              </a:lnSpc>
              <a:spcAft>
                <a:spcPts val="0"/>
              </a:spcAft>
            </a:pPr>
            <a:r>
              <a:rPr sz="1450" b="0" i="0">
                <a:solidFill>
                  <a:srgbClr val="E6E6E6"/>
                </a:solidFill>
                <a:latin typeface="Consolas"/>
                <a:ea typeface="Consolas"/>
                <a:cs typeface="Consolas"/>
              </a:rPr>
              <a:t>&lt;Parameter Name="Entity_Line1"/&gt; &lt;Parameter Name="director"/&gt;</a:t>
            </a:r>
          </a:p>
          <a:p>
            <a:pPr>
              <a:lnSpc>
                <a:spcPct val="100000"/>
              </a:lnSpc>
              <a:spcAft>
                <a:spcPts val="0"/>
              </a:spcAft>
            </a:pPr>
            <a:r>
              <a:rPr sz="1450" b="0" i="0">
                <a:solidFill>
                  <a:srgbClr val="E6E6E6"/>
                </a:solidFill>
                <a:latin typeface="Consolas"/>
                <a:ea typeface="Consolas"/>
                <a:cs typeface="Consolas"/>
              </a:rPr>
              <a:t> </a:t>
            </a:r>
          </a:p>
          <a:p>
            <a:pPr>
              <a:lnSpc>
                <a:spcPct val="100000"/>
              </a:lnSpc>
              <a:spcAft>
                <a:spcPts val="0"/>
              </a:spcAft>
            </a:pPr>
            <a:r>
              <a:rPr sz="1450" b="0" i="0">
                <a:solidFill>
                  <a:srgbClr val="E6E6E6"/>
                </a:solidFill>
                <a:latin typeface="Consolas"/>
                <a:ea typeface="Consolas"/>
                <a:cs typeface="Consolas"/>
              </a:rPr>
              <a:t>&lt;TextObject Text="[Entity_Line1]"/&gt;</a:t>
            </a:r>
          </a:p>
          <a:p>
            <a:pPr>
              <a:lnSpc>
                <a:spcPct val="100000"/>
              </a:lnSpc>
              <a:spcAft>
                <a:spcPts val="0"/>
              </a:spcAft>
            </a:pPr>
            <a:r>
              <a:rPr sz="1450" b="0" i="0">
                <a:solidFill>
                  <a:srgbClr val="E6E6E6"/>
                </a:solidFill>
                <a:latin typeface="Consolas"/>
                <a:ea typeface="Consolas"/>
                <a:cs typeface="Consolas"/>
              </a:rPr>
              <a:t>&lt;TextObject Text="[d1.ong_ba]"/&gt;</a:t>
            </a:r>
          </a:p>
          <a:p>
            <a:pPr>
              <a:lnSpc>
                <a:spcPct val="100000"/>
              </a:lnSpc>
              <a:spcAft>
                <a:spcPts val="0"/>
              </a:spcAft>
            </a:pPr>
            <a:r>
              <a:rPr sz="1450" b="0" i="0">
                <a:solidFill>
                  <a:srgbClr val="E6E6E6"/>
                </a:solidFill>
                <a:latin typeface="Consolas"/>
                <a:ea typeface="Consolas"/>
                <a:cs typeface="Consolas"/>
              </a:rPr>
              <a:t>&lt;TextObject Text="[h_dia_chi] [d1.dia_chi]"/&gt;</a:t>
            </a:r>
          </a:p>
          <a:p>
            <a:pPr>
              <a:lnSpc>
                <a:spcPct val="100000"/>
              </a:lnSpc>
              <a:spcAft>
                <a:spcPts val="0"/>
              </a:spcAft>
            </a:pPr>
            <a:r>
              <a:rPr sz="1450" b="0" i="0">
                <a:solidFill>
                  <a:srgbClr val="E6E6E6"/>
                </a:solidFill>
                <a:latin typeface="Consolas"/>
                <a:ea typeface="Consolas"/>
                <a:cs typeface="Consolas"/>
              </a:rPr>
              <a:t>&lt;DataBand Name="o26" CanGrow="true" DataSource="d2"&gt;</a:t>
            </a:r>
          </a:p>
        </p:txBody>
      </p:sp>
      <p:sp>
        <p:nvSpPr>
          <p:cNvPr id="10" name="TextBox 9"/>
          <p:cNvSpPr txBox="1"/>
          <p:nvPr/>
        </p:nvSpPr>
        <p:spPr>
          <a:xfrm>
            <a:off x="7818120" y="1600200"/>
            <a:ext cx="3840480" cy="4663440"/>
          </a:xfrm>
          <a:prstGeom prst="rect">
            <a:avLst/>
          </a:prstGeom>
          <a:noFill/>
        </p:spPr>
        <p:txBody>
          <a:bodyPr wrap="square">
            <a:spAutoFit/>
          </a:bodyPr>
          <a:lstStyle/>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Nguồn </a:t>
            </a:r>
            <a:r>
              <a:rPr sz="1500" b="1" i="0">
                <a:solidFill>
                  <a:srgbClr val="1F4E79"/>
                </a:solidFill>
                <a:latin typeface="Segoe UI"/>
                <a:ea typeface="Segoe UI"/>
                <a:cs typeface="Segoe UI"/>
              </a:rPr>
              <a:t>d1, d2</a:t>
            </a:r>
            <a:r>
              <a:rPr sz="1500" b="0" i="0">
                <a:solidFill>
                  <a:srgbClr val="263238"/>
                </a:solidFill>
                <a:latin typeface="Segoe UI"/>
                <a:ea typeface="Segoe UI"/>
                <a:cs typeface="Segoe UI"/>
              </a:rPr>
              <a:t> như xsd</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Nhãn là </a:t>
            </a:r>
            <a:r>
              <a:rPr sz="1500" b="1" i="0">
                <a:solidFill>
                  <a:srgbClr val="1F4E79"/>
                </a:solidFill>
                <a:latin typeface="Segoe UI"/>
                <a:ea typeface="Segoe UI"/>
                <a:cs typeface="Segoe UI"/>
              </a:rPr>
              <a:t>Parameter</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Ô </a:t>
            </a:r>
            <a:r>
              <a:rPr sz="1400" b="0" i="0">
                <a:solidFill>
                  <a:srgbClr val="B02A2A"/>
                </a:solidFill>
                <a:latin typeface="Consolas"/>
                <a:ea typeface="Consolas"/>
                <a:cs typeface="Consolas"/>
              </a:rPr>
              <a:t>[d1.cot]</a:t>
            </a:r>
            <a:r>
              <a:rPr sz="1500" b="0" i="0">
                <a:solidFill>
                  <a:srgbClr val="263238"/>
                </a:solidFill>
                <a:latin typeface="Segoe UI"/>
                <a:ea typeface="Segoe UI"/>
                <a:cs typeface="Segoe UI"/>
              </a:rPr>
              <a:t> · vùng chi tiết </a:t>
            </a:r>
            <a:r>
              <a:rPr sz="1500" b="1" i="0">
                <a:solidFill>
                  <a:srgbClr val="1F4E79"/>
                </a:solidFill>
                <a:latin typeface="Segoe UI"/>
                <a:ea typeface="Segoe UI"/>
                <a:cs typeface="Segoe UI"/>
              </a:rPr>
              <a:t>DataBand d2</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Tab </a:t>
            </a:r>
            <a:r>
              <a:rPr sz="1500" b="1" i="0">
                <a:solidFill>
                  <a:srgbClr val="1F4E79"/>
                </a:solidFill>
                <a:latin typeface="Segoe UI"/>
                <a:ea typeface="Segoe UI"/>
                <a:cs typeface="Segoe UI"/>
              </a:rPr>
              <a:t>Excel → FRX</a:t>
            </a:r>
            <a:r>
              <a:rPr sz="1500" b="0" i="0">
                <a:solidFill>
                  <a:srgbClr val="263238"/>
                </a:solidFill>
                <a:latin typeface="Segoe UI"/>
                <a:ea typeface="Segoe UI"/>
                <a:cs typeface="Segoe UI"/>
              </a:rPr>
              <a:t>: xem trước PDF</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Chuột phải </a:t>
            </a:r>
            <a:r>
              <a:rPr sz="1400" b="0" i="0">
                <a:solidFill>
                  <a:srgbClr val="B02A2A"/>
                </a:solidFill>
                <a:latin typeface="Consolas"/>
                <a:ea typeface="Consolas"/>
                <a:cs typeface="Consolas"/>
              </a:rPr>
              <a:t>.xlsx</a:t>
            </a:r>
            <a:r>
              <a:rPr sz="1500" b="0" i="0">
                <a:solidFill>
                  <a:srgbClr val="263238"/>
                </a:solidFill>
                <a:latin typeface="Segoe UI"/>
                <a:ea typeface="Segoe UI"/>
                <a:cs typeface="Segoe UI"/>
              </a:rPr>
              <a:t> / </a:t>
            </a:r>
            <a:r>
              <a:rPr sz="1400" b="0" i="0">
                <a:solidFill>
                  <a:srgbClr val="B02A2A"/>
                </a:solidFill>
                <a:latin typeface="Consolas"/>
                <a:ea typeface="Consolas"/>
                <a:cs typeface="Consolas"/>
              </a:rPr>
              <a:t>.rpt</a:t>
            </a:r>
            <a:r>
              <a:rPr sz="1500" b="0" i="0">
                <a:solidFill>
                  <a:srgbClr val="263238"/>
                </a:solidFill>
                <a:latin typeface="Segoe UI"/>
                <a:ea typeface="Segoe UI"/>
                <a:cs typeface="Segoe UI"/>
              </a:rPr>
              <a:t> → Chuyển sang .frx</a:t>
            </a:r>
          </a:p>
          <a:p>
            <a:pPr>
              <a:spcAft>
                <a:spcPts val="1000"/>
              </a:spcAft>
            </a:pPr>
            <a:r>
              <a:rPr sz="1500" b="1" i="0">
                <a:solidFill>
                  <a:srgbClr val="F2B705"/>
                </a:solidFill>
                <a:latin typeface="Segoe UI"/>
                <a:ea typeface="Segoe UI"/>
                <a:cs typeface="Segoe UI"/>
              </a:rPr>
              <a:t>▪  </a:t>
            </a:r>
            <a:r>
              <a:rPr sz="1500" b="0" i="0">
                <a:solidFill>
                  <a:srgbClr val="263238"/>
                </a:solidFill>
                <a:latin typeface="Segoe UI"/>
                <a:ea typeface="Segoe UI"/>
                <a:cs typeface="Segoe UI"/>
              </a:rPr>
              <a:t>VLOOKUP, Previous… phải khai báo tay</a:t>
            </a:r>
          </a:p>
        </p:txBody>
      </p:sp>
      <p:sp>
        <p:nvSpPr>
          <p:cNvPr id="11" name="Rounded Rectangle 10"/>
          <p:cNvSpPr/>
          <p:nvPr/>
        </p:nvSpPr>
        <p:spPr>
          <a:xfrm>
            <a:off x="640080" y="5669280"/>
            <a:ext cx="6949440" cy="594360"/>
          </a:xfrm>
          <a:prstGeom prst="roundRect">
            <a:avLst>
              <a:gd name="adj" fmla="val 8000"/>
            </a:avLst>
          </a:prstGeom>
          <a:solidFill>
            <a:srgbClr val="FFFFFF"/>
          </a:solidFill>
          <a:ln w="15875">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669280"/>
            <a:ext cx="91440" cy="59436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724144"/>
            <a:ext cx="6629400" cy="502920"/>
          </a:xfrm>
          <a:prstGeom prst="rect">
            <a:avLst/>
          </a:prstGeom>
          <a:noFill/>
        </p:spPr>
        <p:txBody>
          <a:bodyPr wrap="square" anchor="ctr" lIns="45720" rIns="45720" tIns="27432" bIns="27432">
            <a:spAutoFit/>
          </a:bodyPr>
          <a:lstStyle/>
          <a:p>
            <a:pPr algn="l"/>
            <a:r>
              <a:rPr sz="1400" b="1" i="0">
                <a:solidFill>
                  <a:srgbClr val="F2B705"/>
                </a:solidFill>
                <a:latin typeface="Segoe UI"/>
                <a:ea typeface="Segoe UI"/>
                <a:cs typeface="Segoe UI"/>
              </a:rPr>
              <a:t>Lưu ý:</a:t>
            </a:r>
            <a:r>
              <a:rPr sz="1400" b="0" i="0">
                <a:solidFill>
                  <a:srgbClr val="263238"/>
                </a:solidFill>
                <a:latin typeface="Segoe UI"/>
                <a:ea typeface="Segoe UI"/>
                <a:cs typeface="Segoe UI"/>
              </a:rPr>
              <a:t> Chuyển xong luôn </a:t>
            </a:r>
            <a:r>
              <a:rPr sz="1400" b="1" i="0">
                <a:solidFill>
                  <a:srgbClr val="1F4E79"/>
                </a:solidFill>
                <a:latin typeface="Segoe UI"/>
                <a:ea typeface="Segoe UI"/>
                <a:cs typeface="Segoe UI"/>
              </a:rPr>
              <a:t>xem trước PDF và in thử trên web</a:t>
            </a:r>
            <a:r>
              <a:rPr sz="1400" b="0" i="0">
                <a:solidFill>
                  <a:srgbClr val="263238"/>
                </a:solidFill>
                <a:latin typeface="Segoe UI"/>
                <a:ea typeface="Segoe UI"/>
                <a:cs typeface="Segoe UI"/>
              </a:rPr>
              <a:t> — căn chỉnh tay phần bị lệch.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Lỗi hay gặp khi vẽ / chuyển mẫu in</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8</a:t>
            </a:r>
          </a:p>
        </p:txBody>
      </p:sp>
      <p:graphicFrame>
        <p:nvGraphicFramePr>
          <p:cNvPr id="7" name="Table 6"/>
          <p:cNvGraphicFramePr>
            <a:graphicFrameLocks noGrp="1"/>
          </p:cNvGraphicFramePr>
          <p:nvPr/>
        </p:nvGraphicFramePr>
        <p:xfrm>
          <a:off x="640080" y="1600200"/>
          <a:ext cx="10881360" cy="4389120"/>
        </p:xfrm>
        <a:graphic>
          <a:graphicData uri="http://schemas.openxmlformats.org/drawingml/2006/table">
            <a:tbl>
              <a:tblPr firstRow="1" bandRow="1">
                <a:tableStyleId>{5940675A-B579-460E-94D1-54222C63F5DA}</a:tableStyleId>
              </a:tblPr>
              <a:tblGrid>
                <a:gridCol w="4572000"/>
                <a:gridCol w="6309360"/>
              </a:tblGrid>
              <a:tr h="548640">
                <a:tc>
                  <a:txBody>
                    <a:bodyPr wrap="square"/>
                    <a:lstStyle/>
                    <a:p>
                      <a:r>
                        <a:rPr sz="1500" b="1" i="0">
                          <a:solidFill>
                            <a:srgbClr val="FFFFFF"/>
                          </a:solidFill>
                          <a:latin typeface="Segoe UI"/>
                          <a:ea typeface="Segoe UI"/>
                          <a:cs typeface="Segoe UI"/>
                        </a:rPr>
                        <a:t>Hiện tượng</a:t>
                      </a:r>
                    </a:p>
                  </a:txBody>
                  <a:tcPr marL="73152" marR="73152" marT="36576" marB="36576" anchor="ctr">
                    <a:solidFill>
                      <a:srgbClr val="1F4E79"/>
                    </a:solidFill>
                  </a:tcPr>
                </a:tc>
                <a:tc>
                  <a:txBody>
                    <a:bodyPr wrap="square"/>
                    <a:lstStyle/>
                    <a:p>
                      <a:r>
                        <a:rPr sz="1500" b="1" i="0">
                          <a:solidFill>
                            <a:srgbClr val="FFFFFF"/>
                          </a:solidFill>
                          <a:latin typeface="Segoe UI"/>
                          <a:ea typeface="Segoe UI"/>
                          <a:cs typeface="Segoe UI"/>
                        </a:rPr>
                        <a:t>Nguyên nhân → cách xử lý</a:t>
                      </a:r>
                    </a:p>
                  </a:txBody>
                  <a:tcPr marL="73152" marR="73152" marT="36576" marB="36576" anchor="ctr">
                    <a:solidFill>
                      <a:srgbClr val="1F4E79"/>
                    </a:solidFill>
                  </a:tcPr>
                </a:tc>
              </a:tr>
              <a:tr h="548640">
                <a:tc>
                  <a:txBody>
                    <a:bodyPr wrap="square"/>
                    <a:lstStyle/>
                    <a:p>
                      <a:r>
                        <a:rPr sz="1500" b="0" i="0">
                          <a:solidFill>
                            <a:srgbClr val="263238"/>
                          </a:solidFill>
                          <a:latin typeface="Segoe UI"/>
                          <a:ea typeface="Segoe UI"/>
                          <a:cs typeface="Segoe UI"/>
                        </a:rPr>
                        <a:t>In trống / mất ô sau khi sửa query</a:t>
                      </a:r>
                    </a:p>
                  </a:txBody>
                  <a:tcPr marL="73152" marR="73152" marT="36576" marB="36576" anchor="ctr">
                    <a:solidFill>
                      <a:srgbClr val="FFFFFF"/>
                    </a:solidFill>
                  </a:tcPr>
                </a:tc>
                <a:tc>
                  <a:txBody>
                    <a:bodyPr wrap="square"/>
                    <a:lstStyle/>
                    <a:p>
                      <a:r>
                        <a:rPr sz="1500" b="0" i="0">
                          <a:solidFill>
                            <a:srgbClr val="263238"/>
                          </a:solidFill>
                          <a:latin typeface="Segoe UI"/>
                          <a:ea typeface="Segoe UI"/>
                          <a:cs typeface="Segoe UI"/>
                        </a:rPr>
                        <a:t>Chưa cập nhật .rpt → chạy Write Schema; lấy lại </a:t>
                      </a:r>
                      <a:r>
                        <a:rPr sz="1400" b="0" i="0">
                          <a:solidFill>
                            <a:srgbClr val="B02A2A"/>
                          </a:solidFill>
                          <a:latin typeface="Consolas"/>
                          <a:ea typeface="Consolas"/>
                          <a:cs typeface="Consolas"/>
                        </a:rPr>
                        <a:t>.rpt.bak</a:t>
                      </a:r>
                    </a:p>
                  </a:txBody>
                  <a:tcPr marL="73152" marR="73152" marT="36576" marB="36576" anchor="ctr">
                    <a:solidFill>
                      <a:srgbClr val="FFFFFF"/>
                    </a:solidFill>
                  </a:tcPr>
                </a:tc>
              </a:tr>
              <a:tr h="548640">
                <a:tc>
                  <a:txBody>
                    <a:bodyPr wrap="square"/>
                    <a:lstStyle/>
                    <a:p>
                      <a:r>
                        <a:rPr sz="1500" b="0" i="0">
                          <a:solidFill>
                            <a:srgbClr val="263238"/>
                          </a:solidFill>
                          <a:latin typeface="Segoe UI"/>
                          <a:ea typeface="Segoe UI"/>
                          <a:cs typeface="Segoe UI"/>
                        </a:rPr>
                        <a:t>Thêm cột trong procedure mà phiếu không hiện</a:t>
                      </a:r>
                    </a:p>
                  </a:txBody>
                  <a:tcPr marL="73152" marR="73152" marT="36576" marB="36576" anchor="ctr">
                    <a:solidFill>
                      <a:srgbClr val="F4F7FB"/>
                    </a:solidFill>
                  </a:tcPr>
                </a:tc>
                <a:tc>
                  <a:txBody>
                    <a:bodyPr wrap="square"/>
                    <a:lstStyle/>
                    <a:p>
                      <a:r>
                        <a:rPr sz="1500" b="0" i="0">
                          <a:solidFill>
                            <a:srgbClr val="263238"/>
                          </a:solidFill>
                          <a:latin typeface="Segoe UI"/>
                          <a:ea typeface="Segoe UI"/>
                          <a:cs typeface="Segoe UI"/>
                        </a:rPr>
                        <a:t>Ô chưa gắn trường → thêm </a:t>
                      </a:r>
                      <a:r>
                        <a:rPr sz="1400" b="0" i="0">
                          <a:solidFill>
                            <a:srgbClr val="B02A2A"/>
                          </a:solidFill>
                          <a:latin typeface="Consolas"/>
                          <a:ea typeface="Consolas"/>
                          <a:cs typeface="Consolas"/>
                        </a:rPr>
                        <a:t>!N.cot</a:t>
                      </a:r>
                      <a:r>
                        <a:rPr sz="1500" b="0" i="0">
                          <a:solidFill>
                            <a:srgbClr val="263238"/>
                          </a:solidFill>
                          <a:latin typeface="Segoe UI"/>
                          <a:ea typeface="Segoe UI"/>
                          <a:cs typeface="Segoe UI"/>
                        </a:rPr>
                        <a:t> hoặc kéo field</a:t>
                      </a:r>
                    </a:p>
                  </a:txBody>
                  <a:tcPr marL="73152" marR="73152" marT="36576" marB="36576" anchor="ctr">
                    <a:solidFill>
                      <a:srgbClr val="F4F7FB"/>
                    </a:solidFill>
                  </a:tcPr>
                </a:tc>
              </a:tr>
              <a:tr h="548640">
                <a:tc>
                  <a:txBody>
                    <a:bodyPr wrap="square"/>
                    <a:lstStyle/>
                    <a:p>
                      <a:r>
                        <a:rPr sz="1500" b="0" i="0">
                          <a:solidFill>
                            <a:srgbClr val="263238"/>
                          </a:solidFill>
                          <a:latin typeface="Segoe UI"/>
                          <a:ea typeface="Segoe UI"/>
                          <a:cs typeface="Segoe UI"/>
                        </a:rPr>
                        <a:t>Số hiện thành chữ, kiểu cột sai</a:t>
                      </a:r>
                    </a:p>
                  </a:txBody>
                  <a:tcPr marL="73152" marR="73152" marT="36576" marB="36576" anchor="ctr">
                    <a:solidFill>
                      <a:srgbClr val="FFFFFF"/>
                    </a:solidFill>
                  </a:tcPr>
                </a:tc>
                <a:tc>
                  <a:txBody>
                    <a:bodyPr wrap="square"/>
                    <a:lstStyle/>
                    <a:p>
                      <a:r>
                        <a:rPr sz="1500" b="0" i="0">
                          <a:solidFill>
                            <a:srgbClr val="263238"/>
                          </a:solidFill>
                          <a:latin typeface="Segoe UI"/>
                          <a:ea typeface="Segoe UI"/>
                          <a:cs typeface="Segoe UI"/>
                        </a:rPr>
                        <a:t>Thiếu </a:t>
                      </a:r>
                      <a:r>
                        <a:rPr sz="1400" b="0" i="0">
                          <a:solidFill>
                            <a:srgbClr val="B02A2A"/>
                          </a:solidFill>
                          <a:latin typeface="Consolas"/>
                          <a:ea typeface="Consolas"/>
                          <a:cs typeface="Consolas"/>
                        </a:rPr>
                        <a:t>.xsd</a:t>
                      </a:r>
                      <a:r>
                        <a:rPr sz="1500" b="0" i="0">
                          <a:solidFill>
                            <a:srgbClr val="263238"/>
                          </a:solidFill>
                          <a:latin typeface="Segoe UI"/>
                          <a:ea typeface="Segoe UI"/>
                          <a:cs typeface="Segoe UI"/>
                        </a:rPr>
                        <a:t> khi vẽ / chuyển → chạy Write Schema trước</a:t>
                      </a:r>
                    </a:p>
                  </a:txBody>
                  <a:tcPr marL="73152" marR="73152" marT="36576" marB="36576" anchor="ctr">
                    <a:solidFill>
                      <a:srgbClr val="FFFFFF"/>
                    </a:solidFill>
                  </a:tcPr>
                </a:tc>
              </a:tr>
              <a:tr h="548640">
                <a:tc>
                  <a:txBody>
                    <a:bodyPr wrap="square"/>
                    <a:lstStyle/>
                    <a:p>
                      <a:r>
                        <a:rPr sz="1500" b="0" i="0">
                          <a:solidFill>
                            <a:srgbClr val="263238"/>
                          </a:solidFill>
                          <a:latin typeface="Segoe UI"/>
                          <a:ea typeface="Segoe UI"/>
                          <a:cs typeface="Segoe UI"/>
                        </a:rPr>
                        <a:t>Chữ tràn, đường kẻ cắt chữ, mã bị ngắt dòng</a:t>
                      </a:r>
                    </a:p>
                  </a:txBody>
                  <a:tcPr marL="73152" marR="73152" marT="36576" marB="36576" anchor="ctr">
                    <a:solidFill>
                      <a:srgbClr val="F4F7FB"/>
                    </a:solidFill>
                  </a:tcPr>
                </a:tc>
                <a:tc>
                  <a:txBody>
                    <a:bodyPr wrap="square"/>
                    <a:lstStyle/>
                    <a:p>
                      <a:r>
                        <a:rPr sz="1500" b="0" i="0">
                          <a:solidFill>
                            <a:srgbClr val="263238"/>
                          </a:solidFill>
                          <a:latin typeface="Segoe UI"/>
                          <a:ea typeface="Segoe UI"/>
                          <a:cs typeface="Segoe UI"/>
                        </a:rPr>
                        <a:t>Can Grow (rpt) / AutoShrink (frx), nới rộng ô</a:t>
                      </a:r>
                    </a:p>
                  </a:txBody>
                  <a:tcPr marL="73152" marR="73152" marT="36576" marB="36576" anchor="ctr">
                    <a:solidFill>
                      <a:srgbClr val="F4F7FB"/>
                    </a:solidFill>
                  </a:tcPr>
                </a:tc>
              </a:tr>
              <a:tr h="548640">
                <a:tc>
                  <a:txBody>
                    <a:bodyPr wrap="square"/>
                    <a:lstStyle/>
                    <a:p>
                      <a:r>
                        <a:rPr sz="1500" b="0" i="0">
                          <a:solidFill>
                            <a:srgbClr val="263238"/>
                          </a:solidFill>
                          <a:latin typeface="Segoe UI"/>
                          <a:ea typeface="Segoe UI"/>
                          <a:cs typeface="Segoe UI"/>
                        </a:rPr>
                        <a:t>Bảng bị co nhỏ khi in</a:t>
                      </a:r>
                    </a:p>
                  </a:txBody>
                  <a:tcPr marL="73152" marR="73152" marT="36576" marB="36576" anchor="ctr">
                    <a:solidFill>
                      <a:srgbClr val="FFFFFF"/>
                    </a:solidFill>
                  </a:tcPr>
                </a:tc>
                <a:tc>
                  <a:txBody>
                    <a:bodyPr wrap="square"/>
                    <a:lstStyle/>
                    <a:p>
                      <a:r>
                        <a:rPr sz="1500" b="0" i="0">
                          <a:solidFill>
                            <a:srgbClr val="263238"/>
                          </a:solidFill>
                          <a:latin typeface="Segoe UI"/>
                          <a:ea typeface="Segoe UI"/>
                          <a:cs typeface="Segoe UI"/>
                        </a:rPr>
                        <a:t>Rộng hơn khổ giấy → bớt cột, in khổ ngang, Fit to width</a:t>
                      </a:r>
                    </a:p>
                  </a:txBody>
                  <a:tcPr marL="73152" marR="73152" marT="36576" marB="36576" anchor="ctr">
                    <a:solidFill>
                      <a:srgbClr val="FFFFFF"/>
                    </a:solidFill>
                  </a:tcPr>
                </a:tc>
              </a:tr>
              <a:tr h="548640">
                <a:tc>
                  <a:txBody>
                    <a:bodyPr wrap="square"/>
                    <a:lstStyle/>
                    <a:p>
                      <a:r>
                        <a:rPr sz="1500" b="0" i="0">
                          <a:solidFill>
                            <a:srgbClr val="263238"/>
                          </a:solidFill>
                          <a:latin typeface="Segoe UI"/>
                          <a:ea typeface="Segoe UI"/>
                          <a:cs typeface="Segoe UI"/>
                        </a:rPr>
                        <a:t>Pivot: tên cột lệch với số</a:t>
                      </a:r>
                    </a:p>
                  </a:txBody>
                  <a:tcPr marL="73152" marR="73152" marT="36576" marB="36576" anchor="ctr">
                    <a:solidFill>
                      <a:srgbClr val="F4F7FB"/>
                    </a:solidFill>
                  </a:tcPr>
                </a:tc>
                <a:tc>
                  <a:txBody>
                    <a:bodyPr wrap="square"/>
                    <a:lstStyle/>
                    <a:p>
                      <a:r>
                        <a:rPr sz="1500" b="0" i="0">
                          <a:solidFill>
                            <a:srgbClr val="263238"/>
                          </a:solidFill>
                          <a:latin typeface="Segoe UI"/>
                          <a:ea typeface="Segoe UI"/>
                          <a:cs typeface="Segoe UI"/>
                        </a:rPr>
                        <a:t>Header và dữ liệu sắp theo khoá khác nhau → dùng cùng khoá</a:t>
                      </a:r>
                    </a:p>
                  </a:txBody>
                  <a:tcPr marL="73152" marR="73152" marT="36576" marB="36576" anchor="ctr">
                    <a:solidFill>
                      <a:srgbClr val="F4F7FB"/>
                    </a:solidFill>
                  </a:tcPr>
                </a:tc>
              </a:tr>
              <a:tr h="548640">
                <a:tc>
                  <a:txBody>
                    <a:bodyPr wrap="square"/>
                    <a:lstStyle/>
                    <a:p>
                      <a:r>
                        <a:rPr sz="1500" b="0" i="0">
                          <a:solidFill>
                            <a:srgbClr val="263238"/>
                          </a:solidFill>
                          <a:latin typeface="Segoe UI"/>
                          <a:ea typeface="Segoe UI"/>
                          <a:cs typeface="Segoe UI"/>
                        </a:rPr>
                        <a:t>Mở .rpt báo “later version” rồi treo</a:t>
                      </a:r>
                    </a:p>
                  </a:txBody>
                  <a:tcPr marL="73152" marR="73152" marT="36576" marB="36576" anchor="ctr">
                    <a:solidFill>
                      <a:srgbClr val="FFFFFF"/>
                    </a:solidFill>
                  </a:tcPr>
                </a:tc>
                <a:tc>
                  <a:txBody>
                    <a:bodyPr wrap="square"/>
                    <a:lstStyle/>
                    <a:p>
                      <a:r>
                        <a:rPr sz="1500" b="0" i="0">
                          <a:solidFill>
                            <a:srgbClr val="263238"/>
                          </a:solidFill>
                          <a:latin typeface="Segoe UI"/>
                          <a:ea typeface="Segoe UI"/>
                          <a:cs typeface="Segoe UI"/>
                        </a:rPr>
                        <a:t>File lưu bằng runtime mới hơn designer → dùng cùng đời</a:t>
                      </a:r>
                    </a:p>
                  </a:txBody>
                  <a:tcPr marL="73152" marR="73152" marT="36576" marB="36576"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Thực hành tại lớp</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9</a:t>
            </a:r>
          </a:p>
        </p:txBody>
      </p:sp>
      <p:sp>
        <p:nvSpPr>
          <p:cNvPr id="7" name="TextBox 6"/>
          <p:cNvSpPr txBox="1"/>
          <p:nvPr/>
        </p:nvSpPr>
        <p:spPr>
          <a:xfrm>
            <a:off x="640080" y="1371600"/>
            <a:ext cx="10881360" cy="3108960"/>
          </a:xfrm>
          <a:prstGeom prst="rect">
            <a:avLst/>
          </a:prstGeom>
          <a:noFill/>
        </p:spPr>
        <p:txBody>
          <a:bodyPr wrap="square">
            <a:spAutoFit/>
          </a:bodyPr>
          <a:lstStyle/>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1.</a:t>
            </a:r>
            <a:r>
              <a:rPr sz="2000" b="0" i="0">
                <a:solidFill>
                  <a:srgbClr val="263238"/>
                </a:solidFill>
                <a:latin typeface="Segoe UI"/>
                <a:ea typeface="Segoe UI"/>
                <a:cs typeface="Segoe UI"/>
              </a:rPr>
              <a:t> Liệt kê mẫu và nhãn trong </a:t>
            </a:r>
            <a:r>
              <a:rPr sz="1900" b="0" i="0">
                <a:solidFill>
                  <a:srgbClr val="B02A2A"/>
                </a:solidFill>
                <a:latin typeface="Consolas"/>
                <a:ea typeface="Consolas"/>
                <a:cs typeface="Consolas"/>
              </a:rPr>
              <a:t>Report\IRTran.xml</a:t>
            </a:r>
            <a:r>
              <a:rPr sz="2000" b="0" i="0">
                <a:solidFill>
                  <a:srgbClr val="263238"/>
                </a:solidFill>
                <a:latin typeface="Segoe UI"/>
                <a:ea typeface="Segoe UI"/>
                <a:cs typeface="Segoe UI"/>
              </a:rPr>
              <a:t>.</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2.</a:t>
            </a:r>
            <a:r>
              <a:rPr sz="2000" b="0" i="0">
                <a:solidFill>
                  <a:srgbClr val="263238"/>
                </a:solidFill>
                <a:latin typeface="Segoe UI"/>
                <a:ea typeface="Segoe UI"/>
                <a:cs typeface="Segoe UI"/>
              </a:rPr>
              <a:t> Chép một mẫu Excel có sẵn, thêm nhãn và cột, khai form mới rồi in thử.</a:t>
            </a:r>
          </a:p>
          <a:p>
            <a:pPr>
              <a:spcAft>
                <a:spcPts val="1000"/>
              </a:spcAft>
            </a:pPr>
            <a:r>
              <a:rPr sz="2000" b="1" i="0">
                <a:solidFill>
                  <a:srgbClr val="F2B705"/>
                </a:solidFill>
                <a:latin typeface="Segoe UI"/>
                <a:ea typeface="Segoe UI"/>
                <a:cs typeface="Segoe UI"/>
              </a:rPr>
              <a:t>▪  </a:t>
            </a:r>
            <a:r>
              <a:rPr sz="2000" b="1" i="0">
                <a:solidFill>
                  <a:srgbClr val="1F4E79"/>
                </a:solidFill>
                <a:latin typeface="Segoe UI"/>
                <a:ea typeface="Segoe UI"/>
                <a:cs typeface="Segoe UI"/>
              </a:rPr>
              <a:t>3.</a:t>
            </a:r>
            <a:r>
              <a:rPr sz="2000" b="0" i="0">
                <a:solidFill>
                  <a:srgbClr val="263238"/>
                </a:solidFill>
                <a:latin typeface="Segoe UI"/>
                <a:ea typeface="Segoe UI"/>
                <a:cs typeface="Segoe UI"/>
              </a:rPr>
              <a:t> Chạy Write Schema cho query in và xem d1, d2; chuyển mẫu bằng Excel → FRX rồi xem trước PDF.</a:t>
            </a:r>
          </a:p>
        </p:txBody>
      </p:sp>
      <p:sp>
        <p:nvSpPr>
          <p:cNvPr id="8" name="Rounded Rectangle 7"/>
          <p:cNvSpPr/>
          <p:nvPr/>
        </p:nvSpPr>
        <p:spPr>
          <a:xfrm>
            <a:off x="640080" y="4434840"/>
            <a:ext cx="10927080" cy="685800"/>
          </a:xfrm>
          <a:prstGeom prst="roundRect">
            <a:avLst>
              <a:gd name="adj" fmla="val 8000"/>
            </a:avLst>
          </a:prstGeom>
          <a:solidFill>
            <a:srgbClr val="FFFFFF"/>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34840"/>
            <a:ext cx="91440" cy="6858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4489703"/>
            <a:ext cx="10607040" cy="594360"/>
          </a:xfrm>
          <a:prstGeom prst="rect">
            <a:avLst/>
          </a:prstGeom>
          <a:noFill/>
        </p:spPr>
        <p:txBody>
          <a:bodyPr wrap="square" anchor="ctr" lIns="45720" rIns="45720" tIns="27432" bIns="27432">
            <a:spAutoFit/>
          </a:bodyPr>
          <a:lstStyle/>
          <a:p>
            <a:pPr algn="l"/>
            <a:r>
              <a:rPr sz="1500" b="1" i="0">
                <a:solidFill>
                  <a:srgbClr val="2E75B6"/>
                </a:solidFill>
                <a:latin typeface="Segoe UI"/>
                <a:ea typeface="Segoe UI"/>
                <a:cs typeface="Segoe UI"/>
              </a:rPr>
              <a:t>Mẹo:</a:t>
            </a:r>
            <a:r>
              <a:rPr sz="1500" b="0" i="0">
                <a:solidFill>
                  <a:srgbClr val="263238"/>
                </a:solidFill>
                <a:latin typeface="Segoe UI"/>
                <a:ea typeface="Segoe UI"/>
                <a:cs typeface="Segoe UI"/>
              </a:rPr>
              <a:t> </a:t>
            </a:r>
            <a:r>
              <a:rPr sz="1500" b="1" i="0">
                <a:solidFill>
                  <a:srgbClr val="1F4E79"/>
                </a:solidFill>
                <a:latin typeface="Segoe UI"/>
                <a:ea typeface="Segoe UI"/>
                <a:cs typeface="Segoe UI"/>
              </a:rPr>
              <a:t>Trên database:</a:t>
            </a:r>
            <a:r>
              <a:rPr sz="1500" b="0" i="0">
                <a:solidFill>
                  <a:srgbClr val="263238"/>
                </a:solidFill>
                <a:latin typeface="Segoe UI"/>
                <a:ea typeface="Segoe UI"/>
                <a:cs typeface="Segoe UI"/>
              </a:rPr>
              <a:t> Sổ bài tập thực hành — Buổi 7 (FBOSP2422_App / _Sys, chạy </a:t>
            </a:r>
            <a:r>
              <a:rPr sz="1400" b="0" i="0">
                <a:solidFill>
                  <a:srgbClr val="B02A2A"/>
                </a:solidFill>
                <a:latin typeface="Consolas"/>
                <a:ea typeface="Consolas"/>
                <a:cs typeface="Consolas"/>
              </a:rPr>
              <a:t>00_TaoDuLieuMau.sql</a:t>
            </a:r>
            <a:r>
              <a:rPr sz="1500" b="0" i="0">
                <a:solidFill>
                  <a:srgbClr val="263238"/>
                </a:solidFill>
                <a:latin typeface="Segoe UI"/>
                <a:ea typeface="Segoe UI"/>
                <a:cs typeface="Segoe UI"/>
              </a:rPr>
              <a:t> trước).</a:t>
            </a:r>
          </a:p>
        </p:txBody>
      </p:sp>
      <p:sp>
        <p:nvSpPr>
          <p:cNvPr id="11" name="Rounded Rectangle 10"/>
          <p:cNvSpPr/>
          <p:nvPr/>
        </p:nvSpPr>
        <p:spPr>
          <a:xfrm>
            <a:off x="640080" y="5257800"/>
            <a:ext cx="10927080" cy="914400"/>
          </a:xfrm>
          <a:prstGeom prst="roundRect">
            <a:avLst>
              <a:gd name="adj" fmla="val 8000"/>
            </a:avLst>
          </a:prstGeom>
          <a:solidFill>
            <a:srgbClr val="FFFFFF"/>
          </a:solidFill>
          <a:ln w="15875">
            <a:solidFill>
              <a:srgbClr val="27A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5257800"/>
            <a:ext cx="91440" cy="91440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5312664"/>
            <a:ext cx="10607040" cy="822960"/>
          </a:xfrm>
          <a:prstGeom prst="rect">
            <a:avLst/>
          </a:prstGeom>
          <a:noFill/>
        </p:spPr>
        <p:txBody>
          <a:bodyPr wrap="square" anchor="ctr" lIns="45720" rIns="45720" tIns="27432" bIns="27432">
            <a:spAutoFit/>
          </a:bodyPr>
          <a:lstStyle/>
          <a:p>
            <a:pPr algn="l"/>
            <a:r>
              <a:rPr sz="1600" b="1" i="0">
                <a:solidFill>
                  <a:srgbClr val="27AE60"/>
                </a:solidFill>
                <a:latin typeface="Segoe UI"/>
                <a:ea typeface="Segoe UI"/>
                <a:cs typeface="Segoe UI"/>
              </a:rPr>
              <a:t>Bài tập:</a:t>
            </a:r>
            <a:r>
              <a:rPr sz="1600" b="0" i="0">
                <a:solidFill>
                  <a:srgbClr val="263238"/>
                </a:solidFill>
                <a:latin typeface="Segoe UI"/>
                <a:ea typeface="Segoe UI"/>
                <a:cs typeface="Segoe UI"/>
              </a:rPr>
              <a:t> </a:t>
            </a:r>
            <a:r>
              <a:rPr sz="1600" b="1" i="0">
                <a:solidFill>
                  <a:srgbClr val="1F4E79"/>
                </a:solidFill>
                <a:latin typeface="Segoe UI"/>
                <a:ea typeface="Segoe UI"/>
                <a:cs typeface="Segoe UI"/>
              </a:rPr>
              <a:t>Về nhà:</a:t>
            </a:r>
            <a:r>
              <a:rPr sz="1600" b="0" i="0">
                <a:solidFill>
                  <a:srgbClr val="263238"/>
                </a:solidFill>
                <a:latin typeface="Segoe UI"/>
                <a:ea typeface="Segoe UI"/>
                <a:cs typeface="Segoe UI"/>
              </a:rPr>
              <a:t> Khách muốn thêm “Ghi chú” và “Mã lô” lên phiếu nhập kho: sửa query in, cập nhật mẫu (.rpt hoặc Excel), in thử nhiều dòng.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11064240" cy="685800"/>
          </a:xfrm>
          <a:prstGeom prst="rect">
            <a:avLst/>
          </a:prstGeom>
          <a:noFill/>
        </p:spPr>
        <p:txBody>
          <a:bodyPr wrap="square" anchor="t" lIns="45720" rIns="45720" tIns="27432" bIns="27432">
            <a:spAutoFit/>
          </a:bodyPr>
          <a:lstStyle/>
          <a:p>
            <a:pPr algn="l"/>
            <a:r>
              <a:rPr sz="3000" b="1" i="0">
                <a:solidFill>
                  <a:srgbClr val="1F4E79"/>
                </a:solidFill>
                <a:latin typeface="Segoe UI"/>
                <a:ea typeface="Segoe UI"/>
                <a:cs typeface="Segoe UI"/>
              </a:rPr>
              <a:t>Tự kiểm tra</a:t>
            </a:r>
          </a:p>
        </p:txBody>
      </p:sp>
      <p:sp>
        <p:nvSpPr>
          <p:cNvPr id="4" name="Rectangle 3"/>
          <p:cNvSpPr/>
          <p:nvPr/>
        </p:nvSpPr>
        <p:spPr>
          <a:xfrm>
            <a:off x="566928" y="1024128"/>
            <a:ext cx="1005840"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r>
              <a:rPr sz="1000" b="0" i="0">
                <a:solidFill>
                  <a:srgbClr val="6B7785"/>
                </a:solidFill>
                <a:latin typeface="Segoe UI"/>
                <a:ea typeface="Segoe UI"/>
                <a:cs typeface="Segoe UI"/>
              </a:rPr>
              <a:t>Buổi 7 · Vẽ mẫu in</a:t>
            </a:r>
          </a:p>
        </p:txBody>
      </p:sp>
      <p:sp>
        <p:nvSpPr>
          <p:cNvPr id="6" name="TextBox 5"/>
          <p:cNvSpPr txBox="1"/>
          <p:nvPr/>
        </p:nvSpPr>
        <p:spPr>
          <a:xfrm>
            <a:off x="10972800" y="6446520"/>
            <a:ext cx="731520" cy="274320"/>
          </a:xfrm>
          <a:prstGeom prst="rect">
            <a:avLst/>
          </a:prstGeom>
          <a:noFill/>
        </p:spPr>
        <p:txBody>
          <a:bodyPr wrap="square" anchor="t" lIns="45720" rIns="45720" tIns="27432" bIns="27432">
            <a:spAutoFit/>
          </a:bodyPr>
          <a:lstStyle/>
          <a:p>
            <a:pPr algn="r"/>
            <a:r>
              <a:rPr sz="1000" b="0" i="0">
                <a:solidFill>
                  <a:srgbClr val="6B7785"/>
                </a:solidFill>
                <a:latin typeface="Segoe UI"/>
                <a:ea typeface="Segoe UI"/>
                <a:cs typeface="Segoe UI"/>
              </a:rPr>
              <a:t>10</a:t>
            </a:r>
          </a:p>
        </p:txBody>
      </p:sp>
      <p:sp>
        <p:nvSpPr>
          <p:cNvPr id="7" name="TextBox 6"/>
          <p:cNvSpPr txBox="1"/>
          <p:nvPr/>
        </p:nvSpPr>
        <p:spPr>
          <a:xfrm>
            <a:off x="640080" y="1371600"/>
            <a:ext cx="10881360" cy="4754880"/>
          </a:xfrm>
          <a:prstGeom prst="rect">
            <a:avLst/>
          </a:prstGeom>
          <a:noFill/>
        </p:spPr>
        <p:txBody>
          <a:bodyPr wrap="square">
            <a:spAutoFit/>
          </a:bodyPr>
          <a:lstStyle/>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1.</a:t>
            </a:r>
            <a:r>
              <a:rPr sz="2100" b="0" i="0">
                <a:solidFill>
                  <a:srgbClr val="263238"/>
                </a:solidFill>
                <a:latin typeface="Segoe UI"/>
                <a:ea typeface="Segoe UI"/>
                <a:cs typeface="Segoe UI"/>
              </a:rPr>
              <a:t> Mẫu in lấy dữ liệu từ đâu?</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2.</a:t>
            </a:r>
            <a:r>
              <a:rPr sz="2100" b="0" i="0">
                <a:solidFill>
                  <a:srgbClr val="263238"/>
                </a:solidFill>
                <a:latin typeface="Segoe UI"/>
                <a:ea typeface="Segoe UI"/>
                <a:cs typeface="Segoe UI"/>
              </a:rPr>
              <a:t> </a:t>
            </a:r>
            <a:r>
              <a:rPr sz="2000" b="0" i="0">
                <a:solidFill>
                  <a:srgbClr val="B02A2A"/>
                </a:solidFill>
                <a:latin typeface="Consolas"/>
                <a:ea typeface="Consolas"/>
                <a:cs typeface="Consolas"/>
              </a:rPr>
              <a:t>!2.tien</a:t>
            </a:r>
            <a:r>
              <a:rPr sz="2100" b="0" i="0">
                <a:solidFill>
                  <a:srgbClr val="263238"/>
                </a:solidFill>
                <a:latin typeface="Segoe UI"/>
                <a:ea typeface="Segoe UI"/>
                <a:cs typeface="Segoe UI"/>
              </a:rPr>
              <a:t> trong mẫu Excel là gì?</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3.</a:t>
            </a:r>
            <a:r>
              <a:rPr sz="2100" b="0" i="0">
                <a:solidFill>
                  <a:srgbClr val="263238"/>
                </a:solidFill>
                <a:latin typeface="Segoe UI"/>
                <a:ea typeface="Segoe UI"/>
                <a:cs typeface="Segoe UI"/>
              </a:rPr>
              <a:t> Sau khi đổi cột của query in, mẫu .rpt cần làm gì?</a:t>
            </a:r>
          </a:p>
          <a:p>
            <a:pPr>
              <a:spcAft>
                <a:spcPts val="1000"/>
              </a:spcAft>
            </a:pPr>
            <a:r>
              <a:rPr sz="2100" b="1" i="0">
                <a:solidFill>
                  <a:srgbClr val="F2B705"/>
                </a:solidFill>
                <a:latin typeface="Segoe UI"/>
                <a:ea typeface="Segoe UI"/>
                <a:cs typeface="Segoe UI"/>
              </a:rPr>
              <a:t>▪  </a:t>
            </a:r>
            <a:r>
              <a:rPr sz="2100" b="1" i="0">
                <a:solidFill>
                  <a:srgbClr val="1F4E79"/>
                </a:solidFill>
                <a:latin typeface="Segoe UI"/>
                <a:ea typeface="Segoe UI"/>
                <a:cs typeface="Segoe UI"/>
              </a:rPr>
              <a:t>4.</a:t>
            </a:r>
            <a:r>
              <a:rPr sz="2100" b="0" i="0">
                <a:solidFill>
                  <a:srgbClr val="263238"/>
                </a:solidFill>
                <a:latin typeface="Segoe UI"/>
                <a:ea typeface="Segoe UI"/>
                <a:cs typeface="Segoe UI"/>
              </a:rPr>
              <a:t> Nhãn song ngữ trên phiếu khai ở đâu?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