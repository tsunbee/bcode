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Buổi 7: Vẽ mẫu in (Trung cấp, 3 giờ).</a:t>
            </a:r>
          </a:p>
          <a:p>
            <a:r>
              <a:t>Chuẩn bị: Crystal Reports designer (nếu vẽ .rpt), Excel; dự án thử có phiếu nhập / hoá đơn; key bản quyền (Excel → FRX).</a:t>
            </a:r>
          </a:p>
          <a:p>
            <a:r>
              <a:t>Nhắc lại bài tập về nhà của buổi trước trước khi vào nội dung mới (5–10 phút).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Mục tiêu:</a:t>
            </a:r>
          </a:p>
          <a:p>
            <a:r>
              <a:t>- Hiểu Report xml: query → bảng d1 / d2, form, nhãn h_…</a:t>
            </a:r>
          </a:p>
          <a:p>
            <a:r>
              <a:t>- Sửa / vẽ mẫu Crystal .rpt, cập nhật bằng Write Schema</a:t>
            </a:r>
          </a:p>
          <a:p>
            <a:r>
              <a:t>- Sửa / vẽ mẫu Excel với cú pháp ?biến, !1.cột, !2.cột, #biểu thức</a:t>
            </a:r>
          </a:p>
          <a:p>
            <a:r>
              <a:t>- Chuyển mẫu sang FastReport bằng Excel → FRX</a:t>
            </a:r>
          </a:p>
          <a:p>
            <a:r>
              <a:t>Lịch trình:</a:t>
            </a:r>
          </a:p>
          <a:p>
            <a:r>
              <a:t>1. Ba loại mẫu in, quy ước tên (15')</a:t>
            </a:r>
          </a:p>
          <a:p>
            <a:r>
              <a:t>2. Report xml: query, form, nhãn (40')</a:t>
            </a:r>
          </a:p>
          <a:p>
            <a:r>
              <a:t>3. Mẫu Crystal .rpt + Write Schema (40')</a:t>
            </a:r>
          </a:p>
          <a:p>
            <a:r>
              <a:t>4. Mẫu Excel (40')</a:t>
            </a:r>
          </a:p>
          <a:p>
            <a:r>
              <a:t>5. FastReport .frx, Excel → FRX (20')</a:t>
            </a:r>
          </a:p>
          <a:p>
            <a:r>
              <a:t>6. Thực hành (25')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Mẫu in quyết định phiếu / báo cáo trông thế nào khi bấm In hoặc Xuất Excel. Dữ liệu do Report\&lt;Controller&gt;.xml lấy; mẫu chỉ đặt dữ liệu vào đúng chỗ.</a:t>
            </a:r>
          </a:p>
          <a:p>
            <a:r>
              <a:t>Ba loại: Crystal Report (.rpt kèm .xsd, trong Templates\Rpt, xuất PDF) — phần lớn mẫu có sẵn; Excel (.xlsx trong Templates\Excel) — khách muốn sửa tiếp; FastReport (.frx) — hướng mới của công ty thay .rpt, Bcode có công cụ Excel → FRX.</a:t>
            </a:r>
          </a:p>
          <a:p>
            <a:r>
              <a:t>Quy ước tên: _01, _02 nhiều mẫu; BI song ngữ; FC ngoại tệ; _a bản phụ.</a:t>
            </a:r>
          </a:p>
          <a:p>
            <a:r>
              <a:t>FBO mẫu trên máy (bản cũ) chưa có Templates\Frx — dự án dùng .frx hay .rpt cần kiểm tra theo phiên bản.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Mở File Lookup, chọn menu chứng từ, thư mục Report, ví dụ IRTran.xml.</a:t>
            </a:r>
          </a:p>
          <a:p>
            <a:r>
              <a:t>Phần query: mỗi câu SELECT trả về một bảng; theo thứ tự thành d1, d2... trong mẫu. d1 thường là đầu phiếu 1 dòng (có tiền bằng chữ qua ReadCurrency), d2 là chi tiết (thường gọi procedure rs_Print...).</a:t>
            </a:r>
          </a:p>
          <a:p>
            <a:r>
              <a:t>@stt_rec là khoá chứng từ đang in, @@form là id mẫu người dùng chọn — dùng để rẽ nhánh (mẫu song ngữ). Query cũng có thể đổi file mẫu bằng select '...' as reportFile.</a:t>
            </a:r>
          </a:p>
          <a:p>
            <a:r>
              <a:t>Mỗi &lt;form&gt; là một dòng trong danh sách mẫu khi bấm In: reportFile cho .rpt, templateFile cho .xlsx, commandArgument Pdf / Excel.</a:t>
            </a:r>
          </a:p>
          <a:p>
            <a:r>
              <a:t>&lt;field name="h_..."&gt; khai nhãn song ngữ, mẫu gọi bằng tên h_...</a:t>
            </a:r>
          </a:p>
          <a:p>
            <a:r>
              <a:t>Muốn xem dữ liệu thật: BcodeViewer Ctrl+Enter trên query (gộp entity, hỏi @stt_rec), hoặc Profiler khi bấm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Quy trình sửa / vẽ mẫu .rpt:</a:t>
            </a:r>
          </a:p>
          <a:p>
            <a:r>
              <a:t>1. Chạy query in (hoặc procedure in) trên SQL Query với một stt_rec thật → nhóm Script → Write Schema → lưu .xsd vào Templates\Rpt; xsd có các bảng d1, d2 đúng thứ tự kết quả.</a:t>
            </a:r>
          </a:p>
          <a:p>
            <a:r>
              <a:t>2. Bcode hỏi cập nhật bảng trong .rpt → chọn file → xem cột Khác biệt cột: chữ đỏ là cột report đang dùng sẽ mất → Cập nhật (bản cũ thành .rpt.bak). Đây là bước Set Datasource Location + Verify Database của Crystal.</a:t>
            </a:r>
          </a:p>
          <a:p>
            <a:r>
              <a:t>3. Mở .rpt bằng Crystal designer: field d1 vào đầu / cuối phiếu, d2 vào Details.</a:t>
            </a:r>
          </a:p>
          <a:p>
            <a:r>
              <a:t>4. Nhãn dùng h_..., tham số chuẩn {?isFC}, {?roundAmount}, {?roundQuantity}.</a:t>
            </a:r>
          </a:p>
          <a:p>
            <a:r>
              <a:t>5. Can Grow cho ô dài, khổ giấy, lề; pivot dùng Cross-Tab.</a:t>
            </a:r>
          </a:p>
          <a:p>
            <a:r>
              <a:t>6. In thử trên web: 2 ngôn ngữ, chứng từ nhiều dòng.</a:t>
            </a:r>
          </a:p>
          <a:p>
            <a:r>
              <a:t>Cảnh báo: Crystal âm thầm xoá ô dùng cột bị mất. Máy cần Crystal runtime 13 64-bit; designer nên cùng đời với runtime (file lưu bằng bản mới mở bằng bản cũ có thể treo).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Mẫu Excel là file .xlsx bình thường; ô cần dữ liệu gõ mã đặc biệt (lấy từ mẫu thật APTran.xlsx):</a:t>
            </a:r>
          </a:p>
          <a:p>
            <a:r>
              <a:t>?ten: biến — nhãn h_ khai trong Report xml, title, Entity_Line1..4 (thông tin đơn vị), chức danh / tên người ký, reportDate.</a:t>
            </a:r>
          </a:p>
          <a:p>
            <a:r>
              <a:t>!1.cot: cột của bảng 1 (đầu phiếu); !2.cot: cột của bảng 2 (chi tiết).</a:t>
            </a:r>
          </a:p>
          <a:p>
            <a:r>
              <a:t>#...: ghép nhiều phần bằng +; mảnh rỗng giữa hai dấu + là một dấu cách.</a:t>
            </a:r>
          </a:p>
          <a:p>
            <a:r>
              <a:t>%c %l %r ở cuối: cờ định dạng — số tiền, căn trái, căn phải.</a:t>
            </a:r>
          </a:p>
          <a:p>
            <a:r>
              <a:t>!1.x#điều kiện: chỉ hiện khi thoả (vd sysorder&gt;1); {b:điều kiện}: in đậm theo điều kiện.</a:t>
            </a:r>
          </a:p>
          <a:p>
            <a:r>
              <a:t>Ô công thức Excel (=...) không được tham chiếu — lấy tổng từ query.</a:t>
            </a:r>
          </a:p>
          <a:p>
            <a:r>
              <a:t>Ô không gắn trường thì cột không hiện dù procedure đã tính.</a:t>
            </a:r>
          </a:p>
          <a:p>
            <a:r>
              <a:t>Quy trình: chép mẫu gần giống, đặt tên theo templateFile, sửa giữ đúng mã, nhãn mới thêm &lt;field name="h_..."&gt; vào Report xml, Page Setup (khổ, lề, fit width, lặp tiêu đề), khai &lt;form templateFile commandArgument="Excel"&gt;, in thử nhiều dòng và tiếng Anh.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.frx dùng cùng nguồn d1, d2 như xsd; nhãn / biến là Parameter; ô viết [d1.ong_ba], [title]; vùng chi tiết là DataBand gắn DataSource d2.</a:t>
            </a:r>
          </a:p>
          <a:p>
            <a:r>
              <a:t>Công cụ Bcode: tab Excel → FRX — mở Excel mẫu in, Bcode dựng .frx, kéo thả chỉnh bố cục, xem trước PDF, lưu vào thư mục .frx (mặc định thường là Templates\Frx). Chuột phải .xlsx / .rpt trong File Lookup → Chuyển sang .frx. Bộ 28 mẫu .frx chuẩn đi kèm Bcode; mẫu trùng tên tự làm khuôn.</a:t>
            </a:r>
          </a:p>
          <a:p>
            <a:r>
              <a:t>Quy ước: XmlDataConnection không chuỗi kết nối, cột số System.Decimal, PrintIfDatasourceEmpty False, tag số lẻ $isFC$roundAmount$roundFCAmount$. Pivot → AdvMatrixObject.</a:t>
            </a:r>
          </a:p>
          <a:p>
            <a:r>
              <a:t>Không tự dịch: VLOOKUP, WhilePrintingRecords, Previous / Next, select case — khai tay. Cần key; luôn xem trước PDF và in thử.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Bảng lỗi thực tế khi vẽ / chuyển mẫu in. Hai lỗi gặp nhiều nhất: sửa query mà quên cập nhật .rpt (Crystal âm thầm xoá ô dùng cột bị mất), và thêm cột trong procedure nhưng ô trên mẫu chưa gắn trường.</a:t>
            </a:r>
          </a:p>
          <a:p>
            <a:r>
              <a:t>Khi sửa rồi mà vẫn thấy lỗi cũ: kiểm đúng file / đúng bản đang chạy trước khi sửa tiếp.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Học viên làm trên dự án thử, người hướng dẫn đi kiểm từng máy. Ai xong sớm làm luôn bài tập về nhà.</a:t>
            </a:r>
          </a:p>
          <a:p>
            <a:r>
              <a:t>Bài tập về nhà: Khách muốn thêm “Ghi chú” và “Mã lô” lên phiếu nhập kho: sửa query in, cập nhật mẫu (.rpt hoặc Excel), in thử nhiều dòng.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Hỏi nhanh cả lớp; đáp án:</a:t>
            </a:r>
          </a:p>
          <a:p>
            <a:r>
              <a:t>1. Phần &lt;query&gt; của Report\&lt;Controller&gt;.xml; mỗi SELECT là một bảng d1, d2…</a:t>
            </a:r>
          </a:p>
          <a:p>
            <a:r>
              <a:t>2. Cột tien của bảng kết quả 2 (chi tiết).</a:t>
            </a:r>
          </a:p>
          <a:p>
            <a:r>
              <a:t>3. Write Schema → cập nhật bảng trong .rpt (bản cũ thành .rpt.bak).</a:t>
            </a:r>
          </a:p>
          <a:p>
            <a:r>
              <a:t>4. &lt;field name="h_…" type="String"&gt;&lt;header v e/&gt; trong Report xml.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73D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331720"/>
            <a:ext cx="1280160" cy="7315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97280"/>
            <a:ext cx="100584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BUỔI 7 / 10  ·  TRUNG CẤP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554480"/>
            <a:ext cx="107899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0" i="0">
                <a:solidFill>
                  <a:srgbClr val="D6E4F0"/>
                </a:solidFill>
                <a:latin typeface="Segoe UI"/>
                <a:ea typeface="Segoe UI"/>
                <a:cs typeface="Segoe UI"/>
              </a:rPr>
              <a:t>FastBusiness Online &amp; Bcode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06040"/>
            <a:ext cx="1078992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Vẽ mẫu 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576072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B8CADB"/>
                </a:solidFill>
                <a:latin typeface="Segoe UI"/>
                <a:ea typeface="Segoe UI"/>
                <a:cs typeface="Segoe UI"/>
              </a:rPr>
              <a:t>Thời lượng 3 giờ · tài liệu chi tiết: DaoTao_Fast_Bcode.docx — Buổi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Mục tiêu và lịch trình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24128"/>
            <a:ext cx="1005840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Buổi 7 · Vẽ mẫu 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51206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Học xong buổi này, bạn: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5212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Hiểu Report xml: query → bảng d1 / d2, form, nhãn h_…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Sửa / vẽ mẫu Crystal .rpt, cập nhật bằng Write Schema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Sửa / vẽ mẫu Excel với cú pháp ?biến, !1.cột, !2.cột, #biểu thức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Chuyển mẫu sang FastReport bằng Excel → FRX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126480" y="1371600"/>
          <a:ext cx="5486400" cy="35204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57200"/>
                <a:gridCol w="4023360"/>
                <a:gridCol w="100584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/>
                      </a:r>
                    </a:p>
                  </a:txBody>
                  <a:tcPr marL="73152" marR="73152" marT="36576" marB="36576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Nội dung</a:t>
                      </a:r>
                    </a:p>
                  </a:txBody>
                  <a:tcPr marL="73152" marR="73152" marT="36576" marB="36576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Thời gian</a:t>
                      </a:r>
                    </a:p>
                  </a:txBody>
                  <a:tcPr marL="73152" marR="73152" marT="36576" marB="36576" anchor="ctr">
                    <a:solidFill>
                      <a:srgbClr val="1F4E7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Ba loại mẫu in, quy ước tên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15'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2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Report xml: query, form, nhãn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40'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3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Mẫu Crystal .rpt + Write Schema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40'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4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Mẫu Excel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40'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5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FastReport .frx, Excel → FRX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20'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6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Thực hành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25'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40080" y="5623560"/>
            <a:ext cx="1092708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5623560"/>
            <a:ext cx="91440" cy="640080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5678424"/>
            <a:ext cx="106070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Lưu ý:</a:t>
            </a:r>
            <a:r>
              <a:rPr sz="14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Chuẩn bị: Crystal Reports designer (nếu vẽ .rpt), Excel; dự án thử có phiếu nhập / hoá đơn; key bản quyền (Excel → FRX)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Ba loại mẫu in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24128"/>
            <a:ext cx="1005840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Buổi 7 · Vẽ mẫu 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00200"/>
          <a:ext cx="10881360" cy="23774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377440"/>
                <a:gridCol w="4206240"/>
                <a:gridCol w="4297680"/>
              </a:tblGrid>
              <a:tr h="59436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Loại</a:t>
                      </a:r>
                    </a:p>
                  </a:txBody>
                  <a:tcPr marL="73152" marR="73152" marT="36576" marB="36576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File · thư mục</a:t>
                      </a:r>
                    </a:p>
                  </a:txBody>
                  <a:tcPr marL="73152" marR="73152" marT="36576" marB="36576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Report xml gọi bằng</a:t>
                      </a:r>
                    </a:p>
                  </a:txBody>
                  <a:tcPr marL="73152" marR="73152" marT="36576" marB="36576" anchor="ctr">
                    <a:solidFill>
                      <a:srgbClr val="1F4E79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Crystal Report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.rpt</a:t>
                      </a:r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 (+ </a:t>
                      </a:r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.xsd</a:t>
                      </a:r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) · </a:t>
                      </a:r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Templates\Rpt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reportFile="IRTran_01"</a:t>
                      </a:r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 · </a:t>
                      </a:r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commandArgument="Pdf"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Excel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.xlsx</a:t>
                      </a:r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 · </a:t>
                      </a:r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Templates\Excel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templateFile="APTran"</a:t>
                      </a:r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 · </a:t>
                      </a:r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commandArgument="Excel"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FastReport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.frx</a:t>
                      </a:r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 · </a:t>
                      </a:r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Templates\Frx</a:t>
                      </a:r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 (bản mới)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cùng tên mẫu </a:t>
                      </a:r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.rpt</a:t>
                      </a:r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 (vd </a:t>
                      </a:r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ISTran_01.frx</a:t>
                      </a:r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" y="4206240"/>
            <a:ext cx="1092708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4206240"/>
            <a:ext cx="91440" cy="731520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4261103"/>
            <a:ext cx="1060704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8E44AD"/>
                </a:solidFill>
                <a:latin typeface="Segoe UI"/>
                <a:ea typeface="Segoe UI"/>
                <a:cs typeface="Segoe UI"/>
              </a:rPr>
              <a:t>Cần kiểm tra ở dự án: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Quy ước tên: </a:t>
            </a:r>
            <a:r>
              <a:rPr sz="14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_01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, </a:t>
            </a:r>
            <a:r>
              <a:rPr sz="14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_02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· </a:t>
            </a:r>
            <a:r>
              <a:rPr sz="14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BI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song ngữ · </a:t>
            </a:r>
            <a:r>
              <a:rPr sz="14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FC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ngoại tệ · </a:t>
            </a:r>
            <a:r>
              <a:rPr sz="14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_a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bản phụ. Dự án dùng </a:t>
            </a:r>
            <a:r>
              <a:rPr sz="14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.frx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hay </a:t>
            </a:r>
            <a:r>
              <a:rPr sz="14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.rpt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— kiểm theo phiên bản.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Report xml: query → d1, d2 · form · nhãn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24128"/>
            <a:ext cx="1005840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Buổi 7 · Vẽ mẫu 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00200"/>
            <a:ext cx="7223760" cy="3803650"/>
          </a:xfrm>
          <a:prstGeom prst="roundRect">
            <a:avLst>
              <a:gd name="adj" fmla="val 3000"/>
            </a:avLst>
          </a:prstGeom>
          <a:solidFill>
            <a:srgbClr val="1E2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673352"/>
            <a:ext cx="6858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9AA8B8"/>
                </a:solidFill>
                <a:latin typeface="Segoe UI"/>
                <a:ea typeface="Segoe UI"/>
                <a:cs typeface="Segoe UI"/>
              </a:rPr>
              <a:t>Report\IRTran.xml (FBO mẫu, rút gọn)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1984248"/>
            <a:ext cx="6903720" cy="41879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50" b="0" i="1">
                <a:solidFill>
                  <a:srgbClr val="7FB06A"/>
                </a:solidFill>
                <a:latin typeface="Consolas"/>
                <a:ea typeface="Consolas"/>
                <a:cs typeface="Consolas"/>
              </a:rPr>
              <a:t>-- &lt;query&gt;: mỗi SELECT là một bảng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select</a:t>
            </a:r>
            <a:r>
              <a:rPr sz="14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a.so_ct, a.t_tien, ... t_tien_in_word     </a:t>
            </a:r>
            <a:r>
              <a:rPr sz="1450" b="0" i="1">
                <a:solidFill>
                  <a:srgbClr val="7FB06A"/>
                </a:solidFill>
                <a:latin typeface="Consolas"/>
                <a:ea typeface="Consolas"/>
                <a:cs typeface="Consolas"/>
              </a:rPr>
              <a:t>-- d1 đầu phiếu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45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from</a:t>
            </a:r>
            <a:r>
              <a:rPr sz="14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@@prime$partition$current a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5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where</a:t>
            </a:r>
            <a:r>
              <a:rPr sz="14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a.stt_rec = @stt_rec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exec</a:t>
            </a:r>
            <a:r>
              <a:rPr sz="14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rs_PrintIRTran @@language, @key, ...       </a:t>
            </a:r>
            <a:r>
              <a:rPr sz="1450" b="0" i="1">
                <a:solidFill>
                  <a:srgbClr val="7FB06A"/>
                </a:solidFill>
                <a:latin typeface="Consolas"/>
                <a:ea typeface="Consolas"/>
                <a:cs typeface="Consolas"/>
              </a:rPr>
              <a:t>-- d2 chi tiết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if</a:t>
            </a:r>
            <a:r>
              <a:rPr sz="14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@@form in ('020', '022') ...                  </a:t>
            </a:r>
            <a:r>
              <a:rPr sz="1450" b="0" i="1">
                <a:solidFill>
                  <a:srgbClr val="7FB06A"/>
                </a:solidFill>
                <a:latin typeface="Consolas"/>
                <a:ea typeface="Consolas"/>
                <a:cs typeface="Consolas"/>
              </a:rPr>
              <a:t>-- rẽ theo mẫu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select</a:t>
            </a:r>
            <a:r>
              <a:rPr sz="14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'rptPrintIRTran_01_A5' as reportFile      </a:t>
            </a:r>
            <a:r>
              <a:rPr sz="1450" b="0" i="1">
                <a:solidFill>
                  <a:srgbClr val="7FB06A"/>
                </a:solidFill>
                <a:latin typeface="Consolas"/>
                <a:ea typeface="Consolas"/>
                <a:cs typeface="Consolas"/>
              </a:rPr>
              <a:t>-- đổi file mẫu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&lt;form id="010" reportFile="IRTran_01" templateFile=""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     commandArgument="Pdf"&gt;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&lt;form id="020" reportFile="IRTran_01BI" languageType="0" ...&gt;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&lt;field name="h_so_phieu" type="String"&gt;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 &lt;header v="Số phiếu:" e="Voucher No.:"/&gt;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600200"/>
            <a:ext cx="35661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Mỗi SELECT = 1 bảng </a:t>
            </a:r>
            <a:r>
              <a:rPr sz="16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d1, d2…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5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@@form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= id mẫu đang chọn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5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reportFile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→ .rpt · </a:t>
            </a:r>
            <a:r>
              <a:rPr sz="15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templateFile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→ .xlsx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Nhãn </a:t>
            </a:r>
            <a:r>
              <a:rPr sz="15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h_…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song ngữ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Xem dữ liệu: Viewer </a:t>
            </a:r>
            <a:r>
              <a:rPr sz="16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Ctrl+Enter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/ Profiler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Mẫu Crystal .rpt + Write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24128"/>
            <a:ext cx="1005840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Buổi 7 · Vẽ mẫu 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5</a:t>
            </a:r>
          </a:p>
        </p:txBody>
      </p:sp>
      <p:pic>
        <p:nvPicPr>
          <p:cNvPr id="7" name="Picture 6" descr="bcode-write-schema-r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96" y="1325880"/>
            <a:ext cx="7196807" cy="4937759"/>
          </a:xfrm>
          <a:prstGeom prst="rect">
            <a:avLst/>
          </a:prstGeom>
          <a:ln w="12700">
            <a:solidFill>
              <a:srgbClr val="C8D1DC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366760" y="1325880"/>
            <a:ext cx="3383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Chạy query in → </a:t>
            </a:r>
            <a:r>
              <a:rPr sz="15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Write Schema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→ </a:t>
            </a:r>
            <a:r>
              <a:rPr sz="14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.xsd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Cập nhật bảng </a:t>
            </a:r>
            <a:r>
              <a:rPr sz="14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.rpt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(bản cũ </a:t>
            </a:r>
            <a:r>
              <a:rPr sz="14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.rpt.bak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)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Chữ </a:t>
            </a:r>
            <a:r>
              <a:rPr sz="15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đỏ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= cột đang dùng sẽ mất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Designer: d1 đầu phiếu · d2 </a:t>
            </a:r>
            <a:r>
              <a:rPr sz="15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Details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4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{?isFC}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4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{?roundAmount}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Can Grow · Cross-Tab cho pivot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Mẫu Excel: ?biến · !1.cột · !2.cột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24128"/>
            <a:ext cx="1005840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Buổi 7 · Vẽ mẫu 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00200"/>
            <a:ext cx="6766560" cy="2455671"/>
          </a:xfrm>
          <a:prstGeom prst="roundRect">
            <a:avLst>
              <a:gd name="adj" fmla="val 3000"/>
            </a:avLst>
          </a:prstGeom>
          <a:solidFill>
            <a:srgbClr val="1E2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673352"/>
            <a:ext cx="64008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9AA8B8"/>
                </a:solidFill>
                <a:latin typeface="Segoe UI"/>
                <a:ea typeface="Segoe UI"/>
                <a:cs typeface="Segoe UI"/>
              </a:rPr>
              <a:t>Bố cục ô (APTran.xlsx, minh hoạ)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1984248"/>
            <a:ext cx="6446520" cy="31821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#?day + !1.ngay + ?month + !1.thang + ?year + !1.nam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?h_so_phieu          !1.so_ct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?h_dien_giai         ?h_tk          ?h_tien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!2.dien_giai         !2.tk_vt       !2.tien%c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?h_t_tien                                   !1.t_tien%c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!1.t_tt_in_word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?director            ?chiefAccountant       ?preparedBy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?directorName        ?chiefAccountantName   ?preparedByName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1600200"/>
            <a:ext cx="4023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4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?ten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nhãn / biến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4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!1.cot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d1 · </a:t>
            </a:r>
            <a:r>
              <a:rPr sz="14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!2.cot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d2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4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#a + b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ghép ô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4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%c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tiền · </a:t>
            </a:r>
            <a:r>
              <a:rPr sz="14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%l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trái · </a:t>
            </a:r>
            <a:r>
              <a:rPr sz="14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%r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phải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4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#sysorder&gt;1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hiện có điều kiện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4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{b:…}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in đậm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Ô công thức </a:t>
            </a:r>
            <a:r>
              <a:rPr sz="14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5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không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dùng được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486400"/>
            <a:ext cx="676656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5486400"/>
            <a:ext cx="91440" cy="731520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7" y="5541264"/>
            <a:ext cx="644652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Lưu ý: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Ô </a:t>
            </a:r>
            <a:r>
              <a:rPr sz="15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không gắn trường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thì cột không hiện dù procedure đã tính.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FastReport .frx · Excel → FRX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24128"/>
            <a:ext cx="1005840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Buổi 7 · Vẽ mẫu 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00200"/>
            <a:ext cx="6949440" cy="2904997"/>
          </a:xfrm>
          <a:prstGeom prst="roundRect">
            <a:avLst>
              <a:gd name="adj" fmla="val 3000"/>
            </a:avLst>
          </a:prstGeom>
          <a:solidFill>
            <a:srgbClr val="1E2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673352"/>
            <a:ext cx="6583679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9AA8B8"/>
                </a:solidFill>
                <a:latin typeface="Segoe UI"/>
                <a:ea typeface="Segoe UI"/>
                <a:cs typeface="Segoe UI"/>
              </a:rPr>
              <a:t>ISTran_01.frx (mẫu chuẩn kèm Bcode, rút gọn)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1984248"/>
            <a:ext cx="6629400" cy="34564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&lt;TableDataSource Name="d1" TableName="d1"&gt;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 &lt;Column Name="ong_ba" DataType="System.String"/&gt; ...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&lt;TableDataSource Name="d2" TableName="d2"&gt; ...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&lt;Parameter Name="title"/&gt; &lt;Parameter Name="h_so_ct"/&gt;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&lt;Parameter Name="Entity_Line1"/&gt; &lt;Parameter Name="director"/&gt;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&lt;TextObject Text="[Entity_Line1]"/&gt;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&lt;TextObject Text="[d1.ong_ba]"/&gt;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&lt;TextObject Text="[h_dia_chi] [d1.dia_chi]"/&gt;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&lt;DataBand Name="o26" CanGrow="true" DataSource="d2"&gt;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8120" y="1600200"/>
            <a:ext cx="38404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Nguồn </a:t>
            </a:r>
            <a:r>
              <a:rPr sz="15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d1, d2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như xsd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Nhãn = </a:t>
            </a:r>
            <a:r>
              <a:rPr sz="15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Parameter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Ô </a:t>
            </a:r>
            <a:r>
              <a:rPr sz="14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[d1.cot]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· vùng chi tiết </a:t>
            </a:r>
            <a:r>
              <a:rPr sz="15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DataBand d2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Tab </a:t>
            </a:r>
            <a:r>
              <a:rPr sz="15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Excel → FRX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: xem trước PDF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Chuột phải </a:t>
            </a:r>
            <a:r>
              <a:rPr sz="14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.xlsx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/ </a:t>
            </a:r>
            <a:r>
              <a:rPr sz="14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.rpt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→ Chuyển sang .frx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VLOOKUP, Previous… phải khai tay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669280"/>
            <a:ext cx="6949440" cy="594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5669280"/>
            <a:ext cx="91440" cy="594360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7" y="5724144"/>
            <a:ext cx="662940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Lưu ý:</a:t>
            </a:r>
            <a:r>
              <a:rPr sz="14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Convert xong luôn </a:t>
            </a:r>
            <a:r>
              <a:rPr sz="14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xem trước PDF và in thử trên web</a:t>
            </a:r>
            <a:r>
              <a:rPr sz="14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— căn tay phần lệch.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Lỗi hay gặp khi vẽ / chuyển mẫu in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24128"/>
            <a:ext cx="1005840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Buổi 7 · Vẽ mẫu 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00200"/>
          <a:ext cx="10881360" cy="43891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572000"/>
                <a:gridCol w="630936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Hiện tượng</a:t>
                      </a:r>
                    </a:p>
                  </a:txBody>
                  <a:tcPr marL="73152" marR="73152" marT="36576" marB="36576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Nguyên nhân → cách xử lý</a:t>
                      </a:r>
                    </a:p>
                  </a:txBody>
                  <a:tcPr marL="73152" marR="73152" marT="36576" marB="36576" anchor="ctr">
                    <a:solidFill>
                      <a:srgbClr val="1F4E79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In trống / mất ô sau khi sửa query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Chưa cập nhật .rpt → Write Schema; lấy lại </a:t>
                      </a:r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.rpt.bak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Thêm cột procedure mà phiếu không hiện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Ô chưa gắn trường → thêm </a:t>
                      </a:r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!N.cot</a:t>
                      </a:r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 / kéo field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Số thành chữ, kiểu cột sai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Không có </a:t>
                      </a:r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.xsd</a:t>
                      </a:r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 khi vẽ / chuyển → Write Schema trước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Chữ tràn, kẻ cắt chữ, mã bị ngắt dòng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Can Grow (rpt) / AutoShrink (frx), nới ô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Bảng bị co nhỏ khi in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Rộng hơn khổ giấy → giảm cột, khổ ngang, Fit to width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Pivot: tên cột lệch số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Header và dữ liệu sắp khác khoá → cùng khoá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Mở .rpt báo “later version” rồi treo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Lưu bằng runtime mới hơn designer → dùng cùng đời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Thực hành tại lớp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24128"/>
            <a:ext cx="1005840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Buổi 7 · Vẽ mẫu 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2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1.</a:t>
            </a:r>
            <a:r>
              <a:rPr sz="20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Liệt kê mẫu và nhãn trong </a:t>
            </a:r>
            <a:r>
              <a:rPr sz="19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Report\IRTran.xml</a:t>
            </a:r>
            <a:r>
              <a:rPr sz="20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20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2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2.</a:t>
            </a:r>
            <a:r>
              <a:rPr sz="20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Chép mẫu Excel có sẵn, thêm nhãn + cột, khai form mới, in thử.</a:t>
            </a:r>
          </a:p>
          <a:p>
            <a:pPr>
              <a:spcAft>
                <a:spcPts val="1000"/>
              </a:spcAft>
            </a:pPr>
            <a:r>
              <a:rPr sz="20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2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3.</a:t>
            </a:r>
            <a:r>
              <a:rPr sz="20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Write Schema cho query in, xem d1 / d2; Excel → FRX xem trước PDF.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434840"/>
            <a:ext cx="1092708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4434840"/>
            <a:ext cx="91440" cy="6858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4489703"/>
            <a:ext cx="10607040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2E75B6"/>
                </a:solidFill>
                <a:latin typeface="Segoe UI"/>
                <a:ea typeface="Segoe UI"/>
                <a:cs typeface="Segoe UI"/>
              </a:rPr>
              <a:t>Mẹo: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5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Trên database: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Sổ bài tập thực hành — Buổi 7 (FBOSP2422_App / _Sys, chạy </a:t>
            </a:r>
            <a:r>
              <a:rPr sz="14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00_TaoDuLieuMau.sql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trước).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257800"/>
            <a:ext cx="109270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5257800"/>
            <a:ext cx="91440" cy="91440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7" y="5312664"/>
            <a:ext cx="1060704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27AE60"/>
                </a:solidFill>
                <a:latin typeface="Segoe UI"/>
                <a:ea typeface="Segoe UI"/>
                <a:cs typeface="Segoe UI"/>
              </a:rPr>
              <a:t>Bài tập: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6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Về nhà: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Khách muốn thêm “Ghi chú” và “Mã lô” lên phiếu nhập kho: sửa query in, cập nhật mẫu (.rpt hoặc Excel), in thử nhiều dòng.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Tự kiểm tra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24128"/>
            <a:ext cx="1005840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Buổi 7 · Vẽ mẫu 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21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1.</a:t>
            </a:r>
            <a:r>
              <a:rPr sz="21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Mẫu in lấy dữ liệu từ đâu?</a:t>
            </a:r>
          </a:p>
          <a:p>
            <a:pPr>
              <a:spcAft>
                <a:spcPts val="1000"/>
              </a:spcAft>
            </a:pPr>
            <a:r>
              <a:rPr sz="21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21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2.</a:t>
            </a:r>
            <a:r>
              <a:rPr sz="21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20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!2.tien</a:t>
            </a:r>
            <a:r>
              <a:rPr sz="21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trong mẫu Excel là gì?</a:t>
            </a:r>
          </a:p>
          <a:p>
            <a:pPr>
              <a:spcAft>
                <a:spcPts val="1000"/>
              </a:spcAft>
            </a:pPr>
            <a:r>
              <a:rPr sz="21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21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3.</a:t>
            </a:r>
            <a:r>
              <a:rPr sz="21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Sau khi đổi cột của query in mẫu .rpt cần làm gì?</a:t>
            </a:r>
          </a:p>
          <a:p>
            <a:pPr>
              <a:spcAft>
                <a:spcPts val="1000"/>
              </a:spcAft>
            </a:pPr>
            <a:r>
              <a:rPr sz="21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21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4.</a:t>
            </a:r>
            <a:r>
              <a:rPr sz="21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Nhãn song ngữ trên phiếu khai ở đâu?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