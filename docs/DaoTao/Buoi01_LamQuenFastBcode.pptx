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1: Làm quen hệ thống Fast và Bcode (Cơ bản, 3 giờ).</a:t>
            </a:r>
          </a:p>
          <a:p>
            <a:r>
              <a:t>Chuẩn bị: Máy đã cài Bcode, BcodeViewer; có 1 dự án thử (site + database bản sao).</a:t>
            </a:r>
          </a:p>
          <a:p>
            <a:r>
              <a:t>Nhắc lại bài tập về nhà của buổi trước trước khi vào nội dung mới (5–10 phút).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a:t>
            </a:r>
          </a:p>
          <a:p>
            <a:r>
              <a:t>- Biết một hệ thống FBO gồm những lớp nào, source nằm ở đâu</a:t>
            </a:r>
          </a:p>
          <a:p>
            <a:r>
              <a:t>- Hiểu một menu chạy ra sao: wcommand → trang .aspx → Grid / Dir / Lookup</a:t>
            </a:r>
          </a:p>
          <a:p>
            <a:r>
              <a:t>- Phân biệt Sys Data / App Data, bảng danh mục, chứng từ, bảng phân kỳ</a:t>
            </a:r>
          </a:p>
          <a:p>
            <a:r>
              <a:t>- Mở được Bcode, chọn dự án, biết các vùng màn hình chính</a:t>
            </a:r>
          </a:p>
          <a:p>
            <a:r>
              <a:t>Lịch trình:</a:t>
            </a:r>
          </a:p>
          <a:p>
            <a:r>
              <a:t>1. Ba lớp FBO, cấu trúc thư mục source, file .f / .xml (45')</a:t>
            </a:r>
          </a:p>
          <a:p>
            <a:r>
              <a:t>2. Một menu chạy như thế nào, entity (30')</a:t>
            </a:r>
          </a:p>
          <a:p>
            <a:r>
              <a:t>3. Database, menu, bảng danh mục / chứng từ / phân kỳ (45')</a:t>
            </a:r>
          </a:p>
          <a:p>
            <a:r>
              <a:t>4. Bcode: chọn dự án, màn hình chính, Ctrl+P, Ctrl+F1 (30')</a:t>
            </a:r>
          </a:p>
          <a:p>
            <a:r>
              <a:t>5. Thực hành + hỏi đáp (30')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hệ thống FBO có 3 lớp.</a:t>
            </a:r>
          </a:p>
          <a:p>
            <a:r>
              <a:t>Lớp 1: trình duyệt — người dùng chỉ thấy web.</a:t>
            </a:r>
          </a:p>
          <a:p>
            <a:r>
              <a:t>Lớp 2: site trên IIS. Đây là thư mục chứa các trang .aspx trong Main và toàn bộ controller trong App_Data\Controllers. Lập trình viên sửa ở đây.</a:t>
            </a:r>
          </a:p>
          <a:p>
            <a:r>
              <a:t>Lớp 3: SQL Server với 2 database. Sys Data chứa dữ liệu hệ thống như menu, người dùng, phân quyền. App Data chứa dữ liệu nghiệp vụ của khách: danh mục, chứng từ, số dư.</a:t>
            </a:r>
          </a:p>
          <a:p>
            <a:r>
              <a:t>Điều quan trọng: màn hình Fast được khai báo bằng XML (FCode) chứ không lập trình C#. Vì vậy 3 việc chính là controller, procedure, menu.</a:t>
            </a:r>
          </a:p>
          <a:p>
            <a:r>
              <a:t>Trong Bcode, một "dự án" gói đủ server, 2 database, Source Path (đường dẫn site) và link web.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các thư mục cần nhớ. Tất cả controller nằm trong App_Data\Controllers.</a:t>
            </a:r>
          </a:p>
          <a:p>
            <a:r>
              <a:t>Dir là form một bản ghi, Grid là lưới nhiều dòng, Lookup là danh sách tra cứu, Filter là form điều kiện của báo cáo và form import, Report khai báo mẫu in.</a:t>
            </a:r>
          </a:p>
          <a:p>
            <a:r>
              <a:t>Include chứa phần dùng chung được nhúng vào controller bằng entity.</a:t>
            </a:r>
          </a:p>
          <a:p>
            <a:r>
              <a:t>Templates\Excel chứa mẫu Excel của báo cáo — Report gọi bằng templateFile; Templates\Rpt chứa mẫu Crystal Report — gọi bằng reportFile; Templates\Upload là mẫu import.</a:t>
            </a:r>
          </a:p>
          <a:p>
            <a:r>
              <a:t>Số lượng file ở bản FBO mẫu: Dir khoảng 690, Grid 2.250, Filter 2.200, Main khoảng 1.500 trang. Không ai nhớ hết, nên luôn tìm theo menu bằng Bcode (chương 4).</a:t>
            </a:r>
          </a:p>
          <a:p>
            <a:r>
              <a:t>Về đuôi file: .xml là bản nguồn đọc được, .f là bản Fast phát hành (phần lệnh thường bị mã hoá trong &lt;Encrypted&gt;). Khi cùng tên có cả .f và .xml thì file nào được dùng cần kiểm tra ở dự án.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dõi đường đi của một menu: bảng wcommand trong Sys Data có dòng menu, link trỏ tới trang smbp.aspx.</a:t>
            </a:r>
          </a:p>
          <a:p>
            <a:r>
              <a:t>Trang Main\smbp.aspx gần như rỗng, chỉ khai báo Controller="Department".</a:t>
            </a:r>
          </a:p>
          <a:p>
            <a:r>
              <a:t>Fast mở Grid\Department.f — lưới danh sách bộ phận, bảng dmbp. Bấm Thêm / Sửa thì mở Dir\Department.f, cùng bảng, khoá ma_bp.</a:t>
            </a:r>
          </a:p>
          <a:p>
            <a:r>
              <a:t>Ở màn khác có field ma_bp thì tra cứu bằng Lookup\Department.xml. Import Excel dùng Filter\DepartmentImport.f.</a:t>
            </a:r>
          </a:p>
          <a:p>
            <a:r>
              <a:t>Trang báo cáo khác ở chỗ có FilterMode="true".</a:t>
            </a:r>
          </a:p>
          <a:p>
            <a:r>
              <a:t>Trong Bcode, chỉ cần double-click menu trên cây WCommand là ra đủ danh sách file này.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database với vai trò khác nhau. Lỗi kinh điển của người mới: mở SQL Query ở Sys rồi tìm bảng dmkh — bảng này ở App.</a:t>
            </a:r>
          </a:p>
          <a:p>
            <a:r>
              <a:t>Menu: wcommand là cây menu web với wmenu_id (mã menu, ví dụ 09.30.03), wmenu_id0 (menu cha), bar (tên Việt), bar2 (tên Anh), link (trang .aspx), sysid.</a:t>
            </a:r>
          </a:p>
          <a:p>
            <a:r>
              <a:t>command chứa thông tin hệ thống của chức năng theo sysid: syscode, type...</a:t>
            </a:r>
          </a:p>
          <a:p>
            <a:r>
              <a:t>Bcode lưu menu vào cả hai bảng trong một transaction, và có lệnh Gen Script Menu (F12 trên cây WCommand) sinh DELETE + INSERT cho cả hai bảng — dùng cái này thay vì tự viết INSERT.</a:t>
            </a:r>
          </a:p>
          <a:p>
            <a:r>
              <a:t>Tên cột cụ thể của wcommand / command có thể khác giữa phiên bản, nên xem cấu trúc trước.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danh mục là bảng mã – tên. Danh mục chuẩn của Fast đặt tên dm + tên: dmkh khách hàng, dmvt vật tư, dmbp bộ phận, dmtk tài khoản.</a:t>
            </a:r>
          </a:p>
          <a:p>
            <a:r>
              <a:t>Danh mục tự thêm cho dự án: quy ước của Bcode là zdm + chữ cái đầu các từ để không lẫn với bảng chuẩn.</a:t>
            </a:r>
          </a:p>
          <a:p>
            <a:r>
              <a:t>Cột hệ thống bắt buộc nhớ: status, datetime0/user_id0 (tạo), datetime2/user_id2 (sửa). Mẫu danh mục của Bcode gán chúng ở command Inserting và Updated:</a:t>
            </a:r>
          </a:p>
          <a:p>
            <a:r>
              <a:t>select @datetime0 = getdate(), @user_id0 = @@userID...</a:t>
            </a:r>
          </a:p>
          <a:p>
            <a:r>
              <a:t>Thiếu các cột này thì nút Chuẩn Fast của Bcode sẽ cảnh báo.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Chứng từ lưu ở cặp bảng master – detail. Ví dụ phiếu nhập kho: master m74, detail d74, nối bằng stt_rec; chi tiết có thêm line_nbr.</a:t>
            </a:r>
          </a:p>
          <a:p>
            <a:r>
              <a:t>Bảng phân kỳ: dữ liệu tách theo tháng với đuôi $yyyymm. $000000 là bảng mẫu; khi xem bằng Bcode (Table, Command) thì $000000 được gộp UNION ALL tất cả các kỳ.</a:t>
            </a:r>
          </a:p>
          <a:p>
            <a:r>
              <a:t>Bảng dmct9 trong App Data khai cho từng mã chứng từ các tiền tố bảng (cột c$, m$, d$, i$) và trang url. Muốn biết chứng từ dùng bảng nào: SELECT * FROM dmct9 WHERE ma_ct = '...'.</a:t>
            </a:r>
          </a:p>
          <a:p>
            <a:r>
              <a:t>Cảnh báo quan trọng: Fast ghép các kỳ theo vị trí cột, nên mọi kỳ phải cùng cấu trúc và cùng thứ tự cột. Thêm cột phải làm cho mọi kỳ — dùng Gen Add Column của Bcode, sau đó chuột phải ô Table → Check Partitions Struct để kiểm tra.</a:t>
            </a:r>
          </a:p>
          <a:p>
            <a:r>
              <a:t>Ý nghĩa chính xác các tiền tố c, i... khác nhau theo phân hệ — cần kiểm tra ở dự án.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Bcode là ra màn Projects (hoặc Ctrl+Shift+P). Gõ để lọc, Enter hoặc double-click để chọn. Dải Last Access là dự án dùng gần đây.</a:t>
            </a:r>
          </a:p>
          <a:p>
            <a:r>
              <a:t>Dự án mới: + New, khai server, Sys Data, App Data, Source Path (bắt buộc cho File Lookup và Gen Update), Login WLink. Hoặc Ctrl+F5 Synchronize để đồng bộ từ FSG — nhớ bấm Apply / Save.</a:t>
            </a:r>
          </a:p>
          <a:p>
            <a:r>
              <a:t>Ctrl+O chọn dự án khác — nếu cửa sổ đang có tab sẽ mở Bcode mới. Ctrl+Shift+N mở thêm cửa sổ.</a:t>
            </a:r>
          </a:p>
          <a:p>
            <a:r>
              <a:t>Ô WS trên thanh trên chọn database đang làm; Sys / App hoặc Ctrl+1 để đổi; nút ⟳ Refresh database sau khi tạo bảng / procedure mới.</a:t>
            </a:r>
          </a:p>
          <a:p>
            <a:r>
              <a:t>Mật khẩu trong settings.json được mã hoá theo tài khoản Windows — chép sang máy khác phải nhập lại. Không gửi file này cho người khác.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Giới thiệu các vùng: ① Settings, ② Actions (mọi công cụ kèm phím tắt), ③ giỏ script, ④ menu Triển khai, ⑤ Tool mở rộng, ⑥ Trợ giúp, ⑦ ô WS chọn database, ⑧ Sys/App, ⑨ Quick Access, ⑩ thanh công cụ, ⑪ cột icon SQL Object / WCommand / Mobile.</a:t>
            </a:r>
          </a:p>
          <a:p>
            <a:r>
              <a:t>Phím quan trọng nhất: Ctrl+P — Command Palette. Gõ &gt; để tìm công cụ, # để tìm object SQL, @ để tìm menu WCommand, $ để tìm snippet. Quên nút ở đâu thì gõ vào đây.</a:t>
            </a:r>
          </a:p>
          <a:p>
            <a:r>
              <a:t>Ctrl+F1 mở Trợ giúp đúng mục của tab đang dùng.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viên làm trên dự án thử, người hướng dẫn đi kiểm từng máy. Ai xong sớm làm luôn bài tập về nhà.</a:t>
            </a:r>
          </a:p>
          <a:p>
            <a:r>
              <a:t>Bài tập về nhà: Vẽ sơ đồ đường đi của 1 menu danh mục và 1 menu chứng từ bất kỳ (bảng, trang, các file controller).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nhanh cả lớp; đáp án:</a:t>
            </a:r>
          </a:p>
          <a:p>
            <a:r>
              <a:t>1. Sys Data — wcommand (kèm command).</a:t>
            </a:r>
          </a:p>
          <a:p>
            <a:r>
              <a:t>2. Thuộc tính Controller="Department" — cho biết controller nào chạy.</a:t>
            </a:r>
          </a:p>
          <a:p>
            <a:r>
              <a:t>3. Bảng master của phiếu nhập kho, kỳ tháng 01/2026 (bảng phân kỳ).</a:t>
            </a:r>
          </a:p>
          <a:p>
            <a:r>
              <a:t>4. status, datetime0/2, user_id0/2 (tạo / sửa).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79"/>
        </a:solidFill>
        <a:effectLst/>
      </p:bgPr>
    </p:bg>
    <p:spTree>
      <p:nvGrpSpPr>
        <p:cNvPr id="1" name=""/>
        <p:cNvGrpSpPr/>
        <p:nvPr/>
      </p:nvGrpSpPr>
      <p:grpSpPr/>
      <p:sp>
        <p:nvSpPr>
          <p:cNvPr id="2" name="Rectangle 1"/>
          <p:cNvSpPr/>
          <p:nvPr/>
        </p:nvSpPr>
        <p:spPr>
          <a:xfrm>
            <a:off x="0" y="5394960"/>
            <a:ext cx="12191695" cy="1463040"/>
          </a:xfrm>
          <a:prstGeom prst="rect">
            <a:avLst/>
          </a:prstGeom>
          <a:solidFill>
            <a:srgbClr val="173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097280"/>
            <a:ext cx="10058400" cy="548640"/>
          </a:xfrm>
          <a:prstGeom prst="rect">
            <a:avLst/>
          </a:prstGeom>
          <a:noFill/>
        </p:spPr>
        <p:txBody>
          <a:bodyPr wrap="square" anchor="t" lIns="45720" rIns="45720" tIns="27432" bIns="27432">
            <a:spAutoFit/>
          </a:bodyPr>
          <a:lstStyle/>
          <a:p>
            <a:pPr algn="l"/>
            <a:r>
              <a:rPr sz="1800" b="1" i="0">
                <a:solidFill>
                  <a:srgbClr val="F2B705"/>
                </a:solidFill>
                <a:latin typeface="Segoe UI"/>
                <a:ea typeface="Segoe UI"/>
                <a:cs typeface="Segoe UI"/>
              </a:rPr>
              <a:t>BUỔI 1 / 10  ·  CƠ BẢN</a:t>
            </a:r>
          </a:p>
        </p:txBody>
      </p:sp>
      <p:sp>
        <p:nvSpPr>
          <p:cNvPr id="5" name="TextBox 4"/>
          <p:cNvSpPr txBox="1"/>
          <p:nvPr/>
        </p:nvSpPr>
        <p:spPr>
          <a:xfrm>
            <a:off x="777240" y="1554480"/>
            <a:ext cx="10789920" cy="914400"/>
          </a:xfrm>
          <a:prstGeom prst="rect">
            <a:avLst/>
          </a:prstGeom>
          <a:noFill/>
        </p:spPr>
        <p:txBody>
          <a:bodyPr wrap="square" anchor="t" lIns="45720" rIns="45720" tIns="27432" bIns="27432">
            <a:spAutoFit/>
          </a:bodyPr>
          <a:lstStyle/>
          <a:p>
            <a:pPr algn="l"/>
            <a:r>
              <a:rPr sz="2200" b="0" i="0">
                <a:solidFill>
                  <a:srgbClr val="D6E4F0"/>
                </a:solidFill>
                <a:latin typeface="Segoe UI"/>
                <a:ea typeface="Segoe UI"/>
                <a:cs typeface="Segoe UI"/>
              </a:rPr>
              <a:t>FastBusiness Online &amp; Bcode</a:t>
            </a:r>
          </a:p>
        </p:txBody>
      </p:sp>
      <p:sp>
        <p:nvSpPr>
          <p:cNvPr id="6" name="TextBox 5"/>
          <p:cNvSpPr txBox="1"/>
          <p:nvPr/>
        </p:nvSpPr>
        <p:spPr>
          <a:xfrm>
            <a:off x="777240" y="2606040"/>
            <a:ext cx="10789920" cy="2194560"/>
          </a:xfrm>
          <a:prstGeom prst="rect">
            <a:avLst/>
          </a:prstGeom>
          <a:noFill/>
        </p:spPr>
        <p:txBody>
          <a:bodyPr wrap="square" anchor="t" lIns="45720" rIns="45720" tIns="27432" bIns="27432">
            <a:spAutoFit/>
          </a:bodyPr>
          <a:lstStyle/>
          <a:p>
            <a:pPr algn="l"/>
            <a:r>
              <a:rPr sz="4400" b="1" i="0">
                <a:solidFill>
                  <a:srgbClr val="FFFFFF"/>
                </a:solidFill>
                <a:latin typeface="Segoe UI"/>
                <a:ea typeface="Segoe UI"/>
                <a:cs typeface="Segoe UI"/>
              </a:rPr>
              <a:t>Làm quen hệ thống Fast và Bcode</a:t>
            </a:r>
          </a:p>
        </p:txBody>
      </p:sp>
      <p:sp>
        <p:nvSpPr>
          <p:cNvPr id="7" name="TextBox 6"/>
          <p:cNvSpPr txBox="1"/>
          <p:nvPr/>
        </p:nvSpPr>
        <p:spPr>
          <a:xfrm>
            <a:off x="804672" y="5760720"/>
            <a:ext cx="10515600" cy="548640"/>
          </a:xfrm>
          <a:prstGeom prst="rect">
            <a:avLst/>
          </a:prstGeom>
          <a:noFill/>
        </p:spPr>
        <p:txBody>
          <a:bodyPr wrap="square" anchor="t" lIns="45720" rIns="45720" tIns="27432" bIns="27432">
            <a:spAutoFit/>
          </a:bodyPr>
          <a:lstStyle/>
          <a:p>
            <a:pPr algn="l"/>
            <a:r>
              <a:rPr sz="1400" b="0" i="0">
                <a:solidFill>
                  <a:srgbClr val="B8CADB"/>
                </a:solidFill>
                <a:latin typeface="Segoe UI"/>
                <a:ea typeface="Segoe UI"/>
                <a:cs typeface="Segoe UI"/>
              </a:rPr>
              <a:t>Thời lượng 3 giờ · tài liệu chi tiết: DaoTao_Fast_Bcode.docx — Buổi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Mục tiêu và lịch trình</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 · Làm quen hệ thống Fast và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2</a:t>
            </a:r>
          </a:p>
        </p:txBody>
      </p:sp>
      <p:sp>
        <p:nvSpPr>
          <p:cNvPr id="7" name="TextBox 6"/>
          <p:cNvSpPr txBox="1"/>
          <p:nvPr/>
        </p:nvSpPr>
        <p:spPr>
          <a:xfrm>
            <a:off x="640080" y="1325880"/>
            <a:ext cx="5120640" cy="411480"/>
          </a:xfrm>
          <a:prstGeom prst="rect">
            <a:avLst/>
          </a:prstGeom>
          <a:noFill/>
        </p:spPr>
        <p:txBody>
          <a:bodyPr wrap="square" anchor="t" lIns="45720" rIns="45720" tIns="27432" bIns="27432">
            <a:spAutoFit/>
          </a:bodyPr>
          <a:lstStyle/>
          <a:p>
            <a:pPr algn="l"/>
            <a:r>
              <a:rPr sz="1800" b="1" i="0">
                <a:solidFill>
                  <a:srgbClr val="1F4E79"/>
                </a:solidFill>
                <a:latin typeface="Segoe UI"/>
                <a:ea typeface="Segoe UI"/>
                <a:cs typeface="Segoe UI"/>
              </a:rPr>
              <a:t>Học xong buổi này, bạn:</a:t>
            </a:r>
          </a:p>
        </p:txBody>
      </p:sp>
      <p:sp>
        <p:nvSpPr>
          <p:cNvPr id="8" name="TextBox 7"/>
          <p:cNvSpPr txBox="1"/>
          <p:nvPr/>
        </p:nvSpPr>
        <p:spPr>
          <a:xfrm>
            <a:off x="640080" y="1783080"/>
            <a:ext cx="5212080" cy="420624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Biết một hệ thống FBO gồm những lớp nào, source nằm ở đâu</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Hiểu một menu chạy ra sao: wcommand → trang .aspx → Grid / Dir / Lookup</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Phân biệt Sys Data / App Data, bảng danh mục, chứng từ, bảng phân kỳ</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Mở được Bcode, chọn dự án, biết các vùng màn hình chính</a:t>
            </a:r>
          </a:p>
        </p:txBody>
      </p:sp>
      <p:graphicFrame>
        <p:nvGraphicFramePr>
          <p:cNvPr id="9" name="Table 8"/>
          <p:cNvGraphicFramePr>
            <a:graphicFrameLocks noGrp="1"/>
          </p:cNvGraphicFramePr>
          <p:nvPr/>
        </p:nvGraphicFramePr>
        <p:xfrm>
          <a:off x="6126480" y="1371600"/>
          <a:ext cx="5486400" cy="3017520"/>
        </p:xfrm>
        <a:graphic>
          <a:graphicData uri="http://schemas.openxmlformats.org/drawingml/2006/table">
            <a:tbl>
              <a:tblPr firstRow="1" bandRow="1">
                <a:tableStyleId>{5940675A-B579-460E-94D1-54222C63F5DA}</a:tableStyleId>
              </a:tblPr>
              <a:tblGrid>
                <a:gridCol w="457200"/>
                <a:gridCol w="4023360"/>
                <a:gridCol w="1005840"/>
              </a:tblGrid>
              <a:tr h="502920">
                <a:tc>
                  <a:txBody>
                    <a:bodyPr wrap="square"/>
                    <a:lstStyle/>
                    <a:p>
                      <a:r>
                        <a:rPr sz="1400" b="1" i="0">
                          <a:solidFill>
                            <a:srgbClr val="FFFFFF"/>
                          </a:solidFill>
                          <a:latin typeface="Segoe UI"/>
                          <a:ea typeface="Segoe UI"/>
                          <a:cs typeface="Segoe UI"/>
                        </a:rPr>
                        <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Nội dung</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Thời gian</a:t>
                      </a:r>
                    </a:p>
                  </a:txBody>
                  <a:tcPr marL="73152" marR="73152" marT="36576" marB="36576" anchor="ctr">
                    <a:solidFill>
                      <a:srgbClr val="1F4E79"/>
                    </a:solidFill>
                  </a:tcPr>
                </a:tc>
              </a:tr>
              <a:tr h="502920">
                <a:tc>
                  <a:txBody>
                    <a:bodyPr wrap="square"/>
                    <a:lstStyle/>
                    <a:p>
                      <a:r>
                        <a:rPr sz="1400" b="0" i="0">
                          <a:solidFill>
                            <a:srgbClr val="263238"/>
                          </a:solidFill>
                          <a:latin typeface="Segoe UI"/>
                          <a:ea typeface="Segoe UI"/>
                          <a:cs typeface="Segoe UI"/>
                        </a:rPr>
                        <a:t>1</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Ba lớp FBO, cấu trúc thư mục source, file .f / .xml</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45'</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2</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Một menu chạy như thế nào, entity</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30'</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3</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Database, menu, bảng danh mục / chứng từ / phân kỳ</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45'</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4</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Bcode: chọn dự án, màn hình chính, Ctrl+P, Ctrl+F1</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30'</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5</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Thực hành + hỏi đáp</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30'</a:t>
                      </a:r>
                    </a:p>
                  </a:txBody>
                  <a:tcPr marL="73152" marR="73152" marT="36576" marB="36576" anchor="ctr">
                    <a:solidFill>
                      <a:srgbClr val="FFFFFF"/>
                    </a:solidFill>
                  </a:tcPr>
                </a:tc>
              </a:tr>
            </a:tbl>
          </a:graphicData>
        </a:graphic>
      </p:graphicFrame>
      <p:sp>
        <p:nvSpPr>
          <p:cNvPr id="10" name="Rounded Rectangle 9"/>
          <p:cNvSpPr/>
          <p:nvPr/>
        </p:nvSpPr>
        <p:spPr>
          <a:xfrm>
            <a:off x="640080" y="5623560"/>
            <a:ext cx="10927080" cy="64008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5623560"/>
            <a:ext cx="91440" cy="64008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678424"/>
            <a:ext cx="10607040" cy="548640"/>
          </a:xfrm>
          <a:prstGeom prst="rect">
            <a:avLst/>
          </a:prstGeom>
          <a:noFill/>
        </p:spPr>
        <p:txBody>
          <a:bodyPr wrap="square" anchor="ctr" lIns="45720" rIns="45720" tIns="27432" bIns="27432">
            <a:spAutoFit/>
          </a:bodyPr>
          <a:lstStyle/>
          <a:p>
            <a:pPr algn="l"/>
            <a:r>
              <a:rPr sz="1400" b="1" i="0">
                <a:solidFill>
                  <a:srgbClr val="F2B705"/>
                </a:solidFill>
                <a:latin typeface="Segoe UI"/>
                <a:ea typeface="Segoe UI"/>
                <a:cs typeface="Segoe UI"/>
              </a:rPr>
              <a:t>Lưu ý:</a:t>
            </a:r>
            <a:r>
              <a:rPr sz="1400" b="0" i="0">
                <a:solidFill>
                  <a:srgbClr val="263238"/>
                </a:solidFill>
                <a:latin typeface="Segoe UI"/>
                <a:ea typeface="Segoe UI"/>
                <a:cs typeface="Segoe UI"/>
              </a:rPr>
              <a:t> Chuẩn bị: Máy đã cài Bcode, BcodeViewer; có 1 dự án thử (site + database bản sao)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Ba lớp của một hệ thống FBO</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 · Làm quen hệ thống Fast và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3</a:t>
            </a:r>
          </a:p>
        </p:txBody>
      </p:sp>
      <p:sp>
        <p:nvSpPr>
          <p:cNvPr id="7" name="Rounded Rectangle 6"/>
          <p:cNvSpPr/>
          <p:nvPr/>
        </p:nvSpPr>
        <p:spPr>
          <a:xfrm>
            <a:off x="640080" y="1645920"/>
            <a:ext cx="3447287" cy="201168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737360"/>
            <a:ext cx="3300983" cy="905256"/>
          </a:xfrm>
          <a:prstGeom prst="rect">
            <a:avLst/>
          </a:prstGeom>
          <a:noFill/>
        </p:spPr>
        <p:txBody>
          <a:bodyPr wrap="square" anchor="ctr" lIns="45720" rIns="45720" tIns="27432" bIns="27432">
            <a:spAutoFit/>
          </a:bodyPr>
          <a:lstStyle/>
          <a:p>
            <a:pPr algn="ctr"/>
            <a:r>
              <a:rPr sz="2000" b="1" i="0">
                <a:solidFill>
                  <a:srgbClr val="FFFFFF"/>
                </a:solidFill>
                <a:latin typeface="Segoe UI"/>
                <a:ea typeface="Segoe UI"/>
                <a:cs typeface="Segoe UI"/>
              </a:rPr>
              <a:t>Trình duyệt</a:t>
            </a:r>
          </a:p>
        </p:txBody>
      </p:sp>
      <p:sp>
        <p:nvSpPr>
          <p:cNvPr id="9" name="TextBox 8"/>
          <p:cNvSpPr txBox="1"/>
          <p:nvPr/>
        </p:nvSpPr>
        <p:spPr>
          <a:xfrm>
            <a:off x="713231" y="2651760"/>
            <a:ext cx="3300983" cy="965606"/>
          </a:xfrm>
          <a:prstGeom prst="rect">
            <a:avLst/>
          </a:prstGeom>
          <a:noFill/>
        </p:spPr>
        <p:txBody>
          <a:bodyPr wrap="square" anchor="t" lIns="45720" rIns="45720" tIns="27432" bIns="27432">
            <a:spAutoFit/>
          </a:bodyPr>
          <a:lstStyle/>
          <a:p>
            <a:pPr algn="ctr"/>
            <a:r>
              <a:rPr sz="1400" b="0" i="0">
                <a:solidFill>
                  <a:srgbClr val="E3ECF5"/>
                </a:solidFill>
                <a:latin typeface="Segoe UI"/>
                <a:ea typeface="Segoe UI"/>
                <a:cs typeface="Segoe UI"/>
              </a:rPr>
              <a:t>Người dùng đăng nhập theo Login WLink, mở menu</a:t>
            </a:r>
          </a:p>
        </p:txBody>
      </p:sp>
      <p:sp>
        <p:nvSpPr>
          <p:cNvPr id="10" name="Right Arrow 9"/>
          <p:cNvSpPr/>
          <p:nvPr/>
        </p:nvSpPr>
        <p:spPr>
          <a:xfrm>
            <a:off x="4123944" y="253288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79976" y="1645920"/>
            <a:ext cx="3447287" cy="201168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53128" y="1737360"/>
            <a:ext cx="3300983" cy="905256"/>
          </a:xfrm>
          <a:prstGeom prst="rect">
            <a:avLst/>
          </a:prstGeom>
          <a:noFill/>
        </p:spPr>
        <p:txBody>
          <a:bodyPr wrap="square" anchor="ctr" lIns="45720" rIns="45720" tIns="27432" bIns="27432">
            <a:spAutoFit/>
          </a:bodyPr>
          <a:lstStyle/>
          <a:p>
            <a:pPr algn="ctr"/>
            <a:r>
              <a:rPr sz="2000" b="1" i="0">
                <a:solidFill>
                  <a:srgbClr val="FFFFFF"/>
                </a:solidFill>
                <a:latin typeface="Segoe UI"/>
                <a:ea typeface="Segoe UI"/>
                <a:cs typeface="Segoe UI"/>
              </a:rPr>
              <a:t>Site web (IIS)</a:t>
            </a:r>
          </a:p>
        </p:txBody>
      </p:sp>
      <p:sp>
        <p:nvSpPr>
          <p:cNvPr id="13" name="TextBox 12"/>
          <p:cNvSpPr txBox="1"/>
          <p:nvPr/>
        </p:nvSpPr>
        <p:spPr>
          <a:xfrm>
            <a:off x="4453128" y="2651760"/>
            <a:ext cx="3300983" cy="965606"/>
          </a:xfrm>
          <a:prstGeom prst="rect">
            <a:avLst/>
          </a:prstGeom>
          <a:noFill/>
        </p:spPr>
        <p:txBody>
          <a:bodyPr wrap="square" anchor="t" lIns="45720" rIns="45720" tIns="27432" bIns="27432">
            <a:spAutoFit/>
          </a:bodyPr>
          <a:lstStyle/>
          <a:p>
            <a:pPr algn="ctr"/>
            <a:r>
              <a:rPr sz="1400" b="0" i="0">
                <a:solidFill>
                  <a:srgbClr val="E3ECF5"/>
                </a:solidFill>
                <a:latin typeface="Segoe UI"/>
                <a:ea typeface="Segoe UI"/>
                <a:cs typeface="Segoe UI"/>
              </a:rPr>
              <a:t>Main\*.aspx</a:t>
            </a:r>
          </a:p>
          <a:p>
            <a:pPr algn="ctr"/>
            <a:r>
              <a:rPr sz="1400" b="0" i="0">
                <a:solidFill>
                  <a:srgbClr val="E3ECF5"/>
                </a:solidFill>
                <a:latin typeface="Segoe UI"/>
                <a:ea typeface="Segoe UI"/>
                <a:cs typeface="Segoe UI"/>
              </a:rPr>
              <a:t>App_Data\Controllers\…</a:t>
            </a:r>
          </a:p>
          <a:p>
            <a:pPr algn="ctr"/>
            <a:r>
              <a:rPr sz="1400" b="0" i="0">
                <a:solidFill>
                  <a:srgbClr val="E3ECF5"/>
                </a:solidFill>
                <a:latin typeface="Segoe UI"/>
                <a:ea typeface="Segoe UI"/>
                <a:cs typeface="Segoe UI"/>
              </a:rPr>
              <a:t>web.config, bin\</a:t>
            </a:r>
          </a:p>
        </p:txBody>
      </p:sp>
      <p:sp>
        <p:nvSpPr>
          <p:cNvPr id="14" name="Right Arrow 13"/>
          <p:cNvSpPr/>
          <p:nvPr/>
        </p:nvSpPr>
        <p:spPr>
          <a:xfrm>
            <a:off x="7863839" y="253288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119871" y="1645920"/>
            <a:ext cx="3447287" cy="201168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3" y="1737360"/>
            <a:ext cx="3300983" cy="905256"/>
          </a:xfrm>
          <a:prstGeom prst="rect">
            <a:avLst/>
          </a:prstGeom>
          <a:noFill/>
        </p:spPr>
        <p:txBody>
          <a:bodyPr wrap="square" anchor="ctr" lIns="45720" rIns="45720" tIns="27432" bIns="27432">
            <a:spAutoFit/>
          </a:bodyPr>
          <a:lstStyle/>
          <a:p>
            <a:pPr algn="ctr"/>
            <a:r>
              <a:rPr sz="2000" b="1" i="0">
                <a:solidFill>
                  <a:srgbClr val="FFFFFF"/>
                </a:solidFill>
                <a:latin typeface="Segoe UI"/>
                <a:ea typeface="Segoe UI"/>
                <a:cs typeface="Segoe UI"/>
              </a:rPr>
              <a:t>SQL Server</a:t>
            </a:r>
          </a:p>
        </p:txBody>
      </p:sp>
      <p:sp>
        <p:nvSpPr>
          <p:cNvPr id="17" name="TextBox 16"/>
          <p:cNvSpPr txBox="1"/>
          <p:nvPr/>
        </p:nvSpPr>
        <p:spPr>
          <a:xfrm>
            <a:off x="8193023" y="2651760"/>
            <a:ext cx="3300983" cy="965606"/>
          </a:xfrm>
          <a:prstGeom prst="rect">
            <a:avLst/>
          </a:prstGeom>
          <a:noFill/>
        </p:spPr>
        <p:txBody>
          <a:bodyPr wrap="square" anchor="t" lIns="45720" rIns="45720" tIns="27432" bIns="27432">
            <a:spAutoFit/>
          </a:bodyPr>
          <a:lstStyle/>
          <a:p>
            <a:pPr algn="ctr"/>
            <a:r>
              <a:rPr sz="1400" b="0" i="0">
                <a:solidFill>
                  <a:srgbClr val="E3ECF5"/>
                </a:solidFill>
                <a:latin typeface="Segoe UI"/>
                <a:ea typeface="Segoe UI"/>
                <a:cs typeface="Segoe UI"/>
              </a:rPr>
              <a:t>Sys Data: menu, user, quyền</a:t>
            </a:r>
          </a:p>
          <a:p>
            <a:pPr algn="ctr"/>
            <a:r>
              <a:rPr sz="1400" b="0" i="0">
                <a:solidFill>
                  <a:srgbClr val="E3ECF5"/>
                </a:solidFill>
                <a:latin typeface="Segoe UI"/>
                <a:ea typeface="Segoe UI"/>
                <a:cs typeface="Segoe UI"/>
              </a:rPr>
              <a:t>App Data: danh mục, chứng từ</a:t>
            </a:r>
          </a:p>
        </p:txBody>
      </p:sp>
      <p:sp>
        <p:nvSpPr>
          <p:cNvPr id="18" name="TextBox 17"/>
          <p:cNvSpPr txBox="1"/>
          <p:nvPr/>
        </p:nvSpPr>
        <p:spPr>
          <a:xfrm>
            <a:off x="640080" y="4023360"/>
            <a:ext cx="10881360" cy="2103120"/>
          </a:xfrm>
          <a:prstGeom prst="rect">
            <a:avLst/>
          </a:prstGeom>
          <a:noFill/>
        </p:spPr>
        <p:txBody>
          <a:bodyPr wrap="square">
            <a:spAutoFit/>
          </a:bodyPr>
          <a:lstStyle/>
          <a:p>
            <a:pPr>
              <a:spcAft>
                <a:spcPts val="1000"/>
              </a:spcAft>
            </a:pPr>
            <a:r>
              <a:rPr sz="1900" b="1" i="0">
                <a:solidFill>
                  <a:srgbClr val="F2B705"/>
                </a:solidFill>
                <a:latin typeface="Segoe UI"/>
                <a:ea typeface="Segoe UI"/>
                <a:cs typeface="Segoe UI"/>
              </a:rPr>
              <a:t>▪  </a:t>
            </a:r>
            <a:r>
              <a:rPr sz="1900" b="0" i="0">
                <a:solidFill>
                  <a:srgbClr val="263238"/>
                </a:solidFill>
                <a:latin typeface="Segoe UI"/>
                <a:ea typeface="Segoe UI"/>
                <a:cs typeface="Segoe UI"/>
              </a:rPr>
              <a:t>Màn hình </a:t>
            </a:r>
            <a:r>
              <a:rPr sz="1900" b="1" i="0">
                <a:solidFill>
                  <a:srgbClr val="1F4E79"/>
                </a:solidFill>
                <a:latin typeface="Segoe UI"/>
                <a:ea typeface="Segoe UI"/>
                <a:cs typeface="Segoe UI"/>
              </a:rPr>
              <a:t>không viết bằng C#</a:t>
            </a:r>
            <a:r>
              <a:rPr sz="1900" b="0" i="0">
                <a:solidFill>
                  <a:srgbClr val="263238"/>
                </a:solidFill>
                <a:latin typeface="Segoe UI"/>
                <a:ea typeface="Segoe UI"/>
                <a:cs typeface="Segoe UI"/>
              </a:rPr>
              <a:t> mà khai báo bằng file XML gọi là </a:t>
            </a:r>
            <a:r>
              <a:rPr sz="1900" b="1" i="0">
                <a:solidFill>
                  <a:srgbClr val="1F4E79"/>
                </a:solidFill>
                <a:latin typeface="Segoe UI"/>
                <a:ea typeface="Segoe UI"/>
                <a:cs typeface="Segoe UI"/>
              </a:rPr>
              <a:t>controller</a:t>
            </a:r>
            <a:r>
              <a:rPr sz="1900" b="0" i="0">
                <a:solidFill>
                  <a:srgbClr val="263238"/>
                </a:solidFill>
                <a:latin typeface="Segoe UI"/>
                <a:ea typeface="Segoe UI"/>
                <a:cs typeface="Segoe UI"/>
              </a:rPr>
              <a:t> (FCode).</a:t>
            </a:r>
          </a:p>
          <a:p>
            <a:pPr>
              <a:spcAft>
                <a:spcPts val="1000"/>
              </a:spcAft>
            </a:pPr>
            <a:r>
              <a:rPr sz="1900" b="1" i="0">
                <a:solidFill>
                  <a:srgbClr val="F2B705"/>
                </a:solidFill>
                <a:latin typeface="Segoe UI"/>
                <a:ea typeface="Segoe UI"/>
                <a:cs typeface="Segoe UI"/>
              </a:rPr>
              <a:t>▪  </a:t>
            </a:r>
            <a:r>
              <a:rPr sz="1900" b="0" i="0">
                <a:solidFill>
                  <a:srgbClr val="263238"/>
                </a:solidFill>
                <a:latin typeface="Segoe UI"/>
                <a:ea typeface="Segoe UI"/>
                <a:cs typeface="Segoe UI"/>
              </a:rPr>
              <a:t>Việc của lập trình viên triển khai: sửa / thêm </a:t>
            </a:r>
            <a:r>
              <a:rPr sz="1900" b="1" i="0">
                <a:solidFill>
                  <a:srgbClr val="1F4E79"/>
                </a:solidFill>
                <a:latin typeface="Segoe UI"/>
                <a:ea typeface="Segoe UI"/>
                <a:cs typeface="Segoe UI"/>
              </a:rPr>
              <a:t>controller</a:t>
            </a:r>
            <a:r>
              <a:rPr sz="1900" b="0" i="0">
                <a:solidFill>
                  <a:srgbClr val="263238"/>
                </a:solidFill>
                <a:latin typeface="Segoe UI"/>
                <a:ea typeface="Segoe UI"/>
                <a:cs typeface="Segoe UI"/>
              </a:rPr>
              <a:t>, </a:t>
            </a:r>
            <a:r>
              <a:rPr sz="1900" b="1" i="0">
                <a:solidFill>
                  <a:srgbClr val="1F4E79"/>
                </a:solidFill>
                <a:latin typeface="Segoe UI"/>
                <a:ea typeface="Segoe UI"/>
                <a:cs typeface="Segoe UI"/>
              </a:rPr>
              <a:t>procedure SQL</a:t>
            </a:r>
            <a:r>
              <a:rPr sz="1900" b="0" i="0">
                <a:solidFill>
                  <a:srgbClr val="263238"/>
                </a:solidFill>
                <a:latin typeface="Segoe UI"/>
                <a:ea typeface="Segoe UI"/>
                <a:cs typeface="Segoe UI"/>
              </a:rPr>
              <a:t>, </a:t>
            </a:r>
            <a:r>
              <a:rPr sz="1900" b="1" i="0">
                <a:solidFill>
                  <a:srgbClr val="1F4E79"/>
                </a:solidFill>
                <a:latin typeface="Segoe UI"/>
                <a:ea typeface="Segoe UI"/>
                <a:cs typeface="Segoe UI"/>
              </a:rPr>
              <a:t>menu</a:t>
            </a:r>
            <a:r>
              <a:rPr sz="1900" b="0" i="0">
                <a:solidFill>
                  <a:srgbClr val="263238"/>
                </a:solidFill>
                <a:latin typeface="Segoe UI"/>
                <a:ea typeface="Segoe UI"/>
                <a:cs typeface="Segoe UI"/>
              </a:rPr>
              <a:t>.</a:t>
            </a:r>
          </a:p>
          <a:p>
            <a:pPr>
              <a:spcAft>
                <a:spcPts val="1000"/>
              </a:spcAft>
            </a:pPr>
            <a:r>
              <a:rPr sz="1900" b="1" i="0">
                <a:solidFill>
                  <a:srgbClr val="F2B705"/>
                </a:solidFill>
                <a:latin typeface="Segoe UI"/>
                <a:ea typeface="Segoe UI"/>
                <a:cs typeface="Segoe UI"/>
              </a:rPr>
              <a:t>▪  </a:t>
            </a:r>
            <a:r>
              <a:rPr sz="1900" b="0" i="0">
                <a:solidFill>
                  <a:srgbClr val="263238"/>
                </a:solidFill>
                <a:latin typeface="Segoe UI"/>
                <a:ea typeface="Segoe UI"/>
                <a:cs typeface="Segoe UI"/>
              </a:rPr>
              <a:t>Mỗi dự án = 1 site + 2 database riêng → trong Bcode gọi là </a:t>
            </a:r>
            <a:r>
              <a:rPr sz="1900" b="1" i="0">
                <a:solidFill>
                  <a:srgbClr val="1F4E79"/>
                </a:solidFill>
                <a:latin typeface="Segoe UI"/>
                <a:ea typeface="Segoe UI"/>
                <a:cs typeface="Segoe UI"/>
              </a:rPr>
              <a:t>dự án / workspace</a:t>
            </a:r>
            <a:r>
              <a:rPr sz="1900" b="0" i="0">
                <a:solidFill>
                  <a:srgbClr val="263238"/>
                </a:solidFill>
                <a:latin typeface="Segoe UI"/>
                <a:ea typeface="Segoe UI"/>
                <a:cs typeface="Segoe UI"/>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Cấu trúc thư mục source</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 · Làm quen hệ thống Fast và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4</a:t>
            </a:r>
          </a:p>
        </p:txBody>
      </p:sp>
      <p:graphicFrame>
        <p:nvGraphicFramePr>
          <p:cNvPr id="7" name="Table 6"/>
          <p:cNvGraphicFramePr>
            <a:graphicFrameLocks noGrp="1"/>
          </p:cNvGraphicFramePr>
          <p:nvPr/>
        </p:nvGraphicFramePr>
        <p:xfrm>
          <a:off x="640080" y="1600200"/>
          <a:ext cx="10881360" cy="3785616"/>
        </p:xfrm>
        <a:graphic>
          <a:graphicData uri="http://schemas.openxmlformats.org/drawingml/2006/table">
            <a:tbl>
              <a:tblPr firstRow="1" bandRow="1">
                <a:tableStyleId>{5940675A-B579-460E-94D1-54222C63F5DA}</a:tableStyleId>
              </a:tblPr>
              <a:tblGrid>
                <a:gridCol w="4206240"/>
                <a:gridCol w="6675120"/>
              </a:tblGrid>
              <a:tr h="420624">
                <a:tc>
                  <a:txBody>
                    <a:bodyPr wrap="square"/>
                    <a:lstStyle/>
                    <a:p>
                      <a:r>
                        <a:rPr sz="1500" b="1" i="0">
                          <a:solidFill>
                            <a:srgbClr val="FFFFFF"/>
                          </a:solidFill>
                          <a:latin typeface="Segoe UI"/>
                          <a:ea typeface="Segoe UI"/>
                          <a:cs typeface="Segoe UI"/>
                        </a:rPr>
                        <a:t>Thư mục</a:t>
                      </a:r>
                    </a:p>
                  </a:txBody>
                  <a:tcPr marL="73152" marR="73152" marT="36576" marB="36576" anchor="ctr">
                    <a:solidFill>
                      <a:srgbClr val="1F4E79"/>
                    </a:solidFill>
                  </a:tcPr>
                </a:tc>
                <a:tc>
                  <a:txBody>
                    <a:bodyPr wrap="square"/>
                    <a:lstStyle/>
                    <a:p>
                      <a:r>
                        <a:rPr sz="1500" b="1" i="0">
                          <a:solidFill>
                            <a:srgbClr val="FFFFFF"/>
                          </a:solidFill>
                          <a:latin typeface="Segoe UI"/>
                          <a:ea typeface="Segoe UI"/>
                          <a:cs typeface="Segoe UI"/>
                        </a:rPr>
                        <a:t>Chứa gì</a:t>
                      </a:r>
                    </a:p>
                  </a:txBody>
                  <a:tcPr marL="73152" marR="73152" marT="36576" marB="36576" anchor="ctr">
                    <a:solidFill>
                      <a:srgbClr val="1F4E79"/>
                    </a:solidFill>
                  </a:tcPr>
                </a:tc>
              </a:tr>
              <a:tr h="420624">
                <a:tc>
                  <a:txBody>
                    <a:bodyPr wrap="square"/>
                    <a:lstStyle/>
                    <a:p>
                      <a:r>
                        <a:rPr sz="1400" b="0" i="0">
                          <a:solidFill>
                            <a:srgbClr val="B02A2A"/>
                          </a:solidFill>
                          <a:latin typeface="Consolas"/>
                          <a:ea typeface="Consolas"/>
                          <a:cs typeface="Consolas"/>
                        </a:rPr>
                        <a:t>Main\*.aspx</a:t>
                      </a:r>
                    </a:p>
                  </a:txBody>
                  <a:tcPr marL="73152" marR="73152" marT="36576" marB="36576" anchor="ctr">
                    <a:solidFill>
                      <a:srgbClr val="FFFFFF"/>
                    </a:solidFill>
                  </a:tcPr>
                </a:tc>
                <a:tc>
                  <a:txBody>
                    <a:bodyPr wrap="square"/>
                    <a:lstStyle/>
                    <a:p>
                      <a:r>
                        <a:rPr sz="1500" b="0" i="0">
                          <a:solidFill>
                            <a:srgbClr val="263238"/>
                          </a:solidFill>
                          <a:latin typeface="Segoe UI"/>
                          <a:ea typeface="Segoe UI"/>
                          <a:cs typeface="Segoe UI"/>
                        </a:rPr>
                        <a:t>Trang của từng menu — chỉ khai </a:t>
                      </a:r>
                      <a:r>
                        <a:rPr sz="1400" b="0" i="0">
                          <a:solidFill>
                            <a:srgbClr val="B02A2A"/>
                          </a:solidFill>
                          <a:latin typeface="Consolas"/>
                          <a:ea typeface="Consolas"/>
                          <a:cs typeface="Consolas"/>
                        </a:rPr>
                        <a:t>Controller="…"</a:t>
                      </a:r>
                    </a:p>
                  </a:txBody>
                  <a:tcPr marL="73152" marR="73152" marT="36576" marB="36576" anchor="ctr">
                    <a:solidFill>
                      <a:srgbClr val="FFFFFF"/>
                    </a:solidFill>
                  </a:tcPr>
                </a:tc>
              </a:tr>
              <a:tr h="420624">
                <a:tc>
                  <a:txBody>
                    <a:bodyPr wrap="square"/>
                    <a:lstStyle/>
                    <a:p>
                      <a:r>
                        <a:rPr sz="1400" b="0" i="0">
                          <a:solidFill>
                            <a:srgbClr val="B02A2A"/>
                          </a:solidFill>
                          <a:latin typeface="Consolas"/>
                          <a:ea typeface="Consolas"/>
                          <a:cs typeface="Consolas"/>
                        </a:rPr>
                        <a:t>Controllers\Dir</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Form 1 bản ghi: danh mục, chứng từ, form điều kiện</a:t>
                      </a:r>
                    </a:p>
                  </a:txBody>
                  <a:tcPr marL="73152" marR="73152" marT="36576" marB="36576" anchor="ctr">
                    <a:solidFill>
                      <a:srgbClr val="F4F7FB"/>
                    </a:solidFill>
                  </a:tcPr>
                </a:tc>
              </a:tr>
              <a:tr h="420624">
                <a:tc>
                  <a:txBody>
                    <a:bodyPr wrap="square"/>
                    <a:lstStyle/>
                    <a:p>
                      <a:r>
                        <a:rPr sz="1400" b="0" i="0">
                          <a:solidFill>
                            <a:srgbClr val="B02A2A"/>
                          </a:solidFill>
                          <a:latin typeface="Consolas"/>
                          <a:ea typeface="Consolas"/>
                          <a:cs typeface="Consolas"/>
                        </a:rPr>
                        <a:t>Controllers\Grid</a:t>
                      </a:r>
                    </a:p>
                  </a:txBody>
                  <a:tcPr marL="73152" marR="73152" marT="36576" marB="36576" anchor="ctr">
                    <a:solidFill>
                      <a:srgbClr val="FFFFFF"/>
                    </a:solidFill>
                  </a:tcPr>
                </a:tc>
                <a:tc>
                  <a:txBody>
                    <a:bodyPr wrap="square"/>
                    <a:lstStyle/>
                    <a:p>
                      <a:r>
                        <a:rPr sz="1500" b="0" i="0">
                          <a:solidFill>
                            <a:srgbClr val="263238"/>
                          </a:solidFill>
                          <a:latin typeface="Segoe UI"/>
                          <a:ea typeface="Segoe UI"/>
                          <a:cs typeface="Segoe UI"/>
                        </a:rPr>
                        <a:t>Lưới: danh sách, chi tiết chứng từ, kết quả báo cáo</a:t>
                      </a:r>
                    </a:p>
                  </a:txBody>
                  <a:tcPr marL="73152" marR="73152" marT="36576" marB="36576" anchor="ctr">
                    <a:solidFill>
                      <a:srgbClr val="FFFFFF"/>
                    </a:solidFill>
                  </a:tcPr>
                </a:tc>
              </a:tr>
              <a:tr h="420624">
                <a:tc>
                  <a:txBody>
                    <a:bodyPr wrap="square"/>
                    <a:lstStyle/>
                    <a:p>
                      <a:r>
                        <a:rPr sz="1400" b="0" i="0">
                          <a:solidFill>
                            <a:srgbClr val="B02A2A"/>
                          </a:solidFill>
                          <a:latin typeface="Consolas"/>
                          <a:ea typeface="Consolas"/>
                          <a:cs typeface="Consolas"/>
                        </a:rPr>
                        <a:t>Controllers\Lookup</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Danh sách tra cứu khi chọn mã</a:t>
                      </a:r>
                    </a:p>
                  </a:txBody>
                  <a:tcPr marL="73152" marR="73152" marT="36576" marB="36576" anchor="ctr">
                    <a:solidFill>
                      <a:srgbClr val="F4F7FB"/>
                    </a:solidFill>
                  </a:tcPr>
                </a:tc>
              </a:tr>
              <a:tr h="420624">
                <a:tc>
                  <a:txBody>
                    <a:bodyPr wrap="square"/>
                    <a:lstStyle/>
                    <a:p>
                      <a:r>
                        <a:rPr sz="1400" b="0" i="0">
                          <a:solidFill>
                            <a:srgbClr val="B02A2A"/>
                          </a:solidFill>
                          <a:latin typeface="Consolas"/>
                          <a:ea typeface="Consolas"/>
                          <a:cs typeface="Consolas"/>
                        </a:rPr>
                        <a:t>Controllers\Filter</a:t>
                      </a:r>
                    </a:p>
                  </a:txBody>
                  <a:tcPr marL="73152" marR="73152" marT="36576" marB="36576" anchor="ctr">
                    <a:solidFill>
                      <a:srgbClr val="FFFFFF"/>
                    </a:solidFill>
                  </a:tcPr>
                </a:tc>
                <a:tc>
                  <a:txBody>
                    <a:bodyPr wrap="square"/>
                    <a:lstStyle/>
                    <a:p>
                      <a:r>
                        <a:rPr sz="1500" b="0" i="0">
                          <a:solidFill>
                            <a:srgbClr val="263238"/>
                          </a:solidFill>
                          <a:latin typeface="Segoe UI"/>
                          <a:ea typeface="Segoe UI"/>
                          <a:cs typeface="Segoe UI"/>
                        </a:rPr>
                        <a:t>Điều kiện lọc báo cáo, form import / xử lý</a:t>
                      </a:r>
                    </a:p>
                  </a:txBody>
                  <a:tcPr marL="73152" marR="73152" marT="36576" marB="36576" anchor="ctr">
                    <a:solidFill>
                      <a:srgbClr val="FFFFFF"/>
                    </a:solidFill>
                  </a:tcPr>
                </a:tc>
              </a:tr>
              <a:tr h="420624">
                <a:tc>
                  <a:txBody>
                    <a:bodyPr wrap="square"/>
                    <a:lstStyle/>
                    <a:p>
                      <a:r>
                        <a:rPr sz="1400" b="0" i="0">
                          <a:solidFill>
                            <a:srgbClr val="B02A2A"/>
                          </a:solidFill>
                          <a:latin typeface="Consolas"/>
                          <a:ea typeface="Consolas"/>
                          <a:cs typeface="Consolas"/>
                        </a:rPr>
                        <a:t>Controllers\Report</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Khai báo mẫu in / xuất Excel</a:t>
                      </a:r>
                    </a:p>
                  </a:txBody>
                  <a:tcPr marL="73152" marR="73152" marT="36576" marB="36576" anchor="ctr">
                    <a:solidFill>
                      <a:srgbClr val="F4F7FB"/>
                    </a:solidFill>
                  </a:tcPr>
                </a:tc>
              </a:tr>
              <a:tr h="420624">
                <a:tc>
                  <a:txBody>
                    <a:bodyPr wrap="square"/>
                    <a:lstStyle/>
                    <a:p>
                      <a:r>
                        <a:rPr sz="1400" b="0" i="0">
                          <a:solidFill>
                            <a:srgbClr val="B02A2A"/>
                          </a:solidFill>
                          <a:latin typeface="Consolas"/>
                          <a:ea typeface="Consolas"/>
                          <a:cs typeface="Consolas"/>
                        </a:rPr>
                        <a:t>Controllers\Include</a:t>
                      </a:r>
                    </a:p>
                  </a:txBody>
                  <a:tcPr marL="73152" marR="73152" marT="36576" marB="36576" anchor="ctr">
                    <a:solidFill>
                      <a:srgbClr val="FFFFFF"/>
                    </a:solidFill>
                  </a:tcPr>
                </a:tc>
                <a:tc>
                  <a:txBody>
                    <a:bodyPr wrap="square"/>
                    <a:lstStyle/>
                    <a:p>
                      <a:r>
                        <a:rPr sz="1500" b="0" i="0">
                          <a:solidFill>
                            <a:srgbClr val="263238"/>
                          </a:solidFill>
                          <a:latin typeface="Segoe UI"/>
                          <a:ea typeface="Segoe UI"/>
                          <a:cs typeface="Segoe UI"/>
                        </a:rPr>
                        <a:t>Entity, đoạn XML / JavaScript dùng chung</a:t>
                      </a:r>
                    </a:p>
                  </a:txBody>
                  <a:tcPr marL="73152" marR="73152" marT="36576" marB="36576" anchor="ctr">
                    <a:solidFill>
                      <a:srgbClr val="FFFFFF"/>
                    </a:solidFill>
                  </a:tcPr>
                </a:tc>
              </a:tr>
              <a:tr h="420624">
                <a:tc>
                  <a:txBody>
                    <a:bodyPr wrap="square"/>
                    <a:lstStyle/>
                    <a:p>
                      <a:r>
                        <a:rPr sz="1400" b="0" i="0">
                          <a:solidFill>
                            <a:srgbClr val="B02A2A"/>
                          </a:solidFill>
                          <a:latin typeface="Consolas"/>
                          <a:ea typeface="Consolas"/>
                          <a:cs typeface="Consolas"/>
                        </a:rPr>
                        <a:t>Templates\Excel</a:t>
                      </a:r>
                      <a:r>
                        <a:rPr sz="1500" b="0" i="0">
                          <a:solidFill>
                            <a:srgbClr val="263238"/>
                          </a:solidFill>
                          <a:latin typeface="Segoe UI"/>
                          <a:ea typeface="Segoe UI"/>
                          <a:cs typeface="Segoe UI"/>
                        </a:rPr>
                        <a:t> · </a:t>
                      </a:r>
                      <a:r>
                        <a:rPr sz="1400" b="0" i="0">
                          <a:solidFill>
                            <a:srgbClr val="B02A2A"/>
                          </a:solidFill>
                          <a:latin typeface="Consolas"/>
                          <a:ea typeface="Consolas"/>
                          <a:cs typeface="Consolas"/>
                        </a:rPr>
                        <a:t>Rpt</a:t>
                      </a:r>
                      <a:r>
                        <a:rPr sz="1500" b="0" i="0">
                          <a:solidFill>
                            <a:srgbClr val="263238"/>
                          </a:solidFill>
                          <a:latin typeface="Segoe UI"/>
                          <a:ea typeface="Segoe UI"/>
                          <a:cs typeface="Segoe UI"/>
                        </a:rPr>
                        <a:t> · </a:t>
                      </a:r>
                      <a:r>
                        <a:rPr sz="1400" b="0" i="0">
                          <a:solidFill>
                            <a:srgbClr val="B02A2A"/>
                          </a:solidFill>
                          <a:latin typeface="Consolas"/>
                          <a:ea typeface="Consolas"/>
                          <a:cs typeface="Consolas"/>
                        </a:rPr>
                        <a:t>Upload</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Mẫu Excel · Crystal Report · mẫu import</a:t>
                      </a:r>
                    </a:p>
                  </a:txBody>
                  <a:tcPr marL="73152" marR="73152" marT="36576" marB="36576" anchor="ctr">
                    <a:solidFill>
                      <a:srgbClr val="F4F7FB"/>
                    </a:solidFill>
                  </a:tcPr>
                </a:tc>
              </a:tr>
            </a:tbl>
          </a:graphicData>
        </a:graphic>
      </p:graphicFrame>
      <p:sp>
        <p:nvSpPr>
          <p:cNvPr id="8" name="Rounded Rectangle 7"/>
          <p:cNvSpPr/>
          <p:nvPr/>
        </p:nvSpPr>
        <p:spPr>
          <a:xfrm>
            <a:off x="640080" y="5715000"/>
            <a:ext cx="10927080" cy="594360"/>
          </a:xfrm>
          <a:prstGeom prst="roundRect">
            <a:avLst>
              <a:gd name="adj" fmla="val 8000"/>
            </a:avLst>
          </a:prstGeom>
          <a:solidFill>
            <a:srgbClr val="FFFFFF"/>
          </a:solidFill>
          <a:ln w="15875">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5715000"/>
            <a:ext cx="91440" cy="594360"/>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5769864"/>
            <a:ext cx="10607040" cy="502920"/>
          </a:xfrm>
          <a:prstGeom prst="rect">
            <a:avLst/>
          </a:prstGeom>
          <a:noFill/>
        </p:spPr>
        <p:txBody>
          <a:bodyPr wrap="square" anchor="ctr" lIns="45720" rIns="45720" tIns="27432" bIns="27432">
            <a:spAutoFit/>
          </a:bodyPr>
          <a:lstStyle/>
          <a:p>
            <a:pPr algn="l"/>
            <a:r>
              <a:rPr sz="1300" b="1" i="0">
                <a:solidFill>
                  <a:srgbClr val="8E44AD"/>
                </a:solidFill>
                <a:latin typeface="Segoe UI"/>
                <a:ea typeface="Segoe UI"/>
                <a:cs typeface="Segoe UI"/>
              </a:rPr>
              <a:t>Cần kiểm tra ở dự án:</a:t>
            </a:r>
            <a:r>
              <a:rPr sz="1300" b="0" i="0">
                <a:solidFill>
                  <a:srgbClr val="263238"/>
                </a:solidFill>
                <a:latin typeface="Segoe UI"/>
                <a:ea typeface="Segoe UI"/>
                <a:cs typeface="Segoe UI"/>
              </a:rPr>
              <a:t> </a:t>
            </a:r>
            <a:r>
              <a:rPr sz="1200" b="0" i="0">
                <a:solidFill>
                  <a:srgbClr val="B02A2A"/>
                </a:solidFill>
                <a:latin typeface="Consolas"/>
                <a:ea typeface="Consolas"/>
                <a:cs typeface="Consolas"/>
              </a:rPr>
              <a:t>.xml</a:t>
            </a:r>
            <a:r>
              <a:rPr sz="1300" b="0" i="0">
                <a:solidFill>
                  <a:srgbClr val="263238"/>
                </a:solidFill>
                <a:latin typeface="Segoe UI"/>
                <a:ea typeface="Segoe UI"/>
                <a:cs typeface="Segoe UI"/>
              </a:rPr>
              <a:t> = bản nguồn đọc được · </a:t>
            </a:r>
            <a:r>
              <a:rPr sz="1200" b="0" i="0">
                <a:solidFill>
                  <a:srgbClr val="B02A2A"/>
                </a:solidFill>
                <a:latin typeface="Consolas"/>
                <a:ea typeface="Consolas"/>
                <a:cs typeface="Consolas"/>
              </a:rPr>
              <a:t>.f</a:t>
            </a:r>
            <a:r>
              <a:rPr sz="1300" b="0" i="0">
                <a:solidFill>
                  <a:srgbClr val="263238"/>
                </a:solidFill>
                <a:latin typeface="Segoe UI"/>
                <a:ea typeface="Segoe UI"/>
                <a:cs typeface="Segoe UI"/>
              </a:rPr>
              <a:t> = bản phát hành (có thể mã hoá </a:t>
            </a:r>
            <a:r>
              <a:rPr sz="1200" b="0" i="0">
                <a:solidFill>
                  <a:srgbClr val="B02A2A"/>
                </a:solidFill>
                <a:latin typeface="Consolas"/>
                <a:ea typeface="Consolas"/>
                <a:cs typeface="Consolas"/>
              </a:rPr>
              <a:t>&lt;Encrypted&gt;</a:t>
            </a:r>
            <a:r>
              <a:rPr sz="1300" b="0" i="0">
                <a:solidFill>
                  <a:srgbClr val="263238"/>
                </a:solidFill>
                <a:latin typeface="Segoe UI"/>
                <a:ea typeface="Segoe UI"/>
                <a:cs typeface="Segoe UI"/>
              </a:rPr>
              <a:t>). Có cả hai thì file nào chạy — kiểm tra ở dự án.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Một menu chạy như thế nào</a:t>
            </a:r>
          </a:p>
        </p:txBody>
      </p:sp>
      <p:sp>
        <p:nvSpPr>
          <p:cNvPr id="4" name="TextBox 3"/>
          <p:cNvSpPr txBox="1"/>
          <p:nvPr/>
        </p:nvSpPr>
        <p:spPr>
          <a:xfrm>
            <a:off x="566928" y="932688"/>
            <a:ext cx="10972800" cy="411480"/>
          </a:xfrm>
          <a:prstGeom prst="rect">
            <a:avLst/>
          </a:prstGeom>
          <a:noFill/>
        </p:spPr>
        <p:txBody>
          <a:bodyPr wrap="square" anchor="t" lIns="45720" rIns="45720" tIns="27432" bIns="27432">
            <a:spAutoFit/>
          </a:bodyPr>
          <a:lstStyle/>
          <a:p>
            <a:pPr algn="l"/>
            <a:r>
              <a:rPr sz="1500" b="0" i="0">
                <a:solidFill>
                  <a:srgbClr val="6B7785"/>
                </a:solidFill>
                <a:latin typeface="Segoe UI"/>
                <a:ea typeface="Segoe UI"/>
                <a:cs typeface="Segoe UI"/>
              </a:rPr>
              <a:t>Ví dụ thật: Danh mục bộ phận ở FBO mẫu</a:t>
            </a:r>
          </a:p>
        </p:txBody>
      </p:sp>
      <p:sp>
        <p:nvSpPr>
          <p:cNvPr id="5" name="Rectangle 4"/>
          <p:cNvSpPr/>
          <p:nvPr/>
        </p:nvSpPr>
        <p:spPr>
          <a:xfrm>
            <a:off x="566928" y="1353312"/>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 · Làm quen hệ thống Fast và Bcode</a:t>
            </a:r>
          </a:p>
        </p:txBody>
      </p:sp>
      <p:sp>
        <p:nvSpPr>
          <p:cNvPr id="7" name="TextBox 6"/>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5</a:t>
            </a:r>
          </a:p>
        </p:txBody>
      </p:sp>
      <p:sp>
        <p:nvSpPr>
          <p:cNvPr id="8" name="Rounded Rectangle 7"/>
          <p:cNvSpPr/>
          <p:nvPr/>
        </p:nvSpPr>
        <p:spPr>
          <a:xfrm>
            <a:off x="640080" y="1828800"/>
            <a:ext cx="1951329" cy="173736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1" y="1920240"/>
            <a:ext cx="1805025" cy="781812"/>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wcommand</a:t>
            </a:r>
          </a:p>
        </p:txBody>
      </p:sp>
      <p:sp>
        <p:nvSpPr>
          <p:cNvPr id="10" name="TextBox 9"/>
          <p:cNvSpPr txBox="1"/>
          <p:nvPr/>
        </p:nvSpPr>
        <p:spPr>
          <a:xfrm>
            <a:off x="713231" y="2697480"/>
            <a:ext cx="1805025"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link = smbp.aspx</a:t>
            </a:r>
          </a:p>
          <a:p>
            <a:pPr algn="ctr"/>
            <a:r>
              <a:rPr sz="1200" b="0" i="0">
                <a:solidFill>
                  <a:srgbClr val="E3ECF5"/>
                </a:solidFill>
                <a:latin typeface="Segoe UI"/>
                <a:ea typeface="Segoe UI"/>
                <a:cs typeface="Segoe UI"/>
              </a:rPr>
              <a:t>(Sys Data)</a:t>
            </a:r>
          </a:p>
        </p:txBody>
      </p:sp>
      <p:sp>
        <p:nvSpPr>
          <p:cNvPr id="11" name="Right Arrow 10"/>
          <p:cNvSpPr/>
          <p:nvPr/>
        </p:nvSpPr>
        <p:spPr>
          <a:xfrm>
            <a:off x="2627985"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84017" y="1828800"/>
            <a:ext cx="1951329" cy="173736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57169" y="1920240"/>
            <a:ext cx="1805025" cy="781812"/>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Main\smbp.aspx</a:t>
            </a:r>
          </a:p>
        </p:txBody>
      </p:sp>
      <p:sp>
        <p:nvSpPr>
          <p:cNvPr id="14" name="TextBox 13"/>
          <p:cNvSpPr txBox="1"/>
          <p:nvPr/>
        </p:nvSpPr>
        <p:spPr>
          <a:xfrm>
            <a:off x="2957169" y="2697480"/>
            <a:ext cx="1805025"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Controller="Department"</a:t>
            </a:r>
          </a:p>
        </p:txBody>
      </p:sp>
      <p:sp>
        <p:nvSpPr>
          <p:cNvPr id="15" name="Right Arrow 14"/>
          <p:cNvSpPr/>
          <p:nvPr/>
        </p:nvSpPr>
        <p:spPr>
          <a:xfrm>
            <a:off x="4871923"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127955" y="1828800"/>
            <a:ext cx="1951329" cy="173736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01107" y="1920240"/>
            <a:ext cx="1805025" cy="781812"/>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Grid\Department.f</a:t>
            </a:r>
          </a:p>
        </p:txBody>
      </p:sp>
      <p:sp>
        <p:nvSpPr>
          <p:cNvPr id="18" name="TextBox 17"/>
          <p:cNvSpPr txBox="1"/>
          <p:nvPr/>
        </p:nvSpPr>
        <p:spPr>
          <a:xfrm>
            <a:off x="5201107" y="2697480"/>
            <a:ext cx="1805025"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danh sách — bảng dmbp</a:t>
            </a:r>
          </a:p>
        </p:txBody>
      </p:sp>
      <p:sp>
        <p:nvSpPr>
          <p:cNvPr id="19" name="Right Arrow 18"/>
          <p:cNvSpPr/>
          <p:nvPr/>
        </p:nvSpPr>
        <p:spPr>
          <a:xfrm>
            <a:off x="7115860"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71892" y="1828800"/>
            <a:ext cx="1951329" cy="173736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5044" y="1920240"/>
            <a:ext cx="1805025" cy="781812"/>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Dir\Department.f</a:t>
            </a:r>
          </a:p>
        </p:txBody>
      </p:sp>
      <p:sp>
        <p:nvSpPr>
          <p:cNvPr id="22" name="TextBox 21"/>
          <p:cNvSpPr txBox="1"/>
          <p:nvPr/>
        </p:nvSpPr>
        <p:spPr>
          <a:xfrm>
            <a:off x="7445044" y="2697480"/>
            <a:ext cx="1805025"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form thêm / sửa — khoá ma_bp</a:t>
            </a:r>
          </a:p>
        </p:txBody>
      </p:sp>
      <p:sp>
        <p:nvSpPr>
          <p:cNvPr id="23" name="Right Arrow 22"/>
          <p:cNvSpPr/>
          <p:nvPr/>
        </p:nvSpPr>
        <p:spPr>
          <a:xfrm>
            <a:off x="9359798"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615830" y="1828800"/>
            <a:ext cx="1951329" cy="173736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88982" y="1920240"/>
            <a:ext cx="1805025" cy="781812"/>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Lookup\Department.xml</a:t>
            </a:r>
          </a:p>
        </p:txBody>
      </p:sp>
      <p:sp>
        <p:nvSpPr>
          <p:cNvPr id="26" name="TextBox 25"/>
          <p:cNvSpPr txBox="1"/>
          <p:nvPr/>
        </p:nvSpPr>
        <p:spPr>
          <a:xfrm>
            <a:off x="9688982" y="2697480"/>
            <a:ext cx="1805025"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tra cứu từ màn khác</a:t>
            </a:r>
          </a:p>
        </p:txBody>
      </p:sp>
      <p:sp>
        <p:nvSpPr>
          <p:cNvPr id="27" name="Rounded Rectangle 26"/>
          <p:cNvSpPr/>
          <p:nvPr/>
        </p:nvSpPr>
        <p:spPr>
          <a:xfrm>
            <a:off x="640080" y="3931920"/>
            <a:ext cx="10927080" cy="1005840"/>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59" y="4005072"/>
            <a:ext cx="10561319" cy="320040"/>
          </a:xfrm>
          <a:prstGeom prst="rect">
            <a:avLst/>
          </a:prstGeom>
          <a:noFill/>
        </p:spPr>
        <p:txBody>
          <a:bodyPr wrap="square" anchor="t" lIns="45720" rIns="45720" tIns="27432" bIns="27432">
            <a:spAutoFit/>
          </a:bodyPr>
          <a:lstStyle/>
          <a:p>
            <a:pPr algn="l"/>
            <a:r>
              <a:rPr sz="1100" b="1" i="0">
                <a:solidFill>
                  <a:srgbClr val="9AA8B8"/>
                </a:solidFill>
                <a:latin typeface="Segoe UI"/>
                <a:ea typeface="Segoe UI"/>
                <a:cs typeface="Segoe UI"/>
              </a:rPr>
              <a:t>Main\smbp.aspx</a:t>
            </a:r>
          </a:p>
        </p:txBody>
      </p:sp>
      <p:sp>
        <p:nvSpPr>
          <p:cNvPr id="29" name="TextBox 28"/>
          <p:cNvSpPr txBox="1"/>
          <p:nvPr/>
        </p:nvSpPr>
        <p:spPr>
          <a:xfrm>
            <a:off x="822959" y="4315968"/>
            <a:ext cx="10607040" cy="530352"/>
          </a:xfrm>
          <a:prstGeom prst="rect">
            <a:avLst/>
          </a:prstGeom>
          <a:noFill/>
        </p:spPr>
        <p:txBody>
          <a:bodyPr wrap="none">
            <a:spAutoFit/>
          </a:bodyPr>
          <a:lstStyle/>
          <a:p>
            <a:pPr>
              <a:lnSpc>
                <a:spcPct val="100000"/>
              </a:lnSpc>
              <a:spcAft>
                <a:spcPts val="0"/>
              </a:spcAft>
            </a:pPr>
            <a:r>
              <a:rPr sz="1400" b="0" i="0">
                <a:solidFill>
                  <a:srgbClr val="E6E6E6"/>
                </a:solidFill>
                <a:latin typeface="Consolas"/>
                <a:ea typeface="Consolas"/>
                <a:cs typeface="Consolas"/>
              </a:rPr>
              <a:t>&lt;FastBusiness:ReportExtender ID="MainReport" runat="server"</a:t>
            </a:r>
          </a:p>
          <a:p>
            <a:pPr>
              <a:lnSpc>
                <a:spcPct val="100000"/>
              </a:lnSpc>
              <a:spcAft>
                <a:spcPts val="0"/>
              </a:spcAft>
            </a:pPr>
            <a:r>
              <a:rPr sz="1400" b="0" i="0">
                <a:solidFill>
                  <a:srgbClr val="E6E6E6"/>
                </a:solidFill>
                <a:latin typeface="Consolas"/>
                <a:ea typeface="Consolas"/>
                <a:cs typeface="Consolas"/>
              </a:rPr>
              <a:t>    TargetControlID="panelReport" ReadOnly="true" Controller="Department"/&gt;</a:t>
            </a:r>
          </a:p>
        </p:txBody>
      </p:sp>
      <p:sp>
        <p:nvSpPr>
          <p:cNvPr id="30" name="Rounded Rectangle 29"/>
          <p:cNvSpPr/>
          <p:nvPr/>
        </p:nvSpPr>
        <p:spPr>
          <a:xfrm>
            <a:off x="640080" y="5257800"/>
            <a:ext cx="10927080" cy="73152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5257800"/>
            <a:ext cx="91440" cy="73152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7" y="5312664"/>
            <a:ext cx="10607040" cy="640080"/>
          </a:xfrm>
          <a:prstGeom prst="rect">
            <a:avLst/>
          </a:prstGeom>
          <a:noFill/>
        </p:spPr>
        <p:txBody>
          <a:bodyPr wrap="square" anchor="ctr" lIns="45720" rIns="45720" tIns="27432" bIns="27432">
            <a:spAutoFit/>
          </a:bodyPr>
          <a:lstStyle/>
          <a:p>
            <a:pPr algn="l"/>
            <a:r>
              <a:rPr sz="1500" b="1" i="0">
                <a:solidFill>
                  <a:srgbClr val="F2B705"/>
                </a:solidFill>
                <a:latin typeface="Segoe UI"/>
                <a:ea typeface="Segoe UI"/>
                <a:cs typeface="Segoe UI"/>
              </a:rPr>
              <a:t>Lưu ý:</a:t>
            </a:r>
            <a:r>
              <a:rPr sz="1500" b="0" i="0">
                <a:solidFill>
                  <a:srgbClr val="263238"/>
                </a:solidFill>
                <a:latin typeface="Segoe UI"/>
                <a:ea typeface="Segoe UI"/>
                <a:cs typeface="Segoe UI"/>
              </a:rPr>
              <a:t> Trang </a:t>
            </a:r>
            <a:r>
              <a:rPr sz="1500" b="1" i="0">
                <a:solidFill>
                  <a:srgbClr val="1F4E79"/>
                </a:solidFill>
                <a:latin typeface="Segoe UI"/>
                <a:ea typeface="Segoe UI"/>
                <a:cs typeface="Segoe UI"/>
              </a:rPr>
              <a:t>báo cáo</a:t>
            </a:r>
            <a:r>
              <a:rPr sz="1500" b="0" i="0">
                <a:solidFill>
                  <a:srgbClr val="263238"/>
                </a:solidFill>
                <a:latin typeface="Segoe UI"/>
                <a:ea typeface="Segoe UI"/>
                <a:cs typeface="Segoe UI"/>
              </a:rPr>
              <a:t> có thêm </a:t>
            </a:r>
            <a:r>
              <a:rPr sz="1400" b="0" i="0">
                <a:solidFill>
                  <a:srgbClr val="B02A2A"/>
                </a:solidFill>
                <a:latin typeface="Consolas"/>
                <a:ea typeface="Consolas"/>
                <a:cs typeface="Consolas"/>
              </a:rPr>
              <a:t>FilterMode="true"</a:t>
            </a:r>
            <a:r>
              <a:rPr sz="1500" b="0" i="0">
                <a:solidFill>
                  <a:srgbClr val="263238"/>
                </a:solidFill>
                <a:latin typeface="Segoe UI"/>
                <a:ea typeface="Segoe UI"/>
                <a:cs typeface="Segoe UI"/>
              </a:rPr>
              <a:t>: mở form điều kiện (Filter) trước, Nhận mới chạy procedure.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Sys Data, App Data và menu</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 · Làm quen hệ thống Fast và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6</a:t>
            </a:r>
          </a:p>
        </p:txBody>
      </p:sp>
      <p:graphicFrame>
        <p:nvGraphicFramePr>
          <p:cNvPr id="7" name="Table 6"/>
          <p:cNvGraphicFramePr>
            <a:graphicFrameLocks noGrp="1"/>
          </p:cNvGraphicFramePr>
          <p:nvPr/>
        </p:nvGraphicFramePr>
        <p:xfrm>
          <a:off x="640080" y="1600200"/>
          <a:ext cx="10881360" cy="2514600"/>
        </p:xfrm>
        <a:graphic>
          <a:graphicData uri="http://schemas.openxmlformats.org/drawingml/2006/table">
            <a:tbl>
              <a:tblPr firstRow="1" bandRow="1">
                <a:tableStyleId>{5940675A-B579-460E-94D1-54222C63F5DA}</a:tableStyleId>
              </a:tblPr>
              <a:tblGrid>
                <a:gridCol w="2377440"/>
                <a:gridCol w="4297680"/>
                <a:gridCol w="4206240"/>
              </a:tblGrid>
              <a:tr h="502920">
                <a:tc>
                  <a:txBody>
                    <a:bodyPr wrap="square"/>
                    <a:lstStyle/>
                    <a:p>
                      <a:r>
                        <a:rPr sz="1600" b="1" i="0">
                          <a:solidFill>
                            <a:srgbClr val="FFFFFF"/>
                          </a:solidFill>
                          <a:latin typeface="Segoe UI"/>
                          <a:ea typeface="Segoe UI"/>
                          <a:cs typeface="Segoe UI"/>
                        </a:rPr>
                        <a:t/>
                      </a:r>
                    </a:p>
                  </a:txBody>
                  <a:tcPr marL="73152" marR="73152" marT="36576" marB="36576" anchor="ctr">
                    <a:solidFill>
                      <a:srgbClr val="1F4E79"/>
                    </a:solidFill>
                  </a:tcPr>
                </a:tc>
                <a:tc>
                  <a:txBody>
                    <a:bodyPr wrap="square"/>
                    <a:lstStyle/>
                    <a:p>
                      <a:r>
                        <a:rPr sz="1600" b="1" i="0">
                          <a:solidFill>
                            <a:srgbClr val="FFFFFF"/>
                          </a:solidFill>
                          <a:latin typeface="Segoe UI"/>
                          <a:ea typeface="Segoe UI"/>
                          <a:cs typeface="Segoe UI"/>
                        </a:rPr>
                        <a:t>Sys Data</a:t>
                      </a:r>
                    </a:p>
                  </a:txBody>
                  <a:tcPr marL="73152" marR="73152" marT="36576" marB="36576" anchor="ctr">
                    <a:solidFill>
                      <a:srgbClr val="1F4E79"/>
                    </a:solidFill>
                  </a:tcPr>
                </a:tc>
                <a:tc>
                  <a:txBody>
                    <a:bodyPr wrap="square"/>
                    <a:lstStyle/>
                    <a:p>
                      <a:r>
                        <a:rPr sz="1600" b="1" i="0">
                          <a:solidFill>
                            <a:srgbClr val="FFFFFF"/>
                          </a:solidFill>
                          <a:latin typeface="Segoe UI"/>
                          <a:ea typeface="Segoe UI"/>
                          <a:cs typeface="Segoe UI"/>
                        </a:rPr>
                        <a:t>App Data</a:t>
                      </a:r>
                    </a:p>
                  </a:txBody>
                  <a:tcPr marL="73152" marR="73152" marT="36576" marB="36576" anchor="ctr">
                    <a:solidFill>
                      <a:srgbClr val="1F4E79"/>
                    </a:solidFill>
                  </a:tcPr>
                </a:tc>
              </a:tr>
              <a:tr h="502920">
                <a:tc>
                  <a:txBody>
                    <a:bodyPr wrap="square"/>
                    <a:lstStyle/>
                    <a:p>
                      <a:r>
                        <a:rPr sz="1600" b="0" i="0">
                          <a:solidFill>
                            <a:srgbClr val="263238"/>
                          </a:solidFill>
                          <a:latin typeface="Segoe UI"/>
                          <a:ea typeface="Segoe UI"/>
                          <a:cs typeface="Segoe UI"/>
                        </a:rPr>
                        <a:t>Vai trò</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Hệ thống dùng chung</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Nghiệp vụ của khách</a:t>
                      </a:r>
                    </a:p>
                  </a:txBody>
                  <a:tcPr marL="73152" marR="73152" marT="36576" marB="36576" anchor="ctr">
                    <a:solidFill>
                      <a:srgbClr val="FFFFFF"/>
                    </a:solidFill>
                  </a:tcPr>
                </a:tc>
              </a:tr>
              <a:tr h="502920">
                <a:tc>
                  <a:txBody>
                    <a:bodyPr wrap="square"/>
                    <a:lstStyle/>
                    <a:p>
                      <a:r>
                        <a:rPr sz="1600" b="0" i="0">
                          <a:solidFill>
                            <a:srgbClr val="263238"/>
                          </a:solidFill>
                          <a:latin typeface="Segoe UI"/>
                          <a:ea typeface="Segoe UI"/>
                          <a:cs typeface="Segoe UI"/>
                        </a:rPr>
                        <a:t>Bảng hay gặp</a:t>
                      </a:r>
                    </a:p>
                  </a:txBody>
                  <a:tcPr marL="73152" marR="73152" marT="36576" marB="36576" anchor="ctr">
                    <a:solidFill>
                      <a:srgbClr val="F4F7FB"/>
                    </a:solidFill>
                  </a:tcPr>
                </a:tc>
                <a:tc>
                  <a:txBody>
                    <a:bodyPr wrap="square"/>
                    <a:lstStyle/>
                    <a:p>
                      <a:r>
                        <a:rPr sz="1500" b="0" i="0">
                          <a:solidFill>
                            <a:srgbClr val="B02A2A"/>
                          </a:solidFill>
                          <a:latin typeface="Consolas"/>
                          <a:ea typeface="Consolas"/>
                          <a:cs typeface="Consolas"/>
                        </a:rPr>
                        <a:t>wcommand</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command</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dvcommand</a:t>
                      </a:r>
                    </a:p>
                  </a:txBody>
                  <a:tcPr marL="73152" marR="73152" marT="36576" marB="36576" anchor="ctr">
                    <a:solidFill>
                      <a:srgbClr val="F4F7FB"/>
                    </a:solidFill>
                  </a:tcPr>
                </a:tc>
                <a:tc>
                  <a:txBody>
                    <a:bodyPr wrap="square"/>
                    <a:lstStyle/>
                    <a:p>
                      <a:r>
                        <a:rPr sz="1500" b="0" i="0">
                          <a:solidFill>
                            <a:srgbClr val="B02A2A"/>
                          </a:solidFill>
                          <a:latin typeface="Consolas"/>
                          <a:ea typeface="Consolas"/>
                          <a:cs typeface="Consolas"/>
                        </a:rPr>
                        <a:t>dm*</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zdm*</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m*$…</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d*$…</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dmct9</a:t>
                      </a:r>
                    </a:p>
                  </a:txBody>
                  <a:tcPr marL="73152" marR="73152" marT="36576" marB="36576" anchor="ctr">
                    <a:solidFill>
                      <a:srgbClr val="F4F7FB"/>
                    </a:solidFill>
                  </a:tcPr>
                </a:tc>
              </a:tr>
              <a:tr h="502920">
                <a:tc>
                  <a:txBody>
                    <a:bodyPr wrap="square"/>
                    <a:lstStyle/>
                    <a:p>
                      <a:r>
                        <a:rPr sz="1600" b="0" i="0">
                          <a:solidFill>
                            <a:srgbClr val="263238"/>
                          </a:solidFill>
                          <a:latin typeface="Segoe UI"/>
                          <a:ea typeface="Segoe UI"/>
                          <a:cs typeface="Segoe UI"/>
                        </a:rPr>
                        <a:t>Trong controller</a:t>
                      </a:r>
                    </a:p>
                  </a:txBody>
                  <a:tcPr marL="73152" marR="73152" marT="36576" marB="36576" anchor="ctr">
                    <a:solidFill>
                      <a:srgbClr val="FFFFFF"/>
                    </a:solidFill>
                  </a:tcPr>
                </a:tc>
                <a:tc>
                  <a:txBody>
                    <a:bodyPr wrap="square"/>
                    <a:lstStyle/>
                    <a:p>
                      <a:r>
                        <a:rPr sz="1500" b="0" i="0">
                          <a:solidFill>
                            <a:srgbClr val="B02A2A"/>
                          </a:solidFill>
                          <a:latin typeface="Consolas"/>
                          <a:ea typeface="Consolas"/>
                          <a:cs typeface="Consolas"/>
                        </a:rPr>
                        <a:t>@@sysDatabaseName..wcommand</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không cần tiền tố</a:t>
                      </a:r>
                    </a:p>
                  </a:txBody>
                  <a:tcPr marL="73152" marR="73152" marT="36576" marB="36576" anchor="ctr">
                    <a:solidFill>
                      <a:srgbClr val="FFFFFF"/>
                    </a:solidFill>
                  </a:tcPr>
                </a:tc>
              </a:tr>
              <a:tr h="502920">
                <a:tc>
                  <a:txBody>
                    <a:bodyPr wrap="square"/>
                    <a:lstStyle/>
                    <a:p>
                      <a:r>
                        <a:rPr sz="1600" b="0" i="0">
                          <a:solidFill>
                            <a:srgbClr val="263238"/>
                          </a:solidFill>
                          <a:latin typeface="Segoe UI"/>
                          <a:ea typeface="Segoe UI"/>
                          <a:cs typeface="Segoe UI"/>
                        </a:rPr>
                        <a:t>Trong Bcode</a:t>
                      </a:r>
                    </a:p>
                  </a:txBody>
                  <a:tcPr marL="73152" marR="73152" marT="36576" marB="36576" anchor="ctr">
                    <a:solidFill>
                      <a:srgbClr val="F4F7FB"/>
                    </a:solidFill>
                  </a:tcPr>
                </a:tc>
                <a:tc>
                  <a:txBody>
                    <a:bodyPr wrap="square"/>
                    <a:lstStyle/>
                    <a:p>
                      <a:r>
                        <a:rPr sz="1600" b="0" i="0">
                          <a:solidFill>
                            <a:srgbClr val="263238"/>
                          </a:solidFill>
                          <a:latin typeface="Segoe UI"/>
                          <a:ea typeface="Segoe UI"/>
                          <a:cs typeface="Segoe UI"/>
                        </a:rPr>
                        <a:t>nút </a:t>
                      </a:r>
                      <a:r>
                        <a:rPr sz="1600" b="1" i="0">
                          <a:solidFill>
                            <a:srgbClr val="1F4E79"/>
                          </a:solidFill>
                          <a:latin typeface="Segoe UI"/>
                          <a:ea typeface="Segoe UI"/>
                          <a:cs typeface="Segoe UI"/>
                        </a:rPr>
                        <a:t>Sys</a:t>
                      </a:r>
                    </a:p>
                  </a:txBody>
                  <a:tcPr marL="73152" marR="73152" marT="36576" marB="36576" anchor="ctr">
                    <a:solidFill>
                      <a:srgbClr val="F4F7FB"/>
                    </a:solidFill>
                  </a:tcPr>
                </a:tc>
                <a:tc>
                  <a:txBody>
                    <a:bodyPr wrap="square"/>
                    <a:lstStyle/>
                    <a:p>
                      <a:r>
                        <a:rPr sz="1600" b="0" i="0">
                          <a:solidFill>
                            <a:srgbClr val="263238"/>
                          </a:solidFill>
                          <a:latin typeface="Segoe UI"/>
                          <a:ea typeface="Segoe UI"/>
                          <a:cs typeface="Segoe UI"/>
                        </a:rPr>
                        <a:t>nút </a:t>
                      </a:r>
                      <a:r>
                        <a:rPr sz="1600" b="1" i="0">
                          <a:solidFill>
                            <a:srgbClr val="1F4E79"/>
                          </a:solidFill>
                          <a:latin typeface="Segoe UI"/>
                          <a:ea typeface="Segoe UI"/>
                          <a:cs typeface="Segoe UI"/>
                        </a:rPr>
                        <a:t>App</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Ctrl+1</a:t>
                      </a:r>
                      <a:r>
                        <a:rPr sz="1600" b="0" i="0">
                          <a:solidFill>
                            <a:srgbClr val="263238"/>
                          </a:solidFill>
                          <a:latin typeface="Segoe UI"/>
                          <a:ea typeface="Segoe UI"/>
                          <a:cs typeface="Segoe UI"/>
                        </a:rPr>
                        <a:t> đổi)</a:t>
                      </a:r>
                    </a:p>
                  </a:txBody>
                  <a:tcPr marL="73152" marR="73152" marT="36576" marB="36576" anchor="ctr">
                    <a:solidFill>
                      <a:srgbClr val="F4F7FB"/>
                    </a:solidFill>
                  </a:tcPr>
                </a:tc>
              </a:tr>
            </a:tbl>
          </a:graphicData>
        </a:graphic>
      </p:graphicFrame>
      <p:sp>
        <p:nvSpPr>
          <p:cNvPr id="8" name="Rounded Rectangle 7"/>
          <p:cNvSpPr/>
          <p:nvPr/>
        </p:nvSpPr>
        <p:spPr>
          <a:xfrm>
            <a:off x="640080" y="4389120"/>
            <a:ext cx="10927080" cy="109728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389120"/>
            <a:ext cx="91440" cy="109728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443983"/>
            <a:ext cx="10607040" cy="1005839"/>
          </a:xfrm>
          <a:prstGeom prst="rect">
            <a:avLst/>
          </a:prstGeom>
          <a:noFill/>
        </p:spPr>
        <p:txBody>
          <a:bodyPr wrap="square" anchor="ctr" lIns="45720" rIns="45720" tIns="27432" bIns="27432">
            <a:spAutoFit/>
          </a:bodyPr>
          <a:lstStyle/>
          <a:p>
            <a:pPr algn="l"/>
            <a:r>
              <a:rPr sz="1500" b="1" i="0">
                <a:solidFill>
                  <a:srgbClr val="F2B705"/>
                </a:solidFill>
                <a:latin typeface="Segoe UI"/>
                <a:ea typeface="Segoe UI"/>
                <a:cs typeface="Segoe UI"/>
              </a:rPr>
              <a:t>Lưu ý:</a:t>
            </a:r>
            <a:r>
              <a:rPr sz="1500" b="0" i="0">
                <a:solidFill>
                  <a:srgbClr val="263238"/>
                </a:solidFill>
                <a:latin typeface="Segoe UI"/>
                <a:ea typeface="Segoe UI"/>
                <a:cs typeface="Segoe UI"/>
              </a:rPr>
              <a:t> </a:t>
            </a:r>
            <a:r>
              <a:rPr sz="1500" b="1" i="0">
                <a:solidFill>
                  <a:srgbClr val="1F4E79"/>
                </a:solidFill>
                <a:latin typeface="Segoe UI"/>
                <a:ea typeface="Segoe UI"/>
                <a:cs typeface="Segoe UI"/>
              </a:rPr>
              <a:t>wcommand</a:t>
            </a:r>
            <a:r>
              <a:rPr sz="1500" b="0" i="0">
                <a:solidFill>
                  <a:srgbClr val="263238"/>
                </a:solidFill>
                <a:latin typeface="Segoe UI"/>
                <a:ea typeface="Segoe UI"/>
                <a:cs typeface="Segoe UI"/>
              </a:rPr>
              <a:t> = cây menu web (</a:t>
            </a:r>
            <a:r>
              <a:rPr sz="1400" b="0" i="0">
                <a:solidFill>
                  <a:srgbClr val="B02A2A"/>
                </a:solidFill>
                <a:latin typeface="Consolas"/>
                <a:ea typeface="Consolas"/>
                <a:cs typeface="Consolas"/>
              </a:rPr>
              <a:t>wmenu_id</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wmenu_id0</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bar</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bar2</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link</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sysid</a:t>
            </a:r>
            <a:r>
              <a:rPr sz="1500" b="0" i="0">
                <a:solidFill>
                  <a:srgbClr val="263238"/>
                </a:solidFill>
                <a:latin typeface="Segoe UI"/>
                <a:ea typeface="Segoe UI"/>
                <a:cs typeface="Segoe UI"/>
              </a:rPr>
              <a:t>) · </a:t>
            </a:r>
            <a:r>
              <a:rPr sz="1500" b="1" i="0">
                <a:solidFill>
                  <a:srgbClr val="1F4E79"/>
                </a:solidFill>
                <a:latin typeface="Segoe UI"/>
                <a:ea typeface="Segoe UI"/>
                <a:cs typeface="Segoe UI"/>
              </a:rPr>
              <a:t>command</a:t>
            </a:r>
            <a:r>
              <a:rPr sz="1500" b="0" i="0">
                <a:solidFill>
                  <a:srgbClr val="263238"/>
                </a:solidFill>
                <a:latin typeface="Segoe UI"/>
                <a:ea typeface="Segoe UI"/>
                <a:cs typeface="Segoe UI"/>
              </a:rPr>
              <a:t> = thông tin chức năng theo </a:t>
            </a:r>
            <a:r>
              <a:rPr sz="1400" b="0" i="0">
                <a:solidFill>
                  <a:srgbClr val="B02A2A"/>
                </a:solidFill>
                <a:latin typeface="Consolas"/>
                <a:ea typeface="Consolas"/>
                <a:cs typeface="Consolas"/>
              </a:rPr>
              <a:t>sysid</a:t>
            </a:r>
            <a:r>
              <a:rPr sz="1500" b="0" i="0">
                <a:solidFill>
                  <a:srgbClr val="263238"/>
                </a:solidFill>
                <a:latin typeface="Segoe UI"/>
                <a:ea typeface="Segoe UI"/>
                <a:cs typeface="Segoe UI"/>
              </a:rPr>
              <a:t>. Script menu: dùng </a:t>
            </a:r>
            <a:r>
              <a:rPr sz="1500" b="1" i="0">
                <a:solidFill>
                  <a:srgbClr val="1F4E79"/>
                </a:solidFill>
                <a:latin typeface="Segoe UI"/>
                <a:ea typeface="Segoe UI"/>
                <a:cs typeface="Segoe UI"/>
              </a:rPr>
              <a:t>Gen Script Menu</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F12</a:t>
            </a:r>
            <a:r>
              <a:rPr sz="1500" b="0" i="0">
                <a:solidFill>
                  <a:srgbClr val="263238"/>
                </a:solidFill>
                <a:latin typeface="Segoe UI"/>
                <a:ea typeface="Segoe UI"/>
                <a:cs typeface="Segoe UI"/>
              </a:rPr>
              <a:t> trên cây WCommand).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Bảng danh mục và cột hệ thống</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 · Làm quen hệ thống Fast và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7</a:t>
            </a:r>
          </a:p>
        </p:txBody>
      </p:sp>
      <p:graphicFrame>
        <p:nvGraphicFramePr>
          <p:cNvPr id="7" name="Table 6"/>
          <p:cNvGraphicFramePr>
            <a:graphicFrameLocks noGrp="1"/>
          </p:cNvGraphicFramePr>
          <p:nvPr/>
        </p:nvGraphicFramePr>
        <p:xfrm>
          <a:off x="640080" y="1600200"/>
          <a:ext cx="10881360" cy="3840480"/>
        </p:xfrm>
        <a:graphic>
          <a:graphicData uri="http://schemas.openxmlformats.org/drawingml/2006/table">
            <a:tbl>
              <a:tblPr firstRow="1" bandRow="1">
                <a:tableStyleId>{5940675A-B579-460E-94D1-54222C63F5DA}</a:tableStyleId>
              </a:tblPr>
              <a:tblGrid>
                <a:gridCol w="3566160"/>
                <a:gridCol w="4023360"/>
                <a:gridCol w="3291840"/>
              </a:tblGrid>
              <a:tr h="548640">
                <a:tc>
                  <a:txBody>
                    <a:bodyPr wrap="square"/>
                    <a:lstStyle/>
                    <a:p>
                      <a:r>
                        <a:rPr sz="1500" b="1" i="0">
                          <a:solidFill>
                            <a:srgbClr val="FFFFFF"/>
                          </a:solidFill>
                          <a:latin typeface="Segoe UI"/>
                          <a:ea typeface="Segoe UI"/>
                          <a:cs typeface="Segoe UI"/>
                        </a:rPr>
                        <a:t>Quy ước</a:t>
                      </a:r>
                    </a:p>
                  </a:txBody>
                  <a:tcPr marL="73152" marR="73152" marT="36576" marB="36576" anchor="ctr">
                    <a:solidFill>
                      <a:srgbClr val="1F4E79"/>
                    </a:solidFill>
                  </a:tcPr>
                </a:tc>
                <a:tc>
                  <a:txBody>
                    <a:bodyPr wrap="square"/>
                    <a:lstStyle/>
                    <a:p>
                      <a:r>
                        <a:rPr sz="1500" b="1" i="0">
                          <a:solidFill>
                            <a:srgbClr val="FFFFFF"/>
                          </a:solidFill>
                          <a:latin typeface="Segoe UI"/>
                          <a:ea typeface="Segoe UI"/>
                          <a:cs typeface="Segoe UI"/>
                        </a:rPr>
                        <a:t>Ý nghĩa</a:t>
                      </a:r>
                    </a:p>
                  </a:txBody>
                  <a:tcPr marL="73152" marR="73152" marT="36576" marB="36576" anchor="ctr">
                    <a:solidFill>
                      <a:srgbClr val="1F4E79"/>
                    </a:solidFill>
                  </a:tcPr>
                </a:tc>
                <a:tc>
                  <a:txBody>
                    <a:bodyPr wrap="square"/>
                    <a:lstStyle/>
                    <a:p>
                      <a:r>
                        <a:rPr sz="1500" b="1" i="0">
                          <a:solidFill>
                            <a:srgbClr val="FFFFFF"/>
                          </a:solidFill>
                          <a:latin typeface="Segoe UI"/>
                          <a:ea typeface="Segoe UI"/>
                          <a:cs typeface="Segoe UI"/>
                        </a:rPr>
                        <a:t>Ví dụ</a:t>
                      </a:r>
                    </a:p>
                  </a:txBody>
                  <a:tcPr marL="73152" marR="73152" marT="36576" marB="36576" anchor="ctr">
                    <a:solidFill>
                      <a:srgbClr val="1F4E79"/>
                    </a:solidFill>
                  </a:tcPr>
                </a:tc>
              </a:tr>
              <a:tr h="548640">
                <a:tc>
                  <a:txBody>
                    <a:bodyPr wrap="square"/>
                    <a:lstStyle/>
                    <a:p>
                      <a:r>
                        <a:rPr sz="1400" b="0" i="0">
                          <a:solidFill>
                            <a:srgbClr val="B02A2A"/>
                          </a:solidFill>
                          <a:latin typeface="Consolas"/>
                          <a:ea typeface="Consolas"/>
                          <a:cs typeface="Consolas"/>
                        </a:rPr>
                        <a:t>dm</a:t>
                      </a:r>
                      <a:r>
                        <a:rPr sz="1500" b="0" i="0">
                          <a:solidFill>
                            <a:srgbClr val="263238"/>
                          </a:solidFill>
                          <a:latin typeface="Segoe UI"/>
                          <a:ea typeface="Segoe UI"/>
                          <a:cs typeface="Segoe UI"/>
                        </a:rPr>
                        <a:t> + tên</a:t>
                      </a:r>
                    </a:p>
                  </a:txBody>
                  <a:tcPr marL="73152" marR="73152" marT="36576" marB="36576" anchor="ctr">
                    <a:solidFill>
                      <a:srgbClr val="FFFFFF"/>
                    </a:solidFill>
                  </a:tcPr>
                </a:tc>
                <a:tc>
                  <a:txBody>
                    <a:bodyPr wrap="square"/>
                    <a:lstStyle/>
                    <a:p>
                      <a:r>
                        <a:rPr sz="1500" b="0" i="0">
                          <a:solidFill>
                            <a:srgbClr val="263238"/>
                          </a:solidFill>
                          <a:latin typeface="Segoe UI"/>
                          <a:ea typeface="Segoe UI"/>
                          <a:cs typeface="Segoe UI"/>
                        </a:rPr>
                        <a:t>Danh mục chuẩn Fast</a:t>
                      </a:r>
                    </a:p>
                  </a:txBody>
                  <a:tcPr marL="73152" marR="73152" marT="36576" marB="36576" anchor="ctr">
                    <a:solidFill>
                      <a:srgbClr val="FFFFFF"/>
                    </a:solidFill>
                  </a:tcPr>
                </a:tc>
                <a:tc>
                  <a:txBody>
                    <a:bodyPr wrap="square"/>
                    <a:lstStyle/>
                    <a:p>
                      <a:r>
                        <a:rPr sz="1400" b="0" i="0">
                          <a:solidFill>
                            <a:srgbClr val="B02A2A"/>
                          </a:solidFill>
                          <a:latin typeface="Consolas"/>
                          <a:ea typeface="Consolas"/>
                          <a:cs typeface="Consolas"/>
                        </a:rPr>
                        <a:t>dmkh</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dmvt</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dmbp</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dmtk</a:t>
                      </a:r>
                    </a:p>
                  </a:txBody>
                  <a:tcPr marL="73152" marR="73152" marT="36576" marB="36576" anchor="ctr">
                    <a:solidFill>
                      <a:srgbClr val="FFFFFF"/>
                    </a:solidFill>
                  </a:tcPr>
                </a:tc>
              </a:tr>
              <a:tr h="548640">
                <a:tc>
                  <a:txBody>
                    <a:bodyPr wrap="square"/>
                    <a:lstStyle/>
                    <a:p>
                      <a:r>
                        <a:rPr sz="1400" b="0" i="0">
                          <a:solidFill>
                            <a:srgbClr val="B02A2A"/>
                          </a:solidFill>
                          <a:latin typeface="Consolas"/>
                          <a:ea typeface="Consolas"/>
                          <a:cs typeface="Consolas"/>
                        </a:rPr>
                        <a:t>zdm</a:t>
                      </a:r>
                      <a:r>
                        <a:rPr sz="1500" b="0" i="0">
                          <a:solidFill>
                            <a:srgbClr val="263238"/>
                          </a:solidFill>
                          <a:latin typeface="Segoe UI"/>
                          <a:ea typeface="Segoe UI"/>
                          <a:cs typeface="Segoe UI"/>
                        </a:rPr>
                        <a:t> + chữ đầu</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Danh mục </a:t>
                      </a:r>
                      <a:r>
                        <a:rPr sz="1500" b="1" i="0">
                          <a:solidFill>
                            <a:srgbClr val="1F4E79"/>
                          </a:solidFill>
                          <a:latin typeface="Segoe UI"/>
                          <a:ea typeface="Segoe UI"/>
                          <a:cs typeface="Segoe UI"/>
                        </a:rPr>
                        <a:t>tự thêm</a:t>
                      </a:r>
                      <a:r>
                        <a:rPr sz="1500" b="0" i="0">
                          <a:solidFill>
                            <a:srgbClr val="263238"/>
                          </a:solidFill>
                          <a:latin typeface="Segoe UI"/>
                          <a:ea typeface="Segoe UI"/>
                          <a:cs typeface="Segoe UI"/>
                        </a:rPr>
                        <a:t> (quy ước Bcode)</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Hình thức bán hàng → </a:t>
                      </a:r>
                      <a:r>
                        <a:rPr sz="1400" b="0" i="0">
                          <a:solidFill>
                            <a:srgbClr val="B02A2A"/>
                          </a:solidFill>
                          <a:latin typeface="Consolas"/>
                          <a:ea typeface="Consolas"/>
                          <a:cs typeface="Consolas"/>
                        </a:rPr>
                        <a:t>zdmhtbh</a:t>
                      </a:r>
                    </a:p>
                  </a:txBody>
                  <a:tcPr marL="73152" marR="73152" marT="36576" marB="36576" anchor="ctr">
                    <a:solidFill>
                      <a:srgbClr val="F4F7FB"/>
                    </a:solidFill>
                  </a:tcPr>
                </a:tc>
              </a:tr>
              <a:tr h="548640">
                <a:tc>
                  <a:txBody>
                    <a:bodyPr wrap="square"/>
                    <a:lstStyle/>
                    <a:p>
                      <a:r>
                        <a:rPr sz="1400" b="0" i="0">
                          <a:solidFill>
                            <a:srgbClr val="B02A2A"/>
                          </a:solidFill>
                          <a:latin typeface="Consolas"/>
                          <a:ea typeface="Consolas"/>
                          <a:cs typeface="Consolas"/>
                        </a:rPr>
                        <a:t>ma_xxx</a:t>
                      </a:r>
                      <a:r>
                        <a:rPr sz="1500" b="0" i="0">
                          <a:solidFill>
                            <a:srgbClr val="263238"/>
                          </a:solidFill>
                          <a:latin typeface="Segoe UI"/>
                          <a:ea typeface="Segoe UI"/>
                          <a:cs typeface="Segoe UI"/>
                        </a:rPr>
                        <a:t> · </a:t>
                      </a:r>
                      <a:r>
                        <a:rPr sz="1400" b="0" i="0">
                          <a:solidFill>
                            <a:srgbClr val="B02A2A"/>
                          </a:solidFill>
                          <a:latin typeface="Consolas"/>
                          <a:ea typeface="Consolas"/>
                          <a:cs typeface="Consolas"/>
                        </a:rPr>
                        <a:t>ten_xxx</a:t>
                      </a:r>
                      <a:r>
                        <a:rPr sz="1500" b="0" i="0">
                          <a:solidFill>
                            <a:srgbClr val="263238"/>
                          </a:solidFill>
                          <a:latin typeface="Segoe UI"/>
                          <a:ea typeface="Segoe UI"/>
                          <a:cs typeface="Segoe UI"/>
                        </a:rPr>
                        <a:t> · </a:t>
                      </a:r>
                      <a:r>
                        <a:rPr sz="1400" b="0" i="0">
                          <a:solidFill>
                            <a:srgbClr val="B02A2A"/>
                          </a:solidFill>
                          <a:latin typeface="Consolas"/>
                          <a:ea typeface="Consolas"/>
                          <a:cs typeface="Consolas"/>
                        </a:rPr>
                        <a:t>ten_xxx2</a:t>
                      </a:r>
                    </a:p>
                  </a:txBody>
                  <a:tcPr marL="73152" marR="73152" marT="36576" marB="36576" anchor="ctr">
                    <a:solidFill>
                      <a:srgbClr val="FFFFFF"/>
                    </a:solidFill>
                  </a:tcPr>
                </a:tc>
                <a:tc>
                  <a:txBody>
                    <a:bodyPr wrap="square"/>
                    <a:lstStyle/>
                    <a:p>
                      <a:r>
                        <a:rPr sz="1500" b="0" i="0">
                          <a:solidFill>
                            <a:srgbClr val="263238"/>
                          </a:solidFill>
                          <a:latin typeface="Segoe UI"/>
                          <a:ea typeface="Segoe UI"/>
                          <a:cs typeface="Segoe UI"/>
                        </a:rPr>
                        <a:t>Mã varchar · tên nvarchar · tên khác</a:t>
                      </a:r>
                    </a:p>
                  </a:txBody>
                  <a:tcPr marL="73152" marR="73152" marT="36576" marB="36576" anchor="ctr">
                    <a:solidFill>
                      <a:srgbClr val="FFFFFF"/>
                    </a:solidFill>
                  </a:tcPr>
                </a:tc>
                <a:tc>
                  <a:txBody>
                    <a:bodyPr wrap="square"/>
                    <a:lstStyle/>
                    <a:p>
                      <a:r>
                        <a:rPr sz="1400" b="0" i="0">
                          <a:solidFill>
                            <a:srgbClr val="B02A2A"/>
                          </a:solidFill>
                          <a:latin typeface="Consolas"/>
                          <a:ea typeface="Consolas"/>
                          <a:cs typeface="Consolas"/>
                        </a:rPr>
                        <a:t>ma_htbh</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ten_htbh</a:t>
                      </a:r>
                    </a:p>
                  </a:txBody>
                  <a:tcPr marL="73152" marR="73152" marT="36576" marB="36576" anchor="ctr">
                    <a:solidFill>
                      <a:srgbClr val="FFFFFF"/>
                    </a:solidFill>
                  </a:tcPr>
                </a:tc>
              </a:tr>
              <a:tr h="548640">
                <a:tc>
                  <a:txBody>
                    <a:bodyPr wrap="square"/>
                    <a:lstStyle/>
                    <a:p>
                      <a:r>
                        <a:rPr sz="1400" b="0" i="0">
                          <a:solidFill>
                            <a:srgbClr val="B02A2A"/>
                          </a:solidFill>
                          <a:latin typeface="Consolas"/>
                          <a:ea typeface="Consolas"/>
                          <a:cs typeface="Consolas"/>
                        </a:rPr>
                        <a:t>status</a:t>
                      </a:r>
                    </a:p>
                  </a:txBody>
                  <a:tcPr marL="73152" marR="73152" marT="36576" marB="36576" anchor="ctr">
                    <a:solidFill>
                      <a:srgbClr val="F4F7FB"/>
                    </a:solidFill>
                  </a:tcPr>
                </a:tc>
                <a:tc>
                  <a:txBody>
                    <a:bodyPr wrap="square"/>
                    <a:lstStyle/>
                    <a:p>
                      <a:r>
                        <a:rPr sz="1400" b="0" i="0">
                          <a:solidFill>
                            <a:srgbClr val="B02A2A"/>
                          </a:solidFill>
                          <a:latin typeface="Consolas"/>
                          <a:ea typeface="Consolas"/>
                          <a:cs typeface="Consolas"/>
                        </a:rPr>
                        <a:t>'1'</a:t>
                      </a:r>
                      <a:r>
                        <a:rPr sz="1500" b="0" i="0">
                          <a:solidFill>
                            <a:srgbClr val="263238"/>
                          </a:solidFill>
                          <a:latin typeface="Segoe UI"/>
                          <a:ea typeface="Segoe UI"/>
                          <a:cs typeface="Segoe UI"/>
                        </a:rPr>
                        <a:t> còn dùng · </a:t>
                      </a:r>
                      <a:r>
                        <a:rPr sz="1400" b="0" i="0">
                          <a:solidFill>
                            <a:srgbClr val="B02A2A"/>
                          </a:solidFill>
                          <a:latin typeface="Consolas"/>
                          <a:ea typeface="Consolas"/>
                          <a:cs typeface="Consolas"/>
                        </a:rPr>
                        <a:t>'0'</a:t>
                      </a:r>
                      <a:r>
                        <a:rPr sz="1500" b="0" i="0">
                          <a:solidFill>
                            <a:srgbClr val="263238"/>
                          </a:solidFill>
                          <a:latin typeface="Segoe UI"/>
                          <a:ea typeface="Segoe UI"/>
                          <a:cs typeface="Segoe UI"/>
                        </a:rPr>
                        <a:t> không dùng</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Lookup lọc </a:t>
                      </a:r>
                      <a:r>
                        <a:rPr sz="1400" b="0" i="0">
                          <a:solidFill>
                            <a:srgbClr val="B02A2A"/>
                          </a:solidFill>
                          <a:latin typeface="Consolas"/>
                          <a:ea typeface="Consolas"/>
                          <a:cs typeface="Consolas"/>
                        </a:rPr>
                        <a:t>status = '1'</a:t>
                      </a:r>
                    </a:p>
                  </a:txBody>
                  <a:tcPr marL="73152" marR="73152" marT="36576" marB="36576" anchor="ctr">
                    <a:solidFill>
                      <a:srgbClr val="F4F7FB"/>
                    </a:solidFill>
                  </a:tcPr>
                </a:tc>
              </a:tr>
              <a:tr h="548640">
                <a:tc>
                  <a:txBody>
                    <a:bodyPr wrap="square"/>
                    <a:lstStyle/>
                    <a:p>
                      <a:r>
                        <a:rPr sz="1400" b="0" i="0">
                          <a:solidFill>
                            <a:srgbClr val="B02A2A"/>
                          </a:solidFill>
                          <a:latin typeface="Consolas"/>
                          <a:ea typeface="Consolas"/>
                          <a:cs typeface="Consolas"/>
                        </a:rPr>
                        <a:t>datetime0</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user_id0</a:t>
                      </a:r>
                    </a:p>
                  </a:txBody>
                  <a:tcPr marL="73152" marR="73152" marT="36576" marB="36576" anchor="ctr">
                    <a:solidFill>
                      <a:srgbClr val="FFFFFF"/>
                    </a:solidFill>
                  </a:tcPr>
                </a:tc>
                <a:tc>
                  <a:txBody>
                    <a:bodyPr wrap="square"/>
                    <a:lstStyle/>
                    <a:p>
                      <a:r>
                        <a:rPr sz="1500" b="0" i="0">
                          <a:solidFill>
                            <a:srgbClr val="263238"/>
                          </a:solidFill>
                          <a:latin typeface="Segoe UI"/>
                          <a:ea typeface="Segoe UI"/>
                          <a:cs typeface="Segoe UI"/>
                        </a:rPr>
                        <a:t>Ngày / người </a:t>
                      </a:r>
                      <a:r>
                        <a:rPr sz="1500" b="1" i="0">
                          <a:solidFill>
                            <a:srgbClr val="1F4E79"/>
                          </a:solidFill>
                          <a:latin typeface="Segoe UI"/>
                          <a:ea typeface="Segoe UI"/>
                          <a:cs typeface="Segoe UI"/>
                        </a:rPr>
                        <a:t>tạo</a:t>
                      </a:r>
                    </a:p>
                  </a:txBody>
                  <a:tcPr marL="73152" marR="73152" marT="36576" marB="36576" anchor="ctr">
                    <a:solidFill>
                      <a:srgbClr val="FFFFFF"/>
                    </a:solidFill>
                  </a:tcPr>
                </a:tc>
                <a:tc>
                  <a:txBody>
                    <a:bodyPr wrap="square"/>
                    <a:lstStyle/>
                    <a:p>
                      <a:r>
                        <a:rPr sz="1500" b="0" i="0">
                          <a:solidFill>
                            <a:srgbClr val="263238"/>
                          </a:solidFill>
                          <a:latin typeface="Segoe UI"/>
                          <a:ea typeface="Segoe UI"/>
                          <a:cs typeface="Segoe UI"/>
                        </a:rPr>
                        <a:t>gán ở </a:t>
                      </a:r>
                      <a:r>
                        <a:rPr sz="1400" b="0" i="0">
                          <a:solidFill>
                            <a:srgbClr val="B02A2A"/>
                          </a:solidFill>
                          <a:latin typeface="Consolas"/>
                          <a:ea typeface="Consolas"/>
                          <a:cs typeface="Consolas"/>
                        </a:rPr>
                        <a:t>Inserting</a:t>
                      </a:r>
                    </a:p>
                  </a:txBody>
                  <a:tcPr marL="73152" marR="73152" marT="36576" marB="36576" anchor="ctr">
                    <a:solidFill>
                      <a:srgbClr val="FFFFFF"/>
                    </a:solidFill>
                  </a:tcPr>
                </a:tc>
              </a:tr>
              <a:tr h="548640">
                <a:tc>
                  <a:txBody>
                    <a:bodyPr wrap="square"/>
                    <a:lstStyle/>
                    <a:p>
                      <a:r>
                        <a:rPr sz="1400" b="0" i="0">
                          <a:solidFill>
                            <a:srgbClr val="B02A2A"/>
                          </a:solidFill>
                          <a:latin typeface="Consolas"/>
                          <a:ea typeface="Consolas"/>
                          <a:cs typeface="Consolas"/>
                        </a:rPr>
                        <a:t>datetime2</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user_id2</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Ngày / người </a:t>
                      </a:r>
                      <a:r>
                        <a:rPr sz="1500" b="1" i="0">
                          <a:solidFill>
                            <a:srgbClr val="1F4E79"/>
                          </a:solidFill>
                          <a:latin typeface="Segoe UI"/>
                          <a:ea typeface="Segoe UI"/>
                          <a:cs typeface="Segoe UI"/>
                        </a:rPr>
                        <a:t>sửa</a:t>
                      </a:r>
                      <a:r>
                        <a:rPr sz="1500" b="0" i="0">
                          <a:solidFill>
                            <a:srgbClr val="263238"/>
                          </a:solidFill>
                          <a:latin typeface="Segoe UI"/>
                          <a:ea typeface="Segoe UI"/>
                          <a:cs typeface="Segoe UI"/>
                        </a:rPr>
                        <a:t> cuối</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gán ở </a:t>
                      </a:r>
                      <a:r>
                        <a:rPr sz="1400" b="0" i="0">
                          <a:solidFill>
                            <a:srgbClr val="B02A2A"/>
                          </a:solidFill>
                          <a:latin typeface="Consolas"/>
                          <a:ea typeface="Consolas"/>
                          <a:cs typeface="Consolas"/>
                        </a:rPr>
                        <a:t>Updated</a:t>
                      </a:r>
                    </a:p>
                  </a:txBody>
                  <a:tcPr marL="73152" marR="73152" marT="36576" marB="36576" anchor="ctr">
                    <a:solidFill>
                      <a:srgbClr val="F4F7FB"/>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Chứng từ và bảng phân kỳ</a:t>
            </a:r>
          </a:p>
        </p:txBody>
      </p:sp>
      <p:sp>
        <p:nvSpPr>
          <p:cNvPr id="4" name="TextBox 3"/>
          <p:cNvSpPr txBox="1"/>
          <p:nvPr/>
        </p:nvSpPr>
        <p:spPr>
          <a:xfrm>
            <a:off x="566928" y="932688"/>
            <a:ext cx="10972800" cy="411480"/>
          </a:xfrm>
          <a:prstGeom prst="rect">
            <a:avLst/>
          </a:prstGeom>
          <a:noFill/>
        </p:spPr>
        <p:txBody>
          <a:bodyPr wrap="square" anchor="t" lIns="45720" rIns="45720" tIns="27432" bIns="27432">
            <a:spAutoFit/>
          </a:bodyPr>
          <a:lstStyle/>
          <a:p>
            <a:pPr algn="l"/>
            <a:r>
              <a:rPr sz="1500" b="0" i="0">
                <a:solidFill>
                  <a:srgbClr val="6B7785"/>
                </a:solidFill>
                <a:latin typeface="Segoe UI"/>
                <a:ea typeface="Segoe UI"/>
                <a:cs typeface="Segoe UI"/>
              </a:rPr>
              <a:t>Ví dụ: Phiếu nhập kho — Dir\IRTran.f, trang inctpnd.aspx</a:t>
            </a:r>
          </a:p>
        </p:txBody>
      </p:sp>
      <p:sp>
        <p:nvSpPr>
          <p:cNvPr id="5" name="Rectangle 4"/>
          <p:cNvSpPr/>
          <p:nvPr/>
        </p:nvSpPr>
        <p:spPr>
          <a:xfrm>
            <a:off x="566928" y="1353312"/>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 · Làm quen hệ thống Fast và Bcode</a:t>
            </a:r>
          </a:p>
        </p:txBody>
      </p:sp>
      <p:sp>
        <p:nvSpPr>
          <p:cNvPr id="7" name="TextBox 6"/>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8</a:t>
            </a:r>
          </a:p>
        </p:txBody>
      </p:sp>
      <p:sp>
        <p:nvSpPr>
          <p:cNvPr id="8" name="Rounded Rectangle 7"/>
          <p:cNvSpPr/>
          <p:nvPr/>
        </p:nvSpPr>
        <p:spPr>
          <a:xfrm>
            <a:off x="640080" y="1783080"/>
            <a:ext cx="2512313" cy="155448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1" y="1874519"/>
            <a:ext cx="2366009" cy="699516"/>
          </a:xfrm>
          <a:prstGeom prst="rect">
            <a:avLst/>
          </a:prstGeom>
          <a:noFill/>
        </p:spPr>
        <p:txBody>
          <a:bodyPr wrap="square" anchor="ctr" lIns="45720" rIns="45720" tIns="27432" bIns="27432">
            <a:spAutoFit/>
          </a:bodyPr>
          <a:lstStyle/>
          <a:p>
            <a:pPr algn="ctr"/>
            <a:r>
              <a:rPr sz="1700" b="1" i="0">
                <a:solidFill>
                  <a:srgbClr val="FFFFFF"/>
                </a:solidFill>
                <a:latin typeface="Segoe UI"/>
                <a:ea typeface="Segoe UI"/>
                <a:cs typeface="Segoe UI"/>
              </a:rPr>
              <a:t>m74$yyyymm</a:t>
            </a:r>
          </a:p>
        </p:txBody>
      </p:sp>
      <p:sp>
        <p:nvSpPr>
          <p:cNvPr id="10" name="TextBox 9"/>
          <p:cNvSpPr txBox="1"/>
          <p:nvPr/>
        </p:nvSpPr>
        <p:spPr>
          <a:xfrm>
            <a:off x="713231" y="2560320"/>
            <a:ext cx="2366009" cy="746150"/>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master — đầu phiếu</a:t>
            </a:r>
          </a:p>
          <a:p>
            <a:pPr algn="ctr"/>
            <a:r>
              <a:rPr sz="1300" b="0" i="0">
                <a:solidFill>
                  <a:srgbClr val="E3ECF5"/>
                </a:solidFill>
                <a:latin typeface="Segoe UI"/>
                <a:ea typeface="Segoe UI"/>
                <a:cs typeface="Segoe UI"/>
              </a:rPr>
              <a:t>khoá stt_rec</a:t>
            </a:r>
          </a:p>
        </p:txBody>
      </p:sp>
      <p:sp>
        <p:nvSpPr>
          <p:cNvPr id="11" name="Right Arrow 10"/>
          <p:cNvSpPr/>
          <p:nvPr/>
        </p:nvSpPr>
        <p:spPr>
          <a:xfrm>
            <a:off x="3188970" y="24414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45001" y="1783080"/>
            <a:ext cx="2512313" cy="155448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8153" y="1874519"/>
            <a:ext cx="2366009" cy="699516"/>
          </a:xfrm>
          <a:prstGeom prst="rect">
            <a:avLst/>
          </a:prstGeom>
          <a:noFill/>
        </p:spPr>
        <p:txBody>
          <a:bodyPr wrap="square" anchor="ctr" lIns="45720" rIns="45720" tIns="27432" bIns="27432">
            <a:spAutoFit/>
          </a:bodyPr>
          <a:lstStyle/>
          <a:p>
            <a:pPr algn="ctr"/>
            <a:r>
              <a:rPr sz="1700" b="1" i="0">
                <a:solidFill>
                  <a:srgbClr val="FFFFFF"/>
                </a:solidFill>
                <a:latin typeface="Segoe UI"/>
                <a:ea typeface="Segoe UI"/>
                <a:cs typeface="Segoe UI"/>
              </a:rPr>
              <a:t>d74$yyyymm</a:t>
            </a:r>
          </a:p>
        </p:txBody>
      </p:sp>
      <p:sp>
        <p:nvSpPr>
          <p:cNvPr id="14" name="TextBox 13"/>
          <p:cNvSpPr txBox="1"/>
          <p:nvPr/>
        </p:nvSpPr>
        <p:spPr>
          <a:xfrm>
            <a:off x="3518153" y="2560320"/>
            <a:ext cx="2366009" cy="746150"/>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detail — chi tiết</a:t>
            </a:r>
          </a:p>
          <a:p>
            <a:pPr algn="ctr"/>
            <a:r>
              <a:rPr sz="1300" b="0" i="0">
                <a:solidFill>
                  <a:srgbClr val="E3ECF5"/>
                </a:solidFill>
                <a:latin typeface="Segoe UI"/>
                <a:ea typeface="Segoe UI"/>
                <a:cs typeface="Segoe UI"/>
              </a:rPr>
              <a:t>stt_rec + line_nbr</a:t>
            </a:r>
          </a:p>
        </p:txBody>
      </p:sp>
      <p:sp>
        <p:nvSpPr>
          <p:cNvPr id="15" name="Right Arrow 14"/>
          <p:cNvSpPr/>
          <p:nvPr/>
        </p:nvSpPr>
        <p:spPr>
          <a:xfrm>
            <a:off x="5993891" y="24414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49923" y="1783080"/>
            <a:ext cx="2512313" cy="155448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3075" y="1874519"/>
            <a:ext cx="2366009" cy="699516"/>
          </a:xfrm>
          <a:prstGeom prst="rect">
            <a:avLst/>
          </a:prstGeom>
          <a:noFill/>
        </p:spPr>
        <p:txBody>
          <a:bodyPr wrap="square" anchor="ctr" lIns="45720" rIns="45720" tIns="27432" bIns="27432">
            <a:spAutoFit/>
          </a:bodyPr>
          <a:lstStyle/>
          <a:p>
            <a:pPr algn="ctr"/>
            <a:r>
              <a:rPr sz="1700" b="1" i="0">
                <a:solidFill>
                  <a:srgbClr val="FFFFFF"/>
                </a:solidFill>
                <a:latin typeface="Segoe UI"/>
                <a:ea typeface="Segoe UI"/>
                <a:cs typeface="Segoe UI"/>
              </a:rPr>
              <a:t>m74$000000</a:t>
            </a:r>
          </a:p>
        </p:txBody>
      </p:sp>
      <p:sp>
        <p:nvSpPr>
          <p:cNvPr id="18" name="TextBox 17"/>
          <p:cNvSpPr txBox="1"/>
          <p:nvPr/>
        </p:nvSpPr>
        <p:spPr>
          <a:xfrm>
            <a:off x="6323075" y="2560320"/>
            <a:ext cx="2366009" cy="746150"/>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bảng mẫu / gộp các kỳ</a:t>
            </a:r>
          </a:p>
        </p:txBody>
      </p:sp>
      <p:sp>
        <p:nvSpPr>
          <p:cNvPr id="19" name="Right Arrow 18"/>
          <p:cNvSpPr/>
          <p:nvPr/>
        </p:nvSpPr>
        <p:spPr>
          <a:xfrm>
            <a:off x="8798813" y="24414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054845" y="1783080"/>
            <a:ext cx="2512313" cy="155448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7997" y="1874519"/>
            <a:ext cx="2366009" cy="699516"/>
          </a:xfrm>
          <a:prstGeom prst="rect">
            <a:avLst/>
          </a:prstGeom>
          <a:noFill/>
        </p:spPr>
        <p:txBody>
          <a:bodyPr wrap="square" anchor="ctr" lIns="45720" rIns="45720" tIns="27432" bIns="27432">
            <a:spAutoFit/>
          </a:bodyPr>
          <a:lstStyle/>
          <a:p>
            <a:pPr algn="ctr"/>
            <a:r>
              <a:rPr sz="1700" b="1" i="0">
                <a:solidFill>
                  <a:srgbClr val="FFFFFF"/>
                </a:solidFill>
                <a:latin typeface="Segoe UI"/>
                <a:ea typeface="Segoe UI"/>
                <a:cs typeface="Segoe UI"/>
              </a:rPr>
              <a:t>dmct9</a:t>
            </a:r>
          </a:p>
        </p:txBody>
      </p:sp>
      <p:sp>
        <p:nvSpPr>
          <p:cNvPr id="22" name="TextBox 21"/>
          <p:cNvSpPr txBox="1"/>
          <p:nvPr/>
        </p:nvSpPr>
        <p:spPr>
          <a:xfrm>
            <a:off x="9127997" y="2560320"/>
            <a:ext cx="2366009" cy="746150"/>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khai bảng của từng ma_ct</a:t>
            </a:r>
          </a:p>
        </p:txBody>
      </p:sp>
      <p:sp>
        <p:nvSpPr>
          <p:cNvPr id="23" name="TextBox 22"/>
          <p:cNvSpPr txBox="1"/>
          <p:nvPr/>
        </p:nvSpPr>
        <p:spPr>
          <a:xfrm>
            <a:off x="640080" y="3611880"/>
            <a:ext cx="10881360" cy="164592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Dữ liệu tách theo </a:t>
            </a:r>
            <a:r>
              <a:rPr sz="1700" b="1" i="0">
                <a:solidFill>
                  <a:srgbClr val="1F4E79"/>
                </a:solidFill>
                <a:latin typeface="Segoe UI"/>
                <a:ea typeface="Segoe UI"/>
                <a:cs typeface="Segoe UI"/>
              </a:rPr>
              <a:t>tháng</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m74$202601</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m74$202602</a:t>
            </a:r>
            <a:r>
              <a:rPr sz="1700" b="0" i="0">
                <a:solidFill>
                  <a:srgbClr val="263238"/>
                </a:solidFill>
                <a:latin typeface="Segoe UI"/>
                <a:ea typeface="Segoe UI"/>
                <a:cs typeface="Segoe UI"/>
              </a:rPr>
              <a:t>…; bảng </a:t>
            </a:r>
            <a:r>
              <a:rPr sz="1600" b="0" i="0">
                <a:solidFill>
                  <a:srgbClr val="B02A2A"/>
                </a:solidFill>
                <a:latin typeface="Consolas"/>
                <a:ea typeface="Consolas"/>
                <a:cs typeface="Consolas"/>
              </a:rPr>
              <a:t>$000000</a:t>
            </a:r>
            <a:r>
              <a:rPr sz="1700" b="0" i="0">
                <a:solidFill>
                  <a:srgbClr val="263238"/>
                </a:solidFill>
                <a:latin typeface="Segoe UI"/>
                <a:ea typeface="Segoe UI"/>
                <a:cs typeface="Segoe UI"/>
              </a:rPr>
              <a:t> là bảng mẫu; có thêm </a:t>
            </a:r>
            <a:r>
              <a:rPr sz="1600" b="0" i="0">
                <a:solidFill>
                  <a:srgbClr val="B02A2A"/>
                </a:solidFill>
                <a:latin typeface="Consolas"/>
                <a:ea typeface="Consolas"/>
                <a:cs typeface="Consolas"/>
              </a:rPr>
              <a:t>$log</a:t>
            </a:r>
            <a:r>
              <a:rPr sz="1700" b="0" i="0">
                <a:solidFill>
                  <a:srgbClr val="263238"/>
                </a:solidFill>
                <a:latin typeface="Segoe UI"/>
                <a:ea typeface="Segoe UI"/>
                <a:cs typeface="Segoe UI"/>
              </a:rPr>
              <a:t>.</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Master – detail nối bằng </a:t>
            </a:r>
            <a:r>
              <a:rPr sz="1600" b="0" i="0">
                <a:solidFill>
                  <a:srgbClr val="B02A2A"/>
                </a:solidFill>
                <a:latin typeface="Consolas"/>
                <a:ea typeface="Consolas"/>
                <a:cs typeface="Consolas"/>
              </a:rPr>
              <a:t>stt_rec</a:t>
            </a:r>
            <a:r>
              <a:rPr sz="1700" b="0" i="0">
                <a:solidFill>
                  <a:srgbClr val="263238"/>
                </a:solidFill>
                <a:latin typeface="Segoe UI"/>
                <a:ea typeface="Segoe UI"/>
                <a:cs typeface="Segoe UI"/>
              </a:rPr>
              <a:t>. Cột hay gặp: </a:t>
            </a:r>
            <a:r>
              <a:rPr sz="1600" b="0" i="0">
                <a:solidFill>
                  <a:srgbClr val="B02A2A"/>
                </a:solidFill>
                <a:latin typeface="Consolas"/>
                <a:ea typeface="Consolas"/>
                <a:cs typeface="Consolas"/>
              </a:rPr>
              <a:t>ma_ct</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so_ct</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ngay_ct</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ma_kh</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t_tien</a:t>
            </a:r>
            <a:r>
              <a:rPr sz="1700" b="0" i="0">
                <a:solidFill>
                  <a:srgbClr val="263238"/>
                </a:solidFill>
                <a:latin typeface="Segoe UI"/>
                <a:ea typeface="Segoe UI"/>
                <a:cs typeface="Segoe UI"/>
              </a:rPr>
              <a:t> · </a:t>
            </a:r>
            <a:r>
              <a:rPr sz="1600" b="0" i="0">
                <a:solidFill>
                  <a:srgbClr val="B02A2A"/>
                </a:solidFill>
                <a:latin typeface="Consolas"/>
                <a:ea typeface="Consolas"/>
                <a:cs typeface="Consolas"/>
              </a:rPr>
              <a:t>ma_vt</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ma_kho</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so_luong</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tien</a:t>
            </a:r>
            <a:r>
              <a:rPr sz="1700" b="0" i="0">
                <a:solidFill>
                  <a:srgbClr val="263238"/>
                </a:solidFill>
                <a:latin typeface="Segoe UI"/>
                <a:ea typeface="Segoe UI"/>
                <a:cs typeface="Segoe UI"/>
              </a:rPr>
              <a:t>.</a:t>
            </a:r>
          </a:p>
        </p:txBody>
      </p:sp>
      <p:sp>
        <p:nvSpPr>
          <p:cNvPr id="24" name="Rounded Rectangle 23"/>
          <p:cNvSpPr/>
          <p:nvPr/>
        </p:nvSpPr>
        <p:spPr>
          <a:xfrm>
            <a:off x="640080" y="5349240"/>
            <a:ext cx="10927080" cy="822960"/>
          </a:xfrm>
          <a:prstGeom prst="roundRect">
            <a:avLst>
              <a:gd name="adj" fmla="val 8000"/>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5349240"/>
            <a:ext cx="91440" cy="8229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7" y="5404103"/>
            <a:ext cx="10607040" cy="731520"/>
          </a:xfrm>
          <a:prstGeom prst="rect">
            <a:avLst/>
          </a:prstGeom>
          <a:noFill/>
        </p:spPr>
        <p:txBody>
          <a:bodyPr wrap="square" anchor="ctr" lIns="45720" rIns="45720" tIns="27432" bIns="27432">
            <a:spAutoFit/>
          </a:bodyPr>
          <a:lstStyle/>
          <a:p>
            <a:pPr algn="l"/>
            <a:r>
              <a:rPr sz="1500" b="1" i="0">
                <a:solidFill>
                  <a:srgbClr val="C0392B"/>
                </a:solidFill>
                <a:latin typeface="Segoe UI"/>
                <a:ea typeface="Segoe UI"/>
                <a:cs typeface="Segoe UI"/>
              </a:rPr>
              <a:t>Cảnh báo:</a:t>
            </a:r>
            <a:r>
              <a:rPr sz="1500" b="0" i="0">
                <a:solidFill>
                  <a:srgbClr val="263238"/>
                </a:solidFill>
                <a:latin typeface="Segoe UI"/>
                <a:ea typeface="Segoe UI"/>
                <a:cs typeface="Segoe UI"/>
              </a:rPr>
              <a:t> Mọi kỳ phải </a:t>
            </a:r>
            <a:r>
              <a:rPr sz="1500" b="1" i="0">
                <a:solidFill>
                  <a:srgbClr val="1F4E79"/>
                </a:solidFill>
                <a:latin typeface="Segoe UI"/>
                <a:ea typeface="Segoe UI"/>
                <a:cs typeface="Segoe UI"/>
              </a:rPr>
              <a:t>giống hệt cấu trúc và thứ tự cột</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$000000</a:t>
            </a:r>
            <a:r>
              <a:rPr sz="1500" b="0" i="0">
                <a:solidFill>
                  <a:srgbClr val="263238"/>
                </a:solidFill>
                <a:latin typeface="Segoe UI"/>
                <a:ea typeface="Segoe UI"/>
                <a:cs typeface="Segoe UI"/>
              </a:rPr>
              <a:t>. Thêm cột → </a:t>
            </a:r>
            <a:r>
              <a:rPr sz="1500" b="1" i="0">
                <a:solidFill>
                  <a:srgbClr val="1F4E79"/>
                </a:solidFill>
                <a:latin typeface="Segoe UI"/>
                <a:ea typeface="Segoe UI"/>
                <a:cs typeface="Segoe UI"/>
              </a:rPr>
              <a:t>Gen Add Column</a:t>
            </a:r>
            <a:r>
              <a:rPr sz="1500" b="0" i="0">
                <a:solidFill>
                  <a:srgbClr val="263238"/>
                </a:solidFill>
                <a:latin typeface="Segoe UI"/>
                <a:ea typeface="Segoe UI"/>
                <a:cs typeface="Segoe UI"/>
              </a:rPr>
              <a:t> (chạy cho mọi kỳ) rồi </a:t>
            </a:r>
            <a:r>
              <a:rPr sz="1500" b="1" i="0">
                <a:solidFill>
                  <a:srgbClr val="1F4E79"/>
                </a:solidFill>
                <a:latin typeface="Segoe UI"/>
                <a:ea typeface="Segoe UI"/>
                <a:cs typeface="Segoe UI"/>
              </a:rPr>
              <a:t>Check Partitions Struct</a:t>
            </a:r>
            <a:r>
              <a:rPr sz="1500" b="0" i="0">
                <a:solidFill>
                  <a:srgbClr val="263238"/>
                </a:solidFill>
                <a:latin typeface="Segoe UI"/>
                <a:ea typeface="Segoe UI"/>
                <a:cs typeface="Segoe U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Chọn dự án / workspace</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 · Làm quen hệ thống Fast và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9</a:t>
            </a:r>
          </a:p>
        </p:txBody>
      </p:sp>
      <p:pic>
        <p:nvPicPr>
          <p:cNvPr id="7" name="Picture 6" descr="bcode-projects.png"/>
          <p:cNvPicPr>
            <a:picLocks noChangeAspect="1"/>
          </p:cNvPicPr>
          <p:nvPr/>
        </p:nvPicPr>
        <p:blipFill>
          <a:blip r:embed="rId2"/>
          <a:stretch>
            <a:fillRect/>
          </a:stretch>
        </p:blipFill>
        <p:spPr>
          <a:xfrm>
            <a:off x="548640" y="1492720"/>
            <a:ext cx="11064240" cy="2500958"/>
          </a:xfrm>
          <a:prstGeom prst="rect">
            <a:avLst/>
          </a:prstGeom>
          <a:ln w="12700">
            <a:solidFill>
              <a:srgbClr val="C8D1DC"/>
            </a:solidFill>
          </a:ln>
        </p:spPr>
      </p:pic>
      <p:sp>
        <p:nvSpPr>
          <p:cNvPr id="8" name="TextBox 7"/>
          <p:cNvSpPr txBox="1"/>
          <p:nvPr/>
        </p:nvSpPr>
        <p:spPr>
          <a:xfrm>
            <a:off x="640080" y="4389120"/>
            <a:ext cx="5394960" cy="219456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Ctrl+Shift+P</a:t>
            </a:r>
            <a:r>
              <a:rPr sz="1700" b="0" i="0">
                <a:solidFill>
                  <a:srgbClr val="263238"/>
                </a:solidFill>
                <a:latin typeface="Segoe UI"/>
                <a:ea typeface="Segoe UI"/>
                <a:cs typeface="Segoe UI"/>
              </a:rPr>
              <a:t> màn Projects</a:t>
            </a:r>
          </a:p>
          <a:p>
            <a:pPr>
              <a:spcAft>
                <a:spcPts val="1000"/>
              </a:spcAft>
            </a:pPr>
            <a:r>
              <a:rPr sz="1700" b="1" i="0">
                <a:solidFill>
                  <a:srgbClr val="F2B705"/>
                </a:solidFill>
                <a:latin typeface="Segoe UI"/>
                <a:ea typeface="Segoe UI"/>
                <a:cs typeface="Segoe UI"/>
              </a:rPr>
              <a:t>▪  </a:t>
            </a:r>
            <a:r>
              <a:rPr sz="1700" b="1" i="0">
                <a:solidFill>
                  <a:srgbClr val="1F4E79"/>
                </a:solidFill>
                <a:latin typeface="Segoe UI"/>
                <a:ea typeface="Segoe UI"/>
                <a:cs typeface="Segoe UI"/>
              </a:rPr>
              <a:t>＋ New</a:t>
            </a:r>
            <a:r>
              <a:rPr sz="1700" b="0" i="0">
                <a:solidFill>
                  <a:srgbClr val="263238"/>
                </a:solidFill>
                <a:latin typeface="Segoe UI"/>
                <a:ea typeface="Segoe UI"/>
                <a:cs typeface="Segoe UI"/>
              </a:rPr>
              <a:t> / </a:t>
            </a:r>
            <a:r>
              <a:rPr sz="1600" b="0" i="0">
                <a:solidFill>
                  <a:srgbClr val="B02A2A"/>
                </a:solidFill>
                <a:latin typeface="Consolas"/>
                <a:ea typeface="Consolas"/>
                <a:cs typeface="Consolas"/>
              </a:rPr>
              <a:t>Ctrl+F5</a:t>
            </a:r>
            <a:r>
              <a:rPr sz="1700" b="0" i="0">
                <a:solidFill>
                  <a:srgbClr val="263238"/>
                </a:solidFill>
                <a:latin typeface="Segoe UI"/>
                <a:ea typeface="Segoe UI"/>
                <a:cs typeface="Segoe UI"/>
              </a:rPr>
              <a:t> Synchronize (FSG)</a:t>
            </a:r>
          </a:p>
          <a:p>
            <a:pPr>
              <a:spcAft>
                <a:spcPts val="1000"/>
              </a:spcAft>
            </a:pPr>
            <a:r>
              <a:rPr sz="1700" b="1" i="0">
                <a:solidFill>
                  <a:srgbClr val="F2B705"/>
                </a:solidFill>
                <a:latin typeface="Segoe UI"/>
                <a:ea typeface="Segoe UI"/>
                <a:cs typeface="Segoe UI"/>
              </a:rPr>
              <a:t>▪  </a:t>
            </a:r>
            <a:r>
              <a:rPr sz="1700" b="1" i="0">
                <a:solidFill>
                  <a:srgbClr val="1F4E79"/>
                </a:solidFill>
                <a:latin typeface="Segoe UI"/>
                <a:ea typeface="Segoe UI"/>
                <a:cs typeface="Segoe UI"/>
              </a:rPr>
              <a:t>Source Path</a:t>
            </a:r>
            <a:r>
              <a:rPr sz="1700" b="0" i="0">
                <a:solidFill>
                  <a:srgbClr val="263238"/>
                </a:solidFill>
                <a:latin typeface="Segoe UI"/>
                <a:ea typeface="Segoe UI"/>
                <a:cs typeface="Segoe UI"/>
              </a:rPr>
              <a:t> bắt buộc cho File Lookup</a:t>
            </a:r>
          </a:p>
        </p:txBody>
      </p:sp>
      <p:sp>
        <p:nvSpPr>
          <p:cNvPr id="9" name="TextBox 8"/>
          <p:cNvSpPr txBox="1"/>
          <p:nvPr/>
        </p:nvSpPr>
        <p:spPr>
          <a:xfrm>
            <a:off x="6217920" y="4389120"/>
            <a:ext cx="5394960" cy="219456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Ctrl+O</a:t>
            </a:r>
            <a:r>
              <a:rPr sz="1700" b="0" i="0">
                <a:solidFill>
                  <a:srgbClr val="263238"/>
                </a:solidFill>
                <a:latin typeface="Segoe UI"/>
                <a:ea typeface="Segoe UI"/>
                <a:cs typeface="Segoe UI"/>
              </a:rPr>
              <a:t> dự án khác · </a:t>
            </a:r>
            <a:r>
              <a:rPr sz="1600" b="0" i="0">
                <a:solidFill>
                  <a:srgbClr val="B02A2A"/>
                </a:solidFill>
                <a:latin typeface="Consolas"/>
                <a:ea typeface="Consolas"/>
                <a:cs typeface="Consolas"/>
              </a:rPr>
              <a:t>Ctrl+Shift+N</a:t>
            </a:r>
            <a:r>
              <a:rPr sz="1700" b="0" i="0">
                <a:solidFill>
                  <a:srgbClr val="263238"/>
                </a:solidFill>
                <a:latin typeface="Segoe UI"/>
                <a:ea typeface="Segoe UI"/>
                <a:cs typeface="Segoe UI"/>
              </a:rPr>
              <a:t> cửa sổ mới</a:t>
            </a:r>
          </a:p>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Ctrl+1</a:t>
            </a:r>
            <a:r>
              <a:rPr sz="1700" b="0" i="0">
                <a:solidFill>
                  <a:srgbClr val="263238"/>
                </a:solidFill>
                <a:latin typeface="Segoe UI"/>
                <a:ea typeface="Segoe UI"/>
                <a:cs typeface="Segoe UI"/>
              </a:rPr>
              <a:t> App ↔ Sys · </a:t>
            </a:r>
            <a:r>
              <a:rPr sz="1700" b="1" i="0">
                <a:solidFill>
                  <a:srgbClr val="1F4E79"/>
                </a:solidFill>
                <a:latin typeface="Segoe UI"/>
                <a:ea typeface="Segoe UI"/>
                <a:cs typeface="Segoe UI"/>
              </a:rPr>
              <a:t>⟳</a:t>
            </a:r>
            <a:r>
              <a:rPr sz="1700" b="0" i="0">
                <a:solidFill>
                  <a:srgbClr val="263238"/>
                </a:solidFill>
                <a:latin typeface="Segoe UI"/>
                <a:ea typeface="Segoe UI"/>
                <a:cs typeface="Segoe UI"/>
              </a:rPr>
              <a:t> Refresh database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Màn hình chính Bcode</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 · Làm quen hệ thống Fast và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10</a:t>
            </a:r>
          </a:p>
        </p:txBody>
      </p:sp>
      <p:pic>
        <p:nvPicPr>
          <p:cNvPr id="7" name="Picture 6" descr="bcode-main.png"/>
          <p:cNvPicPr>
            <a:picLocks noChangeAspect="1"/>
          </p:cNvPicPr>
          <p:nvPr/>
        </p:nvPicPr>
        <p:blipFill>
          <a:blip r:embed="rId2"/>
          <a:stretch>
            <a:fillRect/>
          </a:stretch>
        </p:blipFill>
        <p:spPr>
          <a:xfrm>
            <a:off x="548640" y="1487990"/>
            <a:ext cx="7589520" cy="4293499"/>
          </a:xfrm>
          <a:prstGeom prst="rect">
            <a:avLst/>
          </a:prstGeom>
          <a:ln w="12700">
            <a:solidFill>
              <a:srgbClr val="C8D1DC"/>
            </a:solidFill>
          </a:ln>
        </p:spPr>
      </p:pic>
      <p:sp>
        <p:nvSpPr>
          <p:cNvPr id="8" name="TextBox 7"/>
          <p:cNvSpPr txBox="1"/>
          <p:nvPr/>
        </p:nvSpPr>
        <p:spPr>
          <a:xfrm>
            <a:off x="8366760" y="1325880"/>
            <a:ext cx="3383280" cy="475488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Ctrl+P</a:t>
            </a:r>
            <a:r>
              <a:rPr sz="1700" b="0" i="0">
                <a:solidFill>
                  <a:srgbClr val="263238"/>
                </a:solidFill>
                <a:latin typeface="Segoe UI"/>
                <a:ea typeface="Segoe UI"/>
                <a:cs typeface="Segoe UI"/>
              </a:rPr>
              <a:t> tìm mọi thứ</a:t>
            </a:r>
          </a:p>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&gt;</a:t>
            </a:r>
            <a:r>
              <a:rPr sz="1700" b="0" i="0">
                <a:solidFill>
                  <a:srgbClr val="263238"/>
                </a:solidFill>
                <a:latin typeface="Segoe UI"/>
                <a:ea typeface="Segoe UI"/>
                <a:cs typeface="Segoe UI"/>
              </a:rPr>
              <a:t> công cụ · </a:t>
            </a:r>
            <a:r>
              <a:rPr sz="1600" b="0" i="0">
                <a:solidFill>
                  <a:srgbClr val="B02A2A"/>
                </a:solidFill>
                <a:latin typeface="Consolas"/>
                <a:ea typeface="Consolas"/>
                <a:cs typeface="Consolas"/>
              </a:rPr>
              <a:t>#</a:t>
            </a:r>
            <a:r>
              <a:rPr sz="1700" b="0" i="0">
                <a:solidFill>
                  <a:srgbClr val="263238"/>
                </a:solidFill>
                <a:latin typeface="Segoe UI"/>
                <a:ea typeface="Segoe UI"/>
                <a:cs typeface="Segoe UI"/>
              </a:rPr>
              <a:t> object</a:t>
            </a:r>
          </a:p>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a:t>
            </a:r>
            <a:r>
              <a:rPr sz="1700" b="0" i="0">
                <a:solidFill>
                  <a:srgbClr val="263238"/>
                </a:solidFill>
                <a:latin typeface="Segoe UI"/>
                <a:ea typeface="Segoe UI"/>
                <a:cs typeface="Segoe UI"/>
              </a:rPr>
              <a:t> menu · </a:t>
            </a:r>
            <a:r>
              <a:rPr sz="1600" b="0" i="0">
                <a:solidFill>
                  <a:srgbClr val="B02A2A"/>
                </a:solidFill>
                <a:latin typeface="Consolas"/>
                <a:ea typeface="Consolas"/>
                <a:cs typeface="Consolas"/>
              </a:rPr>
              <a:t>$</a:t>
            </a:r>
            <a:r>
              <a:rPr sz="1700" b="0" i="0">
                <a:solidFill>
                  <a:srgbClr val="263238"/>
                </a:solidFill>
                <a:latin typeface="Segoe UI"/>
                <a:ea typeface="Segoe UI"/>
                <a:cs typeface="Segoe UI"/>
              </a:rPr>
              <a:t> snippet</a:t>
            </a:r>
          </a:p>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Ctrl+F1</a:t>
            </a:r>
            <a:r>
              <a:rPr sz="1700" b="0" i="0">
                <a:solidFill>
                  <a:srgbClr val="263238"/>
                </a:solidFill>
                <a:latin typeface="Segoe UI"/>
                <a:ea typeface="Segoe UI"/>
                <a:cs typeface="Segoe UI"/>
              </a:rPr>
              <a:t> Trợ giúp</a:t>
            </a:r>
          </a:p>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Ctrl+Tab</a:t>
            </a:r>
            <a:r>
              <a:rPr sz="1700" b="0" i="0">
                <a:solidFill>
                  <a:srgbClr val="263238"/>
                </a:solidFill>
                <a:latin typeface="Segoe UI"/>
                <a:ea typeface="Segoe UI"/>
                <a:cs typeface="Segoe UI"/>
              </a:rPr>
              <a:t> chuyển tab</a:t>
            </a:r>
          </a:p>
        </p:txBody>
      </p:sp>
      <p:sp>
        <p:nvSpPr>
          <p:cNvPr id="9" name="TextBox 8"/>
          <p:cNvSpPr txBox="1"/>
          <p:nvPr/>
        </p:nvSpPr>
        <p:spPr>
          <a:xfrm>
            <a:off x="548640" y="5989320"/>
            <a:ext cx="11064240" cy="320040"/>
          </a:xfrm>
          <a:prstGeom prst="rect">
            <a:avLst/>
          </a:prstGeom>
          <a:noFill/>
        </p:spPr>
        <p:txBody>
          <a:bodyPr wrap="square" anchor="t" lIns="45720" rIns="45720" tIns="27432" bIns="27432">
            <a:spAutoFit/>
          </a:bodyPr>
          <a:lstStyle/>
          <a:p>
            <a:pPr algn="ctr"/>
            <a:r>
              <a:rPr sz="1200" b="0" i="0">
                <a:solidFill>
                  <a:srgbClr val="6B7785"/>
                </a:solidFill>
                <a:latin typeface="Segoe UI"/>
                <a:ea typeface="Segoe UI"/>
                <a:cs typeface="Segoe UI"/>
              </a:rPr>
              <a:t>① Settings ② Actions ③ Script Cart ④ Triển khai ⑤ Tool mở rộng ⑥ Trợ giúp ⑦ WS ⑧ Sys/App ⑪ SQL Object / WCommand / Mobile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Thực hành tại lớp</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 · Làm quen hệ thống Fast và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11</a:t>
            </a:r>
          </a:p>
        </p:txBody>
      </p:sp>
      <p:sp>
        <p:nvSpPr>
          <p:cNvPr id="7" name="TextBox 6"/>
          <p:cNvSpPr txBox="1"/>
          <p:nvPr/>
        </p:nvSpPr>
        <p:spPr>
          <a:xfrm>
            <a:off x="640080" y="1371600"/>
            <a:ext cx="10881360" cy="3108960"/>
          </a:xfrm>
          <a:prstGeom prst="rect">
            <a:avLst/>
          </a:prstGeom>
          <a:noFill/>
        </p:spPr>
        <p:txBody>
          <a:bodyPr wrap="square">
            <a:spAutoFit/>
          </a:bodyPr>
          <a:lstStyle/>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1.</a:t>
            </a:r>
            <a:r>
              <a:rPr sz="2000" b="0" i="0">
                <a:solidFill>
                  <a:srgbClr val="263238"/>
                </a:solidFill>
                <a:latin typeface="Segoe UI"/>
                <a:ea typeface="Segoe UI"/>
                <a:cs typeface="Segoe UI"/>
              </a:rPr>
              <a:t> Chọn dự án thử trong Bcode, đổi qua lại App / Sys (</a:t>
            </a:r>
            <a:r>
              <a:rPr sz="1900" b="0" i="0">
                <a:solidFill>
                  <a:srgbClr val="B02A2A"/>
                </a:solidFill>
                <a:latin typeface="Consolas"/>
                <a:ea typeface="Consolas"/>
                <a:cs typeface="Consolas"/>
              </a:rPr>
              <a:t>Ctrl+1</a:t>
            </a:r>
            <a:r>
              <a:rPr sz="2000" b="0" i="0">
                <a:solidFill>
                  <a:srgbClr val="263238"/>
                </a:solidFill>
                <a:latin typeface="Segoe UI"/>
                <a:ea typeface="Segoe UI"/>
                <a:cs typeface="Segoe UI"/>
              </a:rPr>
              <a:t>).</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2.</a:t>
            </a:r>
            <a:r>
              <a:rPr sz="2000" b="0" i="0">
                <a:solidFill>
                  <a:srgbClr val="263238"/>
                </a:solidFill>
                <a:latin typeface="Segoe UI"/>
                <a:ea typeface="Segoe UI"/>
                <a:cs typeface="Segoe UI"/>
              </a:rPr>
              <a:t> Trên cây WCommand tìm menu “Danh mục bộ phận”, double-click xem danh sách file.</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3.</a:t>
            </a:r>
            <a:r>
              <a:rPr sz="2000" b="0" i="0">
                <a:solidFill>
                  <a:srgbClr val="263238"/>
                </a:solidFill>
                <a:latin typeface="Segoe UI"/>
                <a:ea typeface="Segoe UI"/>
                <a:cs typeface="Segoe UI"/>
              </a:rPr>
              <a:t> Mở bảng </a:t>
            </a:r>
            <a:r>
              <a:rPr sz="1900" b="0" i="0">
                <a:solidFill>
                  <a:srgbClr val="B02A2A"/>
                </a:solidFill>
                <a:latin typeface="Consolas"/>
                <a:ea typeface="Consolas"/>
                <a:cs typeface="Consolas"/>
              </a:rPr>
              <a:t>dmct9</a:t>
            </a:r>
            <a:r>
              <a:rPr sz="2000" b="0" i="0">
                <a:solidFill>
                  <a:srgbClr val="263238"/>
                </a:solidFill>
                <a:latin typeface="Segoe UI"/>
                <a:ea typeface="Segoe UI"/>
                <a:cs typeface="Segoe UI"/>
              </a:rPr>
              <a:t>, tìm dòng của phiếu nhập kho (</a:t>
            </a:r>
            <a:r>
              <a:rPr sz="1900" b="0" i="0">
                <a:solidFill>
                  <a:srgbClr val="B02A2A"/>
                </a:solidFill>
                <a:latin typeface="Consolas"/>
                <a:ea typeface="Consolas"/>
                <a:cs typeface="Consolas"/>
              </a:rPr>
              <a:t>PND</a:t>
            </a:r>
            <a:r>
              <a:rPr sz="2000" b="0" i="0">
                <a:solidFill>
                  <a:srgbClr val="263238"/>
                </a:solidFill>
                <a:latin typeface="Segoe UI"/>
                <a:ea typeface="Segoe UI"/>
                <a:cs typeface="Segoe UI"/>
              </a:rPr>
              <a:t>), ghi lại tiền tố bảng.</a:t>
            </a:r>
          </a:p>
        </p:txBody>
      </p:sp>
      <p:sp>
        <p:nvSpPr>
          <p:cNvPr id="8" name="Rounded Rectangle 7"/>
          <p:cNvSpPr/>
          <p:nvPr/>
        </p:nvSpPr>
        <p:spPr>
          <a:xfrm>
            <a:off x="640080" y="4434840"/>
            <a:ext cx="10927080" cy="685800"/>
          </a:xfrm>
          <a:prstGeom prst="roundRect">
            <a:avLst>
              <a:gd name="adj" fmla="val 8000"/>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434840"/>
            <a:ext cx="91440" cy="68580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489703"/>
            <a:ext cx="10607040" cy="594360"/>
          </a:xfrm>
          <a:prstGeom prst="rect">
            <a:avLst/>
          </a:prstGeom>
          <a:noFill/>
        </p:spPr>
        <p:txBody>
          <a:bodyPr wrap="square" anchor="ctr" lIns="45720" rIns="45720" tIns="27432" bIns="27432">
            <a:spAutoFit/>
          </a:bodyPr>
          <a:lstStyle/>
          <a:p>
            <a:pPr algn="l"/>
            <a:r>
              <a:rPr sz="1500" b="1" i="0">
                <a:solidFill>
                  <a:srgbClr val="2E75B6"/>
                </a:solidFill>
                <a:latin typeface="Segoe UI"/>
                <a:ea typeface="Segoe UI"/>
                <a:cs typeface="Segoe UI"/>
              </a:rPr>
              <a:t>Mẹo:</a:t>
            </a:r>
            <a:r>
              <a:rPr sz="1500" b="0" i="0">
                <a:solidFill>
                  <a:srgbClr val="263238"/>
                </a:solidFill>
                <a:latin typeface="Segoe UI"/>
                <a:ea typeface="Segoe UI"/>
                <a:cs typeface="Segoe UI"/>
              </a:rPr>
              <a:t> </a:t>
            </a:r>
            <a:r>
              <a:rPr sz="1500" b="1" i="0">
                <a:solidFill>
                  <a:srgbClr val="1F4E79"/>
                </a:solidFill>
                <a:latin typeface="Segoe UI"/>
                <a:ea typeface="Segoe UI"/>
                <a:cs typeface="Segoe UI"/>
              </a:rPr>
              <a:t>Trên database:</a:t>
            </a:r>
            <a:r>
              <a:rPr sz="1500" b="0" i="0">
                <a:solidFill>
                  <a:srgbClr val="263238"/>
                </a:solidFill>
                <a:latin typeface="Segoe UI"/>
                <a:ea typeface="Segoe UI"/>
                <a:cs typeface="Segoe UI"/>
              </a:rPr>
              <a:t> Sổ bài tập thực hành — Buổi 1 (FBOSP2422_App / _Sys, chạy </a:t>
            </a:r>
            <a:r>
              <a:rPr sz="1400" b="0" i="0">
                <a:solidFill>
                  <a:srgbClr val="B02A2A"/>
                </a:solidFill>
                <a:latin typeface="Consolas"/>
                <a:ea typeface="Consolas"/>
                <a:cs typeface="Consolas"/>
              </a:rPr>
              <a:t>00_TaoDuLieuMau.sql</a:t>
            </a:r>
            <a:r>
              <a:rPr sz="1500" b="0" i="0">
                <a:solidFill>
                  <a:srgbClr val="263238"/>
                </a:solidFill>
                <a:latin typeface="Segoe UI"/>
                <a:ea typeface="Segoe UI"/>
                <a:cs typeface="Segoe UI"/>
              </a:rPr>
              <a:t> trước).</a:t>
            </a:r>
          </a:p>
        </p:txBody>
      </p:sp>
      <p:sp>
        <p:nvSpPr>
          <p:cNvPr id="11" name="Rounded Rectangle 10"/>
          <p:cNvSpPr/>
          <p:nvPr/>
        </p:nvSpPr>
        <p:spPr>
          <a:xfrm>
            <a:off x="640080" y="5257800"/>
            <a:ext cx="10927080" cy="914400"/>
          </a:xfrm>
          <a:prstGeom prst="roundRect">
            <a:avLst>
              <a:gd name="adj" fmla="val 8000"/>
            </a:avLst>
          </a:prstGeom>
          <a:solidFill>
            <a:srgbClr val="FFFFFF"/>
          </a:solidFill>
          <a:ln w="15875">
            <a:solidFill>
              <a:srgbClr val="27AE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257800"/>
            <a:ext cx="91440" cy="91440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5312664"/>
            <a:ext cx="10607040" cy="822960"/>
          </a:xfrm>
          <a:prstGeom prst="rect">
            <a:avLst/>
          </a:prstGeom>
          <a:noFill/>
        </p:spPr>
        <p:txBody>
          <a:bodyPr wrap="square" anchor="ctr" lIns="45720" rIns="45720" tIns="27432" bIns="27432">
            <a:spAutoFit/>
          </a:bodyPr>
          <a:lstStyle/>
          <a:p>
            <a:pPr algn="l"/>
            <a:r>
              <a:rPr sz="1600" b="1" i="0">
                <a:solidFill>
                  <a:srgbClr val="27AE60"/>
                </a:solidFill>
                <a:latin typeface="Segoe UI"/>
                <a:ea typeface="Segoe UI"/>
                <a:cs typeface="Segoe UI"/>
              </a:rPr>
              <a:t>Bài tập:</a:t>
            </a:r>
            <a:r>
              <a:rPr sz="1600" b="0" i="0">
                <a:solidFill>
                  <a:srgbClr val="263238"/>
                </a:solidFill>
                <a:latin typeface="Segoe UI"/>
                <a:ea typeface="Segoe UI"/>
                <a:cs typeface="Segoe UI"/>
              </a:rPr>
              <a:t> </a:t>
            </a:r>
            <a:r>
              <a:rPr sz="1600" b="1" i="0">
                <a:solidFill>
                  <a:srgbClr val="1F4E79"/>
                </a:solidFill>
                <a:latin typeface="Segoe UI"/>
                <a:ea typeface="Segoe UI"/>
                <a:cs typeface="Segoe UI"/>
              </a:rPr>
              <a:t>Về nhà:</a:t>
            </a:r>
            <a:r>
              <a:rPr sz="1600" b="0" i="0">
                <a:solidFill>
                  <a:srgbClr val="263238"/>
                </a:solidFill>
                <a:latin typeface="Segoe UI"/>
                <a:ea typeface="Segoe UI"/>
                <a:cs typeface="Segoe UI"/>
              </a:rPr>
              <a:t> Vẽ sơ đồ đường đi của 1 menu danh mục và 1 menu chứng từ bất kỳ (bảng, trang, các file controller).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Tự kiểm tra</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 · Làm quen hệ thống Fast và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12</a:t>
            </a:r>
          </a:p>
        </p:txBody>
      </p:sp>
      <p:sp>
        <p:nvSpPr>
          <p:cNvPr id="7" name="TextBox 6"/>
          <p:cNvSpPr txBox="1"/>
          <p:nvPr/>
        </p:nvSpPr>
        <p:spPr>
          <a:xfrm>
            <a:off x="640080" y="1371600"/>
            <a:ext cx="10881360" cy="4754880"/>
          </a:xfrm>
          <a:prstGeom prst="rect">
            <a:avLst/>
          </a:prstGeom>
          <a:noFill/>
        </p:spPr>
        <p:txBody>
          <a:bodyPr wrap="square">
            <a:spAutoFit/>
          </a:bodyPr>
          <a:lstStyle/>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1.</a:t>
            </a:r>
            <a:r>
              <a:rPr sz="2100" b="0" i="0">
                <a:solidFill>
                  <a:srgbClr val="263238"/>
                </a:solidFill>
                <a:latin typeface="Segoe UI"/>
                <a:ea typeface="Segoe UI"/>
                <a:cs typeface="Segoe UI"/>
              </a:rPr>
              <a:t> Bảng menu web nằm ở database nào, tên bảng là gì?</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2.</a:t>
            </a:r>
            <a:r>
              <a:rPr sz="2100" b="0" i="0">
                <a:solidFill>
                  <a:srgbClr val="263238"/>
                </a:solidFill>
                <a:latin typeface="Segoe UI"/>
                <a:ea typeface="Segoe UI"/>
                <a:cs typeface="Segoe UI"/>
              </a:rPr>
              <a:t> Trang </a:t>
            </a:r>
            <a:r>
              <a:rPr sz="2000" b="0" i="0">
                <a:solidFill>
                  <a:srgbClr val="B02A2A"/>
                </a:solidFill>
                <a:latin typeface="Consolas"/>
                <a:ea typeface="Consolas"/>
                <a:cs typeface="Consolas"/>
              </a:rPr>
              <a:t>Main\smbp.aspx</a:t>
            </a:r>
            <a:r>
              <a:rPr sz="2100" b="0" i="0">
                <a:solidFill>
                  <a:srgbClr val="263238"/>
                </a:solidFill>
                <a:latin typeface="Segoe UI"/>
                <a:ea typeface="Segoe UI"/>
                <a:cs typeface="Segoe UI"/>
              </a:rPr>
              <a:t> chứa gì quan trọng nhất?</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3.</a:t>
            </a:r>
            <a:r>
              <a:rPr sz="2100" b="0" i="0">
                <a:solidFill>
                  <a:srgbClr val="263238"/>
                </a:solidFill>
                <a:latin typeface="Segoe UI"/>
                <a:ea typeface="Segoe UI"/>
                <a:cs typeface="Segoe UI"/>
              </a:rPr>
              <a:t> </a:t>
            </a:r>
            <a:r>
              <a:rPr sz="2000" b="0" i="0">
                <a:solidFill>
                  <a:srgbClr val="B02A2A"/>
                </a:solidFill>
                <a:latin typeface="Consolas"/>
                <a:ea typeface="Consolas"/>
                <a:cs typeface="Consolas"/>
              </a:rPr>
              <a:t>m74$202601</a:t>
            </a:r>
            <a:r>
              <a:rPr sz="2100" b="0" i="0">
                <a:solidFill>
                  <a:srgbClr val="263238"/>
                </a:solidFill>
                <a:latin typeface="Segoe UI"/>
                <a:ea typeface="Segoe UI"/>
                <a:cs typeface="Segoe UI"/>
              </a:rPr>
              <a:t> là gì?</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4.</a:t>
            </a:r>
            <a:r>
              <a:rPr sz="2100" b="0" i="0">
                <a:solidFill>
                  <a:srgbClr val="263238"/>
                </a:solidFill>
                <a:latin typeface="Segoe UI"/>
                <a:ea typeface="Segoe UI"/>
                <a:cs typeface="Segoe UI"/>
              </a:rPr>
              <a:t> Bốn cột hệ thống của danh mục?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