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Buổi 1: Làm quen hệ thống Fast và Bcode (Cơ bản, 3 giờ).</a:t>
            </a:r>
          </a:p>
          <a:p>
            <a:r>
              <a:t>Chuẩn bị: Máy đã cài Bcode và BcodeViewer; có 1 dự án thử (site và bản sao database).</a:t>
            </a:r>
          </a:p>
          <a:p>
            <a:r>
              <a:t>Nhắc lại bài tập về nhà của buổi trước trước khi vào nội dung mới (5–10 phút).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Mục tiêu:</a:t>
            </a:r>
          </a:p>
          <a:p>
            <a:r>
              <a:t>- Biết hệ thống FBO gồm những lớp nào và source nằm ở đâu</a:t>
            </a:r>
          </a:p>
          <a:p>
            <a:r>
              <a:t>- Hiểu một menu chạy ra sao: từ wcommand đến trang .aspx, rồi tới Grid / Dir / Lookup</a:t>
            </a:r>
          </a:p>
          <a:p>
            <a:r>
              <a:t>- Phân biệt Sys Data với App Data; bảng danh mục, chứng từ và bảng phân kỳ</a:t>
            </a:r>
          </a:p>
          <a:p>
            <a:r>
              <a:t>- Mở được Bcode, chọn dự án, biết các vùng màn hình chính</a:t>
            </a:r>
          </a:p>
          <a:p>
            <a:r>
              <a:t>Lịch trình:</a:t>
            </a:r>
          </a:p>
          <a:p>
            <a:r>
              <a:t>1. Ba lớp FBO, cấu trúc thư mục source, file .f / .xml (45')</a:t>
            </a:r>
          </a:p>
          <a:p>
            <a:r>
              <a:t>2. Một menu chạy như thế nào; entity là gì (30')</a:t>
            </a:r>
          </a:p>
          <a:p>
            <a:r>
              <a:t>3. Database, menu, bảng danh mục / chứng từ / phân kỳ (45')</a:t>
            </a:r>
          </a:p>
          <a:p>
            <a:r>
              <a:t>4. Bcode: chọn dự án, màn hình chính, Ctrl+P, Ctrl+F1 (30')</a:t>
            </a:r>
          </a:p>
          <a:p>
            <a:r>
              <a:t>5. Thực hành và hỏi đáp (30')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Một hệ thống FBO có 3 lớp.</a:t>
            </a:r>
          </a:p>
          <a:p>
            <a:r>
              <a:t>Lớp 1: trình duyệt — người dùng chỉ nhìn thấy giao diện web.</a:t>
            </a:r>
          </a:p>
          <a:p>
            <a:r>
              <a:t>Lớp 2: site web chạy trên IIS. Đây là thư mục chứa các trang .aspx trong Main và toàn bộ controller trong App_Data\Controllers. Lập trình viên sửa source ở lớp này.</a:t>
            </a:r>
          </a:p>
          <a:p>
            <a:r>
              <a:t>Lớp 3: SQL Server với 2 database. Sys Data chứa dữ liệu hệ thống như menu, người dùng, phân quyền. App Data chứa dữ liệu nghiệp vụ của khách hàng: danh mục, chứng từ, số dư.</a:t>
            </a:r>
          </a:p>
          <a:p>
            <a:r>
              <a:t>Điều quan trọng: màn hình Fast được khai báo bằng file XML (gọi là FCode) chứ không lập trình bằng C#. Vì vậy ba việc chính của lập trình viên triển khai là sửa controller, procedure và menu.</a:t>
            </a:r>
          </a:p>
          <a:p>
            <a:r>
              <a:t>Trong Bcode, một "dự án" gói đủ thông tin: server, 2 database, Source Path (đường dẫn tới thư mục site) và link web.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Đây là các thư mục cần nhớ. Tất cả controller nằm trong App_Data\Controllers.</a:t>
            </a:r>
          </a:p>
          <a:p>
            <a:r>
              <a:t>Dir là form một bản ghi, Grid là lưới nhiều dòng, Lookup là danh sách tra cứu, Filter là form điều kiện của báo cáo và form import / xử lý, Report khai báo mẫu in.</a:t>
            </a:r>
          </a:p>
          <a:p>
            <a:r>
              <a:t>Include chứa các phần dùng chung, được nhúng vào controller bằng entity.</a:t>
            </a:r>
          </a:p>
          <a:p>
            <a:r>
              <a:t>Templates\Excel chứa mẫu Excel của báo cáo — file Report gọi tới bằng thuộc tính templateFile; Templates\Rpt chứa mẫu Crystal Report — gọi bằng reportFile; Templates\Upload chứa mẫu file import.</a:t>
            </a:r>
          </a:p>
          <a:p>
            <a:r>
              <a:t>Số lượng file ở bản FBO mẫu: Dir khoảng 690, Grid 2.250, Filter 2.200, Main khoảng 1.500 trang. Không ai nhớ hết được, nên luôn tìm file theo menu bằng Bcode (chương 4).</a:t>
            </a:r>
          </a:p>
          <a:p>
            <a:r>
              <a:t>Về đuôi file: .xml là bản nguồn đọc được, .f là bản Fast phát hành (phần lệnh thường bị mã hoá trong thẻ &lt;Encrypted&gt;). Khi cùng một tên có cả .f và .xml thì phải kiểm tra trên dự án xem file nào thực sự được dùng.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 theo dõi đường đi của một menu. Trong Sys Data, bảng wcommand có một dòng cho menu này; cột link trỏ tới trang smbp.aspx.</a:t>
            </a:r>
          </a:p>
          <a:p>
            <a:r>
              <a:t>Trang Main\smbp.aspx gần như rỗng, chỉ khai báo Controller="Department".</a:t>
            </a:r>
          </a:p>
          <a:p>
            <a:r>
              <a:t>Từ đó Fast mở Grid\Department.f — lưới danh sách bộ phận, đọc từ bảng dmbp. Bấm Thêm hoặc Sửa thì Fast mở Dir\Department.f, dùng cùng bảng dmbp, khoá là cột ma_bp.</a:t>
            </a:r>
          </a:p>
          <a:p>
            <a:r>
              <a:t>Ở màn hình khác, field ma_bp tra cứu bộ phận bằng Lookup\Department.xml. Chức năng import Excel dùng Filter\DepartmentImport.f.</a:t>
            </a:r>
          </a:p>
          <a:p>
            <a:r>
              <a:t>Trang báo cáo khác ở chỗ có thêm FilterMode="true": Fast mở form điều kiện trước, người dùng bấm Nhận thì mới chạy procedure.</a:t>
            </a:r>
          </a:p>
          <a:p>
            <a:r>
              <a:t>Trong Bcode, chỉ cần double-click menu trên cây WCommand là ra đủ danh sách các file này.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Hai database có vai trò khác nhau. Lỗi kinh điển của người mới: mở SQL Query trên database Sys rồi tìm bảng dmkh — trong khi bảng này nằm ở App.</a:t>
            </a:r>
          </a:p>
          <a:p>
            <a:r>
              <a:t>Menu: bảng wcommand là cây menu web, gồm các cột wmenu_id (mã menu, ví dụ 09.30.03), wmenu_id0 (mã menu cha), bar (tên tiếng Việt), bar2 (tên tiếng Anh), link (trang .aspx), sysid.</a:t>
            </a:r>
          </a:p>
          <a:p>
            <a:r>
              <a:t>Bảng command chứa thông tin hệ thống của từng chức năng theo sysid, ví dụ syscode, type...</a:t>
            </a:r>
          </a:p>
          <a:p>
            <a:r>
              <a:t>Bcode lưu menu vào cả hai bảng trong cùng một transaction. Bcode cũng có lệnh Gen Script Menu (bấm F12 trên cây WCommand) sinh câu DELETE + INSERT cho cả hai bảng — hãy dùng lệnh này thay vì tự viết INSERT.</a:t>
            </a:r>
          </a:p>
          <a:p>
            <a:r>
              <a:t>Tên cột cụ thể của wcommand và command có thể khác nhau giữa các phiên bản, nên xem cấu trúc bảng trước khi viết script.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Bảng danh mục là bảng lưu cặp mã – tên. Danh mục chuẩn của Fast đặt tên theo dạng dm + tên: dmkh là khách hàng, dmvt là vật tư, dmbp là bộ phận, dmtk là tài khoản.</a:t>
            </a:r>
          </a:p>
          <a:p>
            <a:r>
              <a:t>Danh mục tự thêm cho dự án: quy ước của Bcode là zdm + chữ cái đầu của các từ, để không lẫn với bảng chuẩn. Ví dụ Hình thức bán hàng thành zdmhtbh.</a:t>
            </a:r>
          </a:p>
          <a:p>
            <a:r>
              <a:t>Các cột hệ thống bắt buộc phải nhớ: status; datetime0 và user_id0 (ngày và người tạo); datetime2 và user_id2 (ngày và người sửa lần cuối). Mẫu danh mục của Bcode gán các cột này trong command Inserting và Updated, ví dụ:</a:t>
            </a:r>
          </a:p>
          <a:p>
            <a:r>
              <a:t>select @datetime0 = getdate(), @user_id0 = @@userID...</a:t>
            </a:r>
          </a:p>
          <a:p>
            <a:r>
              <a:t>Nếu bảng thiếu các cột này thì nút Chuẩn Fast của Bcode sẽ cảnh báo.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Chứng từ được lưu ở một cặp bảng master – detail. Ví dụ phiếu nhập kho: bảng master là m74 (đầu phiếu), bảng detail là d74 (các dòng chi tiết), hai bảng nối với nhau bằng stt_rec; bảng chi tiết có thêm cột line_nbr là số thứ tự dòng.</a:t>
            </a:r>
          </a:p>
          <a:p>
            <a:r>
              <a:t>Bảng phân kỳ: dữ liệu được tách theo tháng, mỗi tháng một bảng với đuôi $yyyymm. $000000 là bảng mẫu; khi xem bằng Bcode (tab Table, Command) thì $000000 được gộp UNION ALL tất cả các kỳ.</a:t>
            </a:r>
          </a:p>
          <a:p>
            <a:r>
              <a:t>Bảng dmct9 trong App Data khai báo, cho từng mã chứng từ, các tiền tố bảng (cột c$, m$, d$, i$) và trang url. Muốn biết một chứng từ dùng bảng nào thì chạy: SELECT * FROM dmct9 WHERE ma_ct = '...'.</a:t>
            </a:r>
          </a:p>
          <a:p>
            <a:r>
              <a:t>Cảnh báo quan trọng: Fast ghép các kỳ theo vị trí cột, nên mọi kỳ phải cùng cấu trúc và cùng thứ tự cột. Thêm cột thì phải thêm cho mọi kỳ — dùng Gen Add Column của Bcode, sau đó chuột phải ô Table, chọn Check Partitions Struct để kiểm tra.</a:t>
            </a:r>
          </a:p>
          <a:p>
            <a:r>
              <a:t>Ý nghĩa chính xác của các tiền tố c, i... khác nhau theo từng phân hệ — cần kiểm tra lại ở dự án.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Mở Bcode là vào màn hình Projects (hoặc bấm Ctrl+Shift+P). Gõ tên để lọc, bấm Enter hoặc double-click để chọn dự án. Dải Last Access là các dự án dùng gần đây.</a:t>
            </a:r>
          </a:p>
          <a:p>
            <a:r>
              <a:t>Thêm dự án mới: bấm + New, khai báo server, Sys Data, App Data, Source Path (bắt buộc phải có để dùng File Lookup và Gen Update), Login WLink. Hoặc bấm Ctrl+F5 Synchronize để đồng bộ từ FSG — xong nhớ bấm Apply / Save.</a:t>
            </a:r>
          </a:p>
          <a:p>
            <a:r>
              <a:t>Ctrl+O để chọn dự án khác — nếu cửa sổ hiện tại đang có tab mở thì Bcode sẽ mở một cửa sổ Bcode mới. Ctrl+Shift+N mở thêm cửa sổ.</a:t>
            </a:r>
          </a:p>
          <a:p>
            <a:r>
              <a:t>Ô WS trên thanh trên cùng dùng để chọn database đang làm việc; bấm nút Sys / App hoặc Ctrl+1 để đổi qua lại; bấm nút ⟳ Refresh database sau khi vừa tạo bảng hoặc procedure mới.</a:t>
            </a:r>
          </a:p>
          <a:p>
            <a:r>
              <a:t>Mật khẩu trong file settings.json được mã hoá theo tài khoản Windows — chép file sang máy khác thì phải nhập lại mật khẩu. Không gửi file này cho người khác.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Giới thiệu các vùng trên màn hình: ① Settings, ② Actions (danh sách mọi công cụ kèm phím tắt), ③ giỏ script (Script Cart), ④ menu Triển khai, ⑤ Tool mở rộng, ⑥ Trợ giúp, ⑦ ô WS để chọn database, ⑧ nút Sys/App, ⑨ Quick Access, ⑩ thanh công cụ, ⑪ cột icon bên trái: SQL Object / WCommand / Mobile.</a:t>
            </a:r>
          </a:p>
          <a:p>
            <a:r>
              <a:t>Phím quan trọng nhất: Ctrl+P — mở Command Palette. Gõ &gt; để tìm công cụ, # để tìm object SQL, @ để tìm menu WCommand, $ để tìm snippet. Quên một nút nằm ở đâu thì cứ gõ tên vào đây.</a:t>
            </a:r>
          </a:p>
          <a:p>
            <a:r>
              <a:t>Ctrl+F1 mở Trợ giúp, nhảy đúng tới mục của tab đang dùng.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Học viên làm trên dự án thử, người hướng dẫn đi kiểm từng máy. Ai xong sớm làm luôn bài tập về nhà.</a:t>
            </a:r>
          </a:p>
          <a:p>
            <a:r>
              <a:t>Bài tập về nhà: Vẽ sơ đồ đường đi của 1 menu danh mục và 1 menu chứng từ bất kỳ (gồm bảng, trang và các file controller).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Hỏi nhanh cả lớp; đáp án:</a:t>
            </a:r>
          </a:p>
          <a:p>
            <a:r>
              <a:t>1. Ở Sys Data, bảng wcommand (đi kèm bảng command).</a:t>
            </a:r>
          </a:p>
          <a:p>
            <a:r>
              <a:t>2. Thuộc tính Controller="Department", cho biết trang chạy controller nào.</a:t>
            </a:r>
          </a:p>
          <a:p>
            <a:r>
              <a:t>3. Bảng master của phiếu nhập kho, kỳ tháng 01/2026 (bảng phân kỳ).</a:t>
            </a:r>
          </a:p>
          <a:p>
            <a:r>
              <a:t>4. status, datetime0/2, user_id0/2 (đuôi 0: lúc tạo, đuôi 2: lúc sửa).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4E7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394960"/>
            <a:ext cx="12191695" cy="1463040"/>
          </a:xfrm>
          <a:prstGeom prst="rect">
            <a:avLst/>
          </a:prstGeom>
          <a:solidFill>
            <a:srgbClr val="173D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2331720"/>
            <a:ext cx="1280160" cy="73152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097280"/>
            <a:ext cx="10058400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800" b="1" i="0">
                <a:solidFill>
                  <a:srgbClr val="F2B705"/>
                </a:solidFill>
                <a:latin typeface="Segoe UI"/>
                <a:ea typeface="Segoe UI"/>
                <a:cs typeface="Segoe UI"/>
              </a:rPr>
              <a:t>BUỔI 1 / 10  ·  CƠ BẢN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554480"/>
            <a:ext cx="10789920" cy="9144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2200" b="0" i="0">
                <a:solidFill>
                  <a:srgbClr val="D6E4F0"/>
                </a:solidFill>
                <a:latin typeface="Segoe UI"/>
                <a:ea typeface="Segoe UI"/>
                <a:cs typeface="Segoe UI"/>
              </a:rPr>
              <a:t>FastBusiness Online &amp; Bcode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606040"/>
            <a:ext cx="10789920" cy="21945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Làm quen hệ thống Fast và Bcode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2" y="5760720"/>
            <a:ext cx="10515600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400" b="0" i="0">
                <a:solidFill>
                  <a:srgbClr val="B8CADB"/>
                </a:solidFill>
                <a:latin typeface="Segoe UI"/>
                <a:ea typeface="Segoe UI"/>
                <a:cs typeface="Segoe UI"/>
              </a:rPr>
              <a:t>Thời lượng 3 giờ · tài liệu chi tiết: DaoTao_Fast_Bcode.docx — Buổi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1064240" cy="6858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3000" b="1" i="0">
                <a:solidFill>
                  <a:srgbClr val="1F4E79"/>
                </a:solidFill>
                <a:latin typeface="Segoe UI"/>
                <a:ea typeface="Segoe UI"/>
                <a:cs typeface="Segoe UI"/>
              </a:rPr>
              <a:t>Mục tiêu và lịch trình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24128"/>
            <a:ext cx="1005840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000" b="0" i="0">
                <a:solidFill>
                  <a:srgbClr val="6B7785"/>
                </a:solidFill>
                <a:latin typeface="Segoe UI"/>
                <a:ea typeface="Segoe UI"/>
                <a:cs typeface="Segoe UI"/>
              </a:rPr>
              <a:t>Buổi 1 · Làm quen hệ thống Fast và Bcode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46520"/>
            <a:ext cx="73152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/>
            <a:r>
              <a:rPr sz="1000" b="0" i="0">
                <a:solidFill>
                  <a:srgbClr val="6B7785"/>
                </a:solidFill>
                <a:latin typeface="Segoe UI"/>
                <a:ea typeface="Segoe UI"/>
                <a:cs typeface="Segoe UI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5120640" cy="411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800" b="1" i="0">
                <a:solidFill>
                  <a:srgbClr val="1F4E79"/>
                </a:solidFill>
                <a:latin typeface="Segoe UI"/>
                <a:ea typeface="Segoe UI"/>
                <a:cs typeface="Segoe UI"/>
              </a:rPr>
              <a:t>Học xong buổi này, bạn: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783080"/>
            <a:ext cx="52120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 b="1" i="0">
                <a:solidFill>
                  <a:srgbClr val="F2B705"/>
                </a:solidFill>
                <a:latin typeface="Segoe UI"/>
                <a:ea typeface="Segoe UI"/>
                <a:cs typeface="Segoe UI"/>
              </a:rPr>
              <a:t>▪  </a:t>
            </a:r>
            <a:r>
              <a:rPr sz="1700" b="0" i="0">
                <a:solidFill>
                  <a:srgbClr val="263238"/>
                </a:solidFill>
                <a:latin typeface="Segoe UI"/>
                <a:ea typeface="Segoe UI"/>
                <a:cs typeface="Segoe UI"/>
              </a:rPr>
              <a:t>Biết hệ thống FBO gồm những lớp nào và source nằm ở đâu</a:t>
            </a:r>
          </a:p>
          <a:p>
            <a:pPr>
              <a:spcAft>
                <a:spcPts val="1000"/>
              </a:spcAft>
            </a:pPr>
            <a:r>
              <a:rPr sz="1700" b="1" i="0">
                <a:solidFill>
                  <a:srgbClr val="F2B705"/>
                </a:solidFill>
                <a:latin typeface="Segoe UI"/>
                <a:ea typeface="Segoe UI"/>
                <a:cs typeface="Segoe UI"/>
              </a:rPr>
              <a:t>▪  </a:t>
            </a:r>
            <a:r>
              <a:rPr sz="1700" b="0" i="0">
                <a:solidFill>
                  <a:srgbClr val="263238"/>
                </a:solidFill>
                <a:latin typeface="Segoe UI"/>
                <a:ea typeface="Segoe UI"/>
                <a:cs typeface="Segoe UI"/>
              </a:rPr>
              <a:t>Hiểu một menu chạy ra sao: từ wcommand đến trang .aspx, rồi tới Grid / Dir / Lookup</a:t>
            </a:r>
          </a:p>
          <a:p>
            <a:pPr>
              <a:spcAft>
                <a:spcPts val="1000"/>
              </a:spcAft>
            </a:pPr>
            <a:r>
              <a:rPr sz="1700" b="1" i="0">
                <a:solidFill>
                  <a:srgbClr val="F2B705"/>
                </a:solidFill>
                <a:latin typeface="Segoe UI"/>
                <a:ea typeface="Segoe UI"/>
                <a:cs typeface="Segoe UI"/>
              </a:rPr>
              <a:t>▪  </a:t>
            </a:r>
            <a:r>
              <a:rPr sz="1700" b="0" i="0">
                <a:solidFill>
                  <a:srgbClr val="263238"/>
                </a:solidFill>
                <a:latin typeface="Segoe UI"/>
                <a:ea typeface="Segoe UI"/>
                <a:cs typeface="Segoe UI"/>
              </a:rPr>
              <a:t>Phân biệt Sys Data với App Data; bảng danh mục, chứng từ và bảng phân kỳ</a:t>
            </a:r>
          </a:p>
          <a:p>
            <a:pPr>
              <a:spcAft>
                <a:spcPts val="1000"/>
              </a:spcAft>
            </a:pPr>
            <a:r>
              <a:rPr sz="1700" b="1" i="0">
                <a:solidFill>
                  <a:srgbClr val="F2B705"/>
                </a:solidFill>
                <a:latin typeface="Segoe UI"/>
                <a:ea typeface="Segoe UI"/>
                <a:cs typeface="Segoe UI"/>
              </a:rPr>
              <a:t>▪  </a:t>
            </a:r>
            <a:r>
              <a:rPr sz="1700" b="0" i="0">
                <a:solidFill>
                  <a:srgbClr val="263238"/>
                </a:solidFill>
                <a:latin typeface="Segoe UI"/>
                <a:ea typeface="Segoe UI"/>
                <a:cs typeface="Segoe UI"/>
              </a:rPr>
              <a:t>Mở được Bcode, chọn dự án, biết các vùng màn hình chính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126480" y="1371600"/>
          <a:ext cx="5486400" cy="30175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57200"/>
                <a:gridCol w="4023360"/>
                <a:gridCol w="1005840"/>
              </a:tblGrid>
              <a:tr h="502920">
                <a:tc>
                  <a:txBody>
                    <a:bodyPr wrap="square"/>
                    <a:lstStyle/>
                    <a:p>
                      <a:r>
                        <a:rPr sz="1400" b="1" i="0">
                          <a:solidFill>
                            <a:srgbClr val="FFFFFF"/>
                          </a:solidFill>
                          <a:latin typeface="Segoe UI"/>
                          <a:ea typeface="Segoe UI"/>
                          <a:cs typeface="Segoe UI"/>
                        </a:rPr>
                        <a:t/>
                      </a:r>
                    </a:p>
                  </a:txBody>
                  <a:tcPr marL="73152" marR="73152" marT="36576" marB="36576" anchor="ctr"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 i="0">
                          <a:solidFill>
                            <a:srgbClr val="FFFFFF"/>
                          </a:solidFill>
                          <a:latin typeface="Segoe UI"/>
                          <a:ea typeface="Segoe UI"/>
                          <a:cs typeface="Segoe UI"/>
                        </a:rPr>
                        <a:t>Nội dung</a:t>
                      </a:r>
                    </a:p>
                  </a:txBody>
                  <a:tcPr marL="73152" marR="73152" marT="36576" marB="36576" anchor="ctr"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 i="0">
                          <a:solidFill>
                            <a:srgbClr val="FFFFFF"/>
                          </a:solidFill>
                          <a:latin typeface="Segoe UI"/>
                          <a:ea typeface="Segoe UI"/>
                          <a:cs typeface="Segoe UI"/>
                        </a:rPr>
                        <a:t>Thời gian</a:t>
                      </a:r>
                    </a:p>
                  </a:txBody>
                  <a:tcPr marL="73152" marR="73152" marT="36576" marB="36576" anchor="ctr">
                    <a:solidFill>
                      <a:srgbClr val="1F4E79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263238"/>
                          </a:solidFill>
                          <a:latin typeface="Segoe UI"/>
                          <a:ea typeface="Segoe UI"/>
                          <a:cs typeface="Segoe UI"/>
                        </a:rPr>
                        <a:t>1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263238"/>
                          </a:solidFill>
                          <a:latin typeface="Segoe UI"/>
                          <a:ea typeface="Segoe UI"/>
                          <a:cs typeface="Segoe UI"/>
                        </a:rPr>
                        <a:t>Ba lớp FBO, cấu trúc thư mục source, file .f / .xml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263238"/>
                          </a:solidFill>
                          <a:latin typeface="Segoe UI"/>
                          <a:ea typeface="Segoe UI"/>
                          <a:cs typeface="Segoe UI"/>
                        </a:rPr>
                        <a:t>45'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263238"/>
                          </a:solidFill>
                          <a:latin typeface="Segoe UI"/>
                          <a:ea typeface="Segoe UI"/>
                          <a:cs typeface="Segoe UI"/>
                        </a:rPr>
                        <a:t>2</a:t>
                      </a:r>
                    </a:p>
                  </a:txBody>
                  <a:tcPr marL="73152" marR="73152" marT="36576" marB="36576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263238"/>
                          </a:solidFill>
                          <a:latin typeface="Segoe UI"/>
                          <a:ea typeface="Segoe UI"/>
                          <a:cs typeface="Segoe UI"/>
                        </a:rPr>
                        <a:t>Một menu chạy như thế nào; entity là gì</a:t>
                      </a:r>
                    </a:p>
                  </a:txBody>
                  <a:tcPr marL="73152" marR="73152" marT="36576" marB="36576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263238"/>
                          </a:solidFill>
                          <a:latin typeface="Segoe UI"/>
                          <a:ea typeface="Segoe UI"/>
                          <a:cs typeface="Segoe UI"/>
                        </a:rPr>
                        <a:t>30'</a:t>
                      </a:r>
                    </a:p>
                  </a:txBody>
                  <a:tcPr marL="73152" marR="73152" marT="36576" marB="36576" anchor="ctr">
                    <a:solidFill>
                      <a:srgbClr val="F4F7FB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263238"/>
                          </a:solidFill>
                          <a:latin typeface="Segoe UI"/>
                          <a:ea typeface="Segoe UI"/>
                          <a:cs typeface="Segoe UI"/>
                        </a:rPr>
                        <a:t>3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263238"/>
                          </a:solidFill>
                          <a:latin typeface="Segoe UI"/>
                          <a:ea typeface="Segoe UI"/>
                          <a:cs typeface="Segoe UI"/>
                        </a:rPr>
                        <a:t>Database, menu, bảng danh mục / chứng từ / phân kỳ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263238"/>
                          </a:solidFill>
                          <a:latin typeface="Segoe UI"/>
                          <a:ea typeface="Segoe UI"/>
                          <a:cs typeface="Segoe UI"/>
                        </a:rPr>
                        <a:t>45'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263238"/>
                          </a:solidFill>
                          <a:latin typeface="Segoe UI"/>
                          <a:ea typeface="Segoe UI"/>
                          <a:cs typeface="Segoe UI"/>
                        </a:rPr>
                        <a:t>4</a:t>
                      </a:r>
                    </a:p>
                  </a:txBody>
                  <a:tcPr marL="73152" marR="73152" marT="36576" marB="36576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263238"/>
                          </a:solidFill>
                          <a:latin typeface="Segoe UI"/>
                          <a:ea typeface="Segoe UI"/>
                          <a:cs typeface="Segoe UI"/>
                        </a:rPr>
                        <a:t>Bcode: chọn dự án, màn hình chính, Ctrl+P, Ctrl+F1</a:t>
                      </a:r>
                    </a:p>
                  </a:txBody>
                  <a:tcPr marL="73152" marR="73152" marT="36576" marB="36576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263238"/>
                          </a:solidFill>
                          <a:latin typeface="Segoe UI"/>
                          <a:ea typeface="Segoe UI"/>
                          <a:cs typeface="Segoe UI"/>
                        </a:rPr>
                        <a:t>30'</a:t>
                      </a:r>
                    </a:p>
                  </a:txBody>
                  <a:tcPr marL="73152" marR="73152" marT="36576" marB="36576" anchor="ctr">
                    <a:solidFill>
                      <a:srgbClr val="F4F7FB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263238"/>
                          </a:solidFill>
                          <a:latin typeface="Segoe UI"/>
                          <a:ea typeface="Segoe UI"/>
                          <a:cs typeface="Segoe UI"/>
                        </a:rPr>
                        <a:t>5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263238"/>
                          </a:solidFill>
                          <a:latin typeface="Segoe UI"/>
                          <a:ea typeface="Segoe UI"/>
                          <a:cs typeface="Segoe UI"/>
                        </a:rPr>
                        <a:t>Thực hành và hỏi đáp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263238"/>
                          </a:solidFill>
                          <a:latin typeface="Segoe UI"/>
                          <a:ea typeface="Segoe UI"/>
                          <a:cs typeface="Segoe UI"/>
                        </a:rPr>
                        <a:t>30'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640080" y="5623560"/>
            <a:ext cx="10927080" cy="640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F2B70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5623560"/>
            <a:ext cx="91440" cy="640080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7" y="5678424"/>
            <a:ext cx="1060704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400" b="1" i="0">
                <a:solidFill>
                  <a:srgbClr val="F2B705"/>
                </a:solidFill>
                <a:latin typeface="Segoe UI"/>
                <a:ea typeface="Segoe UI"/>
                <a:cs typeface="Segoe UI"/>
              </a:rPr>
              <a:t>Lưu ý:</a:t>
            </a:r>
            <a:r>
              <a:rPr sz="1400" b="0" i="0">
                <a:solidFill>
                  <a:srgbClr val="263238"/>
                </a:solidFill>
                <a:latin typeface="Segoe UI"/>
                <a:ea typeface="Segoe UI"/>
                <a:cs typeface="Segoe UI"/>
              </a:rPr>
              <a:t> Chuẩn bị: Máy đã cài Bcode và BcodeViewer; có 1 dự án thử (site và bản sao database)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1064240" cy="6858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3000" b="1" i="0">
                <a:solidFill>
                  <a:srgbClr val="1F4E79"/>
                </a:solidFill>
                <a:latin typeface="Segoe UI"/>
                <a:ea typeface="Segoe UI"/>
                <a:cs typeface="Segoe UI"/>
              </a:rPr>
              <a:t>Ba lớp của một hệ thống FBO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24128"/>
            <a:ext cx="1005840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000" b="0" i="0">
                <a:solidFill>
                  <a:srgbClr val="6B7785"/>
                </a:solidFill>
                <a:latin typeface="Segoe UI"/>
                <a:ea typeface="Segoe UI"/>
                <a:cs typeface="Segoe UI"/>
              </a:rPr>
              <a:t>Buổi 1 · Làm quen hệ thống Fast và Bcode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46520"/>
            <a:ext cx="73152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/>
            <a:r>
              <a:rPr sz="1000" b="0" i="0">
                <a:solidFill>
                  <a:srgbClr val="6B7785"/>
                </a:solidFill>
                <a:latin typeface="Segoe UI"/>
                <a:ea typeface="Segoe UI"/>
                <a:cs typeface="Segoe UI"/>
              </a:rPr>
              <a:t>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645920"/>
            <a:ext cx="3447287" cy="2011680"/>
          </a:xfrm>
          <a:prstGeom prst="roundRect">
            <a:avLst>
              <a:gd name="adj" fmla="val 10000"/>
            </a:avLst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1" y="1737360"/>
            <a:ext cx="3300983" cy="905256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Trình duyệt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1" y="2651760"/>
            <a:ext cx="3300983" cy="965606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/>
            <a:r>
              <a:rPr sz="1400" b="0" i="0">
                <a:solidFill>
                  <a:srgbClr val="E3ECF5"/>
                </a:solidFill>
                <a:latin typeface="Segoe UI"/>
                <a:ea typeface="Segoe UI"/>
                <a:cs typeface="Segoe UI"/>
              </a:rPr>
              <a:t>Người dùng vào link web (Login WLink), đăng nhập, mở menu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4123944" y="2532888"/>
            <a:ext cx="219456" cy="237744"/>
          </a:xfrm>
          <a:prstGeom prst="rightArrow">
            <a:avLst/>
          </a:prstGeom>
          <a:solidFill>
            <a:srgbClr val="F2B7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379976" y="1645920"/>
            <a:ext cx="3447287" cy="2011680"/>
          </a:xfrm>
          <a:prstGeom prst="roundRect">
            <a:avLst>
              <a:gd name="adj" fmla="val 10000"/>
            </a:avLst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53128" y="1737360"/>
            <a:ext cx="3300983" cy="905256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Site web (IIS)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53128" y="2651760"/>
            <a:ext cx="3300983" cy="965606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/>
            <a:r>
              <a:rPr sz="1400" b="0" i="0">
                <a:solidFill>
                  <a:srgbClr val="E3ECF5"/>
                </a:solidFill>
                <a:latin typeface="Segoe UI"/>
                <a:ea typeface="Segoe UI"/>
                <a:cs typeface="Segoe UI"/>
              </a:rPr>
              <a:t>Main\*.aspx</a:t>
            </a:r>
          </a:p>
          <a:p>
            <a:pPr algn="ctr"/>
            <a:r>
              <a:rPr sz="1400" b="0" i="0">
                <a:solidFill>
                  <a:srgbClr val="E3ECF5"/>
                </a:solidFill>
                <a:latin typeface="Segoe UI"/>
                <a:ea typeface="Segoe UI"/>
                <a:cs typeface="Segoe UI"/>
              </a:rPr>
              <a:t>App_Data\Controllers\…</a:t>
            </a:r>
          </a:p>
          <a:p>
            <a:pPr algn="ctr"/>
            <a:r>
              <a:rPr sz="1400" b="0" i="0">
                <a:solidFill>
                  <a:srgbClr val="E3ECF5"/>
                </a:solidFill>
                <a:latin typeface="Segoe UI"/>
                <a:ea typeface="Segoe UI"/>
                <a:cs typeface="Segoe UI"/>
              </a:rPr>
              <a:t>web.config, bin\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7863839" y="2532888"/>
            <a:ext cx="219456" cy="237744"/>
          </a:xfrm>
          <a:prstGeom prst="rightArrow">
            <a:avLst/>
          </a:prstGeom>
          <a:solidFill>
            <a:srgbClr val="F2B7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119871" y="1645920"/>
            <a:ext cx="3447287" cy="2011680"/>
          </a:xfrm>
          <a:prstGeom prst="roundRect">
            <a:avLst>
              <a:gd name="adj" fmla="val 10000"/>
            </a:avLst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93023" y="1737360"/>
            <a:ext cx="3300983" cy="905256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SQL Server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93023" y="2651760"/>
            <a:ext cx="3300983" cy="965606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/>
            <a:r>
              <a:rPr sz="1400" b="0" i="0">
                <a:solidFill>
                  <a:srgbClr val="E3ECF5"/>
                </a:solidFill>
                <a:latin typeface="Segoe UI"/>
                <a:ea typeface="Segoe UI"/>
                <a:cs typeface="Segoe UI"/>
              </a:rPr>
              <a:t>Sys Data: menu, user, quyền</a:t>
            </a:r>
          </a:p>
          <a:p>
            <a:pPr algn="ctr"/>
            <a:r>
              <a:rPr sz="1400" b="0" i="0">
                <a:solidFill>
                  <a:srgbClr val="E3ECF5"/>
                </a:solidFill>
                <a:latin typeface="Segoe UI"/>
                <a:ea typeface="Segoe UI"/>
                <a:cs typeface="Segoe UI"/>
              </a:rPr>
              <a:t>App Data: danh mục, chứng từ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4023360"/>
            <a:ext cx="1088136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900" b="1" i="0">
                <a:solidFill>
                  <a:srgbClr val="F2B705"/>
                </a:solidFill>
                <a:latin typeface="Segoe UI"/>
                <a:ea typeface="Segoe UI"/>
                <a:cs typeface="Segoe UI"/>
              </a:rPr>
              <a:t>▪  </a:t>
            </a:r>
            <a:r>
              <a:rPr sz="1900" b="0" i="0">
                <a:solidFill>
                  <a:srgbClr val="263238"/>
                </a:solidFill>
                <a:latin typeface="Segoe UI"/>
                <a:ea typeface="Segoe UI"/>
                <a:cs typeface="Segoe UI"/>
              </a:rPr>
              <a:t>Màn hình </a:t>
            </a:r>
            <a:r>
              <a:rPr sz="1900" b="1" i="0">
                <a:solidFill>
                  <a:srgbClr val="1F4E79"/>
                </a:solidFill>
                <a:latin typeface="Segoe UI"/>
                <a:ea typeface="Segoe UI"/>
                <a:cs typeface="Segoe UI"/>
              </a:rPr>
              <a:t>không viết bằng C#</a:t>
            </a:r>
            <a:r>
              <a:rPr sz="1900" b="0" i="0">
                <a:solidFill>
                  <a:srgbClr val="263238"/>
                </a:solidFill>
                <a:latin typeface="Segoe UI"/>
                <a:ea typeface="Segoe UI"/>
                <a:cs typeface="Segoe UI"/>
              </a:rPr>
              <a:t> mà khai báo bằng file XML gọi là </a:t>
            </a:r>
            <a:r>
              <a:rPr sz="1900" b="1" i="0">
                <a:solidFill>
                  <a:srgbClr val="1F4E79"/>
                </a:solidFill>
                <a:latin typeface="Segoe UI"/>
                <a:ea typeface="Segoe UI"/>
                <a:cs typeface="Segoe UI"/>
              </a:rPr>
              <a:t>controller</a:t>
            </a:r>
            <a:r>
              <a:rPr sz="1900" b="0" i="0">
                <a:solidFill>
                  <a:srgbClr val="263238"/>
                </a:solidFill>
                <a:latin typeface="Segoe UI"/>
                <a:ea typeface="Segoe UI"/>
                <a:cs typeface="Segoe UI"/>
              </a:rPr>
              <a:t> (FCode).</a:t>
            </a:r>
          </a:p>
          <a:p>
            <a:pPr>
              <a:spcAft>
                <a:spcPts val="1000"/>
              </a:spcAft>
            </a:pPr>
            <a:r>
              <a:rPr sz="1900" b="1" i="0">
                <a:solidFill>
                  <a:srgbClr val="F2B705"/>
                </a:solidFill>
                <a:latin typeface="Segoe UI"/>
                <a:ea typeface="Segoe UI"/>
                <a:cs typeface="Segoe UI"/>
              </a:rPr>
              <a:t>▪  </a:t>
            </a:r>
            <a:r>
              <a:rPr sz="1900" b="0" i="0">
                <a:solidFill>
                  <a:srgbClr val="263238"/>
                </a:solidFill>
                <a:latin typeface="Segoe UI"/>
                <a:ea typeface="Segoe UI"/>
                <a:cs typeface="Segoe UI"/>
              </a:rPr>
              <a:t>Việc của lập trình viên triển khai: sửa hoặc thêm </a:t>
            </a:r>
            <a:r>
              <a:rPr sz="1900" b="1" i="0">
                <a:solidFill>
                  <a:srgbClr val="1F4E79"/>
                </a:solidFill>
                <a:latin typeface="Segoe UI"/>
                <a:ea typeface="Segoe UI"/>
                <a:cs typeface="Segoe UI"/>
              </a:rPr>
              <a:t>controller</a:t>
            </a:r>
            <a:r>
              <a:rPr sz="1900" b="0" i="0">
                <a:solidFill>
                  <a:srgbClr val="263238"/>
                </a:solidFill>
                <a:latin typeface="Segoe UI"/>
                <a:ea typeface="Segoe UI"/>
                <a:cs typeface="Segoe UI"/>
              </a:rPr>
              <a:t>, </a:t>
            </a:r>
            <a:r>
              <a:rPr sz="1900" b="1" i="0">
                <a:solidFill>
                  <a:srgbClr val="1F4E79"/>
                </a:solidFill>
                <a:latin typeface="Segoe UI"/>
                <a:ea typeface="Segoe UI"/>
                <a:cs typeface="Segoe UI"/>
              </a:rPr>
              <a:t>procedure SQL</a:t>
            </a:r>
            <a:r>
              <a:rPr sz="1900" b="0" i="0">
                <a:solidFill>
                  <a:srgbClr val="263238"/>
                </a:solidFill>
                <a:latin typeface="Segoe UI"/>
                <a:ea typeface="Segoe UI"/>
                <a:cs typeface="Segoe UI"/>
              </a:rPr>
              <a:t>, </a:t>
            </a:r>
            <a:r>
              <a:rPr sz="1900" b="1" i="0">
                <a:solidFill>
                  <a:srgbClr val="1F4E79"/>
                </a:solidFill>
                <a:latin typeface="Segoe UI"/>
                <a:ea typeface="Segoe UI"/>
                <a:cs typeface="Segoe UI"/>
              </a:rPr>
              <a:t>menu</a:t>
            </a:r>
            <a:r>
              <a:rPr sz="1900" b="0" i="0">
                <a:solidFill>
                  <a:srgbClr val="263238"/>
                </a:solidFill>
                <a:latin typeface="Segoe UI"/>
                <a:ea typeface="Segoe UI"/>
                <a:cs typeface="Segoe UI"/>
              </a:rPr>
              <a:t>.</a:t>
            </a:r>
          </a:p>
          <a:p>
            <a:pPr>
              <a:spcAft>
                <a:spcPts val="1000"/>
              </a:spcAft>
            </a:pPr>
            <a:r>
              <a:rPr sz="1900" b="1" i="0">
                <a:solidFill>
                  <a:srgbClr val="F2B705"/>
                </a:solidFill>
                <a:latin typeface="Segoe UI"/>
                <a:ea typeface="Segoe UI"/>
                <a:cs typeface="Segoe UI"/>
              </a:rPr>
              <a:t>▪  </a:t>
            </a:r>
            <a:r>
              <a:rPr sz="1900" b="0" i="0">
                <a:solidFill>
                  <a:srgbClr val="263238"/>
                </a:solidFill>
                <a:latin typeface="Segoe UI"/>
                <a:ea typeface="Segoe UI"/>
                <a:cs typeface="Segoe UI"/>
              </a:rPr>
              <a:t>Mỗi dự án gồm 1 site và 2 database riêng; trong Bcode gọi là </a:t>
            </a:r>
            <a:r>
              <a:rPr sz="1900" b="1" i="0">
                <a:solidFill>
                  <a:srgbClr val="1F4E79"/>
                </a:solidFill>
                <a:latin typeface="Segoe UI"/>
                <a:ea typeface="Segoe UI"/>
                <a:cs typeface="Segoe UI"/>
              </a:rPr>
              <a:t>dự án (workspace)</a:t>
            </a:r>
            <a:r>
              <a:rPr sz="1900" b="0" i="0">
                <a:solidFill>
                  <a:srgbClr val="263238"/>
                </a:solidFill>
                <a:latin typeface="Segoe UI"/>
                <a:ea typeface="Segoe UI"/>
                <a:cs typeface="Segoe UI"/>
              </a:rPr>
              <a:t>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1064240" cy="6858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3000" b="1" i="0">
                <a:solidFill>
                  <a:srgbClr val="1F4E79"/>
                </a:solidFill>
                <a:latin typeface="Segoe UI"/>
                <a:ea typeface="Segoe UI"/>
                <a:cs typeface="Segoe UI"/>
              </a:rPr>
              <a:t>Cấu trúc thư mục source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24128"/>
            <a:ext cx="1005840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000" b="0" i="0">
                <a:solidFill>
                  <a:srgbClr val="6B7785"/>
                </a:solidFill>
                <a:latin typeface="Segoe UI"/>
                <a:ea typeface="Segoe UI"/>
                <a:cs typeface="Segoe UI"/>
              </a:rPr>
              <a:t>Buổi 1 · Làm quen hệ thống Fast và Bcode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46520"/>
            <a:ext cx="73152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/>
            <a:r>
              <a:rPr sz="1000" b="0" i="0">
                <a:solidFill>
                  <a:srgbClr val="6B7785"/>
                </a:solidFill>
                <a:latin typeface="Segoe UI"/>
                <a:ea typeface="Segoe UI"/>
                <a:cs typeface="Segoe UI"/>
              </a:rPr>
              <a:t>4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600200"/>
          <a:ext cx="10881360" cy="378561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206240"/>
                <a:gridCol w="6675120"/>
              </a:tblGrid>
              <a:tr h="420624">
                <a:tc>
                  <a:txBody>
                    <a:bodyPr wrap="square"/>
                    <a:lstStyle/>
                    <a:p>
                      <a:r>
                        <a:rPr sz="1500" b="1" i="0">
                          <a:solidFill>
                            <a:srgbClr val="FFFFFF"/>
                          </a:solidFill>
                          <a:latin typeface="Segoe UI"/>
                          <a:ea typeface="Segoe UI"/>
                          <a:cs typeface="Segoe UI"/>
                        </a:rPr>
                        <a:t>Thư mục</a:t>
                      </a:r>
                    </a:p>
                  </a:txBody>
                  <a:tcPr marL="73152" marR="73152" marT="36576" marB="36576" anchor="ctr"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1" i="0">
                          <a:solidFill>
                            <a:srgbClr val="FFFFFF"/>
                          </a:solidFill>
                          <a:latin typeface="Segoe UI"/>
                          <a:ea typeface="Segoe UI"/>
                          <a:cs typeface="Segoe UI"/>
                        </a:rPr>
                        <a:t>Chứa gì</a:t>
                      </a:r>
                    </a:p>
                  </a:txBody>
                  <a:tcPr marL="73152" marR="73152" marT="36576" marB="36576" anchor="ctr">
                    <a:solidFill>
                      <a:srgbClr val="1F4E79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B02A2A"/>
                          </a:solidFill>
                          <a:latin typeface="Consolas"/>
                          <a:ea typeface="Consolas"/>
                          <a:cs typeface="Consolas"/>
                        </a:rPr>
                        <a:t>Main\*.aspx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263238"/>
                          </a:solidFill>
                          <a:latin typeface="Segoe UI"/>
                          <a:ea typeface="Segoe UI"/>
                          <a:cs typeface="Segoe UI"/>
                        </a:rPr>
                        <a:t>Trang của từng menu — chỉ khai báo </a:t>
                      </a:r>
                      <a:r>
                        <a:rPr sz="1400" b="0" i="0">
                          <a:solidFill>
                            <a:srgbClr val="B02A2A"/>
                          </a:solidFill>
                          <a:latin typeface="Consolas"/>
                          <a:ea typeface="Consolas"/>
                          <a:cs typeface="Consolas"/>
                        </a:rPr>
                        <a:t>Controller="…"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B02A2A"/>
                          </a:solidFill>
                          <a:latin typeface="Consolas"/>
                          <a:ea typeface="Consolas"/>
                          <a:cs typeface="Consolas"/>
                        </a:rPr>
                        <a:t>Controllers\Dir</a:t>
                      </a:r>
                    </a:p>
                  </a:txBody>
                  <a:tcPr marL="73152" marR="73152" marT="36576" marB="36576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263238"/>
                          </a:solidFill>
                          <a:latin typeface="Segoe UI"/>
                          <a:ea typeface="Segoe UI"/>
                          <a:cs typeface="Segoe UI"/>
                        </a:rPr>
                        <a:t>Form một bản ghi: danh mục, chứng từ, form điều kiện</a:t>
                      </a:r>
                    </a:p>
                  </a:txBody>
                  <a:tcPr marL="73152" marR="73152" marT="36576" marB="36576" anchor="ctr">
                    <a:solidFill>
                      <a:srgbClr val="F4F7FB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B02A2A"/>
                          </a:solidFill>
                          <a:latin typeface="Consolas"/>
                          <a:ea typeface="Consolas"/>
                          <a:cs typeface="Consolas"/>
                        </a:rPr>
                        <a:t>Controllers\Grid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263238"/>
                          </a:solidFill>
                          <a:latin typeface="Segoe UI"/>
                          <a:ea typeface="Segoe UI"/>
                          <a:cs typeface="Segoe UI"/>
                        </a:rPr>
                        <a:t>Lưới: danh sách, chi tiết chứng từ, kết quả báo cáo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B02A2A"/>
                          </a:solidFill>
                          <a:latin typeface="Consolas"/>
                          <a:ea typeface="Consolas"/>
                          <a:cs typeface="Consolas"/>
                        </a:rPr>
                        <a:t>Controllers\Lookup</a:t>
                      </a:r>
                    </a:p>
                  </a:txBody>
                  <a:tcPr marL="73152" marR="73152" marT="36576" marB="36576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263238"/>
                          </a:solidFill>
                          <a:latin typeface="Segoe UI"/>
                          <a:ea typeface="Segoe UI"/>
                          <a:cs typeface="Segoe UI"/>
                        </a:rPr>
                        <a:t>Danh sách tra cứu khi chọn mã</a:t>
                      </a:r>
                    </a:p>
                  </a:txBody>
                  <a:tcPr marL="73152" marR="73152" marT="36576" marB="36576" anchor="ctr">
                    <a:solidFill>
                      <a:srgbClr val="F4F7FB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B02A2A"/>
                          </a:solidFill>
                          <a:latin typeface="Consolas"/>
                          <a:ea typeface="Consolas"/>
                          <a:cs typeface="Consolas"/>
                        </a:rPr>
                        <a:t>Controllers\Filter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263238"/>
                          </a:solidFill>
                          <a:latin typeface="Segoe UI"/>
                          <a:ea typeface="Segoe UI"/>
                          <a:cs typeface="Segoe UI"/>
                        </a:rPr>
                        <a:t>Điều kiện lọc báo cáo, form import, form xử lý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B02A2A"/>
                          </a:solidFill>
                          <a:latin typeface="Consolas"/>
                          <a:ea typeface="Consolas"/>
                          <a:cs typeface="Consolas"/>
                        </a:rPr>
                        <a:t>Controllers\Report</a:t>
                      </a:r>
                    </a:p>
                  </a:txBody>
                  <a:tcPr marL="73152" marR="73152" marT="36576" marB="36576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263238"/>
                          </a:solidFill>
                          <a:latin typeface="Segoe UI"/>
                          <a:ea typeface="Segoe UI"/>
                          <a:cs typeface="Segoe UI"/>
                        </a:rPr>
                        <a:t>Khai báo mẫu in và xuất Excel</a:t>
                      </a:r>
                    </a:p>
                  </a:txBody>
                  <a:tcPr marL="73152" marR="73152" marT="36576" marB="36576" anchor="ctr">
                    <a:solidFill>
                      <a:srgbClr val="F4F7FB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B02A2A"/>
                          </a:solidFill>
                          <a:latin typeface="Consolas"/>
                          <a:ea typeface="Consolas"/>
                          <a:cs typeface="Consolas"/>
                        </a:rPr>
                        <a:t>Controllers\Include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263238"/>
                          </a:solidFill>
                          <a:latin typeface="Segoe UI"/>
                          <a:ea typeface="Segoe UI"/>
                          <a:cs typeface="Segoe UI"/>
                        </a:rPr>
                        <a:t>Entity, đoạn XML và JavaScript dùng chung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B02A2A"/>
                          </a:solidFill>
                          <a:latin typeface="Consolas"/>
                          <a:ea typeface="Consolas"/>
                          <a:cs typeface="Consolas"/>
                        </a:rPr>
                        <a:t>Templates\Excel</a:t>
                      </a:r>
                      <a:r>
                        <a:rPr sz="1500" b="0" i="0">
                          <a:solidFill>
                            <a:srgbClr val="263238"/>
                          </a:solidFill>
                          <a:latin typeface="Segoe UI"/>
                          <a:ea typeface="Segoe UI"/>
                          <a:cs typeface="Segoe UI"/>
                        </a:rPr>
                        <a:t> · </a:t>
                      </a:r>
                      <a:r>
                        <a:rPr sz="1400" b="0" i="0">
                          <a:solidFill>
                            <a:srgbClr val="B02A2A"/>
                          </a:solidFill>
                          <a:latin typeface="Consolas"/>
                          <a:ea typeface="Consolas"/>
                          <a:cs typeface="Consolas"/>
                        </a:rPr>
                        <a:t>Rpt</a:t>
                      </a:r>
                      <a:r>
                        <a:rPr sz="1500" b="0" i="0">
                          <a:solidFill>
                            <a:srgbClr val="263238"/>
                          </a:solidFill>
                          <a:latin typeface="Segoe UI"/>
                          <a:ea typeface="Segoe UI"/>
                          <a:cs typeface="Segoe UI"/>
                        </a:rPr>
                        <a:t> · </a:t>
                      </a:r>
                      <a:r>
                        <a:rPr sz="1400" b="0" i="0">
                          <a:solidFill>
                            <a:srgbClr val="B02A2A"/>
                          </a:solidFill>
                          <a:latin typeface="Consolas"/>
                          <a:ea typeface="Consolas"/>
                          <a:cs typeface="Consolas"/>
                        </a:rPr>
                        <a:t>Upload</a:t>
                      </a:r>
                    </a:p>
                  </a:txBody>
                  <a:tcPr marL="73152" marR="73152" marT="36576" marB="36576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263238"/>
                          </a:solidFill>
                          <a:latin typeface="Segoe UI"/>
                          <a:ea typeface="Segoe UI"/>
                          <a:cs typeface="Segoe UI"/>
                        </a:rPr>
                        <a:t>Mẫu Excel · Crystal Report · mẫu import</a:t>
                      </a:r>
                    </a:p>
                  </a:txBody>
                  <a:tcPr marL="73152" marR="73152" marT="36576" marB="36576" anchor="ctr">
                    <a:solidFill>
                      <a:srgbClr val="F4F7FB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640080" y="5715000"/>
            <a:ext cx="10927080" cy="5943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8E44A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5715000"/>
            <a:ext cx="91440" cy="594360"/>
          </a:xfrm>
          <a:prstGeom prst="rect">
            <a:avLst/>
          </a:prstGeom>
          <a:solidFill>
            <a:srgbClr val="8E44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7" y="5769864"/>
            <a:ext cx="10607040" cy="5029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300" b="1" i="0">
                <a:solidFill>
                  <a:srgbClr val="8E44AD"/>
                </a:solidFill>
                <a:latin typeface="Segoe UI"/>
                <a:ea typeface="Segoe UI"/>
                <a:cs typeface="Segoe UI"/>
              </a:rPr>
              <a:t>Cần kiểm tra ở dự án:</a:t>
            </a:r>
            <a:r>
              <a:rPr sz="1300" b="0" i="0">
                <a:solidFill>
                  <a:srgbClr val="263238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1200" b="0" i="0">
                <a:solidFill>
                  <a:srgbClr val="B02A2A"/>
                </a:solidFill>
                <a:latin typeface="Consolas"/>
                <a:ea typeface="Consolas"/>
                <a:cs typeface="Consolas"/>
              </a:rPr>
              <a:t>.xml</a:t>
            </a:r>
            <a:r>
              <a:rPr sz="1300" b="0" i="0">
                <a:solidFill>
                  <a:srgbClr val="263238"/>
                </a:solidFill>
                <a:latin typeface="Segoe UI"/>
                <a:ea typeface="Segoe UI"/>
                <a:cs typeface="Segoe UI"/>
              </a:rPr>
              <a:t> là bản nguồn đọc được · </a:t>
            </a:r>
            <a:r>
              <a:rPr sz="1200" b="0" i="0">
                <a:solidFill>
                  <a:srgbClr val="B02A2A"/>
                </a:solidFill>
                <a:latin typeface="Consolas"/>
                <a:ea typeface="Consolas"/>
                <a:cs typeface="Consolas"/>
              </a:rPr>
              <a:t>.f</a:t>
            </a:r>
            <a:r>
              <a:rPr sz="1300" b="0" i="0">
                <a:solidFill>
                  <a:srgbClr val="263238"/>
                </a:solidFill>
                <a:latin typeface="Segoe UI"/>
                <a:ea typeface="Segoe UI"/>
                <a:cs typeface="Segoe UI"/>
              </a:rPr>
              <a:t> là bản phát hành (có thể mã hoá </a:t>
            </a:r>
            <a:r>
              <a:rPr sz="1200" b="0" i="0">
                <a:solidFill>
                  <a:srgbClr val="B02A2A"/>
                </a:solidFill>
                <a:latin typeface="Consolas"/>
                <a:ea typeface="Consolas"/>
                <a:cs typeface="Consolas"/>
              </a:rPr>
              <a:t>&lt;Encrypted&gt;</a:t>
            </a:r>
            <a:r>
              <a:rPr sz="1300" b="0" i="0">
                <a:solidFill>
                  <a:srgbClr val="263238"/>
                </a:solidFill>
                <a:latin typeface="Segoe UI"/>
                <a:ea typeface="Segoe UI"/>
                <a:cs typeface="Segoe UI"/>
              </a:rPr>
              <a:t>). Có cả hai thì kiểm tra ở dự án xem file nào chạy.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1064240" cy="6858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3000" b="1" i="0">
                <a:solidFill>
                  <a:srgbClr val="1F4E79"/>
                </a:solidFill>
                <a:latin typeface="Segoe UI"/>
                <a:ea typeface="Segoe UI"/>
                <a:cs typeface="Segoe UI"/>
              </a:rPr>
              <a:t>Một menu chạy như thế nào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32688"/>
            <a:ext cx="10972800" cy="411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500" b="0" i="0">
                <a:solidFill>
                  <a:srgbClr val="6B7785"/>
                </a:solidFill>
                <a:latin typeface="Segoe UI"/>
                <a:ea typeface="Segoe UI"/>
                <a:cs typeface="Segoe UI"/>
              </a:rPr>
              <a:t>Ví dụ thật: Danh mục bộ phận trong bản FBO mẫu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53312"/>
            <a:ext cx="1005840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000" b="0" i="0">
                <a:solidFill>
                  <a:srgbClr val="6B7785"/>
                </a:solidFill>
                <a:latin typeface="Segoe UI"/>
                <a:ea typeface="Segoe UI"/>
                <a:cs typeface="Segoe UI"/>
              </a:rPr>
              <a:t>Buổi 1 · Làm quen hệ thống Fast và Bcode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46520"/>
            <a:ext cx="73152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/>
            <a:r>
              <a:rPr sz="1000" b="0" i="0">
                <a:solidFill>
                  <a:srgbClr val="6B7785"/>
                </a:solidFill>
                <a:latin typeface="Segoe UI"/>
                <a:ea typeface="Segoe UI"/>
                <a:cs typeface="Segoe UI"/>
              </a:rPr>
              <a:t>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828800"/>
            <a:ext cx="1951329" cy="1737360"/>
          </a:xfrm>
          <a:prstGeom prst="roundRect">
            <a:avLst>
              <a:gd name="adj" fmla="val 10000"/>
            </a:avLst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13231" y="1920240"/>
            <a:ext cx="1805025" cy="78181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wcommand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1" y="2697480"/>
            <a:ext cx="1805025" cy="83393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/>
            <a:r>
              <a:rPr sz="1200" b="0" i="0">
                <a:solidFill>
                  <a:srgbClr val="E3ECF5"/>
                </a:solidFill>
                <a:latin typeface="Segoe UI"/>
                <a:ea typeface="Segoe UI"/>
                <a:cs typeface="Segoe UI"/>
              </a:rPr>
              <a:t>link = smbp.aspx</a:t>
            </a:r>
          </a:p>
          <a:p>
            <a:pPr algn="ctr"/>
            <a:r>
              <a:rPr sz="1200" b="0" i="0">
                <a:solidFill>
                  <a:srgbClr val="E3ECF5"/>
                </a:solidFill>
                <a:latin typeface="Segoe UI"/>
                <a:ea typeface="Segoe UI"/>
                <a:cs typeface="Segoe UI"/>
              </a:rPr>
              <a:t>(Sys Data)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2627985" y="2578608"/>
            <a:ext cx="219456" cy="237744"/>
          </a:xfrm>
          <a:prstGeom prst="rightArrow">
            <a:avLst/>
          </a:prstGeom>
          <a:solidFill>
            <a:srgbClr val="F2B7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2884017" y="1828800"/>
            <a:ext cx="1951329" cy="1737360"/>
          </a:xfrm>
          <a:prstGeom prst="roundRect">
            <a:avLst>
              <a:gd name="adj" fmla="val 10000"/>
            </a:avLst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957169" y="1920240"/>
            <a:ext cx="1805025" cy="78181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Main\smbp.aspx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57169" y="2697480"/>
            <a:ext cx="1805025" cy="83393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/>
            <a:r>
              <a:rPr sz="1200" b="0" i="0">
                <a:solidFill>
                  <a:srgbClr val="E3ECF5"/>
                </a:solidFill>
                <a:latin typeface="Segoe UI"/>
                <a:ea typeface="Segoe UI"/>
                <a:cs typeface="Segoe UI"/>
              </a:rPr>
              <a:t>Controller="Department"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4871923" y="2578608"/>
            <a:ext cx="219456" cy="237744"/>
          </a:xfrm>
          <a:prstGeom prst="rightArrow">
            <a:avLst/>
          </a:prstGeom>
          <a:solidFill>
            <a:srgbClr val="F2B7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5127955" y="1828800"/>
            <a:ext cx="1951329" cy="1737360"/>
          </a:xfrm>
          <a:prstGeom prst="roundRect">
            <a:avLst>
              <a:gd name="adj" fmla="val 10000"/>
            </a:avLst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201107" y="1920240"/>
            <a:ext cx="1805025" cy="78181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Grid\Department.f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201107" y="2697480"/>
            <a:ext cx="1805025" cy="83393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/>
            <a:r>
              <a:rPr sz="1200" b="0" i="0">
                <a:solidFill>
                  <a:srgbClr val="E3ECF5"/>
                </a:solidFill>
                <a:latin typeface="Segoe UI"/>
                <a:ea typeface="Segoe UI"/>
                <a:cs typeface="Segoe UI"/>
              </a:rPr>
              <a:t>lưới danh sách, bảng dmbp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7115860" y="2578608"/>
            <a:ext cx="219456" cy="237744"/>
          </a:xfrm>
          <a:prstGeom prst="rightArrow">
            <a:avLst/>
          </a:prstGeom>
          <a:solidFill>
            <a:srgbClr val="F2B7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7371892" y="1828800"/>
            <a:ext cx="1951329" cy="1737360"/>
          </a:xfrm>
          <a:prstGeom prst="roundRect">
            <a:avLst>
              <a:gd name="adj" fmla="val 10000"/>
            </a:avLst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445044" y="1920240"/>
            <a:ext cx="1805025" cy="78181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Dir\Department.f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45044" y="2697480"/>
            <a:ext cx="1805025" cy="83393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/>
            <a:r>
              <a:rPr sz="1200" b="0" i="0">
                <a:solidFill>
                  <a:srgbClr val="E3ECF5"/>
                </a:solidFill>
                <a:latin typeface="Segoe UI"/>
                <a:ea typeface="Segoe UI"/>
                <a:cs typeface="Segoe UI"/>
              </a:rPr>
              <a:t>form thêm / sửa, khoá ma_bp</a:t>
            </a:r>
          </a:p>
        </p:txBody>
      </p:sp>
      <p:sp>
        <p:nvSpPr>
          <p:cNvPr id="23" name="Right Arrow 22"/>
          <p:cNvSpPr/>
          <p:nvPr/>
        </p:nvSpPr>
        <p:spPr>
          <a:xfrm>
            <a:off x="9359798" y="2578608"/>
            <a:ext cx="219456" cy="237744"/>
          </a:xfrm>
          <a:prstGeom prst="rightArrow">
            <a:avLst/>
          </a:prstGeom>
          <a:solidFill>
            <a:srgbClr val="F2B7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9615830" y="1828800"/>
            <a:ext cx="1951329" cy="1737360"/>
          </a:xfrm>
          <a:prstGeom prst="roundRect">
            <a:avLst>
              <a:gd name="adj" fmla="val 10000"/>
            </a:avLst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688982" y="1920240"/>
            <a:ext cx="1805025" cy="78181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Lookup\Department.xml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88982" y="2697480"/>
            <a:ext cx="1805025" cy="83393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/>
            <a:r>
              <a:rPr sz="1200" b="0" i="0">
                <a:solidFill>
                  <a:srgbClr val="E3ECF5"/>
                </a:solidFill>
                <a:latin typeface="Segoe UI"/>
                <a:ea typeface="Segoe UI"/>
                <a:cs typeface="Segoe UI"/>
              </a:rPr>
              <a:t>tra cứu từ màn hình khác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40080" y="3931920"/>
            <a:ext cx="10927080" cy="1005840"/>
          </a:xfrm>
          <a:prstGeom prst="roundRect">
            <a:avLst>
              <a:gd name="adj" fmla="val 3000"/>
            </a:avLst>
          </a:prstGeom>
          <a:solidFill>
            <a:srgbClr val="1E23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2959" y="4005072"/>
            <a:ext cx="10561319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100" b="1" i="0">
                <a:solidFill>
                  <a:srgbClr val="9AA8B8"/>
                </a:solidFill>
                <a:latin typeface="Segoe UI"/>
                <a:ea typeface="Segoe UI"/>
                <a:cs typeface="Segoe UI"/>
              </a:rPr>
              <a:t>Main\smbp.aspx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2959" y="4315968"/>
            <a:ext cx="1060704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400" b="0" i="0">
                <a:solidFill>
                  <a:srgbClr val="E6E6E6"/>
                </a:solidFill>
                <a:latin typeface="Consolas"/>
                <a:ea typeface="Consolas"/>
                <a:cs typeface="Consolas"/>
              </a:rPr>
              <a:t>&lt;FastBusiness:ReportExtender ID="MainReport" runat="server"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400" b="0" i="0">
                <a:solidFill>
                  <a:srgbClr val="E6E6E6"/>
                </a:solidFill>
                <a:latin typeface="Consolas"/>
                <a:ea typeface="Consolas"/>
                <a:cs typeface="Consolas"/>
              </a:rPr>
              <a:t>    TargetControlID="panelReport" ReadOnly="true" Controller="Department"/&gt;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40080" y="5257800"/>
            <a:ext cx="10927080" cy="731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F2B70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40080" y="5257800"/>
            <a:ext cx="91440" cy="731520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41247" y="5312664"/>
            <a:ext cx="10607040" cy="6400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500" b="1" i="0">
                <a:solidFill>
                  <a:srgbClr val="F2B705"/>
                </a:solidFill>
                <a:latin typeface="Segoe UI"/>
                <a:ea typeface="Segoe UI"/>
                <a:cs typeface="Segoe UI"/>
              </a:rPr>
              <a:t>Lưu ý:</a:t>
            </a:r>
            <a:r>
              <a:rPr sz="1500" b="0" i="0">
                <a:solidFill>
                  <a:srgbClr val="263238"/>
                </a:solidFill>
                <a:latin typeface="Segoe UI"/>
                <a:ea typeface="Segoe UI"/>
                <a:cs typeface="Segoe UI"/>
              </a:rPr>
              <a:t> Trang </a:t>
            </a:r>
            <a:r>
              <a:rPr sz="1500" b="1" i="0">
                <a:solidFill>
                  <a:srgbClr val="1F4E79"/>
                </a:solidFill>
                <a:latin typeface="Segoe UI"/>
                <a:ea typeface="Segoe UI"/>
                <a:cs typeface="Segoe UI"/>
              </a:rPr>
              <a:t>báo cáo</a:t>
            </a:r>
            <a:r>
              <a:rPr sz="1500" b="0" i="0">
                <a:solidFill>
                  <a:srgbClr val="263238"/>
                </a:solidFill>
                <a:latin typeface="Segoe UI"/>
                <a:ea typeface="Segoe UI"/>
                <a:cs typeface="Segoe UI"/>
              </a:rPr>
              <a:t> có thêm </a:t>
            </a:r>
            <a:r>
              <a:rPr sz="1400" b="0" i="0">
                <a:solidFill>
                  <a:srgbClr val="B02A2A"/>
                </a:solidFill>
                <a:latin typeface="Consolas"/>
                <a:ea typeface="Consolas"/>
                <a:cs typeface="Consolas"/>
              </a:rPr>
              <a:t>FilterMode="true"</a:t>
            </a:r>
            <a:r>
              <a:rPr sz="1500" b="0" i="0">
                <a:solidFill>
                  <a:srgbClr val="263238"/>
                </a:solidFill>
                <a:latin typeface="Segoe UI"/>
                <a:ea typeface="Segoe UI"/>
                <a:cs typeface="Segoe UI"/>
              </a:rPr>
              <a:t>: mở form điều kiện (Filter) trước, bấm Nhận thì mới chạy procedure.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1064240" cy="6858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3000" b="1" i="0">
                <a:solidFill>
                  <a:srgbClr val="1F4E79"/>
                </a:solidFill>
                <a:latin typeface="Segoe UI"/>
                <a:ea typeface="Segoe UI"/>
                <a:cs typeface="Segoe UI"/>
              </a:rPr>
              <a:t>Sys Data, App Data và menu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24128"/>
            <a:ext cx="1005840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000" b="0" i="0">
                <a:solidFill>
                  <a:srgbClr val="6B7785"/>
                </a:solidFill>
                <a:latin typeface="Segoe UI"/>
                <a:ea typeface="Segoe UI"/>
                <a:cs typeface="Segoe UI"/>
              </a:rPr>
              <a:t>Buổi 1 · Làm quen hệ thống Fast và Bcode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46520"/>
            <a:ext cx="73152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/>
            <a:r>
              <a:rPr sz="1000" b="0" i="0">
                <a:solidFill>
                  <a:srgbClr val="6B7785"/>
                </a:solidFill>
                <a:latin typeface="Segoe UI"/>
                <a:ea typeface="Segoe UI"/>
                <a:cs typeface="Segoe UI"/>
              </a:rPr>
              <a:t>6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600200"/>
          <a:ext cx="10881360" cy="25146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377440"/>
                <a:gridCol w="4297680"/>
                <a:gridCol w="4206240"/>
              </a:tblGrid>
              <a:tr h="502920">
                <a:tc>
                  <a:txBody>
                    <a:bodyPr wrap="square"/>
                    <a:lstStyle/>
                    <a:p>
                      <a:r>
                        <a:rPr sz="1600" b="1" i="0">
                          <a:solidFill>
                            <a:srgbClr val="FFFFFF"/>
                          </a:solidFill>
                          <a:latin typeface="Segoe UI"/>
                          <a:ea typeface="Segoe UI"/>
                          <a:cs typeface="Segoe UI"/>
                        </a:rPr>
                        <a:t/>
                      </a:r>
                    </a:p>
                  </a:txBody>
                  <a:tcPr marL="73152" marR="73152" marT="36576" marB="36576" anchor="ctr"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1" i="0">
                          <a:solidFill>
                            <a:srgbClr val="FFFFFF"/>
                          </a:solidFill>
                          <a:latin typeface="Segoe UI"/>
                          <a:ea typeface="Segoe UI"/>
                          <a:cs typeface="Segoe UI"/>
                        </a:rPr>
                        <a:t>Sys Data</a:t>
                      </a:r>
                    </a:p>
                  </a:txBody>
                  <a:tcPr marL="73152" marR="73152" marT="36576" marB="36576" anchor="ctr"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1" i="0">
                          <a:solidFill>
                            <a:srgbClr val="FFFFFF"/>
                          </a:solidFill>
                          <a:latin typeface="Segoe UI"/>
                          <a:ea typeface="Segoe UI"/>
                          <a:cs typeface="Segoe UI"/>
                        </a:rPr>
                        <a:t>App Data</a:t>
                      </a:r>
                    </a:p>
                  </a:txBody>
                  <a:tcPr marL="73152" marR="73152" marT="36576" marB="36576" anchor="ctr">
                    <a:solidFill>
                      <a:srgbClr val="1F4E79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600" b="0" i="0">
                          <a:solidFill>
                            <a:srgbClr val="263238"/>
                          </a:solidFill>
                          <a:latin typeface="Segoe UI"/>
                          <a:ea typeface="Segoe UI"/>
                          <a:cs typeface="Segoe UI"/>
                        </a:rPr>
                        <a:t>Vai trò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 i="0">
                          <a:solidFill>
                            <a:srgbClr val="263238"/>
                          </a:solidFill>
                          <a:latin typeface="Segoe UI"/>
                          <a:ea typeface="Segoe UI"/>
                          <a:cs typeface="Segoe UI"/>
                        </a:rPr>
                        <a:t>Hệ thống dùng chung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 i="0">
                          <a:solidFill>
                            <a:srgbClr val="263238"/>
                          </a:solidFill>
                          <a:latin typeface="Segoe UI"/>
                          <a:ea typeface="Segoe UI"/>
                          <a:cs typeface="Segoe UI"/>
                        </a:rPr>
                        <a:t>Nghiệp vụ của khách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600" b="0" i="0">
                          <a:solidFill>
                            <a:srgbClr val="263238"/>
                          </a:solidFill>
                          <a:latin typeface="Segoe UI"/>
                          <a:ea typeface="Segoe UI"/>
                          <a:cs typeface="Segoe UI"/>
                        </a:rPr>
                        <a:t>Bảng hay gặp</a:t>
                      </a:r>
                    </a:p>
                  </a:txBody>
                  <a:tcPr marL="73152" marR="73152" marT="36576" marB="36576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B02A2A"/>
                          </a:solidFill>
                          <a:latin typeface="Consolas"/>
                          <a:ea typeface="Consolas"/>
                          <a:cs typeface="Consolas"/>
                        </a:rPr>
                        <a:t>wcommand</a:t>
                      </a:r>
                      <a:r>
                        <a:rPr sz="1600" b="0" i="0">
                          <a:solidFill>
                            <a:srgbClr val="263238"/>
                          </a:solidFill>
                          <a:latin typeface="Segoe UI"/>
                          <a:ea typeface="Segoe UI"/>
                          <a:cs typeface="Segoe UI"/>
                        </a:rPr>
                        <a:t>, </a:t>
                      </a:r>
                      <a:r>
                        <a:rPr sz="1500" b="0" i="0">
                          <a:solidFill>
                            <a:srgbClr val="B02A2A"/>
                          </a:solidFill>
                          <a:latin typeface="Consolas"/>
                          <a:ea typeface="Consolas"/>
                          <a:cs typeface="Consolas"/>
                        </a:rPr>
                        <a:t>command</a:t>
                      </a:r>
                      <a:r>
                        <a:rPr sz="1600" b="0" i="0">
                          <a:solidFill>
                            <a:srgbClr val="263238"/>
                          </a:solidFill>
                          <a:latin typeface="Segoe UI"/>
                          <a:ea typeface="Segoe UI"/>
                          <a:cs typeface="Segoe UI"/>
                        </a:rPr>
                        <a:t>, </a:t>
                      </a:r>
                      <a:r>
                        <a:rPr sz="1500" b="0" i="0">
                          <a:solidFill>
                            <a:srgbClr val="B02A2A"/>
                          </a:solidFill>
                          <a:latin typeface="Consolas"/>
                          <a:ea typeface="Consolas"/>
                          <a:cs typeface="Consolas"/>
                        </a:rPr>
                        <a:t>dvcommand</a:t>
                      </a:r>
                    </a:p>
                  </a:txBody>
                  <a:tcPr marL="73152" marR="73152" marT="36576" marB="36576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B02A2A"/>
                          </a:solidFill>
                          <a:latin typeface="Consolas"/>
                          <a:ea typeface="Consolas"/>
                          <a:cs typeface="Consolas"/>
                        </a:rPr>
                        <a:t>dm*</a:t>
                      </a:r>
                      <a:r>
                        <a:rPr sz="1600" b="0" i="0">
                          <a:solidFill>
                            <a:srgbClr val="263238"/>
                          </a:solidFill>
                          <a:latin typeface="Segoe UI"/>
                          <a:ea typeface="Segoe UI"/>
                          <a:cs typeface="Segoe UI"/>
                        </a:rPr>
                        <a:t>, </a:t>
                      </a:r>
                      <a:r>
                        <a:rPr sz="1500" b="0" i="0">
                          <a:solidFill>
                            <a:srgbClr val="B02A2A"/>
                          </a:solidFill>
                          <a:latin typeface="Consolas"/>
                          <a:ea typeface="Consolas"/>
                          <a:cs typeface="Consolas"/>
                        </a:rPr>
                        <a:t>zdm*</a:t>
                      </a:r>
                      <a:r>
                        <a:rPr sz="1600" b="0" i="0">
                          <a:solidFill>
                            <a:srgbClr val="263238"/>
                          </a:solidFill>
                          <a:latin typeface="Segoe UI"/>
                          <a:ea typeface="Segoe UI"/>
                          <a:cs typeface="Segoe UI"/>
                        </a:rPr>
                        <a:t>, </a:t>
                      </a:r>
                      <a:r>
                        <a:rPr sz="1500" b="0" i="0">
                          <a:solidFill>
                            <a:srgbClr val="B02A2A"/>
                          </a:solidFill>
                          <a:latin typeface="Consolas"/>
                          <a:ea typeface="Consolas"/>
                          <a:cs typeface="Consolas"/>
                        </a:rPr>
                        <a:t>m*$…</a:t>
                      </a:r>
                      <a:r>
                        <a:rPr sz="1600" b="0" i="0">
                          <a:solidFill>
                            <a:srgbClr val="263238"/>
                          </a:solidFill>
                          <a:latin typeface="Segoe UI"/>
                          <a:ea typeface="Segoe UI"/>
                          <a:cs typeface="Segoe UI"/>
                        </a:rPr>
                        <a:t>, </a:t>
                      </a:r>
                      <a:r>
                        <a:rPr sz="1500" b="0" i="0">
                          <a:solidFill>
                            <a:srgbClr val="B02A2A"/>
                          </a:solidFill>
                          <a:latin typeface="Consolas"/>
                          <a:ea typeface="Consolas"/>
                          <a:cs typeface="Consolas"/>
                        </a:rPr>
                        <a:t>d*$…</a:t>
                      </a:r>
                      <a:r>
                        <a:rPr sz="1600" b="0" i="0">
                          <a:solidFill>
                            <a:srgbClr val="263238"/>
                          </a:solidFill>
                          <a:latin typeface="Segoe UI"/>
                          <a:ea typeface="Segoe UI"/>
                          <a:cs typeface="Segoe UI"/>
                        </a:rPr>
                        <a:t>, </a:t>
                      </a:r>
                      <a:r>
                        <a:rPr sz="1500" b="0" i="0">
                          <a:solidFill>
                            <a:srgbClr val="B02A2A"/>
                          </a:solidFill>
                          <a:latin typeface="Consolas"/>
                          <a:ea typeface="Consolas"/>
                          <a:cs typeface="Consolas"/>
                        </a:rPr>
                        <a:t>dmct9</a:t>
                      </a:r>
                    </a:p>
                  </a:txBody>
                  <a:tcPr marL="73152" marR="73152" marT="36576" marB="36576" anchor="ctr">
                    <a:solidFill>
                      <a:srgbClr val="F4F7FB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600" b="0" i="0">
                          <a:solidFill>
                            <a:srgbClr val="263238"/>
                          </a:solidFill>
                          <a:latin typeface="Segoe UI"/>
                          <a:ea typeface="Segoe UI"/>
                          <a:cs typeface="Segoe UI"/>
                        </a:rPr>
                        <a:t>Trong controller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B02A2A"/>
                          </a:solidFill>
                          <a:latin typeface="Consolas"/>
                          <a:ea typeface="Consolas"/>
                          <a:cs typeface="Consolas"/>
                        </a:rPr>
                        <a:t>@@sysDatabaseName..wcommand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 i="0">
                          <a:solidFill>
                            <a:srgbClr val="263238"/>
                          </a:solidFill>
                          <a:latin typeface="Segoe UI"/>
                          <a:ea typeface="Segoe UI"/>
                          <a:cs typeface="Segoe UI"/>
                        </a:rPr>
                        <a:t>không cần tiền tố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600" b="0" i="0">
                          <a:solidFill>
                            <a:srgbClr val="263238"/>
                          </a:solidFill>
                          <a:latin typeface="Segoe UI"/>
                          <a:ea typeface="Segoe UI"/>
                          <a:cs typeface="Segoe UI"/>
                        </a:rPr>
                        <a:t>Trong Bcode</a:t>
                      </a:r>
                    </a:p>
                  </a:txBody>
                  <a:tcPr marL="73152" marR="73152" marT="36576" marB="36576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 i="0">
                          <a:solidFill>
                            <a:srgbClr val="263238"/>
                          </a:solidFill>
                          <a:latin typeface="Segoe UI"/>
                          <a:ea typeface="Segoe UI"/>
                          <a:cs typeface="Segoe UI"/>
                        </a:rPr>
                        <a:t>nút </a:t>
                      </a:r>
                      <a:r>
                        <a:rPr sz="1600" b="1" i="0">
                          <a:solidFill>
                            <a:srgbClr val="1F4E79"/>
                          </a:solidFill>
                          <a:latin typeface="Segoe UI"/>
                          <a:ea typeface="Segoe UI"/>
                          <a:cs typeface="Segoe UI"/>
                        </a:rPr>
                        <a:t>Sys</a:t>
                      </a:r>
                    </a:p>
                  </a:txBody>
                  <a:tcPr marL="73152" marR="73152" marT="36576" marB="36576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 i="0">
                          <a:solidFill>
                            <a:srgbClr val="263238"/>
                          </a:solidFill>
                          <a:latin typeface="Segoe UI"/>
                          <a:ea typeface="Segoe UI"/>
                          <a:cs typeface="Segoe UI"/>
                        </a:rPr>
                        <a:t>nút </a:t>
                      </a:r>
                      <a:r>
                        <a:rPr sz="1600" b="1" i="0">
                          <a:solidFill>
                            <a:srgbClr val="1F4E79"/>
                          </a:solidFill>
                          <a:latin typeface="Segoe UI"/>
                          <a:ea typeface="Segoe UI"/>
                          <a:cs typeface="Segoe UI"/>
                        </a:rPr>
                        <a:t>App</a:t>
                      </a:r>
                      <a:r>
                        <a:rPr sz="1600" b="0" i="0">
                          <a:solidFill>
                            <a:srgbClr val="263238"/>
                          </a:solidFill>
                          <a:latin typeface="Segoe UI"/>
                          <a:ea typeface="Segoe UI"/>
                          <a:cs typeface="Segoe UI"/>
                        </a:rPr>
                        <a:t> (</a:t>
                      </a:r>
                      <a:r>
                        <a:rPr sz="1500" b="0" i="0">
                          <a:solidFill>
                            <a:srgbClr val="B02A2A"/>
                          </a:solidFill>
                          <a:latin typeface="Consolas"/>
                          <a:ea typeface="Consolas"/>
                          <a:cs typeface="Consolas"/>
                        </a:rPr>
                        <a:t>Ctrl+1</a:t>
                      </a:r>
                      <a:r>
                        <a:rPr sz="1600" b="0" i="0">
                          <a:solidFill>
                            <a:srgbClr val="263238"/>
                          </a:solidFill>
                          <a:latin typeface="Segoe UI"/>
                          <a:ea typeface="Segoe UI"/>
                          <a:cs typeface="Segoe UI"/>
                        </a:rPr>
                        <a:t> để đổi)</a:t>
                      </a:r>
                    </a:p>
                  </a:txBody>
                  <a:tcPr marL="73152" marR="73152" marT="36576" marB="36576" anchor="ctr">
                    <a:solidFill>
                      <a:srgbClr val="F4F7FB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640080" y="4389120"/>
            <a:ext cx="10927080" cy="10972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F2B70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4389120"/>
            <a:ext cx="91440" cy="1097280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7" y="4443983"/>
            <a:ext cx="10607040" cy="1005839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500" b="1" i="0">
                <a:solidFill>
                  <a:srgbClr val="F2B705"/>
                </a:solidFill>
                <a:latin typeface="Segoe UI"/>
                <a:ea typeface="Segoe UI"/>
                <a:cs typeface="Segoe UI"/>
              </a:rPr>
              <a:t>Lưu ý:</a:t>
            </a:r>
            <a:r>
              <a:rPr sz="1500" b="0" i="0">
                <a:solidFill>
                  <a:srgbClr val="263238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1500" b="1" i="0">
                <a:solidFill>
                  <a:srgbClr val="1F4E79"/>
                </a:solidFill>
                <a:latin typeface="Segoe UI"/>
                <a:ea typeface="Segoe UI"/>
                <a:cs typeface="Segoe UI"/>
              </a:rPr>
              <a:t>wcommand</a:t>
            </a:r>
            <a:r>
              <a:rPr sz="1500" b="0" i="0">
                <a:solidFill>
                  <a:srgbClr val="263238"/>
                </a:solidFill>
                <a:latin typeface="Segoe UI"/>
                <a:ea typeface="Segoe UI"/>
                <a:cs typeface="Segoe UI"/>
              </a:rPr>
              <a:t>: cây menu web (</a:t>
            </a:r>
            <a:r>
              <a:rPr sz="1400" b="0" i="0">
                <a:solidFill>
                  <a:srgbClr val="B02A2A"/>
                </a:solidFill>
                <a:latin typeface="Consolas"/>
                <a:ea typeface="Consolas"/>
                <a:cs typeface="Consolas"/>
              </a:rPr>
              <a:t>wmenu_id</a:t>
            </a:r>
            <a:r>
              <a:rPr sz="1500" b="0" i="0">
                <a:solidFill>
                  <a:srgbClr val="263238"/>
                </a:solidFill>
                <a:latin typeface="Segoe UI"/>
                <a:ea typeface="Segoe UI"/>
                <a:cs typeface="Segoe UI"/>
              </a:rPr>
              <a:t>, </a:t>
            </a:r>
            <a:r>
              <a:rPr sz="1400" b="0" i="0">
                <a:solidFill>
                  <a:srgbClr val="B02A2A"/>
                </a:solidFill>
                <a:latin typeface="Consolas"/>
                <a:ea typeface="Consolas"/>
                <a:cs typeface="Consolas"/>
              </a:rPr>
              <a:t>wmenu_id0</a:t>
            </a:r>
            <a:r>
              <a:rPr sz="1500" b="0" i="0">
                <a:solidFill>
                  <a:srgbClr val="263238"/>
                </a:solidFill>
                <a:latin typeface="Segoe UI"/>
                <a:ea typeface="Segoe UI"/>
                <a:cs typeface="Segoe UI"/>
              </a:rPr>
              <a:t>, </a:t>
            </a:r>
            <a:r>
              <a:rPr sz="1400" b="0" i="0">
                <a:solidFill>
                  <a:srgbClr val="B02A2A"/>
                </a:solidFill>
                <a:latin typeface="Consolas"/>
                <a:ea typeface="Consolas"/>
                <a:cs typeface="Consolas"/>
              </a:rPr>
              <a:t>bar</a:t>
            </a:r>
            <a:r>
              <a:rPr sz="1500" b="0" i="0">
                <a:solidFill>
                  <a:srgbClr val="263238"/>
                </a:solidFill>
                <a:latin typeface="Segoe UI"/>
                <a:ea typeface="Segoe UI"/>
                <a:cs typeface="Segoe UI"/>
              </a:rPr>
              <a:t>, </a:t>
            </a:r>
            <a:r>
              <a:rPr sz="1400" b="0" i="0">
                <a:solidFill>
                  <a:srgbClr val="B02A2A"/>
                </a:solidFill>
                <a:latin typeface="Consolas"/>
                <a:ea typeface="Consolas"/>
                <a:cs typeface="Consolas"/>
              </a:rPr>
              <a:t>bar2</a:t>
            </a:r>
            <a:r>
              <a:rPr sz="1500" b="0" i="0">
                <a:solidFill>
                  <a:srgbClr val="263238"/>
                </a:solidFill>
                <a:latin typeface="Segoe UI"/>
                <a:ea typeface="Segoe UI"/>
                <a:cs typeface="Segoe UI"/>
              </a:rPr>
              <a:t>, </a:t>
            </a:r>
            <a:r>
              <a:rPr sz="1400" b="0" i="0">
                <a:solidFill>
                  <a:srgbClr val="B02A2A"/>
                </a:solidFill>
                <a:latin typeface="Consolas"/>
                <a:ea typeface="Consolas"/>
                <a:cs typeface="Consolas"/>
              </a:rPr>
              <a:t>link</a:t>
            </a:r>
            <a:r>
              <a:rPr sz="1500" b="0" i="0">
                <a:solidFill>
                  <a:srgbClr val="263238"/>
                </a:solidFill>
                <a:latin typeface="Segoe UI"/>
                <a:ea typeface="Segoe UI"/>
                <a:cs typeface="Segoe UI"/>
              </a:rPr>
              <a:t>, </a:t>
            </a:r>
            <a:r>
              <a:rPr sz="1400" b="0" i="0">
                <a:solidFill>
                  <a:srgbClr val="B02A2A"/>
                </a:solidFill>
                <a:latin typeface="Consolas"/>
                <a:ea typeface="Consolas"/>
                <a:cs typeface="Consolas"/>
              </a:rPr>
              <a:t>sysid</a:t>
            </a:r>
            <a:r>
              <a:rPr sz="1500" b="0" i="0">
                <a:solidFill>
                  <a:srgbClr val="263238"/>
                </a:solidFill>
                <a:latin typeface="Segoe UI"/>
                <a:ea typeface="Segoe UI"/>
                <a:cs typeface="Segoe UI"/>
              </a:rPr>
              <a:t>) · </a:t>
            </a:r>
            <a:r>
              <a:rPr sz="1500" b="1" i="0">
                <a:solidFill>
                  <a:srgbClr val="1F4E79"/>
                </a:solidFill>
                <a:latin typeface="Segoe UI"/>
                <a:ea typeface="Segoe UI"/>
                <a:cs typeface="Segoe UI"/>
              </a:rPr>
              <a:t>command</a:t>
            </a:r>
            <a:r>
              <a:rPr sz="1500" b="0" i="0">
                <a:solidFill>
                  <a:srgbClr val="263238"/>
                </a:solidFill>
                <a:latin typeface="Segoe UI"/>
                <a:ea typeface="Segoe UI"/>
                <a:cs typeface="Segoe UI"/>
              </a:rPr>
              <a:t>: thông tin chức năng theo </a:t>
            </a:r>
            <a:r>
              <a:rPr sz="1400" b="0" i="0">
                <a:solidFill>
                  <a:srgbClr val="B02A2A"/>
                </a:solidFill>
                <a:latin typeface="Consolas"/>
                <a:ea typeface="Consolas"/>
                <a:cs typeface="Consolas"/>
              </a:rPr>
              <a:t>sysid</a:t>
            </a:r>
            <a:r>
              <a:rPr sz="1500" b="0" i="0">
                <a:solidFill>
                  <a:srgbClr val="263238"/>
                </a:solidFill>
                <a:latin typeface="Segoe UI"/>
                <a:ea typeface="Segoe UI"/>
                <a:cs typeface="Segoe UI"/>
              </a:rPr>
              <a:t>. Sinh script menu bằng </a:t>
            </a:r>
            <a:r>
              <a:rPr sz="1500" b="1" i="0">
                <a:solidFill>
                  <a:srgbClr val="1F4E79"/>
                </a:solidFill>
                <a:latin typeface="Segoe UI"/>
                <a:ea typeface="Segoe UI"/>
                <a:cs typeface="Segoe UI"/>
              </a:rPr>
              <a:t>Gen Script Menu</a:t>
            </a:r>
            <a:r>
              <a:rPr sz="1500" b="0" i="0">
                <a:solidFill>
                  <a:srgbClr val="263238"/>
                </a:solidFill>
                <a:latin typeface="Segoe UI"/>
                <a:ea typeface="Segoe UI"/>
                <a:cs typeface="Segoe UI"/>
              </a:rPr>
              <a:t> (</a:t>
            </a:r>
            <a:r>
              <a:rPr sz="1400" b="0" i="0">
                <a:solidFill>
                  <a:srgbClr val="B02A2A"/>
                </a:solidFill>
                <a:latin typeface="Consolas"/>
                <a:ea typeface="Consolas"/>
                <a:cs typeface="Consolas"/>
              </a:rPr>
              <a:t>F12</a:t>
            </a:r>
            <a:r>
              <a:rPr sz="1500" b="0" i="0">
                <a:solidFill>
                  <a:srgbClr val="263238"/>
                </a:solidFill>
                <a:latin typeface="Segoe UI"/>
                <a:ea typeface="Segoe UI"/>
                <a:cs typeface="Segoe UI"/>
              </a:rPr>
              <a:t> trên cây WCommand).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1064240" cy="6858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3000" b="1" i="0">
                <a:solidFill>
                  <a:srgbClr val="1F4E79"/>
                </a:solidFill>
                <a:latin typeface="Segoe UI"/>
                <a:ea typeface="Segoe UI"/>
                <a:cs typeface="Segoe UI"/>
              </a:rPr>
              <a:t>Bảng danh mục và cột hệ thống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24128"/>
            <a:ext cx="1005840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000" b="0" i="0">
                <a:solidFill>
                  <a:srgbClr val="6B7785"/>
                </a:solidFill>
                <a:latin typeface="Segoe UI"/>
                <a:ea typeface="Segoe UI"/>
                <a:cs typeface="Segoe UI"/>
              </a:rPr>
              <a:t>Buổi 1 · Làm quen hệ thống Fast và Bcode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46520"/>
            <a:ext cx="73152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/>
            <a:r>
              <a:rPr sz="1000" b="0" i="0">
                <a:solidFill>
                  <a:srgbClr val="6B7785"/>
                </a:solidFill>
                <a:latin typeface="Segoe UI"/>
                <a:ea typeface="Segoe UI"/>
                <a:cs typeface="Segoe UI"/>
              </a:rPr>
              <a:t>7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600200"/>
          <a:ext cx="10881360" cy="38404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566160"/>
                <a:gridCol w="4023360"/>
                <a:gridCol w="3291840"/>
              </a:tblGrid>
              <a:tr h="548640">
                <a:tc>
                  <a:txBody>
                    <a:bodyPr wrap="square"/>
                    <a:lstStyle/>
                    <a:p>
                      <a:r>
                        <a:rPr sz="1500" b="1" i="0">
                          <a:solidFill>
                            <a:srgbClr val="FFFFFF"/>
                          </a:solidFill>
                          <a:latin typeface="Segoe UI"/>
                          <a:ea typeface="Segoe UI"/>
                          <a:cs typeface="Segoe UI"/>
                        </a:rPr>
                        <a:t>Quy ước</a:t>
                      </a:r>
                    </a:p>
                  </a:txBody>
                  <a:tcPr marL="73152" marR="73152" marT="36576" marB="36576" anchor="ctr"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1" i="0">
                          <a:solidFill>
                            <a:srgbClr val="FFFFFF"/>
                          </a:solidFill>
                          <a:latin typeface="Segoe UI"/>
                          <a:ea typeface="Segoe UI"/>
                          <a:cs typeface="Segoe UI"/>
                        </a:rPr>
                        <a:t>Ý nghĩa</a:t>
                      </a:r>
                    </a:p>
                  </a:txBody>
                  <a:tcPr marL="73152" marR="73152" marT="36576" marB="36576" anchor="ctr"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1" i="0">
                          <a:solidFill>
                            <a:srgbClr val="FFFFFF"/>
                          </a:solidFill>
                          <a:latin typeface="Segoe UI"/>
                          <a:ea typeface="Segoe UI"/>
                          <a:cs typeface="Segoe UI"/>
                        </a:rPr>
                        <a:t>Ví dụ</a:t>
                      </a:r>
                    </a:p>
                  </a:txBody>
                  <a:tcPr marL="73152" marR="73152" marT="36576" marB="36576" anchor="ctr">
                    <a:solidFill>
                      <a:srgbClr val="1F4E79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B02A2A"/>
                          </a:solidFill>
                          <a:latin typeface="Consolas"/>
                          <a:ea typeface="Consolas"/>
                          <a:cs typeface="Consolas"/>
                        </a:rPr>
                        <a:t>dm</a:t>
                      </a:r>
                      <a:r>
                        <a:rPr sz="1500" b="0" i="0">
                          <a:solidFill>
                            <a:srgbClr val="263238"/>
                          </a:solidFill>
                          <a:latin typeface="Segoe UI"/>
                          <a:ea typeface="Segoe UI"/>
                          <a:cs typeface="Segoe UI"/>
                        </a:rPr>
                        <a:t> + tên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263238"/>
                          </a:solidFill>
                          <a:latin typeface="Segoe UI"/>
                          <a:ea typeface="Segoe UI"/>
                          <a:cs typeface="Segoe UI"/>
                        </a:rPr>
                        <a:t>Danh mục chuẩn của Fast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B02A2A"/>
                          </a:solidFill>
                          <a:latin typeface="Consolas"/>
                          <a:ea typeface="Consolas"/>
                          <a:cs typeface="Consolas"/>
                        </a:rPr>
                        <a:t>dmkh</a:t>
                      </a:r>
                      <a:r>
                        <a:rPr sz="1500" b="0" i="0">
                          <a:solidFill>
                            <a:srgbClr val="263238"/>
                          </a:solidFill>
                          <a:latin typeface="Segoe UI"/>
                          <a:ea typeface="Segoe UI"/>
                          <a:cs typeface="Segoe UI"/>
                        </a:rPr>
                        <a:t>, </a:t>
                      </a:r>
                      <a:r>
                        <a:rPr sz="1400" b="0" i="0">
                          <a:solidFill>
                            <a:srgbClr val="B02A2A"/>
                          </a:solidFill>
                          <a:latin typeface="Consolas"/>
                          <a:ea typeface="Consolas"/>
                          <a:cs typeface="Consolas"/>
                        </a:rPr>
                        <a:t>dmvt</a:t>
                      </a:r>
                      <a:r>
                        <a:rPr sz="1500" b="0" i="0">
                          <a:solidFill>
                            <a:srgbClr val="263238"/>
                          </a:solidFill>
                          <a:latin typeface="Segoe UI"/>
                          <a:ea typeface="Segoe UI"/>
                          <a:cs typeface="Segoe UI"/>
                        </a:rPr>
                        <a:t>, </a:t>
                      </a:r>
                      <a:r>
                        <a:rPr sz="1400" b="0" i="0">
                          <a:solidFill>
                            <a:srgbClr val="B02A2A"/>
                          </a:solidFill>
                          <a:latin typeface="Consolas"/>
                          <a:ea typeface="Consolas"/>
                          <a:cs typeface="Consolas"/>
                        </a:rPr>
                        <a:t>dmbp</a:t>
                      </a:r>
                      <a:r>
                        <a:rPr sz="1500" b="0" i="0">
                          <a:solidFill>
                            <a:srgbClr val="263238"/>
                          </a:solidFill>
                          <a:latin typeface="Segoe UI"/>
                          <a:ea typeface="Segoe UI"/>
                          <a:cs typeface="Segoe UI"/>
                        </a:rPr>
                        <a:t>, </a:t>
                      </a:r>
                      <a:r>
                        <a:rPr sz="1400" b="0" i="0">
                          <a:solidFill>
                            <a:srgbClr val="B02A2A"/>
                          </a:solidFill>
                          <a:latin typeface="Consolas"/>
                          <a:ea typeface="Consolas"/>
                          <a:cs typeface="Consolas"/>
                        </a:rPr>
                        <a:t>dmtk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B02A2A"/>
                          </a:solidFill>
                          <a:latin typeface="Consolas"/>
                          <a:ea typeface="Consolas"/>
                          <a:cs typeface="Consolas"/>
                        </a:rPr>
                        <a:t>zdm</a:t>
                      </a:r>
                      <a:r>
                        <a:rPr sz="1500" b="0" i="0">
                          <a:solidFill>
                            <a:srgbClr val="263238"/>
                          </a:solidFill>
                          <a:latin typeface="Segoe UI"/>
                          <a:ea typeface="Segoe UI"/>
                          <a:cs typeface="Segoe UI"/>
                        </a:rPr>
                        <a:t> + chữ cái đầu</a:t>
                      </a:r>
                    </a:p>
                  </a:txBody>
                  <a:tcPr marL="73152" marR="73152" marT="36576" marB="36576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263238"/>
                          </a:solidFill>
                          <a:latin typeface="Segoe UI"/>
                          <a:ea typeface="Segoe UI"/>
                          <a:cs typeface="Segoe UI"/>
                        </a:rPr>
                        <a:t>Danh mục </a:t>
                      </a:r>
                      <a:r>
                        <a:rPr sz="1500" b="1" i="0">
                          <a:solidFill>
                            <a:srgbClr val="1F4E79"/>
                          </a:solidFill>
                          <a:latin typeface="Segoe UI"/>
                          <a:ea typeface="Segoe UI"/>
                          <a:cs typeface="Segoe UI"/>
                        </a:rPr>
                        <a:t>tự thêm</a:t>
                      </a:r>
                      <a:r>
                        <a:rPr sz="1500" b="0" i="0">
                          <a:solidFill>
                            <a:srgbClr val="263238"/>
                          </a:solidFill>
                          <a:latin typeface="Segoe UI"/>
                          <a:ea typeface="Segoe UI"/>
                          <a:cs typeface="Segoe UI"/>
                        </a:rPr>
                        <a:t> (quy ước Bcode)</a:t>
                      </a:r>
                    </a:p>
                  </a:txBody>
                  <a:tcPr marL="73152" marR="73152" marT="36576" marB="36576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263238"/>
                          </a:solidFill>
                          <a:latin typeface="Segoe UI"/>
                          <a:ea typeface="Segoe UI"/>
                          <a:cs typeface="Segoe UI"/>
                        </a:rPr>
                        <a:t>Hình thức bán hàng → </a:t>
                      </a:r>
                      <a:r>
                        <a:rPr sz="1400" b="0" i="0">
                          <a:solidFill>
                            <a:srgbClr val="B02A2A"/>
                          </a:solidFill>
                          <a:latin typeface="Consolas"/>
                          <a:ea typeface="Consolas"/>
                          <a:cs typeface="Consolas"/>
                        </a:rPr>
                        <a:t>zdmhtbh</a:t>
                      </a:r>
                    </a:p>
                  </a:txBody>
                  <a:tcPr marL="73152" marR="73152" marT="36576" marB="36576" anchor="ctr">
                    <a:solidFill>
                      <a:srgbClr val="F4F7FB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B02A2A"/>
                          </a:solidFill>
                          <a:latin typeface="Consolas"/>
                          <a:ea typeface="Consolas"/>
                          <a:cs typeface="Consolas"/>
                        </a:rPr>
                        <a:t>ma_xxx</a:t>
                      </a:r>
                      <a:r>
                        <a:rPr sz="1500" b="0" i="0">
                          <a:solidFill>
                            <a:srgbClr val="263238"/>
                          </a:solidFill>
                          <a:latin typeface="Segoe UI"/>
                          <a:ea typeface="Segoe UI"/>
                          <a:cs typeface="Segoe UI"/>
                        </a:rPr>
                        <a:t> · </a:t>
                      </a:r>
                      <a:r>
                        <a:rPr sz="1400" b="0" i="0">
                          <a:solidFill>
                            <a:srgbClr val="B02A2A"/>
                          </a:solidFill>
                          <a:latin typeface="Consolas"/>
                          <a:ea typeface="Consolas"/>
                          <a:cs typeface="Consolas"/>
                        </a:rPr>
                        <a:t>ten_xxx</a:t>
                      </a:r>
                      <a:r>
                        <a:rPr sz="1500" b="0" i="0">
                          <a:solidFill>
                            <a:srgbClr val="263238"/>
                          </a:solidFill>
                          <a:latin typeface="Segoe UI"/>
                          <a:ea typeface="Segoe UI"/>
                          <a:cs typeface="Segoe UI"/>
                        </a:rPr>
                        <a:t> · </a:t>
                      </a:r>
                      <a:r>
                        <a:rPr sz="1400" b="0" i="0">
                          <a:solidFill>
                            <a:srgbClr val="B02A2A"/>
                          </a:solidFill>
                          <a:latin typeface="Consolas"/>
                          <a:ea typeface="Consolas"/>
                          <a:cs typeface="Consolas"/>
                        </a:rPr>
                        <a:t>ten_xxx2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263238"/>
                          </a:solidFill>
                          <a:latin typeface="Segoe UI"/>
                          <a:ea typeface="Segoe UI"/>
                          <a:cs typeface="Segoe UI"/>
                        </a:rPr>
                        <a:t>Mã (varchar) · tên (nvarchar) · tên khác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B02A2A"/>
                          </a:solidFill>
                          <a:latin typeface="Consolas"/>
                          <a:ea typeface="Consolas"/>
                          <a:cs typeface="Consolas"/>
                        </a:rPr>
                        <a:t>ma_htbh</a:t>
                      </a:r>
                      <a:r>
                        <a:rPr sz="1500" b="0" i="0">
                          <a:solidFill>
                            <a:srgbClr val="263238"/>
                          </a:solidFill>
                          <a:latin typeface="Segoe UI"/>
                          <a:ea typeface="Segoe UI"/>
                          <a:cs typeface="Segoe UI"/>
                        </a:rPr>
                        <a:t>, </a:t>
                      </a:r>
                      <a:r>
                        <a:rPr sz="1400" b="0" i="0">
                          <a:solidFill>
                            <a:srgbClr val="B02A2A"/>
                          </a:solidFill>
                          <a:latin typeface="Consolas"/>
                          <a:ea typeface="Consolas"/>
                          <a:cs typeface="Consolas"/>
                        </a:rPr>
                        <a:t>ten_htbh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B02A2A"/>
                          </a:solidFill>
                          <a:latin typeface="Consolas"/>
                          <a:ea typeface="Consolas"/>
                          <a:cs typeface="Consolas"/>
                        </a:rPr>
                        <a:t>status</a:t>
                      </a:r>
                    </a:p>
                  </a:txBody>
                  <a:tcPr marL="73152" marR="73152" marT="36576" marB="36576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B02A2A"/>
                          </a:solidFill>
                          <a:latin typeface="Consolas"/>
                          <a:ea typeface="Consolas"/>
                          <a:cs typeface="Consolas"/>
                        </a:rPr>
                        <a:t>'1'</a:t>
                      </a:r>
                      <a:r>
                        <a:rPr sz="1500" b="0" i="0">
                          <a:solidFill>
                            <a:srgbClr val="263238"/>
                          </a:solidFill>
                          <a:latin typeface="Segoe UI"/>
                          <a:ea typeface="Segoe UI"/>
                          <a:cs typeface="Segoe UI"/>
                        </a:rPr>
                        <a:t> còn dùng · </a:t>
                      </a:r>
                      <a:r>
                        <a:rPr sz="1400" b="0" i="0">
                          <a:solidFill>
                            <a:srgbClr val="B02A2A"/>
                          </a:solidFill>
                          <a:latin typeface="Consolas"/>
                          <a:ea typeface="Consolas"/>
                          <a:cs typeface="Consolas"/>
                        </a:rPr>
                        <a:t>'0'</a:t>
                      </a:r>
                      <a:r>
                        <a:rPr sz="1500" b="0" i="0">
                          <a:solidFill>
                            <a:srgbClr val="263238"/>
                          </a:solidFill>
                          <a:latin typeface="Segoe UI"/>
                          <a:ea typeface="Segoe UI"/>
                          <a:cs typeface="Segoe UI"/>
                        </a:rPr>
                        <a:t> ngừng dùng</a:t>
                      </a:r>
                    </a:p>
                  </a:txBody>
                  <a:tcPr marL="73152" marR="73152" marT="36576" marB="36576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263238"/>
                          </a:solidFill>
                          <a:latin typeface="Segoe UI"/>
                          <a:ea typeface="Segoe UI"/>
                          <a:cs typeface="Segoe UI"/>
                        </a:rPr>
                        <a:t>Lookup chỉ lấy </a:t>
                      </a:r>
                      <a:r>
                        <a:rPr sz="1400" b="0" i="0">
                          <a:solidFill>
                            <a:srgbClr val="B02A2A"/>
                          </a:solidFill>
                          <a:latin typeface="Consolas"/>
                          <a:ea typeface="Consolas"/>
                          <a:cs typeface="Consolas"/>
                        </a:rPr>
                        <a:t>status = '1'</a:t>
                      </a:r>
                    </a:p>
                  </a:txBody>
                  <a:tcPr marL="73152" marR="73152" marT="36576" marB="36576" anchor="ctr">
                    <a:solidFill>
                      <a:srgbClr val="F4F7FB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B02A2A"/>
                          </a:solidFill>
                          <a:latin typeface="Consolas"/>
                          <a:ea typeface="Consolas"/>
                          <a:cs typeface="Consolas"/>
                        </a:rPr>
                        <a:t>datetime0</a:t>
                      </a:r>
                      <a:r>
                        <a:rPr sz="1500" b="0" i="0">
                          <a:solidFill>
                            <a:srgbClr val="263238"/>
                          </a:solidFill>
                          <a:latin typeface="Segoe UI"/>
                          <a:ea typeface="Segoe UI"/>
                          <a:cs typeface="Segoe UI"/>
                        </a:rPr>
                        <a:t>, </a:t>
                      </a:r>
                      <a:r>
                        <a:rPr sz="1400" b="0" i="0">
                          <a:solidFill>
                            <a:srgbClr val="B02A2A"/>
                          </a:solidFill>
                          <a:latin typeface="Consolas"/>
                          <a:ea typeface="Consolas"/>
                          <a:cs typeface="Consolas"/>
                        </a:rPr>
                        <a:t>user_id0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263238"/>
                          </a:solidFill>
                          <a:latin typeface="Segoe UI"/>
                          <a:ea typeface="Segoe UI"/>
                          <a:cs typeface="Segoe UI"/>
                        </a:rPr>
                        <a:t>Ngày và người </a:t>
                      </a:r>
                      <a:r>
                        <a:rPr sz="1500" b="1" i="0">
                          <a:solidFill>
                            <a:srgbClr val="1F4E79"/>
                          </a:solidFill>
                          <a:latin typeface="Segoe UI"/>
                          <a:ea typeface="Segoe UI"/>
                          <a:cs typeface="Segoe UI"/>
                        </a:rPr>
                        <a:t>tạo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263238"/>
                          </a:solidFill>
                          <a:latin typeface="Segoe UI"/>
                          <a:ea typeface="Segoe UI"/>
                          <a:cs typeface="Segoe UI"/>
                        </a:rPr>
                        <a:t>gán ở </a:t>
                      </a:r>
                      <a:r>
                        <a:rPr sz="1400" b="0" i="0">
                          <a:solidFill>
                            <a:srgbClr val="B02A2A"/>
                          </a:solidFill>
                          <a:latin typeface="Consolas"/>
                          <a:ea typeface="Consolas"/>
                          <a:cs typeface="Consolas"/>
                        </a:rPr>
                        <a:t>Inserting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B02A2A"/>
                          </a:solidFill>
                          <a:latin typeface="Consolas"/>
                          <a:ea typeface="Consolas"/>
                          <a:cs typeface="Consolas"/>
                        </a:rPr>
                        <a:t>datetime2</a:t>
                      </a:r>
                      <a:r>
                        <a:rPr sz="1500" b="0" i="0">
                          <a:solidFill>
                            <a:srgbClr val="263238"/>
                          </a:solidFill>
                          <a:latin typeface="Segoe UI"/>
                          <a:ea typeface="Segoe UI"/>
                          <a:cs typeface="Segoe UI"/>
                        </a:rPr>
                        <a:t>, </a:t>
                      </a:r>
                      <a:r>
                        <a:rPr sz="1400" b="0" i="0">
                          <a:solidFill>
                            <a:srgbClr val="B02A2A"/>
                          </a:solidFill>
                          <a:latin typeface="Consolas"/>
                          <a:ea typeface="Consolas"/>
                          <a:cs typeface="Consolas"/>
                        </a:rPr>
                        <a:t>user_id2</a:t>
                      </a:r>
                    </a:p>
                  </a:txBody>
                  <a:tcPr marL="73152" marR="73152" marT="36576" marB="36576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263238"/>
                          </a:solidFill>
                          <a:latin typeface="Segoe UI"/>
                          <a:ea typeface="Segoe UI"/>
                          <a:cs typeface="Segoe UI"/>
                        </a:rPr>
                        <a:t>Ngày và người </a:t>
                      </a:r>
                      <a:r>
                        <a:rPr sz="1500" b="1" i="0">
                          <a:solidFill>
                            <a:srgbClr val="1F4E79"/>
                          </a:solidFill>
                          <a:latin typeface="Segoe UI"/>
                          <a:ea typeface="Segoe UI"/>
                          <a:cs typeface="Segoe UI"/>
                        </a:rPr>
                        <a:t>sửa</a:t>
                      </a:r>
                      <a:r>
                        <a:rPr sz="1500" b="0" i="0">
                          <a:solidFill>
                            <a:srgbClr val="263238"/>
                          </a:solidFill>
                          <a:latin typeface="Segoe UI"/>
                          <a:ea typeface="Segoe UI"/>
                          <a:cs typeface="Segoe UI"/>
                        </a:rPr>
                        <a:t> lần cuối</a:t>
                      </a:r>
                    </a:p>
                  </a:txBody>
                  <a:tcPr marL="73152" marR="73152" marT="36576" marB="36576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263238"/>
                          </a:solidFill>
                          <a:latin typeface="Segoe UI"/>
                          <a:ea typeface="Segoe UI"/>
                          <a:cs typeface="Segoe UI"/>
                        </a:rPr>
                        <a:t>gán ở </a:t>
                      </a:r>
                      <a:r>
                        <a:rPr sz="1400" b="0" i="0">
                          <a:solidFill>
                            <a:srgbClr val="B02A2A"/>
                          </a:solidFill>
                          <a:latin typeface="Consolas"/>
                          <a:ea typeface="Consolas"/>
                          <a:cs typeface="Consolas"/>
                        </a:rPr>
                        <a:t>Updated</a:t>
                      </a:r>
                    </a:p>
                  </a:txBody>
                  <a:tcPr marL="73152" marR="73152" marT="36576" marB="36576" anchor="ctr">
                    <a:solidFill>
                      <a:srgbClr val="F4F7F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1064240" cy="6858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3000" b="1" i="0">
                <a:solidFill>
                  <a:srgbClr val="1F4E79"/>
                </a:solidFill>
                <a:latin typeface="Segoe UI"/>
                <a:ea typeface="Segoe UI"/>
                <a:cs typeface="Segoe UI"/>
              </a:rPr>
              <a:t>Chứng từ và bảng phân kỳ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32688"/>
            <a:ext cx="10972800" cy="411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500" b="0" i="0">
                <a:solidFill>
                  <a:srgbClr val="6B7785"/>
                </a:solidFill>
                <a:latin typeface="Segoe UI"/>
                <a:ea typeface="Segoe UI"/>
                <a:cs typeface="Segoe UI"/>
              </a:rPr>
              <a:t>Ví dụ: Phiếu nhập kho — Dir\IRTran.f, trang inctpnd.aspx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53312"/>
            <a:ext cx="1005840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000" b="0" i="0">
                <a:solidFill>
                  <a:srgbClr val="6B7785"/>
                </a:solidFill>
                <a:latin typeface="Segoe UI"/>
                <a:ea typeface="Segoe UI"/>
                <a:cs typeface="Segoe UI"/>
              </a:rPr>
              <a:t>Buổi 1 · Làm quen hệ thống Fast và Bcode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46520"/>
            <a:ext cx="73152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/>
            <a:r>
              <a:rPr sz="1000" b="0" i="0">
                <a:solidFill>
                  <a:srgbClr val="6B7785"/>
                </a:solidFill>
                <a:latin typeface="Segoe UI"/>
                <a:ea typeface="Segoe UI"/>
                <a:cs typeface="Segoe UI"/>
              </a:rPr>
              <a:t>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783080"/>
            <a:ext cx="2512313" cy="1554480"/>
          </a:xfrm>
          <a:prstGeom prst="roundRect">
            <a:avLst>
              <a:gd name="adj" fmla="val 10000"/>
            </a:avLst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13231" y="1874519"/>
            <a:ext cx="2366009" cy="699516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m74$yyyymm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1" y="2560320"/>
            <a:ext cx="2366009" cy="74615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/>
            <a:r>
              <a:rPr sz="1300" b="0" i="0">
                <a:solidFill>
                  <a:srgbClr val="E3ECF5"/>
                </a:solidFill>
                <a:latin typeface="Segoe UI"/>
                <a:ea typeface="Segoe UI"/>
                <a:cs typeface="Segoe UI"/>
              </a:rPr>
              <a:t>master: đầu phiếu</a:t>
            </a:r>
          </a:p>
          <a:p>
            <a:pPr algn="ctr"/>
            <a:r>
              <a:rPr sz="1300" b="0" i="0">
                <a:solidFill>
                  <a:srgbClr val="E3ECF5"/>
                </a:solidFill>
                <a:latin typeface="Segoe UI"/>
                <a:ea typeface="Segoe UI"/>
                <a:cs typeface="Segoe UI"/>
              </a:rPr>
              <a:t>khoá stt_rec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3188970" y="2441448"/>
            <a:ext cx="219456" cy="237744"/>
          </a:xfrm>
          <a:prstGeom prst="rightArrow">
            <a:avLst/>
          </a:prstGeom>
          <a:solidFill>
            <a:srgbClr val="F2B7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445001" y="1783080"/>
            <a:ext cx="2512313" cy="1554480"/>
          </a:xfrm>
          <a:prstGeom prst="roundRect">
            <a:avLst>
              <a:gd name="adj" fmla="val 10000"/>
            </a:avLst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18153" y="1874519"/>
            <a:ext cx="2366009" cy="699516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d74$yyyymm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18153" y="2560320"/>
            <a:ext cx="2366009" cy="74615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/>
            <a:r>
              <a:rPr sz="1300" b="0" i="0">
                <a:solidFill>
                  <a:srgbClr val="E3ECF5"/>
                </a:solidFill>
                <a:latin typeface="Segoe UI"/>
                <a:ea typeface="Segoe UI"/>
                <a:cs typeface="Segoe UI"/>
              </a:rPr>
              <a:t>detail: dòng chi tiết</a:t>
            </a:r>
          </a:p>
          <a:p>
            <a:pPr algn="ctr"/>
            <a:r>
              <a:rPr sz="1300" b="0" i="0">
                <a:solidFill>
                  <a:srgbClr val="E3ECF5"/>
                </a:solidFill>
                <a:latin typeface="Segoe UI"/>
                <a:ea typeface="Segoe UI"/>
                <a:cs typeface="Segoe UI"/>
              </a:rPr>
              <a:t>stt_rec + line_nbr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5993891" y="2441448"/>
            <a:ext cx="219456" cy="237744"/>
          </a:xfrm>
          <a:prstGeom prst="rightArrow">
            <a:avLst/>
          </a:prstGeom>
          <a:solidFill>
            <a:srgbClr val="F2B7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249923" y="1783080"/>
            <a:ext cx="2512313" cy="1554480"/>
          </a:xfrm>
          <a:prstGeom prst="roundRect">
            <a:avLst>
              <a:gd name="adj" fmla="val 10000"/>
            </a:avLst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23075" y="1874519"/>
            <a:ext cx="2366009" cy="699516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m74$000000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23075" y="2560320"/>
            <a:ext cx="2366009" cy="74615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/>
            <a:r>
              <a:rPr sz="1300" b="0" i="0">
                <a:solidFill>
                  <a:srgbClr val="E3ECF5"/>
                </a:solidFill>
                <a:latin typeface="Segoe UI"/>
                <a:ea typeface="Segoe UI"/>
                <a:cs typeface="Segoe UI"/>
              </a:rPr>
              <a:t>bảng mẫu; xem bằng</a:t>
            </a:r>
          </a:p>
          <a:p>
            <a:pPr algn="ctr"/>
            <a:r>
              <a:rPr sz="1300" b="0" i="0">
                <a:solidFill>
                  <a:srgbClr val="E3ECF5"/>
                </a:solidFill>
                <a:latin typeface="Segoe UI"/>
                <a:ea typeface="Segoe UI"/>
                <a:cs typeface="Segoe UI"/>
              </a:rPr>
              <a:t>Bcode thì gộp các kỳ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8798813" y="2441448"/>
            <a:ext cx="219456" cy="237744"/>
          </a:xfrm>
          <a:prstGeom prst="rightArrow">
            <a:avLst/>
          </a:prstGeom>
          <a:solidFill>
            <a:srgbClr val="F2B7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9054845" y="1783080"/>
            <a:ext cx="2512313" cy="1554480"/>
          </a:xfrm>
          <a:prstGeom prst="roundRect">
            <a:avLst>
              <a:gd name="adj" fmla="val 10000"/>
            </a:avLst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27997" y="1874519"/>
            <a:ext cx="2366009" cy="699516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dmct9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27997" y="2560320"/>
            <a:ext cx="2366009" cy="74615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/>
            <a:r>
              <a:rPr sz="1300" b="0" i="0">
                <a:solidFill>
                  <a:srgbClr val="E3ECF5"/>
                </a:solidFill>
                <a:latin typeface="Segoe UI"/>
                <a:ea typeface="Segoe UI"/>
                <a:cs typeface="Segoe UI"/>
              </a:rPr>
              <a:t>khai báo bảng</a:t>
            </a:r>
          </a:p>
          <a:p>
            <a:pPr algn="ctr"/>
            <a:r>
              <a:rPr sz="1300" b="0" i="0">
                <a:solidFill>
                  <a:srgbClr val="E3ECF5"/>
                </a:solidFill>
                <a:latin typeface="Segoe UI"/>
                <a:ea typeface="Segoe UI"/>
                <a:cs typeface="Segoe UI"/>
              </a:rPr>
              <a:t>cho từng ma_ct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3611880"/>
            <a:ext cx="108813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 b="1" i="0">
                <a:solidFill>
                  <a:srgbClr val="F2B705"/>
                </a:solidFill>
                <a:latin typeface="Segoe UI"/>
                <a:ea typeface="Segoe UI"/>
                <a:cs typeface="Segoe UI"/>
              </a:rPr>
              <a:t>▪  </a:t>
            </a:r>
            <a:r>
              <a:rPr sz="1700" b="0" i="0">
                <a:solidFill>
                  <a:srgbClr val="263238"/>
                </a:solidFill>
                <a:latin typeface="Segoe UI"/>
                <a:ea typeface="Segoe UI"/>
                <a:cs typeface="Segoe UI"/>
              </a:rPr>
              <a:t>Dữ liệu tách theo </a:t>
            </a:r>
            <a:r>
              <a:rPr sz="1700" b="1" i="0">
                <a:solidFill>
                  <a:srgbClr val="1F4E79"/>
                </a:solidFill>
                <a:latin typeface="Segoe UI"/>
                <a:ea typeface="Segoe UI"/>
                <a:cs typeface="Segoe UI"/>
              </a:rPr>
              <a:t>tháng</a:t>
            </a:r>
            <a:r>
              <a:rPr sz="1700" b="0" i="0">
                <a:solidFill>
                  <a:srgbClr val="263238"/>
                </a:solidFill>
                <a:latin typeface="Segoe UI"/>
                <a:ea typeface="Segoe UI"/>
                <a:cs typeface="Segoe UI"/>
              </a:rPr>
              <a:t>: </a:t>
            </a:r>
            <a:r>
              <a:rPr sz="1600" b="0" i="0">
                <a:solidFill>
                  <a:srgbClr val="B02A2A"/>
                </a:solidFill>
                <a:latin typeface="Consolas"/>
                <a:ea typeface="Consolas"/>
                <a:cs typeface="Consolas"/>
              </a:rPr>
              <a:t>m74$202601</a:t>
            </a:r>
            <a:r>
              <a:rPr sz="1700" b="0" i="0">
                <a:solidFill>
                  <a:srgbClr val="263238"/>
                </a:solidFill>
                <a:latin typeface="Segoe UI"/>
                <a:ea typeface="Segoe UI"/>
                <a:cs typeface="Segoe UI"/>
              </a:rPr>
              <a:t>, </a:t>
            </a:r>
            <a:r>
              <a:rPr sz="1600" b="0" i="0">
                <a:solidFill>
                  <a:srgbClr val="B02A2A"/>
                </a:solidFill>
                <a:latin typeface="Consolas"/>
                <a:ea typeface="Consolas"/>
                <a:cs typeface="Consolas"/>
              </a:rPr>
              <a:t>m74$202602</a:t>
            </a:r>
            <a:r>
              <a:rPr sz="1700" b="0" i="0">
                <a:solidFill>
                  <a:srgbClr val="263238"/>
                </a:solidFill>
                <a:latin typeface="Segoe UI"/>
                <a:ea typeface="Segoe UI"/>
                <a:cs typeface="Segoe UI"/>
              </a:rPr>
              <a:t>…; bảng </a:t>
            </a:r>
            <a:r>
              <a:rPr sz="1600" b="0" i="0">
                <a:solidFill>
                  <a:srgbClr val="B02A2A"/>
                </a:solidFill>
                <a:latin typeface="Consolas"/>
                <a:ea typeface="Consolas"/>
                <a:cs typeface="Consolas"/>
              </a:rPr>
              <a:t>$000000</a:t>
            </a:r>
            <a:r>
              <a:rPr sz="1700" b="0" i="0">
                <a:solidFill>
                  <a:srgbClr val="263238"/>
                </a:solidFill>
                <a:latin typeface="Segoe UI"/>
                <a:ea typeface="Segoe UI"/>
                <a:cs typeface="Segoe UI"/>
              </a:rPr>
              <a:t> là bảng mẫu; có thêm bảng </a:t>
            </a:r>
            <a:r>
              <a:rPr sz="1600" b="0" i="0">
                <a:solidFill>
                  <a:srgbClr val="B02A2A"/>
                </a:solidFill>
                <a:latin typeface="Consolas"/>
                <a:ea typeface="Consolas"/>
                <a:cs typeface="Consolas"/>
              </a:rPr>
              <a:t>$log</a:t>
            </a:r>
            <a:r>
              <a:rPr sz="1700" b="0" i="0">
                <a:solidFill>
                  <a:srgbClr val="263238"/>
                </a:solidFill>
                <a:latin typeface="Segoe UI"/>
                <a:ea typeface="Segoe UI"/>
                <a:cs typeface="Segoe UI"/>
              </a:rPr>
              <a:t>.</a:t>
            </a:r>
          </a:p>
          <a:p>
            <a:pPr>
              <a:spcAft>
                <a:spcPts val="1000"/>
              </a:spcAft>
            </a:pPr>
            <a:r>
              <a:rPr sz="1700" b="1" i="0">
                <a:solidFill>
                  <a:srgbClr val="F2B705"/>
                </a:solidFill>
                <a:latin typeface="Segoe UI"/>
                <a:ea typeface="Segoe UI"/>
                <a:cs typeface="Segoe UI"/>
              </a:rPr>
              <a:t>▪  </a:t>
            </a:r>
            <a:r>
              <a:rPr sz="1700" b="0" i="0">
                <a:solidFill>
                  <a:srgbClr val="263238"/>
                </a:solidFill>
                <a:latin typeface="Segoe UI"/>
                <a:ea typeface="Segoe UI"/>
                <a:cs typeface="Segoe UI"/>
              </a:rPr>
              <a:t>Master – detail nối bằng </a:t>
            </a:r>
            <a:r>
              <a:rPr sz="1600" b="0" i="0">
                <a:solidFill>
                  <a:srgbClr val="B02A2A"/>
                </a:solidFill>
                <a:latin typeface="Consolas"/>
                <a:ea typeface="Consolas"/>
                <a:cs typeface="Consolas"/>
              </a:rPr>
              <a:t>stt_rec</a:t>
            </a:r>
            <a:r>
              <a:rPr sz="1700" b="0" i="0">
                <a:solidFill>
                  <a:srgbClr val="263238"/>
                </a:solidFill>
                <a:latin typeface="Segoe UI"/>
                <a:ea typeface="Segoe UI"/>
                <a:cs typeface="Segoe UI"/>
              </a:rPr>
              <a:t>. Cột hay gặp: </a:t>
            </a:r>
            <a:r>
              <a:rPr sz="1600" b="0" i="0">
                <a:solidFill>
                  <a:srgbClr val="B02A2A"/>
                </a:solidFill>
                <a:latin typeface="Consolas"/>
                <a:ea typeface="Consolas"/>
                <a:cs typeface="Consolas"/>
              </a:rPr>
              <a:t>ma_ct</a:t>
            </a:r>
            <a:r>
              <a:rPr sz="1700" b="0" i="0">
                <a:solidFill>
                  <a:srgbClr val="263238"/>
                </a:solidFill>
                <a:latin typeface="Segoe UI"/>
                <a:ea typeface="Segoe UI"/>
                <a:cs typeface="Segoe UI"/>
              </a:rPr>
              <a:t>, </a:t>
            </a:r>
            <a:r>
              <a:rPr sz="1600" b="0" i="0">
                <a:solidFill>
                  <a:srgbClr val="B02A2A"/>
                </a:solidFill>
                <a:latin typeface="Consolas"/>
                <a:ea typeface="Consolas"/>
                <a:cs typeface="Consolas"/>
              </a:rPr>
              <a:t>so_ct</a:t>
            </a:r>
            <a:r>
              <a:rPr sz="1700" b="0" i="0">
                <a:solidFill>
                  <a:srgbClr val="263238"/>
                </a:solidFill>
                <a:latin typeface="Segoe UI"/>
                <a:ea typeface="Segoe UI"/>
                <a:cs typeface="Segoe UI"/>
              </a:rPr>
              <a:t>, </a:t>
            </a:r>
            <a:r>
              <a:rPr sz="1600" b="0" i="0">
                <a:solidFill>
                  <a:srgbClr val="B02A2A"/>
                </a:solidFill>
                <a:latin typeface="Consolas"/>
                <a:ea typeface="Consolas"/>
                <a:cs typeface="Consolas"/>
              </a:rPr>
              <a:t>ngay_ct</a:t>
            </a:r>
            <a:r>
              <a:rPr sz="1700" b="0" i="0">
                <a:solidFill>
                  <a:srgbClr val="263238"/>
                </a:solidFill>
                <a:latin typeface="Segoe UI"/>
                <a:ea typeface="Segoe UI"/>
                <a:cs typeface="Segoe UI"/>
              </a:rPr>
              <a:t>, </a:t>
            </a:r>
            <a:r>
              <a:rPr sz="1600" b="0" i="0">
                <a:solidFill>
                  <a:srgbClr val="B02A2A"/>
                </a:solidFill>
                <a:latin typeface="Consolas"/>
                <a:ea typeface="Consolas"/>
                <a:cs typeface="Consolas"/>
              </a:rPr>
              <a:t>ma_kh</a:t>
            </a:r>
            <a:r>
              <a:rPr sz="1700" b="0" i="0">
                <a:solidFill>
                  <a:srgbClr val="263238"/>
                </a:solidFill>
                <a:latin typeface="Segoe UI"/>
                <a:ea typeface="Segoe UI"/>
                <a:cs typeface="Segoe UI"/>
              </a:rPr>
              <a:t>, </a:t>
            </a:r>
            <a:r>
              <a:rPr sz="1600" b="0" i="0">
                <a:solidFill>
                  <a:srgbClr val="B02A2A"/>
                </a:solidFill>
                <a:latin typeface="Consolas"/>
                <a:ea typeface="Consolas"/>
                <a:cs typeface="Consolas"/>
              </a:rPr>
              <a:t>t_tien</a:t>
            </a:r>
            <a:r>
              <a:rPr sz="1700" b="0" i="0">
                <a:solidFill>
                  <a:srgbClr val="263238"/>
                </a:solidFill>
                <a:latin typeface="Segoe UI"/>
                <a:ea typeface="Segoe UI"/>
                <a:cs typeface="Segoe UI"/>
              </a:rPr>
              <a:t> · </a:t>
            </a:r>
            <a:r>
              <a:rPr sz="1600" b="0" i="0">
                <a:solidFill>
                  <a:srgbClr val="B02A2A"/>
                </a:solidFill>
                <a:latin typeface="Consolas"/>
                <a:ea typeface="Consolas"/>
                <a:cs typeface="Consolas"/>
              </a:rPr>
              <a:t>ma_vt</a:t>
            </a:r>
            <a:r>
              <a:rPr sz="1700" b="0" i="0">
                <a:solidFill>
                  <a:srgbClr val="263238"/>
                </a:solidFill>
                <a:latin typeface="Segoe UI"/>
                <a:ea typeface="Segoe UI"/>
                <a:cs typeface="Segoe UI"/>
              </a:rPr>
              <a:t>, </a:t>
            </a:r>
            <a:r>
              <a:rPr sz="1600" b="0" i="0">
                <a:solidFill>
                  <a:srgbClr val="B02A2A"/>
                </a:solidFill>
                <a:latin typeface="Consolas"/>
                <a:ea typeface="Consolas"/>
                <a:cs typeface="Consolas"/>
              </a:rPr>
              <a:t>ma_kho</a:t>
            </a:r>
            <a:r>
              <a:rPr sz="1700" b="0" i="0">
                <a:solidFill>
                  <a:srgbClr val="263238"/>
                </a:solidFill>
                <a:latin typeface="Segoe UI"/>
                <a:ea typeface="Segoe UI"/>
                <a:cs typeface="Segoe UI"/>
              </a:rPr>
              <a:t>, </a:t>
            </a:r>
            <a:r>
              <a:rPr sz="1600" b="0" i="0">
                <a:solidFill>
                  <a:srgbClr val="B02A2A"/>
                </a:solidFill>
                <a:latin typeface="Consolas"/>
                <a:ea typeface="Consolas"/>
                <a:cs typeface="Consolas"/>
              </a:rPr>
              <a:t>so_luong</a:t>
            </a:r>
            <a:r>
              <a:rPr sz="1700" b="0" i="0">
                <a:solidFill>
                  <a:srgbClr val="263238"/>
                </a:solidFill>
                <a:latin typeface="Segoe UI"/>
                <a:ea typeface="Segoe UI"/>
                <a:cs typeface="Segoe UI"/>
              </a:rPr>
              <a:t>, </a:t>
            </a:r>
            <a:r>
              <a:rPr sz="1600" b="0" i="0">
                <a:solidFill>
                  <a:srgbClr val="B02A2A"/>
                </a:solidFill>
                <a:latin typeface="Consolas"/>
                <a:ea typeface="Consolas"/>
                <a:cs typeface="Consolas"/>
              </a:rPr>
              <a:t>tien</a:t>
            </a:r>
            <a:r>
              <a:rPr sz="1700" b="0" i="0">
                <a:solidFill>
                  <a:srgbClr val="263238"/>
                </a:solidFill>
                <a:latin typeface="Segoe UI"/>
                <a:ea typeface="Segoe UI"/>
                <a:cs typeface="Segoe UI"/>
              </a:rPr>
              <a:t>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5349240"/>
            <a:ext cx="10927080" cy="822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40080" y="5349240"/>
            <a:ext cx="91440" cy="82296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41247" y="5404103"/>
            <a:ext cx="10607040" cy="7315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500" b="1" i="0">
                <a:solidFill>
                  <a:srgbClr val="C0392B"/>
                </a:solidFill>
                <a:latin typeface="Segoe UI"/>
                <a:ea typeface="Segoe UI"/>
                <a:cs typeface="Segoe UI"/>
              </a:rPr>
              <a:t>Cảnh báo:</a:t>
            </a:r>
            <a:r>
              <a:rPr sz="1500" b="0" i="0">
                <a:solidFill>
                  <a:srgbClr val="263238"/>
                </a:solidFill>
                <a:latin typeface="Segoe UI"/>
                <a:ea typeface="Segoe UI"/>
                <a:cs typeface="Segoe UI"/>
              </a:rPr>
              <a:t> Mọi kỳ phải </a:t>
            </a:r>
            <a:r>
              <a:rPr sz="1500" b="1" i="0">
                <a:solidFill>
                  <a:srgbClr val="1F4E79"/>
                </a:solidFill>
                <a:latin typeface="Segoe UI"/>
                <a:ea typeface="Segoe UI"/>
                <a:cs typeface="Segoe UI"/>
              </a:rPr>
              <a:t>giống hệt cấu trúc và thứ tự cột</a:t>
            </a:r>
            <a:r>
              <a:rPr sz="1500" b="0" i="0">
                <a:solidFill>
                  <a:srgbClr val="263238"/>
                </a:solidFill>
                <a:latin typeface="Segoe UI"/>
                <a:ea typeface="Segoe UI"/>
                <a:cs typeface="Segoe UI"/>
              </a:rPr>
              <a:t> của </a:t>
            </a:r>
            <a:r>
              <a:rPr sz="1400" b="0" i="0">
                <a:solidFill>
                  <a:srgbClr val="B02A2A"/>
                </a:solidFill>
                <a:latin typeface="Consolas"/>
                <a:ea typeface="Consolas"/>
                <a:cs typeface="Consolas"/>
              </a:rPr>
              <a:t>$000000</a:t>
            </a:r>
            <a:r>
              <a:rPr sz="1500" b="0" i="0">
                <a:solidFill>
                  <a:srgbClr val="263238"/>
                </a:solidFill>
                <a:latin typeface="Segoe UI"/>
                <a:ea typeface="Segoe UI"/>
                <a:cs typeface="Segoe UI"/>
              </a:rPr>
              <a:t>. Thêm cột: dùng </a:t>
            </a:r>
            <a:r>
              <a:rPr sz="1500" b="1" i="0">
                <a:solidFill>
                  <a:srgbClr val="1F4E79"/>
                </a:solidFill>
                <a:latin typeface="Segoe UI"/>
                <a:ea typeface="Segoe UI"/>
                <a:cs typeface="Segoe UI"/>
              </a:rPr>
              <a:t>Gen Add Column</a:t>
            </a:r>
            <a:r>
              <a:rPr sz="1500" b="0" i="0">
                <a:solidFill>
                  <a:srgbClr val="263238"/>
                </a:solidFill>
                <a:latin typeface="Segoe UI"/>
                <a:ea typeface="Segoe UI"/>
                <a:cs typeface="Segoe UI"/>
              </a:rPr>
              <a:t> (chạy cho mọi kỳ) rồi kiểm tra bằng </a:t>
            </a:r>
            <a:r>
              <a:rPr sz="1500" b="1" i="0">
                <a:solidFill>
                  <a:srgbClr val="1F4E79"/>
                </a:solidFill>
                <a:latin typeface="Segoe UI"/>
                <a:ea typeface="Segoe UI"/>
                <a:cs typeface="Segoe UI"/>
              </a:rPr>
              <a:t>Check Partitions Struct</a:t>
            </a:r>
            <a:r>
              <a:rPr sz="1500" b="0" i="0">
                <a:solidFill>
                  <a:srgbClr val="263238"/>
                </a:solidFill>
                <a:latin typeface="Segoe UI"/>
                <a:ea typeface="Segoe UI"/>
                <a:cs typeface="Segoe UI"/>
              </a:rPr>
              <a:t>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1064240" cy="6858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3000" b="1" i="0">
                <a:solidFill>
                  <a:srgbClr val="1F4E79"/>
                </a:solidFill>
                <a:latin typeface="Segoe UI"/>
                <a:ea typeface="Segoe UI"/>
                <a:cs typeface="Segoe UI"/>
              </a:rPr>
              <a:t>Chọn dự án / workspace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24128"/>
            <a:ext cx="1005840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000" b="0" i="0">
                <a:solidFill>
                  <a:srgbClr val="6B7785"/>
                </a:solidFill>
                <a:latin typeface="Segoe UI"/>
                <a:ea typeface="Segoe UI"/>
                <a:cs typeface="Segoe UI"/>
              </a:rPr>
              <a:t>Buổi 1 · Làm quen hệ thống Fast và Bcode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46520"/>
            <a:ext cx="73152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/>
            <a:r>
              <a:rPr sz="1000" b="0" i="0">
                <a:solidFill>
                  <a:srgbClr val="6B7785"/>
                </a:solidFill>
                <a:latin typeface="Segoe UI"/>
                <a:ea typeface="Segoe UI"/>
                <a:cs typeface="Segoe UI"/>
              </a:rPr>
              <a:t>9</a:t>
            </a:r>
          </a:p>
        </p:txBody>
      </p:sp>
      <p:pic>
        <p:nvPicPr>
          <p:cNvPr id="7" name="Picture 6" descr="bcode-projec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492720"/>
            <a:ext cx="11064240" cy="2500958"/>
          </a:xfrm>
          <a:prstGeom prst="rect">
            <a:avLst/>
          </a:prstGeom>
          <a:ln w="12700">
            <a:solidFill>
              <a:srgbClr val="C8D1DC"/>
            </a:solidFill>
          </a:ln>
        </p:spPr>
      </p:pic>
      <p:sp>
        <p:nvSpPr>
          <p:cNvPr id="8" name="TextBox 7"/>
          <p:cNvSpPr txBox="1"/>
          <p:nvPr/>
        </p:nvSpPr>
        <p:spPr>
          <a:xfrm>
            <a:off x="640080" y="4389120"/>
            <a:ext cx="539496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 b="1" i="0">
                <a:solidFill>
                  <a:srgbClr val="F2B705"/>
                </a:solidFill>
                <a:latin typeface="Segoe UI"/>
                <a:ea typeface="Segoe UI"/>
                <a:cs typeface="Segoe UI"/>
              </a:rPr>
              <a:t>▪  </a:t>
            </a:r>
            <a:r>
              <a:rPr sz="1600" b="0" i="0">
                <a:solidFill>
                  <a:srgbClr val="B02A2A"/>
                </a:solidFill>
                <a:latin typeface="Consolas"/>
                <a:ea typeface="Consolas"/>
                <a:cs typeface="Consolas"/>
              </a:rPr>
              <a:t>Ctrl+Shift+P</a:t>
            </a:r>
            <a:r>
              <a:rPr sz="1700" b="0" i="0">
                <a:solidFill>
                  <a:srgbClr val="263238"/>
                </a:solidFill>
                <a:latin typeface="Segoe UI"/>
                <a:ea typeface="Segoe UI"/>
                <a:cs typeface="Segoe UI"/>
              </a:rPr>
              <a:t> mở màn hình Projects</a:t>
            </a:r>
          </a:p>
          <a:p>
            <a:pPr>
              <a:spcAft>
                <a:spcPts val="1000"/>
              </a:spcAft>
            </a:pPr>
            <a:r>
              <a:rPr sz="1700" b="1" i="0">
                <a:solidFill>
                  <a:srgbClr val="F2B705"/>
                </a:solidFill>
                <a:latin typeface="Segoe UI"/>
                <a:ea typeface="Segoe UI"/>
                <a:cs typeface="Segoe UI"/>
              </a:rPr>
              <a:t>▪  </a:t>
            </a:r>
            <a:r>
              <a:rPr sz="1700" b="1" i="0">
                <a:solidFill>
                  <a:srgbClr val="1F4E79"/>
                </a:solidFill>
                <a:latin typeface="Segoe UI"/>
                <a:ea typeface="Segoe UI"/>
                <a:cs typeface="Segoe UI"/>
              </a:rPr>
              <a:t>＋ New</a:t>
            </a:r>
            <a:r>
              <a:rPr sz="1700" b="0" i="0">
                <a:solidFill>
                  <a:srgbClr val="263238"/>
                </a:solidFill>
                <a:latin typeface="Segoe UI"/>
                <a:ea typeface="Segoe UI"/>
                <a:cs typeface="Segoe UI"/>
              </a:rPr>
              <a:t> / </a:t>
            </a:r>
            <a:r>
              <a:rPr sz="1600" b="0" i="0">
                <a:solidFill>
                  <a:srgbClr val="B02A2A"/>
                </a:solidFill>
                <a:latin typeface="Consolas"/>
                <a:ea typeface="Consolas"/>
                <a:cs typeface="Consolas"/>
              </a:rPr>
              <a:t>Ctrl+F5</a:t>
            </a:r>
            <a:r>
              <a:rPr sz="1700" b="0" i="0">
                <a:solidFill>
                  <a:srgbClr val="263238"/>
                </a:solidFill>
                <a:latin typeface="Segoe UI"/>
                <a:ea typeface="Segoe UI"/>
                <a:cs typeface="Segoe UI"/>
              </a:rPr>
              <a:t> Synchronize (FSG)</a:t>
            </a:r>
          </a:p>
          <a:p>
            <a:pPr>
              <a:spcAft>
                <a:spcPts val="1000"/>
              </a:spcAft>
            </a:pPr>
            <a:r>
              <a:rPr sz="1700" b="1" i="0">
                <a:solidFill>
                  <a:srgbClr val="F2B705"/>
                </a:solidFill>
                <a:latin typeface="Segoe UI"/>
                <a:ea typeface="Segoe UI"/>
                <a:cs typeface="Segoe UI"/>
              </a:rPr>
              <a:t>▪  </a:t>
            </a:r>
            <a:r>
              <a:rPr sz="1700" b="1" i="0">
                <a:solidFill>
                  <a:srgbClr val="1F4E79"/>
                </a:solidFill>
                <a:latin typeface="Segoe UI"/>
                <a:ea typeface="Segoe UI"/>
                <a:cs typeface="Segoe UI"/>
              </a:rPr>
              <a:t>Source Path</a:t>
            </a:r>
            <a:r>
              <a:rPr sz="1700" b="0" i="0">
                <a:solidFill>
                  <a:srgbClr val="263238"/>
                </a:solidFill>
                <a:latin typeface="Segoe UI"/>
                <a:ea typeface="Segoe UI"/>
                <a:cs typeface="Segoe UI"/>
              </a:rPr>
              <a:t> bắt buộc cho File Lookup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0" y="4389120"/>
            <a:ext cx="539496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 b="1" i="0">
                <a:solidFill>
                  <a:srgbClr val="F2B705"/>
                </a:solidFill>
                <a:latin typeface="Segoe UI"/>
                <a:ea typeface="Segoe UI"/>
                <a:cs typeface="Segoe UI"/>
              </a:rPr>
              <a:t>▪  </a:t>
            </a:r>
            <a:r>
              <a:rPr sz="1600" b="0" i="0">
                <a:solidFill>
                  <a:srgbClr val="B02A2A"/>
                </a:solidFill>
                <a:latin typeface="Consolas"/>
                <a:ea typeface="Consolas"/>
                <a:cs typeface="Consolas"/>
              </a:rPr>
              <a:t>Ctrl+O</a:t>
            </a:r>
            <a:r>
              <a:rPr sz="1700" b="0" i="0">
                <a:solidFill>
                  <a:srgbClr val="263238"/>
                </a:solidFill>
                <a:latin typeface="Segoe UI"/>
                <a:ea typeface="Segoe UI"/>
                <a:cs typeface="Segoe UI"/>
              </a:rPr>
              <a:t> dự án khác · </a:t>
            </a:r>
            <a:r>
              <a:rPr sz="1600" b="0" i="0">
                <a:solidFill>
                  <a:srgbClr val="B02A2A"/>
                </a:solidFill>
                <a:latin typeface="Consolas"/>
                <a:ea typeface="Consolas"/>
                <a:cs typeface="Consolas"/>
              </a:rPr>
              <a:t>Ctrl+Shift+N</a:t>
            </a:r>
            <a:r>
              <a:rPr sz="1700" b="0" i="0">
                <a:solidFill>
                  <a:srgbClr val="263238"/>
                </a:solidFill>
                <a:latin typeface="Segoe UI"/>
                <a:ea typeface="Segoe UI"/>
                <a:cs typeface="Segoe UI"/>
              </a:rPr>
              <a:t> cửa sổ mới</a:t>
            </a:r>
          </a:p>
          <a:p>
            <a:pPr>
              <a:spcAft>
                <a:spcPts val="1000"/>
              </a:spcAft>
            </a:pPr>
            <a:r>
              <a:rPr sz="1700" b="1" i="0">
                <a:solidFill>
                  <a:srgbClr val="F2B705"/>
                </a:solidFill>
                <a:latin typeface="Segoe UI"/>
                <a:ea typeface="Segoe UI"/>
                <a:cs typeface="Segoe UI"/>
              </a:rPr>
              <a:t>▪  </a:t>
            </a:r>
            <a:r>
              <a:rPr sz="1600" b="0" i="0">
                <a:solidFill>
                  <a:srgbClr val="B02A2A"/>
                </a:solidFill>
                <a:latin typeface="Consolas"/>
                <a:ea typeface="Consolas"/>
                <a:cs typeface="Consolas"/>
              </a:rPr>
              <a:t>Ctrl+1</a:t>
            </a:r>
            <a:r>
              <a:rPr sz="1700" b="0" i="0">
                <a:solidFill>
                  <a:srgbClr val="263238"/>
                </a:solidFill>
                <a:latin typeface="Segoe UI"/>
                <a:ea typeface="Segoe UI"/>
                <a:cs typeface="Segoe UI"/>
              </a:rPr>
              <a:t> đổi App ↔ Sys · </a:t>
            </a:r>
            <a:r>
              <a:rPr sz="1700" b="1" i="0">
                <a:solidFill>
                  <a:srgbClr val="1F4E79"/>
                </a:solidFill>
                <a:latin typeface="Segoe UI"/>
                <a:ea typeface="Segoe UI"/>
                <a:cs typeface="Segoe UI"/>
              </a:rPr>
              <a:t>⟳</a:t>
            </a:r>
            <a:r>
              <a:rPr sz="1700" b="0" i="0">
                <a:solidFill>
                  <a:srgbClr val="263238"/>
                </a:solidFill>
                <a:latin typeface="Segoe UI"/>
                <a:ea typeface="Segoe UI"/>
                <a:cs typeface="Segoe UI"/>
              </a:rPr>
              <a:t> Refresh database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1064240" cy="6858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3000" b="1" i="0">
                <a:solidFill>
                  <a:srgbClr val="1F4E79"/>
                </a:solidFill>
                <a:latin typeface="Segoe UI"/>
                <a:ea typeface="Segoe UI"/>
                <a:cs typeface="Segoe UI"/>
              </a:rPr>
              <a:t>Màn hình chính Bcode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24128"/>
            <a:ext cx="1005840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000" b="0" i="0">
                <a:solidFill>
                  <a:srgbClr val="6B7785"/>
                </a:solidFill>
                <a:latin typeface="Segoe UI"/>
                <a:ea typeface="Segoe UI"/>
                <a:cs typeface="Segoe UI"/>
              </a:rPr>
              <a:t>Buổi 1 · Làm quen hệ thống Fast và Bcode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46520"/>
            <a:ext cx="73152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/>
            <a:r>
              <a:rPr sz="1000" b="0" i="0">
                <a:solidFill>
                  <a:srgbClr val="6B7785"/>
                </a:solidFill>
                <a:latin typeface="Segoe UI"/>
                <a:ea typeface="Segoe UI"/>
                <a:cs typeface="Segoe UI"/>
              </a:rPr>
              <a:t>10</a:t>
            </a:r>
          </a:p>
        </p:txBody>
      </p:sp>
      <p:pic>
        <p:nvPicPr>
          <p:cNvPr id="7" name="Picture 6" descr="bcode-ma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487990"/>
            <a:ext cx="7589520" cy="4293499"/>
          </a:xfrm>
          <a:prstGeom prst="rect">
            <a:avLst/>
          </a:prstGeom>
          <a:ln w="12700">
            <a:solidFill>
              <a:srgbClr val="C8D1DC"/>
            </a:solidFill>
          </a:ln>
        </p:spPr>
      </p:pic>
      <p:sp>
        <p:nvSpPr>
          <p:cNvPr id="8" name="TextBox 7"/>
          <p:cNvSpPr txBox="1"/>
          <p:nvPr/>
        </p:nvSpPr>
        <p:spPr>
          <a:xfrm>
            <a:off x="8366760" y="1325880"/>
            <a:ext cx="33832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 b="1" i="0">
                <a:solidFill>
                  <a:srgbClr val="F2B705"/>
                </a:solidFill>
                <a:latin typeface="Segoe UI"/>
                <a:ea typeface="Segoe UI"/>
                <a:cs typeface="Segoe UI"/>
              </a:rPr>
              <a:t>▪  </a:t>
            </a:r>
            <a:r>
              <a:rPr sz="1600" b="0" i="0">
                <a:solidFill>
                  <a:srgbClr val="B02A2A"/>
                </a:solidFill>
                <a:latin typeface="Consolas"/>
                <a:ea typeface="Consolas"/>
                <a:cs typeface="Consolas"/>
              </a:rPr>
              <a:t>Ctrl+P</a:t>
            </a:r>
            <a:r>
              <a:rPr sz="1700" b="0" i="0">
                <a:solidFill>
                  <a:srgbClr val="263238"/>
                </a:solidFill>
                <a:latin typeface="Segoe UI"/>
                <a:ea typeface="Segoe UI"/>
                <a:cs typeface="Segoe UI"/>
              </a:rPr>
              <a:t> tìm mọi thứ</a:t>
            </a:r>
          </a:p>
          <a:p>
            <a:pPr>
              <a:spcAft>
                <a:spcPts val="1000"/>
              </a:spcAft>
            </a:pPr>
            <a:r>
              <a:rPr sz="1700" b="1" i="0">
                <a:solidFill>
                  <a:srgbClr val="F2B705"/>
                </a:solidFill>
                <a:latin typeface="Segoe UI"/>
                <a:ea typeface="Segoe UI"/>
                <a:cs typeface="Segoe UI"/>
              </a:rPr>
              <a:t>▪  </a:t>
            </a:r>
            <a:r>
              <a:rPr sz="1600" b="0" i="0">
                <a:solidFill>
                  <a:srgbClr val="B02A2A"/>
                </a:solidFill>
                <a:latin typeface="Consolas"/>
                <a:ea typeface="Consolas"/>
                <a:cs typeface="Consolas"/>
              </a:rPr>
              <a:t>&gt;</a:t>
            </a:r>
            <a:r>
              <a:rPr sz="1700" b="0" i="0">
                <a:solidFill>
                  <a:srgbClr val="263238"/>
                </a:solidFill>
                <a:latin typeface="Segoe UI"/>
                <a:ea typeface="Segoe UI"/>
                <a:cs typeface="Segoe UI"/>
              </a:rPr>
              <a:t> công cụ · </a:t>
            </a:r>
            <a:r>
              <a:rPr sz="1600" b="0" i="0">
                <a:solidFill>
                  <a:srgbClr val="B02A2A"/>
                </a:solidFill>
                <a:latin typeface="Consolas"/>
                <a:ea typeface="Consolas"/>
                <a:cs typeface="Consolas"/>
              </a:rPr>
              <a:t>#</a:t>
            </a:r>
            <a:r>
              <a:rPr sz="1700" b="0" i="0">
                <a:solidFill>
                  <a:srgbClr val="263238"/>
                </a:solidFill>
                <a:latin typeface="Segoe UI"/>
                <a:ea typeface="Segoe UI"/>
                <a:cs typeface="Segoe UI"/>
              </a:rPr>
              <a:t> object SQL</a:t>
            </a:r>
          </a:p>
          <a:p>
            <a:pPr>
              <a:spcAft>
                <a:spcPts val="1000"/>
              </a:spcAft>
            </a:pPr>
            <a:r>
              <a:rPr sz="1700" b="1" i="0">
                <a:solidFill>
                  <a:srgbClr val="F2B705"/>
                </a:solidFill>
                <a:latin typeface="Segoe UI"/>
                <a:ea typeface="Segoe UI"/>
                <a:cs typeface="Segoe UI"/>
              </a:rPr>
              <a:t>▪  </a:t>
            </a:r>
            <a:r>
              <a:rPr sz="1600" b="0" i="0">
                <a:solidFill>
                  <a:srgbClr val="B02A2A"/>
                </a:solidFill>
                <a:latin typeface="Consolas"/>
                <a:ea typeface="Consolas"/>
                <a:cs typeface="Consolas"/>
              </a:rPr>
              <a:t>@</a:t>
            </a:r>
            <a:r>
              <a:rPr sz="1700" b="0" i="0">
                <a:solidFill>
                  <a:srgbClr val="263238"/>
                </a:solidFill>
                <a:latin typeface="Segoe UI"/>
                <a:ea typeface="Segoe UI"/>
                <a:cs typeface="Segoe UI"/>
              </a:rPr>
              <a:t> menu · </a:t>
            </a:r>
            <a:r>
              <a:rPr sz="1600" b="0" i="0">
                <a:solidFill>
                  <a:srgbClr val="B02A2A"/>
                </a:solidFill>
                <a:latin typeface="Consolas"/>
                <a:ea typeface="Consolas"/>
                <a:cs typeface="Consolas"/>
              </a:rPr>
              <a:t>$</a:t>
            </a:r>
            <a:r>
              <a:rPr sz="1700" b="0" i="0">
                <a:solidFill>
                  <a:srgbClr val="263238"/>
                </a:solidFill>
                <a:latin typeface="Segoe UI"/>
                <a:ea typeface="Segoe UI"/>
                <a:cs typeface="Segoe UI"/>
              </a:rPr>
              <a:t> snippet</a:t>
            </a:r>
          </a:p>
          <a:p>
            <a:pPr>
              <a:spcAft>
                <a:spcPts val="1000"/>
              </a:spcAft>
            </a:pPr>
            <a:r>
              <a:rPr sz="1700" b="1" i="0">
                <a:solidFill>
                  <a:srgbClr val="F2B705"/>
                </a:solidFill>
                <a:latin typeface="Segoe UI"/>
                <a:ea typeface="Segoe UI"/>
                <a:cs typeface="Segoe UI"/>
              </a:rPr>
              <a:t>▪  </a:t>
            </a:r>
            <a:r>
              <a:rPr sz="1600" b="0" i="0">
                <a:solidFill>
                  <a:srgbClr val="B02A2A"/>
                </a:solidFill>
                <a:latin typeface="Consolas"/>
                <a:ea typeface="Consolas"/>
                <a:cs typeface="Consolas"/>
              </a:rPr>
              <a:t>Ctrl+F1</a:t>
            </a:r>
            <a:r>
              <a:rPr sz="1700" b="0" i="0">
                <a:solidFill>
                  <a:srgbClr val="263238"/>
                </a:solidFill>
                <a:latin typeface="Segoe UI"/>
                <a:ea typeface="Segoe UI"/>
                <a:cs typeface="Segoe UI"/>
              </a:rPr>
              <a:t> Trợ giúp</a:t>
            </a:r>
          </a:p>
          <a:p>
            <a:pPr>
              <a:spcAft>
                <a:spcPts val="1000"/>
              </a:spcAft>
            </a:pPr>
            <a:r>
              <a:rPr sz="1700" b="1" i="0">
                <a:solidFill>
                  <a:srgbClr val="F2B705"/>
                </a:solidFill>
                <a:latin typeface="Segoe UI"/>
                <a:ea typeface="Segoe UI"/>
                <a:cs typeface="Segoe UI"/>
              </a:rPr>
              <a:t>▪  </a:t>
            </a:r>
            <a:r>
              <a:rPr sz="1600" b="0" i="0">
                <a:solidFill>
                  <a:srgbClr val="B02A2A"/>
                </a:solidFill>
                <a:latin typeface="Consolas"/>
                <a:ea typeface="Consolas"/>
                <a:cs typeface="Consolas"/>
              </a:rPr>
              <a:t>Ctrl+Tab</a:t>
            </a:r>
            <a:r>
              <a:rPr sz="1700" b="0" i="0">
                <a:solidFill>
                  <a:srgbClr val="263238"/>
                </a:solidFill>
                <a:latin typeface="Segoe UI"/>
                <a:ea typeface="Segoe UI"/>
                <a:cs typeface="Segoe UI"/>
              </a:rPr>
              <a:t> chuyển tab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5989320"/>
            <a:ext cx="1106424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/>
            <a:r>
              <a:rPr sz="1200" b="0" i="0">
                <a:solidFill>
                  <a:srgbClr val="6B7785"/>
                </a:solidFill>
                <a:latin typeface="Segoe UI"/>
                <a:ea typeface="Segoe UI"/>
                <a:cs typeface="Segoe UI"/>
              </a:rPr>
              <a:t>① Settings ② Actions ③ Script Cart ④ Triển khai ⑤ Tool mở rộng ⑥ Trợ giúp ⑦ WS ⑧ Sys/App ⑪ SQL Object / WCommand / Mobile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1064240" cy="6858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3000" b="1" i="0">
                <a:solidFill>
                  <a:srgbClr val="1F4E79"/>
                </a:solidFill>
                <a:latin typeface="Segoe UI"/>
                <a:ea typeface="Segoe UI"/>
                <a:cs typeface="Segoe UI"/>
              </a:rPr>
              <a:t>Thực hành tại lớp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24128"/>
            <a:ext cx="1005840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000" b="0" i="0">
                <a:solidFill>
                  <a:srgbClr val="6B7785"/>
                </a:solidFill>
                <a:latin typeface="Segoe UI"/>
                <a:ea typeface="Segoe UI"/>
                <a:cs typeface="Segoe UI"/>
              </a:rPr>
              <a:t>Buổi 1 · Làm quen hệ thống Fast và Bcode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46520"/>
            <a:ext cx="73152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/>
            <a:r>
              <a:rPr sz="1000" b="0" i="0">
                <a:solidFill>
                  <a:srgbClr val="6B7785"/>
                </a:solidFill>
                <a:latin typeface="Segoe UI"/>
                <a:ea typeface="Segoe UI"/>
                <a:cs typeface="Segoe UI"/>
              </a:rPr>
              <a:t>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71600"/>
            <a:ext cx="1088136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 b="1" i="0">
                <a:solidFill>
                  <a:srgbClr val="F2B705"/>
                </a:solidFill>
                <a:latin typeface="Segoe UI"/>
                <a:ea typeface="Segoe UI"/>
                <a:cs typeface="Segoe UI"/>
              </a:rPr>
              <a:t>▪  </a:t>
            </a:r>
            <a:r>
              <a:rPr sz="2000" b="1" i="0">
                <a:solidFill>
                  <a:srgbClr val="1F4E79"/>
                </a:solidFill>
                <a:latin typeface="Segoe UI"/>
                <a:ea typeface="Segoe UI"/>
                <a:cs typeface="Segoe UI"/>
              </a:rPr>
              <a:t>1.</a:t>
            </a:r>
            <a:r>
              <a:rPr sz="2000" b="0" i="0">
                <a:solidFill>
                  <a:srgbClr val="263238"/>
                </a:solidFill>
                <a:latin typeface="Segoe UI"/>
                <a:ea typeface="Segoe UI"/>
                <a:cs typeface="Segoe UI"/>
              </a:rPr>
              <a:t> Chọn dự án thử trong Bcode, chuyển qua lại giữa App và Sys (</a:t>
            </a:r>
            <a:r>
              <a:rPr sz="1900" b="0" i="0">
                <a:solidFill>
                  <a:srgbClr val="B02A2A"/>
                </a:solidFill>
                <a:latin typeface="Consolas"/>
                <a:ea typeface="Consolas"/>
                <a:cs typeface="Consolas"/>
              </a:rPr>
              <a:t>Ctrl+1</a:t>
            </a:r>
            <a:r>
              <a:rPr sz="2000" b="0" i="0">
                <a:solidFill>
                  <a:srgbClr val="263238"/>
                </a:solidFill>
                <a:latin typeface="Segoe UI"/>
                <a:ea typeface="Segoe UI"/>
                <a:cs typeface="Segoe UI"/>
              </a:rPr>
              <a:t>).</a:t>
            </a:r>
          </a:p>
          <a:p>
            <a:pPr>
              <a:spcAft>
                <a:spcPts val="1000"/>
              </a:spcAft>
            </a:pPr>
            <a:r>
              <a:rPr sz="2000" b="1" i="0">
                <a:solidFill>
                  <a:srgbClr val="F2B705"/>
                </a:solidFill>
                <a:latin typeface="Segoe UI"/>
                <a:ea typeface="Segoe UI"/>
                <a:cs typeface="Segoe UI"/>
              </a:rPr>
              <a:t>▪  </a:t>
            </a:r>
            <a:r>
              <a:rPr sz="2000" b="1" i="0">
                <a:solidFill>
                  <a:srgbClr val="1F4E79"/>
                </a:solidFill>
                <a:latin typeface="Segoe UI"/>
                <a:ea typeface="Segoe UI"/>
                <a:cs typeface="Segoe UI"/>
              </a:rPr>
              <a:t>2.</a:t>
            </a:r>
            <a:r>
              <a:rPr sz="2000" b="0" i="0">
                <a:solidFill>
                  <a:srgbClr val="263238"/>
                </a:solidFill>
                <a:latin typeface="Segoe UI"/>
                <a:ea typeface="Segoe UI"/>
                <a:cs typeface="Segoe UI"/>
              </a:rPr>
              <a:t> Trên cây WCommand, tìm menu “Danh mục bộ phận” rồi double-click để xem danh sách file.</a:t>
            </a:r>
          </a:p>
          <a:p>
            <a:pPr>
              <a:spcAft>
                <a:spcPts val="1000"/>
              </a:spcAft>
            </a:pPr>
            <a:r>
              <a:rPr sz="2000" b="1" i="0">
                <a:solidFill>
                  <a:srgbClr val="F2B705"/>
                </a:solidFill>
                <a:latin typeface="Segoe UI"/>
                <a:ea typeface="Segoe UI"/>
                <a:cs typeface="Segoe UI"/>
              </a:rPr>
              <a:t>▪  </a:t>
            </a:r>
            <a:r>
              <a:rPr sz="2000" b="1" i="0">
                <a:solidFill>
                  <a:srgbClr val="1F4E79"/>
                </a:solidFill>
                <a:latin typeface="Segoe UI"/>
                <a:ea typeface="Segoe UI"/>
                <a:cs typeface="Segoe UI"/>
              </a:rPr>
              <a:t>3.</a:t>
            </a:r>
            <a:r>
              <a:rPr sz="2000" b="0" i="0">
                <a:solidFill>
                  <a:srgbClr val="263238"/>
                </a:solidFill>
                <a:latin typeface="Segoe UI"/>
                <a:ea typeface="Segoe UI"/>
                <a:cs typeface="Segoe UI"/>
              </a:rPr>
              <a:t> Mở bảng </a:t>
            </a:r>
            <a:r>
              <a:rPr sz="1900" b="0" i="0">
                <a:solidFill>
                  <a:srgbClr val="B02A2A"/>
                </a:solidFill>
                <a:latin typeface="Consolas"/>
                <a:ea typeface="Consolas"/>
                <a:cs typeface="Consolas"/>
              </a:rPr>
              <a:t>dmct9</a:t>
            </a:r>
            <a:r>
              <a:rPr sz="2000" b="0" i="0">
                <a:solidFill>
                  <a:srgbClr val="263238"/>
                </a:solidFill>
                <a:latin typeface="Segoe UI"/>
                <a:ea typeface="Segoe UI"/>
                <a:cs typeface="Segoe UI"/>
              </a:rPr>
              <a:t>, tìm dòng của phiếu nhập kho (</a:t>
            </a:r>
            <a:r>
              <a:rPr sz="1900" b="0" i="0">
                <a:solidFill>
                  <a:srgbClr val="B02A2A"/>
                </a:solidFill>
                <a:latin typeface="Consolas"/>
                <a:ea typeface="Consolas"/>
                <a:cs typeface="Consolas"/>
              </a:rPr>
              <a:t>PND</a:t>
            </a:r>
            <a:r>
              <a:rPr sz="2000" b="0" i="0">
                <a:solidFill>
                  <a:srgbClr val="263238"/>
                </a:solidFill>
                <a:latin typeface="Segoe UI"/>
                <a:ea typeface="Segoe UI"/>
                <a:cs typeface="Segoe UI"/>
              </a:rPr>
              <a:t>) và ghi lại tiền tố tên bảng của nó.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4434840"/>
            <a:ext cx="10927080" cy="685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4434840"/>
            <a:ext cx="91440" cy="68580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7" y="4489703"/>
            <a:ext cx="10607040" cy="5943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500" b="1" i="0">
                <a:solidFill>
                  <a:srgbClr val="2E75B6"/>
                </a:solidFill>
                <a:latin typeface="Segoe UI"/>
                <a:ea typeface="Segoe UI"/>
                <a:cs typeface="Segoe UI"/>
              </a:rPr>
              <a:t>Mẹo:</a:t>
            </a:r>
            <a:r>
              <a:rPr sz="1500" b="0" i="0">
                <a:solidFill>
                  <a:srgbClr val="263238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1500" b="1" i="0">
                <a:solidFill>
                  <a:srgbClr val="1F4E79"/>
                </a:solidFill>
                <a:latin typeface="Segoe UI"/>
                <a:ea typeface="Segoe UI"/>
                <a:cs typeface="Segoe UI"/>
              </a:rPr>
              <a:t>Trên database:</a:t>
            </a:r>
            <a:r>
              <a:rPr sz="1500" b="0" i="0">
                <a:solidFill>
                  <a:srgbClr val="263238"/>
                </a:solidFill>
                <a:latin typeface="Segoe UI"/>
                <a:ea typeface="Segoe UI"/>
                <a:cs typeface="Segoe UI"/>
              </a:rPr>
              <a:t> Sổ bài tập thực hành — Buổi 1 (FBOSP2422_App / _Sys, chạy </a:t>
            </a:r>
            <a:r>
              <a:rPr sz="1400" b="0" i="0">
                <a:solidFill>
                  <a:srgbClr val="B02A2A"/>
                </a:solidFill>
                <a:latin typeface="Consolas"/>
                <a:ea typeface="Consolas"/>
                <a:cs typeface="Consolas"/>
              </a:rPr>
              <a:t>00_TaoDuLieuMau.sql</a:t>
            </a:r>
            <a:r>
              <a:rPr sz="1500" b="0" i="0">
                <a:solidFill>
                  <a:srgbClr val="263238"/>
                </a:solidFill>
                <a:latin typeface="Segoe UI"/>
                <a:ea typeface="Segoe UI"/>
                <a:cs typeface="Segoe UI"/>
              </a:rPr>
              <a:t> trước).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5257800"/>
            <a:ext cx="1092708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27AE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0080" y="5257800"/>
            <a:ext cx="91440" cy="914400"/>
          </a:xfrm>
          <a:prstGeom prst="rect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1247" y="5312664"/>
            <a:ext cx="10607040" cy="8229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600" b="1" i="0">
                <a:solidFill>
                  <a:srgbClr val="27AE60"/>
                </a:solidFill>
                <a:latin typeface="Segoe UI"/>
                <a:ea typeface="Segoe UI"/>
                <a:cs typeface="Segoe UI"/>
              </a:rPr>
              <a:t>Bài tập:</a:t>
            </a:r>
            <a:r>
              <a:rPr sz="1600" b="0" i="0">
                <a:solidFill>
                  <a:srgbClr val="263238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1600" b="1" i="0">
                <a:solidFill>
                  <a:srgbClr val="1F4E79"/>
                </a:solidFill>
                <a:latin typeface="Segoe UI"/>
                <a:ea typeface="Segoe UI"/>
                <a:cs typeface="Segoe UI"/>
              </a:rPr>
              <a:t>Về nhà:</a:t>
            </a:r>
            <a:r>
              <a:rPr sz="1600" b="0" i="0">
                <a:solidFill>
                  <a:srgbClr val="263238"/>
                </a:solidFill>
                <a:latin typeface="Segoe UI"/>
                <a:ea typeface="Segoe UI"/>
                <a:cs typeface="Segoe UI"/>
              </a:rPr>
              <a:t> Vẽ sơ đồ đường đi của 1 menu danh mục và 1 menu chứng từ bất kỳ (gồm bảng, trang và các file controller).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1064240" cy="6858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3000" b="1" i="0">
                <a:solidFill>
                  <a:srgbClr val="1F4E79"/>
                </a:solidFill>
                <a:latin typeface="Segoe UI"/>
                <a:ea typeface="Segoe UI"/>
                <a:cs typeface="Segoe UI"/>
              </a:rPr>
              <a:t>Tự kiểm tra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24128"/>
            <a:ext cx="1005840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000" b="0" i="0">
                <a:solidFill>
                  <a:srgbClr val="6B7785"/>
                </a:solidFill>
                <a:latin typeface="Segoe UI"/>
                <a:ea typeface="Segoe UI"/>
                <a:cs typeface="Segoe UI"/>
              </a:rPr>
              <a:t>Buổi 1 · Làm quen hệ thống Fast và Bcode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46520"/>
            <a:ext cx="73152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/>
            <a:r>
              <a:rPr sz="1000" b="0" i="0">
                <a:solidFill>
                  <a:srgbClr val="6B7785"/>
                </a:solidFill>
                <a:latin typeface="Segoe UI"/>
                <a:ea typeface="Segoe UI"/>
                <a:cs typeface="Segoe UI"/>
              </a:rPr>
              <a:t>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7160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100" b="1" i="0">
                <a:solidFill>
                  <a:srgbClr val="F2B705"/>
                </a:solidFill>
                <a:latin typeface="Segoe UI"/>
                <a:ea typeface="Segoe UI"/>
                <a:cs typeface="Segoe UI"/>
              </a:rPr>
              <a:t>▪  </a:t>
            </a:r>
            <a:r>
              <a:rPr sz="2100" b="1" i="0">
                <a:solidFill>
                  <a:srgbClr val="1F4E79"/>
                </a:solidFill>
                <a:latin typeface="Segoe UI"/>
                <a:ea typeface="Segoe UI"/>
                <a:cs typeface="Segoe UI"/>
              </a:rPr>
              <a:t>1.</a:t>
            </a:r>
            <a:r>
              <a:rPr sz="2100" b="0" i="0">
                <a:solidFill>
                  <a:srgbClr val="263238"/>
                </a:solidFill>
                <a:latin typeface="Segoe UI"/>
                <a:ea typeface="Segoe UI"/>
                <a:cs typeface="Segoe UI"/>
              </a:rPr>
              <a:t> Bảng menu web nằm ở database nào, tên bảng là gì?</a:t>
            </a:r>
          </a:p>
          <a:p>
            <a:pPr>
              <a:spcAft>
                <a:spcPts val="1000"/>
              </a:spcAft>
            </a:pPr>
            <a:r>
              <a:rPr sz="2100" b="1" i="0">
                <a:solidFill>
                  <a:srgbClr val="F2B705"/>
                </a:solidFill>
                <a:latin typeface="Segoe UI"/>
                <a:ea typeface="Segoe UI"/>
                <a:cs typeface="Segoe UI"/>
              </a:rPr>
              <a:t>▪  </a:t>
            </a:r>
            <a:r>
              <a:rPr sz="2100" b="1" i="0">
                <a:solidFill>
                  <a:srgbClr val="1F4E79"/>
                </a:solidFill>
                <a:latin typeface="Segoe UI"/>
                <a:ea typeface="Segoe UI"/>
                <a:cs typeface="Segoe UI"/>
              </a:rPr>
              <a:t>2.</a:t>
            </a:r>
            <a:r>
              <a:rPr sz="2100" b="0" i="0">
                <a:solidFill>
                  <a:srgbClr val="263238"/>
                </a:solidFill>
                <a:latin typeface="Segoe UI"/>
                <a:ea typeface="Segoe UI"/>
                <a:cs typeface="Segoe UI"/>
              </a:rPr>
              <a:t> Trang </a:t>
            </a:r>
            <a:r>
              <a:rPr sz="2000" b="0" i="0">
                <a:solidFill>
                  <a:srgbClr val="B02A2A"/>
                </a:solidFill>
                <a:latin typeface="Consolas"/>
                <a:ea typeface="Consolas"/>
                <a:cs typeface="Consolas"/>
              </a:rPr>
              <a:t>Main\smbp.aspx</a:t>
            </a:r>
            <a:r>
              <a:rPr sz="2100" b="0" i="0">
                <a:solidFill>
                  <a:srgbClr val="263238"/>
                </a:solidFill>
                <a:latin typeface="Segoe UI"/>
                <a:ea typeface="Segoe UI"/>
                <a:cs typeface="Segoe UI"/>
              </a:rPr>
              <a:t> chứa gì quan trọng nhất?</a:t>
            </a:r>
          </a:p>
          <a:p>
            <a:pPr>
              <a:spcAft>
                <a:spcPts val="1000"/>
              </a:spcAft>
            </a:pPr>
            <a:r>
              <a:rPr sz="2100" b="1" i="0">
                <a:solidFill>
                  <a:srgbClr val="F2B705"/>
                </a:solidFill>
                <a:latin typeface="Segoe UI"/>
                <a:ea typeface="Segoe UI"/>
                <a:cs typeface="Segoe UI"/>
              </a:rPr>
              <a:t>▪  </a:t>
            </a:r>
            <a:r>
              <a:rPr sz="2100" b="1" i="0">
                <a:solidFill>
                  <a:srgbClr val="1F4E79"/>
                </a:solidFill>
                <a:latin typeface="Segoe UI"/>
                <a:ea typeface="Segoe UI"/>
                <a:cs typeface="Segoe UI"/>
              </a:rPr>
              <a:t>3.</a:t>
            </a:r>
            <a:r>
              <a:rPr sz="2100" b="0" i="0">
                <a:solidFill>
                  <a:srgbClr val="263238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2000" b="0" i="0">
                <a:solidFill>
                  <a:srgbClr val="B02A2A"/>
                </a:solidFill>
                <a:latin typeface="Consolas"/>
                <a:ea typeface="Consolas"/>
                <a:cs typeface="Consolas"/>
              </a:rPr>
              <a:t>m74$202601</a:t>
            </a:r>
            <a:r>
              <a:rPr sz="2100" b="0" i="0">
                <a:solidFill>
                  <a:srgbClr val="263238"/>
                </a:solidFill>
                <a:latin typeface="Segoe UI"/>
                <a:ea typeface="Segoe UI"/>
                <a:cs typeface="Segoe UI"/>
              </a:rPr>
              <a:t> là gì?</a:t>
            </a:r>
          </a:p>
          <a:p>
            <a:pPr>
              <a:spcAft>
                <a:spcPts val="1000"/>
              </a:spcAft>
            </a:pPr>
            <a:r>
              <a:rPr sz="2100" b="1" i="0">
                <a:solidFill>
                  <a:srgbClr val="F2B705"/>
                </a:solidFill>
                <a:latin typeface="Segoe UI"/>
                <a:ea typeface="Segoe UI"/>
                <a:cs typeface="Segoe UI"/>
              </a:rPr>
              <a:t>▪  </a:t>
            </a:r>
            <a:r>
              <a:rPr sz="2100" b="1" i="0">
                <a:solidFill>
                  <a:srgbClr val="1F4E79"/>
                </a:solidFill>
                <a:latin typeface="Segoe UI"/>
                <a:ea typeface="Segoe UI"/>
                <a:cs typeface="Segoe UI"/>
              </a:rPr>
              <a:t>4.</a:t>
            </a:r>
            <a:r>
              <a:rPr sz="2100" b="0" i="0">
                <a:solidFill>
                  <a:srgbClr val="263238"/>
                </a:solidFill>
                <a:latin typeface="Segoe UI"/>
                <a:ea typeface="Segoe UI"/>
                <a:cs typeface="Segoe UI"/>
              </a:rPr>
              <a:t> Năm cột hệ thống của bảng danh mục là gì?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